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8" r:id="rId3"/>
    <p:sldId id="280" r:id="rId4"/>
    <p:sldId id="286" r:id="rId5"/>
    <p:sldId id="290" r:id="rId6"/>
    <p:sldId id="291" r:id="rId7"/>
    <p:sldId id="292" r:id="rId8"/>
    <p:sldId id="299" r:id="rId9"/>
    <p:sldId id="293" r:id="rId10"/>
    <p:sldId id="297" r:id="rId11"/>
    <p:sldId id="298" r:id="rId12"/>
    <p:sldId id="294" r:id="rId13"/>
    <p:sldId id="295" r:id="rId14"/>
    <p:sldId id="296" r:id="rId15"/>
    <p:sldId id="273" r:id="rId16"/>
    <p:sldId id="287" r:id="rId17"/>
    <p:sldId id="281" r:id="rId18"/>
    <p:sldId id="267" r:id="rId19"/>
  </p:sldIdLst>
  <p:sldSz cx="9144000" cy="6858000" type="screen4x3"/>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301" autoAdjust="0"/>
    <p:restoredTop sz="94660"/>
  </p:normalViewPr>
  <p:slideViewPr>
    <p:cSldViewPr>
      <p:cViewPr>
        <p:scale>
          <a:sx n="75" d="100"/>
          <a:sy n="75" d="100"/>
        </p:scale>
        <p:origin x="-1560" y="-18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2CC512F-57E2-4347-8AB9-97726AFAFBD4}" type="datetimeFigureOut">
              <a:rPr lang="en-US" smtClean="0"/>
              <a:pPr/>
              <a:t>9/23/2020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376728-E605-4C9D-BB71-97F5CA16A84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376728-E605-4C9D-BB71-97F5CA16A84A}"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C6E5AC8-DF32-4530-BE70-4DF10E957B0F}" type="datetime1">
              <a:rPr lang="en-US" smtClean="0"/>
              <a:pPr/>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D4DC05-DC1C-4BC7-83D0-F2C687841CD6}" type="datetime1">
              <a:rPr lang="en-US" smtClean="0"/>
              <a:pPr/>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584021-6D00-490C-8F05-8D1CB4FDB300}" type="datetime1">
              <a:rPr lang="en-US" smtClean="0"/>
              <a:pPr/>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874B5E5-83F0-489B-A5B1-2EA4EABA0270}" type="datetime1">
              <a:rPr lang="en-US" smtClean="0"/>
              <a:pPr/>
              <a:t>9/23/2020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11758A4-F9DF-4793-AEFB-9444EF4A4B9E}" type="datetime1">
              <a:rPr lang="en-US" smtClean="0"/>
              <a:pPr/>
              <a:t>9/23/2020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6EDFC1B-246B-4E89-B316-110A873EC268}" type="datetime1">
              <a:rPr lang="en-US" smtClean="0"/>
              <a:pPr/>
              <a:t>9/23/2020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4D7A26-3A9D-42B8-9383-DEFFCAB98889}" type="datetime1">
              <a:rPr lang="en-US" smtClean="0"/>
              <a:pPr/>
              <a:t>9/23/2020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679A30-FFAB-4DBF-94A6-2E145F2FCA2A}" type="datetime1">
              <a:rPr lang="en-US" smtClean="0"/>
              <a:pPr/>
              <a:t>9/23/2020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2FC8A4-2A60-4EF9-9287-209AD1D300D3}" type="datetime1">
              <a:rPr lang="en-US" smtClean="0"/>
              <a:pPr/>
              <a:t>9/23/2020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A66E30-7210-464E-8302-9DD7751FDC36}" type="datetime1">
              <a:rPr lang="en-US" smtClean="0"/>
              <a:pPr/>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F50983-422B-47AA-A7F1-7ABBD3BE51B8}" type="datetime1">
              <a:rPr lang="en-US" smtClean="0"/>
              <a:pPr/>
              <a:t>9/23/2020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EC7BA-A2BA-47BD-A280-13B94C2767F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C72A2C-A8D6-4D99-8E80-99D45247B09F}" type="datetime1">
              <a:rPr lang="en-US" smtClean="0"/>
              <a:pPr/>
              <a:t>9/23/2020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EC7BA-A2BA-47BD-A280-13B94C2767F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b="0" i="0" u="none"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39775"/>
            <a:ext cx="7772400" cy="1470025"/>
          </a:xfrm>
        </p:spPr>
        <p:txBody>
          <a:bodyPr>
            <a:normAutofit fontScale="90000"/>
          </a:bodyPr>
          <a:lstStyle/>
          <a:p>
            <a:r>
              <a:rPr lang="en-US" dirty="0" smtClean="0"/>
              <a:t>Wireless and Mobile Communication</a:t>
            </a:r>
            <a:br>
              <a:rPr lang="en-US" dirty="0" smtClean="0"/>
            </a:br>
            <a:r>
              <a:rPr lang="en-US" dirty="0" smtClean="0"/>
              <a:t>(UEC 804) </a:t>
            </a:r>
            <a:endParaRPr lang="en-US" dirty="0"/>
          </a:p>
        </p:txBody>
      </p:sp>
      <p:grpSp>
        <p:nvGrpSpPr>
          <p:cNvPr id="3" name="Group 4"/>
          <p:cNvGrpSpPr/>
          <p:nvPr/>
        </p:nvGrpSpPr>
        <p:grpSpPr>
          <a:xfrm>
            <a:off x="0" y="65325"/>
            <a:ext cx="8991600" cy="6158741"/>
            <a:chOff x="0" y="65325"/>
            <a:chExt cx="8991600" cy="6158741"/>
          </a:xfrm>
        </p:grpSpPr>
        <p:sp>
          <p:nvSpPr>
            <p:cNvPr id="6"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0"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4" name="Group 4"/>
            <p:cNvGrpSpPr/>
            <p:nvPr/>
          </p:nvGrpSpPr>
          <p:grpSpPr>
            <a:xfrm>
              <a:off x="333635" y="685800"/>
              <a:ext cx="8505563" cy="5538266"/>
              <a:chOff x="211286" y="1131023"/>
              <a:chExt cx="13623320" cy="6982618"/>
            </a:xfrm>
          </p:grpSpPr>
          <p:grpSp>
            <p:nvGrpSpPr>
              <p:cNvPr id="5" name="Group 44"/>
              <p:cNvGrpSpPr/>
              <p:nvPr/>
            </p:nvGrpSpPr>
            <p:grpSpPr>
              <a:xfrm>
                <a:off x="211286" y="1586248"/>
                <a:ext cx="13623320" cy="6527393"/>
                <a:chOff x="211286" y="1586248"/>
                <a:chExt cx="13623320" cy="6527393"/>
              </a:xfrm>
            </p:grpSpPr>
            <p:sp>
              <p:nvSpPr>
                <p:cNvPr id="10" name="Half Frame 9"/>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16200000">
                  <a:off x="272317" y="6175105"/>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5400000">
                  <a:off x="12337403" y="1525217"/>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16200000">
                  <a:off x="720674" y="6616438"/>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9" name="Half Frame 7"/>
              <p:cNvSpPr/>
              <p:nvPr/>
            </p:nvSpPr>
            <p:spPr>
              <a:xfrm rot="5400000">
                <a:off x="12013153" y="1022867"/>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4" name="TextBox 13"/>
          <p:cNvSpPr txBox="1"/>
          <p:nvPr/>
        </p:nvSpPr>
        <p:spPr>
          <a:xfrm>
            <a:off x="1143000" y="4743271"/>
            <a:ext cx="6858000" cy="1200329"/>
          </a:xfrm>
          <a:prstGeom prst="rect">
            <a:avLst/>
          </a:prstGeom>
          <a:noFill/>
        </p:spPr>
        <p:txBody>
          <a:bodyPr wrap="square" rtlCol="0">
            <a:spAutoFit/>
          </a:bodyPr>
          <a:lstStyle/>
          <a:p>
            <a:pPr algn="ctr"/>
            <a:r>
              <a:rPr lang="en-US" dirty="0" smtClean="0">
                <a:solidFill>
                  <a:srgbClr val="C00000"/>
                </a:solidFill>
              </a:rPr>
              <a:t>Reference Text book</a:t>
            </a:r>
          </a:p>
          <a:p>
            <a:pPr algn="ctr"/>
            <a:r>
              <a:rPr lang="en-US" dirty="0" smtClean="0">
                <a:solidFill>
                  <a:srgbClr val="C00000"/>
                </a:solidFill>
              </a:rPr>
              <a:t>“Wireless communication_ principles and practices” (Second </a:t>
            </a:r>
            <a:r>
              <a:rPr lang="en-US" dirty="0">
                <a:solidFill>
                  <a:srgbClr val="C00000"/>
                </a:solidFill>
              </a:rPr>
              <a:t>E</a:t>
            </a:r>
            <a:r>
              <a:rPr lang="en-US" dirty="0" smtClean="0">
                <a:solidFill>
                  <a:srgbClr val="C00000"/>
                </a:solidFill>
              </a:rPr>
              <a:t>dition )</a:t>
            </a:r>
          </a:p>
          <a:p>
            <a:pPr algn="ctr"/>
            <a:r>
              <a:rPr lang="en-US" dirty="0" smtClean="0">
                <a:solidFill>
                  <a:srgbClr val="C00000"/>
                </a:solidFill>
              </a:rPr>
              <a:t>Author: Theodore s Rapport</a:t>
            </a:r>
          </a:p>
          <a:p>
            <a:pPr algn="ctr"/>
            <a:r>
              <a:rPr lang="en-US" dirty="0" smtClean="0">
                <a:solidFill>
                  <a:srgbClr val="C00000"/>
                </a:solidFill>
              </a:rPr>
              <a:t>Publisher: Prentice Hall (2002)</a:t>
            </a:r>
            <a:endParaRPr lang="en-US" dirty="0">
              <a:solidFill>
                <a:srgbClr val="C00000"/>
              </a:solidFill>
            </a:endParaRPr>
          </a:p>
        </p:txBody>
      </p:sp>
      <p:sp>
        <p:nvSpPr>
          <p:cNvPr id="15" name="Slide Number Placeholder 14"/>
          <p:cNvSpPr>
            <a:spLocks noGrp="1"/>
          </p:cNvSpPr>
          <p:nvPr>
            <p:ph type="sldNum" sz="quarter" idx="12"/>
          </p:nvPr>
        </p:nvSpPr>
        <p:spPr/>
        <p:txBody>
          <a:bodyPr/>
          <a:lstStyle/>
          <a:p>
            <a:fld id="{4846ABB7-46DB-4F16-AB8B-BFEDDDD52D19}"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438400" y="2286000"/>
            <a:ext cx="5562600" cy="1447800"/>
          </a:xfrm>
        </p:spPr>
        <p:txBody>
          <a:bodyPr/>
          <a:lstStyle/>
          <a:p>
            <a:pPr>
              <a:buNone/>
            </a:pPr>
            <a:r>
              <a:rPr lang="en-US" sz="6600" dirty="0" smtClean="0">
                <a:solidFill>
                  <a:srgbClr val="C00000"/>
                </a:solidFill>
              </a:rPr>
              <a:t>MODULE -IV</a:t>
            </a:r>
            <a:endParaRPr lang="en-US" dirty="0">
              <a:solidFill>
                <a:srgbClr val="C00000"/>
              </a:solidFill>
            </a:endParaRPr>
          </a:p>
        </p:txBody>
      </p:sp>
      <p:grpSp>
        <p:nvGrpSpPr>
          <p:cNvPr id="2" name="Group 14"/>
          <p:cNvGrpSpPr/>
          <p:nvPr/>
        </p:nvGrpSpPr>
        <p:grpSpPr>
          <a:xfrm>
            <a:off x="0" y="65325"/>
            <a:ext cx="8991600" cy="6158741"/>
            <a:chOff x="0" y="65325"/>
            <a:chExt cx="8991600" cy="6158741"/>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0"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4" name="Group 4"/>
            <p:cNvGrpSpPr/>
            <p:nvPr/>
          </p:nvGrpSpPr>
          <p:grpSpPr>
            <a:xfrm>
              <a:off x="333635" y="685800"/>
              <a:ext cx="8505565" cy="5538266"/>
              <a:chOff x="211286" y="1131023"/>
              <a:chExt cx="13623320" cy="6982618"/>
            </a:xfrm>
          </p:grpSpPr>
          <p:grpSp>
            <p:nvGrpSpPr>
              <p:cNvPr id="6" name="Group 44"/>
              <p:cNvGrpSpPr/>
              <p:nvPr/>
            </p:nvGrpSpPr>
            <p:grpSpPr>
              <a:xfrm>
                <a:off x="211286" y="1586248"/>
                <a:ext cx="13623320" cy="6527393"/>
                <a:chOff x="211286" y="1586248"/>
                <a:chExt cx="13623320" cy="6527393"/>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72317" y="6175105"/>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337403" y="1525217"/>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720674" y="6616438"/>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013153" y="1022867"/>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5" name="Slide Number Placeholder 14"/>
          <p:cNvSpPr>
            <a:spLocks noGrp="1"/>
          </p:cNvSpPr>
          <p:nvPr>
            <p:ph type="sldNum" sz="quarter" idx="12"/>
          </p:nvPr>
        </p:nvSpPr>
        <p:spPr/>
        <p:txBody>
          <a:bodyPr/>
          <a:lstStyle/>
          <a:p>
            <a:fld id="{4846ABB7-46DB-4F16-AB8B-BFEDDDD52D19}"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8991600" cy="6792675"/>
            <a:chOff x="0" y="65325"/>
            <a:chExt cx="89916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0"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685800"/>
              <a:ext cx="8839200" cy="6172200"/>
              <a:chOff x="-323094" y="1131023"/>
              <a:chExt cx="14157700" cy="7781879"/>
            </a:xfrm>
          </p:grpSpPr>
          <p:grpSp>
            <p:nvGrpSpPr>
              <p:cNvPr id="4" name="Group 44"/>
              <p:cNvGrpSpPr/>
              <p:nvPr/>
            </p:nvGrpSpPr>
            <p:grpSpPr>
              <a:xfrm>
                <a:off x="-323094" y="1586248"/>
                <a:ext cx="14157700" cy="7326654"/>
                <a:chOff x="-323094" y="1586248"/>
                <a:chExt cx="14157700" cy="7326654"/>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337403" y="1525217"/>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013153" y="1022867"/>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3</a:t>
            </a:fld>
            <a:endParaRPr lang="en-US"/>
          </a:p>
        </p:txBody>
      </p:sp>
      <p:sp>
        <p:nvSpPr>
          <p:cNvPr id="22" name="Rectangle 21"/>
          <p:cNvSpPr/>
          <p:nvPr/>
        </p:nvSpPr>
        <p:spPr>
          <a:xfrm>
            <a:off x="457200" y="990600"/>
            <a:ext cx="6779933" cy="646331"/>
          </a:xfrm>
          <a:prstGeom prst="rect">
            <a:avLst/>
          </a:prstGeom>
        </p:spPr>
        <p:txBody>
          <a:bodyPr wrap="none">
            <a:spAutoFit/>
          </a:bodyPr>
          <a:lstStyle/>
          <a:p>
            <a:r>
              <a:rPr lang="en-US" sz="3600" dirty="0">
                <a:solidFill>
                  <a:srgbClr val="C00000"/>
                </a:solidFill>
                <a:ea typeface="+mj-ea"/>
                <a:cs typeface="+mj-cs"/>
              </a:rPr>
              <a:t>Topics </a:t>
            </a:r>
            <a:r>
              <a:rPr lang="en-US" sz="3600" dirty="0" smtClean="0">
                <a:solidFill>
                  <a:srgbClr val="C00000"/>
                </a:solidFill>
                <a:ea typeface="+mj-ea"/>
                <a:cs typeface="+mj-cs"/>
              </a:rPr>
              <a:t>to be covered </a:t>
            </a:r>
            <a:r>
              <a:rPr lang="en-US" sz="3600" dirty="0">
                <a:solidFill>
                  <a:srgbClr val="C00000"/>
                </a:solidFill>
                <a:ea typeface="+mj-ea"/>
                <a:cs typeface="+mj-cs"/>
              </a:rPr>
              <a:t>in </a:t>
            </a:r>
            <a:r>
              <a:rPr lang="en-US" sz="3600" dirty="0" smtClean="0">
                <a:solidFill>
                  <a:srgbClr val="C00000"/>
                </a:solidFill>
                <a:ea typeface="+mj-ea"/>
                <a:cs typeface="+mj-cs"/>
              </a:rPr>
              <a:t>this module</a:t>
            </a:r>
            <a:endParaRPr lang="en-US" dirty="0"/>
          </a:p>
        </p:txBody>
      </p:sp>
      <p:sp>
        <p:nvSpPr>
          <p:cNvPr id="23" name="TextBox 22"/>
          <p:cNvSpPr txBox="1"/>
          <p:nvPr/>
        </p:nvSpPr>
        <p:spPr>
          <a:xfrm>
            <a:off x="838200" y="1828800"/>
            <a:ext cx="4267200" cy="400110"/>
          </a:xfrm>
          <a:prstGeom prst="rect">
            <a:avLst/>
          </a:prstGeom>
          <a:noFill/>
        </p:spPr>
        <p:txBody>
          <a:bodyPr wrap="square" rtlCol="0">
            <a:spAutoFit/>
          </a:bodyPr>
          <a:lstStyle/>
          <a:p>
            <a:pPr indent="285750">
              <a:buFont typeface="Arial" pitchFamily="34" charset="0"/>
              <a:buChar char="•"/>
            </a:pPr>
            <a:r>
              <a:rPr lang="en-US" sz="2000" dirty="0" smtClean="0"/>
              <a:t>Propagation Basics</a:t>
            </a:r>
            <a:endParaRPr lang="en-US" sz="2000" dirty="0"/>
          </a:p>
        </p:txBody>
      </p:sp>
      <p:sp>
        <p:nvSpPr>
          <p:cNvPr id="15" name="Rectangle 14"/>
          <p:cNvSpPr/>
          <p:nvPr/>
        </p:nvSpPr>
        <p:spPr>
          <a:xfrm>
            <a:off x="457200" y="2706469"/>
            <a:ext cx="6377580" cy="646331"/>
          </a:xfrm>
          <a:prstGeom prst="rect">
            <a:avLst/>
          </a:prstGeom>
        </p:spPr>
        <p:txBody>
          <a:bodyPr wrap="none">
            <a:spAutoFit/>
          </a:bodyPr>
          <a:lstStyle/>
          <a:p>
            <a:r>
              <a:rPr lang="en-US" sz="3600" dirty="0">
                <a:solidFill>
                  <a:srgbClr val="C00000"/>
                </a:solidFill>
                <a:ea typeface="+mj-ea"/>
                <a:cs typeface="+mj-cs"/>
              </a:rPr>
              <a:t>Topics </a:t>
            </a:r>
            <a:r>
              <a:rPr lang="en-US" sz="3600" dirty="0" smtClean="0">
                <a:solidFill>
                  <a:srgbClr val="C00000"/>
                </a:solidFill>
                <a:ea typeface="+mj-ea"/>
                <a:cs typeface="+mj-cs"/>
              </a:rPr>
              <a:t>to be covered </a:t>
            </a:r>
            <a:r>
              <a:rPr lang="en-US" sz="3600" dirty="0">
                <a:solidFill>
                  <a:srgbClr val="C00000"/>
                </a:solidFill>
                <a:ea typeface="+mj-ea"/>
                <a:cs typeface="+mj-cs"/>
              </a:rPr>
              <a:t>in </a:t>
            </a:r>
            <a:r>
              <a:rPr lang="en-US" sz="3600" dirty="0" smtClean="0">
                <a:solidFill>
                  <a:srgbClr val="C00000"/>
                </a:solidFill>
                <a:ea typeface="+mj-ea"/>
                <a:cs typeface="+mj-cs"/>
              </a:rPr>
              <a:t>this video</a:t>
            </a:r>
            <a:endParaRPr lang="en-US" dirty="0"/>
          </a:p>
        </p:txBody>
      </p:sp>
      <p:sp>
        <p:nvSpPr>
          <p:cNvPr id="18" name="TextBox 17"/>
          <p:cNvSpPr txBox="1"/>
          <p:nvPr/>
        </p:nvSpPr>
        <p:spPr>
          <a:xfrm>
            <a:off x="838200" y="2209800"/>
            <a:ext cx="2743200" cy="369332"/>
          </a:xfrm>
          <a:prstGeom prst="rect">
            <a:avLst/>
          </a:prstGeom>
          <a:noFill/>
        </p:spPr>
        <p:txBody>
          <a:bodyPr wrap="square" rtlCol="0">
            <a:spAutoFit/>
          </a:bodyPr>
          <a:lstStyle/>
          <a:p>
            <a:pPr marL="233363" indent="-233363">
              <a:buFont typeface="Arial" pitchFamily="34" charset="0"/>
              <a:buChar char="•"/>
            </a:pPr>
            <a:r>
              <a:rPr lang="en-US" dirty="0" smtClean="0"/>
              <a:t> Antenna Basics</a:t>
            </a:r>
            <a:endParaRPr lang="en-US" dirty="0"/>
          </a:p>
        </p:txBody>
      </p:sp>
      <p:sp>
        <p:nvSpPr>
          <p:cNvPr id="16" name="TextBox 15"/>
          <p:cNvSpPr txBox="1"/>
          <p:nvPr/>
        </p:nvSpPr>
        <p:spPr>
          <a:xfrm>
            <a:off x="914400" y="3440668"/>
            <a:ext cx="2743200" cy="369332"/>
          </a:xfrm>
          <a:prstGeom prst="rect">
            <a:avLst/>
          </a:prstGeom>
          <a:noFill/>
        </p:spPr>
        <p:txBody>
          <a:bodyPr wrap="square" rtlCol="0">
            <a:spAutoFit/>
          </a:bodyPr>
          <a:lstStyle/>
          <a:p>
            <a:pPr marL="233363" indent="-233363">
              <a:buFont typeface="Arial" pitchFamily="34" charset="0"/>
              <a:buChar char="•"/>
            </a:pPr>
            <a:r>
              <a:rPr lang="en-US" dirty="0" smtClean="0"/>
              <a:t> Reflection </a:t>
            </a:r>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4</a:t>
            </a:fld>
            <a:endParaRPr lang="en-US"/>
          </a:p>
        </p:txBody>
      </p:sp>
      <p:sp>
        <p:nvSpPr>
          <p:cNvPr id="21" name="Rectangle 20"/>
          <p:cNvSpPr/>
          <p:nvPr/>
        </p:nvSpPr>
        <p:spPr>
          <a:xfrm>
            <a:off x="990600" y="1"/>
            <a:ext cx="7467600" cy="584775"/>
          </a:xfrm>
          <a:prstGeom prst="rect">
            <a:avLst/>
          </a:prstGeom>
        </p:spPr>
        <p:txBody>
          <a:bodyPr wrap="square">
            <a:spAutoFit/>
          </a:bodyPr>
          <a:lstStyle/>
          <a:p>
            <a:pPr algn="ctr"/>
            <a:r>
              <a:rPr lang="en-US" sz="3200" dirty="0" smtClean="0">
                <a:solidFill>
                  <a:schemeClr val="bg1"/>
                </a:solidFill>
              </a:rPr>
              <a:t>Wireless Propagation Mechanisms</a:t>
            </a:r>
            <a:endParaRPr lang="en-US" sz="3200" b="1" dirty="0">
              <a:solidFill>
                <a:schemeClr val="bg1"/>
              </a:solidFill>
            </a:endParaRPr>
          </a:p>
        </p:txBody>
      </p:sp>
      <p:grpSp>
        <p:nvGrpSpPr>
          <p:cNvPr id="1026" name="Group 2"/>
          <p:cNvGrpSpPr>
            <a:grpSpLocks/>
          </p:cNvGrpSpPr>
          <p:nvPr/>
        </p:nvGrpSpPr>
        <p:grpSpPr bwMode="auto">
          <a:xfrm>
            <a:off x="1371600" y="1371600"/>
            <a:ext cx="5718175" cy="3732213"/>
            <a:chOff x="1339" y="1520"/>
            <a:chExt cx="9005" cy="5878"/>
          </a:xfrm>
        </p:grpSpPr>
        <p:sp>
          <p:nvSpPr>
            <p:cNvPr id="1027" name="AutoShape 3"/>
            <p:cNvSpPr>
              <a:spLocks noChangeArrowheads="1"/>
            </p:cNvSpPr>
            <p:nvPr/>
          </p:nvSpPr>
          <p:spPr bwMode="auto">
            <a:xfrm>
              <a:off x="3493" y="3800"/>
              <a:ext cx="4934" cy="1547"/>
            </a:xfrm>
            <a:prstGeom prst="roundRect">
              <a:avLst>
                <a:gd name="adj" fmla="val 16667"/>
              </a:avLst>
            </a:prstGeom>
            <a:solidFill>
              <a:srgbClr val="9BBB59"/>
            </a:solidFill>
            <a:ln w="38100">
              <a:solidFill>
                <a:srgbClr val="F2F2F2"/>
              </a:solidFill>
              <a:round/>
              <a:headEnd/>
              <a:tailEnd/>
            </a:ln>
            <a:effectLst>
              <a:outerShdw dist="28398" dir="3806097" algn="ctr" rotWithShape="0">
                <a:srgbClr val="4E6128">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cap="none" normalizeH="0" baseline="0" smtClean="0">
                  <a:ln>
                    <a:noFill/>
                  </a:ln>
                  <a:solidFill>
                    <a:schemeClr val="tx1"/>
                  </a:solidFill>
                  <a:effectLst/>
                  <a:latin typeface="Calibri" pitchFamily="34" charset="0"/>
                  <a:cs typeface="Arial" pitchFamily="34" charset="0"/>
                </a:rPr>
                <a:t>Wireless Propagation Mechanisms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8" name="Rectangle 4"/>
            <p:cNvSpPr>
              <a:spLocks noChangeArrowheads="1"/>
            </p:cNvSpPr>
            <p:nvPr/>
          </p:nvSpPr>
          <p:spPr bwMode="auto">
            <a:xfrm>
              <a:off x="7704" y="6279"/>
              <a:ext cx="2640" cy="1067"/>
            </a:xfrm>
            <a:prstGeom prst="rect">
              <a:avLst/>
            </a:prstGeom>
            <a:gradFill rotWithShape="0">
              <a:gsLst>
                <a:gs pos="0">
                  <a:srgbClr val="FFFFFF"/>
                </a:gs>
                <a:gs pos="100000">
                  <a:srgbClr val="E5B8B7"/>
                </a:gs>
              </a:gsLst>
              <a:lin ang="5400000" scaled="1"/>
            </a:gradFill>
            <a:ln w="12700">
              <a:solidFill>
                <a:srgbClr val="D99594"/>
              </a:solidFill>
              <a:miter lim="800000"/>
              <a:headEnd/>
              <a:tailEnd/>
            </a:ln>
            <a:effectLst>
              <a:outerShdw dist="28398" dir="3806097" algn="ctr" rotWithShape="0">
                <a:srgbClr val="622423">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Arial" pitchFamily="34" charset="0"/>
                </a:rPr>
                <a:t>Scattering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9" name="Rectangle 5"/>
            <p:cNvSpPr>
              <a:spLocks noChangeArrowheads="1"/>
            </p:cNvSpPr>
            <p:nvPr/>
          </p:nvSpPr>
          <p:spPr bwMode="auto">
            <a:xfrm>
              <a:off x="1339" y="6331"/>
              <a:ext cx="2640" cy="1067"/>
            </a:xfrm>
            <a:prstGeom prst="rect">
              <a:avLst/>
            </a:prstGeom>
            <a:gradFill rotWithShape="0">
              <a:gsLst>
                <a:gs pos="0">
                  <a:srgbClr val="FFFFFF"/>
                </a:gs>
                <a:gs pos="100000">
                  <a:srgbClr val="E5B8B7"/>
                </a:gs>
              </a:gsLst>
              <a:lin ang="5400000" scaled="1"/>
            </a:gradFill>
            <a:ln w="12700">
              <a:solidFill>
                <a:srgbClr val="D99594"/>
              </a:solidFill>
              <a:miter lim="800000"/>
              <a:headEnd/>
              <a:tailEnd/>
            </a:ln>
            <a:effectLst>
              <a:outerShdw dist="28398" dir="3806097" algn="ctr" rotWithShape="0">
                <a:srgbClr val="622423">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Arial" pitchFamily="34" charset="0"/>
                </a:rPr>
                <a:t>Diffraction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30" name="Rectangle 6"/>
            <p:cNvSpPr>
              <a:spLocks noChangeArrowheads="1"/>
            </p:cNvSpPr>
            <p:nvPr/>
          </p:nvSpPr>
          <p:spPr bwMode="auto">
            <a:xfrm>
              <a:off x="4641" y="1520"/>
              <a:ext cx="2640" cy="1067"/>
            </a:xfrm>
            <a:prstGeom prst="rect">
              <a:avLst/>
            </a:prstGeom>
            <a:gradFill rotWithShape="0">
              <a:gsLst>
                <a:gs pos="0">
                  <a:srgbClr val="FFFFFF"/>
                </a:gs>
                <a:gs pos="100000">
                  <a:srgbClr val="E5B8B7"/>
                </a:gs>
              </a:gsLst>
              <a:lin ang="5400000" scaled="1"/>
            </a:gradFill>
            <a:ln w="12700">
              <a:solidFill>
                <a:srgbClr val="D99594"/>
              </a:solidFill>
              <a:miter lim="800000"/>
              <a:headEnd/>
              <a:tailEnd/>
            </a:ln>
            <a:effectLst>
              <a:outerShdw dist="28398" dir="3806097" algn="ctr" rotWithShape="0">
                <a:srgbClr val="622423">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000" b="1" i="0" u="none" strike="noStrike" cap="none" normalizeH="0" baseline="0" dirty="0" smtClean="0">
                  <a:ln>
                    <a:noFill/>
                  </a:ln>
                  <a:solidFill>
                    <a:schemeClr val="tx1"/>
                  </a:solidFill>
                  <a:effectLst/>
                  <a:latin typeface="Calibri" pitchFamily="34" charset="0"/>
                  <a:cs typeface="Arial" pitchFamily="34" charset="0"/>
                </a:rPr>
                <a:t>Reflection</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1031" name="AutoShape 7"/>
            <p:cNvCxnSpPr>
              <a:cxnSpLocks noChangeShapeType="1"/>
            </p:cNvCxnSpPr>
            <p:nvPr/>
          </p:nvCxnSpPr>
          <p:spPr bwMode="auto">
            <a:xfrm rot="16200000">
              <a:off x="5446" y="3247"/>
              <a:ext cx="1107" cy="0"/>
            </a:xfrm>
            <a:prstGeom prst="straightConnector1">
              <a:avLst/>
            </a:prstGeom>
            <a:noFill/>
            <a:ln w="25400">
              <a:solidFill>
                <a:srgbClr val="000000"/>
              </a:solidFill>
              <a:round/>
              <a:headEnd/>
              <a:tailEnd type="triangle" w="med" len="med"/>
            </a:ln>
          </p:spPr>
        </p:cxnSp>
        <p:cxnSp>
          <p:nvCxnSpPr>
            <p:cNvPr id="1032" name="AutoShape 8"/>
            <p:cNvCxnSpPr>
              <a:cxnSpLocks noChangeShapeType="1"/>
            </p:cNvCxnSpPr>
            <p:nvPr/>
          </p:nvCxnSpPr>
          <p:spPr bwMode="auto">
            <a:xfrm flipH="1">
              <a:off x="2627" y="5347"/>
              <a:ext cx="3280" cy="932"/>
            </a:xfrm>
            <a:prstGeom prst="straightConnector1">
              <a:avLst/>
            </a:prstGeom>
            <a:noFill/>
            <a:ln w="25400">
              <a:solidFill>
                <a:srgbClr val="000000"/>
              </a:solidFill>
              <a:round/>
              <a:headEnd/>
              <a:tailEnd type="triangle" w="med" len="med"/>
            </a:ln>
          </p:spPr>
        </p:cxnSp>
        <p:cxnSp>
          <p:nvCxnSpPr>
            <p:cNvPr id="1033" name="AutoShape 9"/>
            <p:cNvCxnSpPr>
              <a:cxnSpLocks noChangeShapeType="1"/>
            </p:cNvCxnSpPr>
            <p:nvPr/>
          </p:nvCxnSpPr>
          <p:spPr bwMode="auto">
            <a:xfrm>
              <a:off x="5907" y="5347"/>
              <a:ext cx="3186" cy="932"/>
            </a:xfrm>
            <a:prstGeom prst="straightConnector1">
              <a:avLst/>
            </a:prstGeom>
            <a:noFill/>
            <a:ln w="25400">
              <a:solidFill>
                <a:srgbClr val="000000"/>
              </a:solidFill>
              <a:round/>
              <a:headEnd/>
              <a:tailEnd type="triangle" w="med" len="med"/>
            </a:ln>
          </p:spPr>
        </p:cxn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5</a:t>
            </a:fld>
            <a:endParaRPr lang="en-US"/>
          </a:p>
        </p:txBody>
      </p:sp>
      <p:sp>
        <p:nvSpPr>
          <p:cNvPr id="21" name="Rectangle 20"/>
          <p:cNvSpPr/>
          <p:nvPr/>
        </p:nvSpPr>
        <p:spPr>
          <a:xfrm>
            <a:off x="990600" y="1"/>
            <a:ext cx="7467600" cy="584775"/>
          </a:xfrm>
          <a:prstGeom prst="rect">
            <a:avLst/>
          </a:prstGeom>
        </p:spPr>
        <p:txBody>
          <a:bodyPr wrap="square">
            <a:spAutoFit/>
          </a:bodyPr>
          <a:lstStyle/>
          <a:p>
            <a:pPr algn="ctr"/>
            <a:r>
              <a:rPr lang="en-US" sz="3200" dirty="0" smtClean="0">
                <a:solidFill>
                  <a:schemeClr val="bg1"/>
                </a:solidFill>
              </a:rPr>
              <a:t>Wireless Propagation Mechanisms</a:t>
            </a:r>
            <a:endParaRPr lang="en-US" sz="3200" b="1" dirty="0">
              <a:solidFill>
                <a:schemeClr val="bg1"/>
              </a:solidFill>
            </a:endParaRPr>
          </a:p>
        </p:txBody>
      </p:sp>
      <p:sp>
        <p:nvSpPr>
          <p:cNvPr id="22" name="Rectangle 21"/>
          <p:cNvSpPr/>
          <p:nvPr/>
        </p:nvSpPr>
        <p:spPr>
          <a:xfrm>
            <a:off x="381000" y="934283"/>
            <a:ext cx="7848600" cy="4247317"/>
          </a:xfrm>
          <a:prstGeom prst="rect">
            <a:avLst/>
          </a:prstGeom>
        </p:spPr>
        <p:txBody>
          <a:bodyPr wrap="square">
            <a:spAutoFit/>
          </a:bodyPr>
          <a:lstStyle/>
          <a:p>
            <a:pPr marL="342900" indent="-342900" algn="just">
              <a:lnSpc>
                <a:spcPct val="150000"/>
              </a:lnSpc>
              <a:buFont typeface="Wingdings" pitchFamily="2" charset="2"/>
              <a:buChar char="Ø"/>
            </a:pPr>
            <a:r>
              <a:rPr lang="en-US" dirty="0" smtClean="0"/>
              <a:t>Reflection occurs when the electro-</a:t>
            </a:r>
            <a:r>
              <a:rPr lang="en-US" dirty="0" err="1" smtClean="0"/>
              <a:t>megnatic</a:t>
            </a:r>
            <a:r>
              <a:rPr lang="en-US" dirty="0" smtClean="0"/>
              <a:t> wave impinges on an object which has very large dimensions as compared to the wavelength. </a:t>
            </a:r>
            <a:r>
              <a:rPr lang="en-US" dirty="0" err="1" smtClean="0"/>
              <a:t>e.g</a:t>
            </a:r>
            <a:r>
              <a:rPr lang="en-US" dirty="0" smtClean="0"/>
              <a:t> the surface of earth , buildings, wall etc</a:t>
            </a:r>
          </a:p>
          <a:p>
            <a:pPr marL="342900" indent="-342900" algn="just">
              <a:lnSpc>
                <a:spcPct val="150000"/>
              </a:lnSpc>
              <a:buFont typeface="Wingdings" pitchFamily="2" charset="2"/>
              <a:buChar char="Ø"/>
            </a:pPr>
            <a:r>
              <a:rPr lang="en-US" dirty="0" smtClean="0"/>
              <a:t>Diffraction occurs when the radio path between transmitter and receiver is obstructed by a surface that has sharp edges</a:t>
            </a:r>
          </a:p>
          <a:p>
            <a:pPr marL="800100" lvl="2" indent="-342900" algn="just">
              <a:lnSpc>
                <a:spcPct val="150000"/>
              </a:lnSpc>
              <a:buFont typeface="Arial" pitchFamily="34" charset="0"/>
              <a:buChar char="•"/>
            </a:pPr>
            <a:r>
              <a:rPr lang="en-US" dirty="0" smtClean="0"/>
              <a:t>Explains how radio signal can travel urban and rural environment without a line of sight path</a:t>
            </a:r>
          </a:p>
          <a:p>
            <a:pPr marL="342900" indent="-342900" algn="just">
              <a:lnSpc>
                <a:spcPct val="150000"/>
              </a:lnSpc>
              <a:buFont typeface="Wingdings" pitchFamily="2" charset="2"/>
              <a:buChar char="Ø"/>
            </a:pPr>
            <a:r>
              <a:rPr lang="en-US" dirty="0" smtClean="0"/>
              <a:t>Scattering occurs when the medium has object that are smaller or comparable to the wavelength (small objects, rough surface and other irregularities on the channel</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20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xEl>
                                              <p:pRg st="1" end="1"/>
                                            </p:txEl>
                                          </p:spTgt>
                                        </p:tgtEl>
                                        <p:attrNameLst>
                                          <p:attrName>style.visibility</p:attrName>
                                        </p:attrNameLst>
                                      </p:cBhvr>
                                      <p:to>
                                        <p:strVal val="visible"/>
                                      </p:to>
                                    </p:set>
                                    <p:animEffect transition="in" filter="fade">
                                      <p:cBhvr>
                                        <p:cTn id="12" dur="2000"/>
                                        <p:tgtEl>
                                          <p:spTgt spid="2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animEffect transition="in" filter="fade">
                                      <p:cBhvr>
                                        <p:cTn id="15" dur="2000"/>
                                        <p:tgtEl>
                                          <p:spTgt spid="2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xEl>
                                              <p:pRg st="3" end="3"/>
                                            </p:txEl>
                                          </p:spTgt>
                                        </p:tgtEl>
                                        <p:attrNameLst>
                                          <p:attrName>style.visibility</p:attrName>
                                        </p:attrNameLst>
                                      </p:cBhvr>
                                      <p:to>
                                        <p:strVal val="visible"/>
                                      </p:to>
                                    </p:set>
                                    <p:animEffect transition="in" filter="fade">
                                      <p:cBhvr>
                                        <p:cTn id="20" dur="2000"/>
                                        <p:tgtEl>
                                          <p:spTgt spid="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6</a:t>
            </a:fld>
            <a:endParaRPr lang="en-US"/>
          </a:p>
        </p:txBody>
      </p:sp>
      <p:sp>
        <p:nvSpPr>
          <p:cNvPr id="21" name="Rectangle 20"/>
          <p:cNvSpPr/>
          <p:nvPr/>
        </p:nvSpPr>
        <p:spPr>
          <a:xfrm>
            <a:off x="990600" y="1"/>
            <a:ext cx="7467600" cy="584775"/>
          </a:xfrm>
          <a:prstGeom prst="rect">
            <a:avLst/>
          </a:prstGeom>
        </p:spPr>
        <p:txBody>
          <a:bodyPr wrap="square">
            <a:spAutoFit/>
          </a:bodyPr>
          <a:lstStyle/>
          <a:p>
            <a:pPr algn="ctr"/>
            <a:r>
              <a:rPr lang="en-US" sz="3200" dirty="0" smtClean="0">
                <a:solidFill>
                  <a:schemeClr val="bg1"/>
                </a:solidFill>
              </a:rPr>
              <a:t>Wireless Propagation Mechanisms</a:t>
            </a:r>
            <a:endParaRPr lang="en-US" sz="3200" b="1" dirty="0">
              <a:solidFill>
                <a:schemeClr val="bg1"/>
              </a:solidFill>
            </a:endParaRPr>
          </a:p>
        </p:txBody>
      </p:sp>
      <p:sp>
        <p:nvSpPr>
          <p:cNvPr id="15" name="Rectangle 14"/>
          <p:cNvSpPr/>
          <p:nvPr/>
        </p:nvSpPr>
        <p:spPr>
          <a:xfrm>
            <a:off x="0" y="908247"/>
            <a:ext cx="8686800" cy="4662815"/>
          </a:xfrm>
          <a:prstGeom prst="rect">
            <a:avLst/>
          </a:prstGeom>
        </p:spPr>
        <p:txBody>
          <a:bodyPr wrap="square">
            <a:spAutoFit/>
          </a:bodyPr>
          <a:lstStyle/>
          <a:p>
            <a:pPr marL="284163" indent="-284163" algn="just">
              <a:lnSpc>
                <a:spcPct val="150000"/>
              </a:lnSpc>
              <a:buFont typeface="Arial" pitchFamily="34" charset="0"/>
              <a:buChar char="•"/>
            </a:pPr>
            <a:r>
              <a:rPr lang="en-US" dirty="0" smtClean="0"/>
              <a:t>When a radio wave propagating in one medium impinges upon another medium having different electrical properties, the wave is partially reflected and partially transmitted. </a:t>
            </a:r>
          </a:p>
          <a:p>
            <a:pPr marL="284163" indent="-284163" algn="just">
              <a:lnSpc>
                <a:spcPct val="150000"/>
              </a:lnSpc>
              <a:buFont typeface="Arial" pitchFamily="34" charset="0"/>
              <a:buChar char="•"/>
            </a:pPr>
            <a:r>
              <a:rPr lang="en-US" dirty="0" smtClean="0"/>
              <a:t>If the plane wave is incident on a </a:t>
            </a:r>
            <a:r>
              <a:rPr lang="en-US" b="1" i="1" dirty="0" smtClean="0"/>
              <a:t>perfect dielectric</a:t>
            </a:r>
            <a:r>
              <a:rPr lang="en-US" dirty="0" smtClean="0"/>
              <a:t>, part of the energy is transmitted into the second medium and part of the energy is reflected back into the first medium, and there is no loss of energy in absorption.</a:t>
            </a:r>
          </a:p>
          <a:p>
            <a:pPr marL="284163" indent="-284163" algn="just">
              <a:lnSpc>
                <a:spcPct val="150000"/>
              </a:lnSpc>
              <a:buFont typeface="Arial" pitchFamily="34" charset="0"/>
              <a:buChar char="•"/>
            </a:pPr>
            <a:r>
              <a:rPr lang="en-US" dirty="0" smtClean="0"/>
              <a:t>If the second medium is a </a:t>
            </a:r>
            <a:r>
              <a:rPr lang="en-US" b="1" i="1" dirty="0" smtClean="0"/>
              <a:t>perfect conductor</a:t>
            </a:r>
            <a:r>
              <a:rPr lang="en-US" dirty="0" smtClean="0"/>
              <a:t>, then </a:t>
            </a:r>
            <a:r>
              <a:rPr lang="en-US" i="1" dirty="0" smtClean="0"/>
              <a:t>all incident energy is reflected back into the </a:t>
            </a:r>
            <a:r>
              <a:rPr lang="en-US" dirty="0" smtClean="0"/>
              <a:t>first medium without loss of energy. </a:t>
            </a:r>
          </a:p>
          <a:p>
            <a:pPr marL="284163" indent="-284163" algn="just">
              <a:lnSpc>
                <a:spcPct val="150000"/>
              </a:lnSpc>
              <a:buFont typeface="Arial" pitchFamily="34" charset="0"/>
              <a:buChar char="•"/>
            </a:pPr>
            <a:r>
              <a:rPr lang="en-US" dirty="0" smtClean="0"/>
              <a:t>The electric field intensity of the reflected and transmitted waves may be related to the incident wave in the medium of origin through the </a:t>
            </a:r>
            <a:r>
              <a:rPr lang="en-US" i="1" dirty="0" smtClean="0"/>
              <a:t>Fresnel reflection coefficient ( ). The reflection coefficient is a function of the material properties, and generally </a:t>
            </a:r>
            <a:r>
              <a:rPr lang="en-US" dirty="0" smtClean="0"/>
              <a:t>depends on the wave polarization, angle of incidence, and the frequency of the propagating wave.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20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fade">
                                      <p:cBhvr>
                                        <p:cTn id="12" dur="2000"/>
                                        <p:tgtEl>
                                          <p:spTgt spid="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fade">
                                      <p:cBhvr>
                                        <p:cTn id="17" dur="2000"/>
                                        <p:tgtEl>
                                          <p:spTgt spid="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fade">
                                      <p:cBhvr>
                                        <p:cTn id="22" dur="20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7</a:t>
            </a:fld>
            <a:endParaRPr lang="en-US"/>
          </a:p>
        </p:txBody>
      </p:sp>
      <p:sp>
        <p:nvSpPr>
          <p:cNvPr id="21" name="Rectangle 20"/>
          <p:cNvSpPr/>
          <p:nvPr/>
        </p:nvSpPr>
        <p:spPr>
          <a:xfrm>
            <a:off x="990600" y="1"/>
            <a:ext cx="7467600" cy="584775"/>
          </a:xfrm>
          <a:prstGeom prst="rect">
            <a:avLst/>
          </a:prstGeom>
        </p:spPr>
        <p:txBody>
          <a:bodyPr wrap="square">
            <a:spAutoFit/>
          </a:bodyPr>
          <a:lstStyle/>
          <a:p>
            <a:pPr algn="ctr"/>
            <a:r>
              <a:rPr lang="en-US" sz="3200" dirty="0" smtClean="0">
                <a:solidFill>
                  <a:schemeClr val="bg1"/>
                </a:solidFill>
              </a:rPr>
              <a:t>Wireless Propagation Mechanisms</a:t>
            </a:r>
            <a:endParaRPr lang="en-US" sz="3200" b="1" dirty="0">
              <a:solidFill>
                <a:schemeClr val="bg1"/>
              </a:solidFill>
            </a:endParaRPr>
          </a:p>
        </p:txBody>
      </p:sp>
      <p:sp>
        <p:nvSpPr>
          <p:cNvPr id="16" name="Rectangle 15"/>
          <p:cNvSpPr/>
          <p:nvPr/>
        </p:nvSpPr>
        <p:spPr>
          <a:xfrm>
            <a:off x="228600" y="990600"/>
            <a:ext cx="8305800" cy="3785652"/>
          </a:xfrm>
          <a:prstGeom prst="rect">
            <a:avLst/>
          </a:prstGeom>
        </p:spPr>
        <p:txBody>
          <a:bodyPr wrap="square">
            <a:spAutoFit/>
          </a:bodyPr>
          <a:lstStyle/>
          <a:p>
            <a:pPr>
              <a:lnSpc>
                <a:spcPct val="150000"/>
              </a:lnSpc>
              <a:buFont typeface="Wingdings" pitchFamily="2" charset="2"/>
              <a:buChar char="Ø"/>
            </a:pPr>
            <a:r>
              <a:rPr lang="en-US" sz="2000" dirty="0" smtClean="0"/>
              <a:t>In general , electromagnetic waves are polarized i.e.</a:t>
            </a:r>
          </a:p>
          <a:p>
            <a:pPr lvl="1">
              <a:lnSpc>
                <a:spcPct val="150000"/>
              </a:lnSpc>
              <a:buFont typeface="Arial" pitchFamily="34" charset="0"/>
              <a:buChar char="•"/>
            </a:pPr>
            <a:r>
              <a:rPr lang="en-US" sz="2000" dirty="0" smtClean="0"/>
              <a:t> They have instantaneous electric field components in orthogonal directions in space</a:t>
            </a:r>
          </a:p>
          <a:p>
            <a:pPr marL="233363" indent="-233363">
              <a:lnSpc>
                <a:spcPct val="150000"/>
              </a:lnSpc>
              <a:buFont typeface="Wingdings" pitchFamily="2" charset="2"/>
              <a:buChar char="Ø"/>
            </a:pPr>
            <a:r>
              <a:rPr lang="en-US" sz="2000" dirty="0" smtClean="0"/>
              <a:t>A polarized wave can be represented as a sum of two spatially orthogonal  components</a:t>
            </a:r>
          </a:p>
          <a:p>
            <a:pPr marL="690563" lvl="1" indent="-233363">
              <a:lnSpc>
                <a:spcPct val="150000"/>
              </a:lnSpc>
              <a:buFont typeface="Arial" pitchFamily="34" charset="0"/>
              <a:buChar char="•"/>
            </a:pPr>
            <a:r>
              <a:rPr lang="en-US" sz="2000" dirty="0" smtClean="0"/>
              <a:t>Vertical or horizontal</a:t>
            </a:r>
          </a:p>
          <a:p>
            <a:pPr marL="690563" lvl="1" indent="-233363">
              <a:lnSpc>
                <a:spcPct val="150000"/>
              </a:lnSpc>
              <a:buFont typeface="Arial" pitchFamily="34" charset="0"/>
              <a:buChar char="•"/>
            </a:pPr>
            <a:r>
              <a:rPr lang="en-US" sz="2000" dirty="0" smtClean="0"/>
              <a:t>Left hand or right hand circularly polarized</a:t>
            </a:r>
          </a:p>
          <a:p>
            <a:pPr>
              <a:lnSpc>
                <a:spcPct val="150000"/>
              </a:lnSpc>
              <a:buFont typeface="Wingdings" pitchFamily="2" charset="2"/>
              <a:buChar char="Ø"/>
            </a:pPr>
            <a:r>
              <a:rPr lang="en-US" sz="2000" dirty="0" smtClean="0"/>
              <a:t>Polarization can also be used as a degree of freedom for frequency planning</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fade">
                                      <p:cBhvr>
                                        <p:cTn id="10" dur="2000"/>
                                        <p:tgtEl>
                                          <p:spTgt spid="1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Effect transition="in" filter="fade">
                                      <p:cBhvr>
                                        <p:cTn id="15" dur="2000"/>
                                        <p:tgtEl>
                                          <p:spTgt spid="16">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xEl>
                                              <p:pRg st="3" end="3"/>
                                            </p:txEl>
                                          </p:spTgt>
                                        </p:tgtEl>
                                        <p:attrNameLst>
                                          <p:attrName>style.visibility</p:attrName>
                                        </p:attrNameLst>
                                      </p:cBhvr>
                                      <p:to>
                                        <p:strVal val="visible"/>
                                      </p:to>
                                    </p:set>
                                    <p:animEffect transition="in" filter="fade">
                                      <p:cBhvr>
                                        <p:cTn id="18" dur="2000"/>
                                        <p:tgtEl>
                                          <p:spTgt spid="16">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Effect transition="in" filter="fade">
                                      <p:cBhvr>
                                        <p:cTn id="21" dur="2000"/>
                                        <p:tgtEl>
                                          <p:spTgt spid="16">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6">
                                            <p:txEl>
                                              <p:pRg st="5" end="5"/>
                                            </p:txEl>
                                          </p:spTgt>
                                        </p:tgtEl>
                                        <p:attrNameLst>
                                          <p:attrName>style.visibility</p:attrName>
                                        </p:attrNameLst>
                                      </p:cBhvr>
                                      <p:to>
                                        <p:strVal val="visible"/>
                                      </p:to>
                                    </p:set>
                                    <p:animEffect transition="in" filter="fade">
                                      <p:cBhvr>
                                        <p:cTn id="26" dur="2000"/>
                                        <p:tgtEl>
                                          <p:spTgt spid="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AFEC7BA-A2BA-47BD-A280-13B94C2767F5}" type="slidenum">
              <a:rPr lang="en-US" smtClean="0"/>
              <a:pPr/>
              <a:t>8</a:t>
            </a:fld>
            <a:endParaRPr lang="en-US"/>
          </a:p>
        </p:txBody>
      </p:sp>
      <p:grpSp>
        <p:nvGrpSpPr>
          <p:cNvPr id="3" name="Group 14"/>
          <p:cNvGrpSpPr/>
          <p:nvPr/>
        </p:nvGrpSpPr>
        <p:grpSpPr>
          <a:xfrm>
            <a:off x="0" y="65325"/>
            <a:ext cx="9144000" cy="6792675"/>
            <a:chOff x="0" y="65325"/>
            <a:chExt cx="9144000" cy="6792675"/>
          </a:xfrm>
        </p:grpSpPr>
        <p:sp>
          <p:nvSpPr>
            <p:cNvPr id="4"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5" name="Group 4"/>
            <p:cNvGrpSpPr/>
            <p:nvPr/>
          </p:nvGrpSpPr>
          <p:grpSpPr>
            <a:xfrm>
              <a:off x="0" y="404838"/>
              <a:ext cx="9143997" cy="6453162"/>
              <a:chOff x="-323094" y="776786"/>
              <a:chExt cx="14645896" cy="8136116"/>
            </a:xfrm>
          </p:grpSpPr>
          <p:grpSp>
            <p:nvGrpSpPr>
              <p:cNvPr id="6" name="Group 44"/>
              <p:cNvGrpSpPr/>
              <p:nvPr/>
            </p:nvGrpSpPr>
            <p:grpSpPr>
              <a:xfrm>
                <a:off x="-323094" y="1232011"/>
                <a:ext cx="14645896" cy="7680891"/>
                <a:chOff x="-323094" y="1232011"/>
                <a:chExt cx="14645896" cy="7680891"/>
              </a:xfrm>
            </p:grpSpPr>
            <p:sp>
              <p:nvSpPr>
                <p:cNvPr id="8" name="Half Frame 7"/>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9" name="Half Frame 8"/>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0" name="Half Frame 9"/>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7"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2" name="Rectangle 11"/>
          <p:cNvSpPr/>
          <p:nvPr/>
        </p:nvSpPr>
        <p:spPr>
          <a:xfrm>
            <a:off x="990600" y="1"/>
            <a:ext cx="7467600" cy="584775"/>
          </a:xfrm>
          <a:prstGeom prst="rect">
            <a:avLst/>
          </a:prstGeom>
        </p:spPr>
        <p:txBody>
          <a:bodyPr wrap="square">
            <a:spAutoFit/>
          </a:bodyPr>
          <a:lstStyle/>
          <a:p>
            <a:pPr algn="ctr"/>
            <a:r>
              <a:rPr lang="en-US" altLang="en-US" sz="3200" dirty="0" smtClean="0">
                <a:solidFill>
                  <a:schemeClr val="bg1"/>
                </a:solidFill>
              </a:rPr>
              <a:t>Reflection from Dielectrics</a:t>
            </a:r>
            <a:endParaRPr lang="en-US" sz="3200" b="1" dirty="0">
              <a:solidFill>
                <a:schemeClr val="bg1"/>
              </a:solidFill>
            </a:endParaRPr>
          </a:p>
        </p:txBody>
      </p:sp>
      <p:pic>
        <p:nvPicPr>
          <p:cNvPr id="1026" name="Picture 2"/>
          <p:cNvPicPr>
            <a:picLocks noChangeAspect="1" noChangeArrowheads="1"/>
          </p:cNvPicPr>
          <p:nvPr/>
        </p:nvPicPr>
        <p:blipFill>
          <a:blip r:embed="rId2"/>
          <a:srcRect/>
          <a:stretch>
            <a:fillRect/>
          </a:stretch>
        </p:blipFill>
        <p:spPr bwMode="auto">
          <a:xfrm>
            <a:off x="714375" y="990600"/>
            <a:ext cx="7715250" cy="48768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9</a:t>
            </a:fld>
            <a:endParaRPr lang="en-US"/>
          </a:p>
        </p:txBody>
      </p:sp>
      <p:sp>
        <p:nvSpPr>
          <p:cNvPr id="21" name="Rectangle 20"/>
          <p:cNvSpPr/>
          <p:nvPr/>
        </p:nvSpPr>
        <p:spPr>
          <a:xfrm>
            <a:off x="990600" y="1"/>
            <a:ext cx="7467600" cy="584775"/>
          </a:xfrm>
          <a:prstGeom prst="rect">
            <a:avLst/>
          </a:prstGeom>
        </p:spPr>
        <p:txBody>
          <a:bodyPr wrap="square">
            <a:spAutoFit/>
          </a:bodyPr>
          <a:lstStyle/>
          <a:p>
            <a:pPr algn="ctr"/>
            <a:r>
              <a:rPr lang="en-US" altLang="en-US" sz="3200" dirty="0" smtClean="0">
                <a:solidFill>
                  <a:schemeClr val="bg1"/>
                </a:solidFill>
              </a:rPr>
              <a:t>Reflection from Dielectrics</a:t>
            </a:r>
            <a:endParaRPr lang="en-US" sz="3200" b="1" dirty="0">
              <a:solidFill>
                <a:schemeClr val="bg1"/>
              </a:solidFill>
            </a:endParaRPr>
          </a:p>
        </p:txBody>
      </p:sp>
      <p:pic>
        <p:nvPicPr>
          <p:cNvPr id="2050" name="Picture 2"/>
          <p:cNvPicPr>
            <a:picLocks noChangeAspect="1" noChangeArrowheads="1"/>
          </p:cNvPicPr>
          <p:nvPr/>
        </p:nvPicPr>
        <p:blipFill>
          <a:blip r:embed="rId2"/>
          <a:srcRect/>
          <a:stretch>
            <a:fillRect/>
          </a:stretch>
        </p:blipFill>
        <p:spPr bwMode="auto">
          <a:xfrm>
            <a:off x="85725" y="1585913"/>
            <a:ext cx="8972550" cy="36861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AFEC7BA-A2BA-47BD-A280-13B94C2767F5}" type="slidenum">
              <a:rPr lang="en-US" smtClean="0"/>
              <a:pPr/>
              <a:t>10</a:t>
            </a:fld>
            <a:endParaRPr lang="en-US"/>
          </a:p>
        </p:txBody>
      </p:sp>
      <p:grpSp>
        <p:nvGrpSpPr>
          <p:cNvPr id="3" name="Group 14"/>
          <p:cNvGrpSpPr/>
          <p:nvPr/>
        </p:nvGrpSpPr>
        <p:grpSpPr>
          <a:xfrm>
            <a:off x="0" y="65325"/>
            <a:ext cx="9144000" cy="6792675"/>
            <a:chOff x="0" y="65325"/>
            <a:chExt cx="9144000" cy="6792675"/>
          </a:xfrm>
        </p:grpSpPr>
        <p:sp>
          <p:nvSpPr>
            <p:cNvPr id="4"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5" name="Group 4"/>
            <p:cNvGrpSpPr/>
            <p:nvPr/>
          </p:nvGrpSpPr>
          <p:grpSpPr>
            <a:xfrm>
              <a:off x="0" y="404838"/>
              <a:ext cx="9143997" cy="6453162"/>
              <a:chOff x="-323094" y="776786"/>
              <a:chExt cx="14645896" cy="8136116"/>
            </a:xfrm>
          </p:grpSpPr>
          <p:grpSp>
            <p:nvGrpSpPr>
              <p:cNvPr id="6" name="Group 44"/>
              <p:cNvGrpSpPr/>
              <p:nvPr/>
            </p:nvGrpSpPr>
            <p:grpSpPr>
              <a:xfrm>
                <a:off x="-323094" y="1232011"/>
                <a:ext cx="14645896" cy="7680891"/>
                <a:chOff x="-323094" y="1232011"/>
                <a:chExt cx="14645896" cy="7680891"/>
              </a:xfrm>
            </p:grpSpPr>
            <p:sp>
              <p:nvSpPr>
                <p:cNvPr id="8" name="Half Frame 7"/>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9" name="Half Frame 8"/>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0" name="Half Frame 9"/>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7"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2" name="Rectangle 11"/>
          <p:cNvSpPr/>
          <p:nvPr/>
        </p:nvSpPr>
        <p:spPr>
          <a:xfrm>
            <a:off x="990600" y="1"/>
            <a:ext cx="7467600" cy="584775"/>
          </a:xfrm>
          <a:prstGeom prst="rect">
            <a:avLst/>
          </a:prstGeom>
        </p:spPr>
        <p:txBody>
          <a:bodyPr wrap="square">
            <a:spAutoFit/>
          </a:bodyPr>
          <a:lstStyle/>
          <a:p>
            <a:pPr algn="ctr"/>
            <a:r>
              <a:rPr lang="en-US" altLang="en-US" sz="3200" dirty="0" smtClean="0">
                <a:solidFill>
                  <a:schemeClr val="bg1"/>
                </a:solidFill>
              </a:rPr>
              <a:t>Reflection from Dielectrics</a:t>
            </a:r>
            <a:endParaRPr lang="en-US" sz="3200" b="1"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AFEC7BA-A2BA-47BD-A280-13B94C2767F5}" type="slidenum">
              <a:rPr lang="en-US" smtClean="0"/>
              <a:pPr/>
              <a:t>11</a:t>
            </a:fld>
            <a:endParaRPr lang="en-US"/>
          </a:p>
        </p:txBody>
      </p:sp>
      <p:grpSp>
        <p:nvGrpSpPr>
          <p:cNvPr id="3" name="Group 14"/>
          <p:cNvGrpSpPr/>
          <p:nvPr/>
        </p:nvGrpSpPr>
        <p:grpSpPr>
          <a:xfrm>
            <a:off x="0" y="65325"/>
            <a:ext cx="9144000" cy="6792675"/>
            <a:chOff x="0" y="65325"/>
            <a:chExt cx="9144000" cy="6792675"/>
          </a:xfrm>
        </p:grpSpPr>
        <p:sp>
          <p:nvSpPr>
            <p:cNvPr id="4"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5" name="Group 4"/>
            <p:cNvGrpSpPr/>
            <p:nvPr/>
          </p:nvGrpSpPr>
          <p:grpSpPr>
            <a:xfrm>
              <a:off x="0" y="404838"/>
              <a:ext cx="9143997" cy="6453162"/>
              <a:chOff x="-323094" y="776786"/>
              <a:chExt cx="14645896" cy="8136116"/>
            </a:xfrm>
          </p:grpSpPr>
          <p:grpSp>
            <p:nvGrpSpPr>
              <p:cNvPr id="6" name="Group 44"/>
              <p:cNvGrpSpPr/>
              <p:nvPr/>
            </p:nvGrpSpPr>
            <p:grpSpPr>
              <a:xfrm>
                <a:off x="-323094" y="1232011"/>
                <a:ext cx="14645896" cy="7680891"/>
                <a:chOff x="-323094" y="1232011"/>
                <a:chExt cx="14645896" cy="7680891"/>
              </a:xfrm>
            </p:grpSpPr>
            <p:sp>
              <p:nvSpPr>
                <p:cNvPr id="8" name="Half Frame 7"/>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9" name="Half Frame 8"/>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0" name="Half Frame 9"/>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7"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2" name="Rectangle 11"/>
          <p:cNvSpPr/>
          <p:nvPr/>
        </p:nvSpPr>
        <p:spPr>
          <a:xfrm>
            <a:off x="990600" y="1"/>
            <a:ext cx="7467600" cy="584775"/>
          </a:xfrm>
          <a:prstGeom prst="rect">
            <a:avLst/>
          </a:prstGeom>
        </p:spPr>
        <p:txBody>
          <a:bodyPr wrap="square">
            <a:spAutoFit/>
          </a:bodyPr>
          <a:lstStyle/>
          <a:p>
            <a:pPr algn="ctr"/>
            <a:r>
              <a:rPr lang="en-US" altLang="en-US" sz="3200" dirty="0" smtClean="0">
                <a:solidFill>
                  <a:schemeClr val="bg1"/>
                </a:solidFill>
              </a:rPr>
              <a:t>Reflection from Dielectrics</a:t>
            </a:r>
            <a:endParaRPr lang="en-US" sz="3200" b="1"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12</a:t>
            </a:fld>
            <a:endParaRPr lang="en-US"/>
          </a:p>
        </p:txBody>
      </p:sp>
      <p:pic>
        <p:nvPicPr>
          <p:cNvPr id="3074" name="Picture 2"/>
          <p:cNvPicPr>
            <a:picLocks noChangeAspect="1" noChangeArrowheads="1"/>
          </p:cNvPicPr>
          <p:nvPr/>
        </p:nvPicPr>
        <p:blipFill>
          <a:blip r:embed="rId2"/>
          <a:srcRect/>
          <a:stretch>
            <a:fillRect/>
          </a:stretch>
        </p:blipFill>
        <p:spPr bwMode="auto">
          <a:xfrm>
            <a:off x="2362200" y="762000"/>
            <a:ext cx="4381500" cy="3067050"/>
          </a:xfrm>
          <a:prstGeom prst="rect">
            <a:avLst/>
          </a:prstGeom>
          <a:noFill/>
          <a:ln w="9525">
            <a:noFill/>
            <a:miter lim="800000"/>
            <a:headEnd/>
            <a:tailEnd/>
          </a:ln>
          <a:effectLst/>
        </p:spPr>
      </p:pic>
      <p:sp>
        <p:nvSpPr>
          <p:cNvPr id="15" name="Rectangle 14"/>
          <p:cNvSpPr/>
          <p:nvPr/>
        </p:nvSpPr>
        <p:spPr>
          <a:xfrm>
            <a:off x="838200" y="4190532"/>
            <a:ext cx="7543800" cy="1338828"/>
          </a:xfrm>
          <a:prstGeom prst="rect">
            <a:avLst/>
          </a:prstGeom>
        </p:spPr>
        <p:txBody>
          <a:bodyPr wrap="square">
            <a:spAutoFit/>
          </a:bodyPr>
          <a:lstStyle/>
          <a:p>
            <a:pPr algn="just">
              <a:lnSpc>
                <a:spcPct val="150000"/>
              </a:lnSpc>
            </a:pPr>
            <a:r>
              <a:rPr lang="en-US" dirty="0" smtClean="0"/>
              <a:t>The E-field polarization is parallel with the plane of incidence (that is, the           E-field has a vertical polarization, or normal component, with respect to the reflecting surface)</a:t>
            </a:r>
            <a:endParaRPr lang="en-US" dirty="0"/>
          </a:p>
        </p:txBody>
      </p:sp>
      <p:sp>
        <p:nvSpPr>
          <p:cNvPr id="18" name="Rectangle 17"/>
          <p:cNvSpPr/>
          <p:nvPr/>
        </p:nvSpPr>
        <p:spPr>
          <a:xfrm>
            <a:off x="1143000" y="0"/>
            <a:ext cx="7467600" cy="584775"/>
          </a:xfrm>
          <a:prstGeom prst="rect">
            <a:avLst/>
          </a:prstGeom>
        </p:spPr>
        <p:txBody>
          <a:bodyPr wrap="square">
            <a:spAutoFit/>
          </a:bodyPr>
          <a:lstStyle/>
          <a:p>
            <a:pPr algn="ctr"/>
            <a:r>
              <a:rPr lang="en-US" altLang="en-US" sz="3200" dirty="0" smtClean="0">
                <a:solidFill>
                  <a:schemeClr val="bg1"/>
                </a:solidFill>
              </a:rPr>
              <a:t>Reflection from Dielectric</a:t>
            </a:r>
            <a:endParaRPr lang="en-US" sz="32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20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13</a:t>
            </a:fld>
            <a:endParaRPr lang="en-US"/>
          </a:p>
        </p:txBody>
      </p:sp>
      <p:pic>
        <p:nvPicPr>
          <p:cNvPr id="4098" name="Picture 2"/>
          <p:cNvPicPr>
            <a:picLocks noChangeAspect="1" noChangeArrowheads="1"/>
          </p:cNvPicPr>
          <p:nvPr/>
        </p:nvPicPr>
        <p:blipFill>
          <a:blip r:embed="rId2"/>
          <a:srcRect/>
          <a:stretch>
            <a:fillRect/>
          </a:stretch>
        </p:blipFill>
        <p:spPr bwMode="auto">
          <a:xfrm>
            <a:off x="1828800" y="914400"/>
            <a:ext cx="5162550" cy="3057525"/>
          </a:xfrm>
          <a:prstGeom prst="rect">
            <a:avLst/>
          </a:prstGeom>
          <a:noFill/>
          <a:ln w="9525">
            <a:noFill/>
            <a:miter lim="800000"/>
            <a:headEnd/>
            <a:tailEnd/>
          </a:ln>
          <a:effectLst/>
        </p:spPr>
      </p:pic>
      <p:sp>
        <p:nvSpPr>
          <p:cNvPr id="16" name="Rectangle 15"/>
          <p:cNvSpPr/>
          <p:nvPr/>
        </p:nvSpPr>
        <p:spPr>
          <a:xfrm>
            <a:off x="1143000" y="0"/>
            <a:ext cx="7467600" cy="584775"/>
          </a:xfrm>
          <a:prstGeom prst="rect">
            <a:avLst/>
          </a:prstGeom>
        </p:spPr>
        <p:txBody>
          <a:bodyPr wrap="square">
            <a:spAutoFit/>
          </a:bodyPr>
          <a:lstStyle/>
          <a:p>
            <a:pPr algn="ctr"/>
            <a:r>
              <a:rPr lang="en-US" altLang="en-US" sz="3200" dirty="0" smtClean="0">
                <a:solidFill>
                  <a:schemeClr val="bg1"/>
                </a:solidFill>
              </a:rPr>
              <a:t>Reflection from Dielectric</a:t>
            </a:r>
            <a:endParaRPr lang="en-US" sz="3200" b="1" dirty="0">
              <a:solidFill>
                <a:schemeClr val="bg1"/>
              </a:solidFill>
            </a:endParaRPr>
          </a:p>
        </p:txBody>
      </p:sp>
      <p:sp>
        <p:nvSpPr>
          <p:cNvPr id="18" name="Rectangle 17"/>
          <p:cNvSpPr/>
          <p:nvPr/>
        </p:nvSpPr>
        <p:spPr>
          <a:xfrm>
            <a:off x="762000" y="4419600"/>
            <a:ext cx="7848600" cy="1295868"/>
          </a:xfrm>
          <a:prstGeom prst="rect">
            <a:avLst/>
          </a:prstGeom>
        </p:spPr>
        <p:txBody>
          <a:bodyPr wrap="square">
            <a:spAutoFit/>
          </a:bodyPr>
          <a:lstStyle/>
          <a:p>
            <a:pPr algn="just">
              <a:lnSpc>
                <a:spcPct val="150000"/>
              </a:lnSpc>
            </a:pPr>
            <a:r>
              <a:rPr lang="en-US" dirty="0" smtClean="0"/>
              <a:t>The E-field polarization is perpendicular to the plane of incidence (that is, the incident E-field is pointing out of the page toward  the reader, and is perpendicular to the page and parallel to the reflecting surface).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20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20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14</a:t>
            </a:fld>
            <a:endParaRPr lang="en-US"/>
          </a:p>
        </p:txBody>
      </p:sp>
      <p:sp>
        <p:nvSpPr>
          <p:cNvPr id="21" name="Rectangle 20"/>
          <p:cNvSpPr/>
          <p:nvPr/>
        </p:nvSpPr>
        <p:spPr>
          <a:xfrm>
            <a:off x="990600" y="1"/>
            <a:ext cx="7467600" cy="1077218"/>
          </a:xfrm>
          <a:prstGeom prst="rect">
            <a:avLst/>
          </a:prstGeom>
        </p:spPr>
        <p:txBody>
          <a:bodyPr wrap="square">
            <a:spAutoFit/>
          </a:bodyPr>
          <a:lstStyle/>
          <a:p>
            <a:pPr algn="ctr"/>
            <a:r>
              <a:rPr lang="en-US" altLang="en-US" sz="3200" dirty="0" smtClean="0">
                <a:solidFill>
                  <a:schemeClr val="bg1"/>
                </a:solidFill>
              </a:rPr>
              <a:t>Reflection from Dielectric</a:t>
            </a:r>
            <a:endParaRPr lang="en-US" sz="3200" b="1" dirty="0" smtClean="0">
              <a:solidFill>
                <a:schemeClr val="bg1"/>
              </a:solidFill>
            </a:endParaRPr>
          </a:p>
          <a:p>
            <a:pPr algn="ctr"/>
            <a:endParaRPr lang="en-US" sz="3200" b="1" dirty="0">
              <a:solidFill>
                <a:schemeClr val="bg1"/>
              </a:solidFill>
            </a:endParaRPr>
          </a:p>
        </p:txBody>
      </p:sp>
      <p:sp>
        <p:nvSpPr>
          <p:cNvPr id="15" name="Rectangle 14"/>
          <p:cNvSpPr/>
          <p:nvPr/>
        </p:nvSpPr>
        <p:spPr>
          <a:xfrm>
            <a:off x="152400" y="877669"/>
            <a:ext cx="8382000" cy="880369"/>
          </a:xfrm>
          <a:prstGeom prst="rect">
            <a:avLst/>
          </a:prstGeom>
        </p:spPr>
        <p:txBody>
          <a:bodyPr wrap="square">
            <a:spAutoFit/>
          </a:bodyPr>
          <a:lstStyle/>
          <a:p>
            <a:pPr>
              <a:lnSpc>
                <a:spcPct val="150000"/>
              </a:lnSpc>
            </a:pPr>
            <a:r>
              <a:rPr lang="en-US" dirty="0" smtClean="0"/>
              <a:t>If a dielectric material is </a:t>
            </a:r>
            <a:r>
              <a:rPr lang="en-US" dirty="0" err="1" smtClean="0"/>
              <a:t>lossy</a:t>
            </a:r>
            <a:r>
              <a:rPr lang="en-US" dirty="0" smtClean="0"/>
              <a:t>, it will absorb power and may be described by a complex dielectric constant given by</a:t>
            </a:r>
            <a:endParaRPr lang="en-US" dirty="0"/>
          </a:p>
        </p:txBody>
      </p:sp>
      <p:pic>
        <p:nvPicPr>
          <p:cNvPr id="1027" name="Picture 3"/>
          <p:cNvPicPr>
            <a:picLocks noChangeAspect="1" noChangeArrowheads="1"/>
          </p:cNvPicPr>
          <p:nvPr/>
        </p:nvPicPr>
        <p:blipFill>
          <a:blip r:embed="rId2"/>
          <a:srcRect/>
          <a:stretch>
            <a:fillRect/>
          </a:stretch>
        </p:blipFill>
        <p:spPr bwMode="auto">
          <a:xfrm>
            <a:off x="2819400" y="1905000"/>
            <a:ext cx="2209800" cy="5715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6400800" y="1828800"/>
            <a:ext cx="1524000" cy="704850"/>
          </a:xfrm>
          <a:prstGeom prst="rect">
            <a:avLst/>
          </a:prstGeom>
          <a:noFill/>
          <a:ln w="9525">
            <a:noFill/>
            <a:miter lim="800000"/>
            <a:headEnd/>
            <a:tailEnd/>
          </a:ln>
          <a:effectLst/>
        </p:spPr>
      </p:pic>
      <p:sp>
        <p:nvSpPr>
          <p:cNvPr id="18" name="TextBox 17"/>
          <p:cNvSpPr txBox="1"/>
          <p:nvPr/>
        </p:nvSpPr>
        <p:spPr>
          <a:xfrm>
            <a:off x="5029200" y="1992868"/>
            <a:ext cx="1295400" cy="369332"/>
          </a:xfrm>
          <a:prstGeom prst="rect">
            <a:avLst/>
          </a:prstGeom>
          <a:noFill/>
        </p:spPr>
        <p:txBody>
          <a:bodyPr wrap="square" rtlCol="0">
            <a:spAutoFit/>
          </a:bodyPr>
          <a:lstStyle/>
          <a:p>
            <a:pPr algn="ctr"/>
            <a:r>
              <a:rPr lang="en-US" dirty="0" smtClean="0"/>
              <a:t>where</a:t>
            </a:r>
            <a:endParaRPr lang="en-US" dirty="0"/>
          </a:p>
        </p:txBody>
      </p:sp>
      <p:sp>
        <p:nvSpPr>
          <p:cNvPr id="19" name="Rectangle 18"/>
          <p:cNvSpPr/>
          <p:nvPr/>
        </p:nvSpPr>
        <p:spPr>
          <a:xfrm>
            <a:off x="381000" y="2819400"/>
            <a:ext cx="8458200" cy="880369"/>
          </a:xfrm>
          <a:prstGeom prst="rect">
            <a:avLst/>
          </a:prstGeom>
        </p:spPr>
        <p:txBody>
          <a:bodyPr wrap="square">
            <a:spAutoFit/>
          </a:bodyPr>
          <a:lstStyle/>
          <a:p>
            <a:pPr algn="just">
              <a:lnSpc>
                <a:spcPct val="150000"/>
              </a:lnSpc>
            </a:pPr>
            <a:r>
              <a:rPr lang="en-US" dirty="0" smtClean="0"/>
              <a:t>The reflection coefficients for the two cases of parallel and perpendicular E-field polarization at the boundary of two dielectrics are given by</a:t>
            </a:r>
          </a:p>
        </p:txBody>
      </p:sp>
      <p:pic>
        <p:nvPicPr>
          <p:cNvPr id="1029" name="Picture 5"/>
          <p:cNvPicPr>
            <a:picLocks noChangeAspect="1" noChangeArrowheads="1"/>
          </p:cNvPicPr>
          <p:nvPr/>
        </p:nvPicPr>
        <p:blipFill>
          <a:blip r:embed="rId4"/>
          <a:srcRect/>
          <a:stretch>
            <a:fillRect/>
          </a:stretch>
        </p:blipFill>
        <p:spPr bwMode="auto">
          <a:xfrm>
            <a:off x="1371600" y="4038600"/>
            <a:ext cx="6470650" cy="1320800"/>
          </a:xfrm>
          <a:prstGeom prst="rect">
            <a:avLst/>
          </a:prstGeom>
          <a:noFill/>
          <a:ln w="9525">
            <a:noFill/>
            <a:miter lim="800000"/>
            <a:headEnd/>
            <a:tailEnd/>
          </a:ln>
          <a:effectLst/>
        </p:spPr>
      </p:pic>
      <p:sp>
        <p:nvSpPr>
          <p:cNvPr id="1031"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0" name="Picture 6"/>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419600" y="5715000"/>
            <a:ext cx="669925" cy="663575"/>
          </a:xfrm>
          <a:prstGeom prst="rect">
            <a:avLst/>
          </a:prstGeom>
          <a:noFill/>
        </p:spPr>
      </p:pic>
      <p:sp>
        <p:nvSpPr>
          <p:cNvPr id="1032" name="Rectangle 8"/>
          <p:cNvSpPr>
            <a:spLocks noChangeArrowheads="1"/>
          </p:cNvSpPr>
          <p:nvPr/>
        </p:nvSpPr>
        <p:spPr bwMode="auto">
          <a:xfrm>
            <a:off x="0" y="1120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3" name="TextBox 22"/>
          <p:cNvSpPr txBox="1"/>
          <p:nvPr/>
        </p:nvSpPr>
        <p:spPr>
          <a:xfrm>
            <a:off x="2895600" y="5867400"/>
            <a:ext cx="1295400" cy="369332"/>
          </a:xfrm>
          <a:prstGeom prst="rect">
            <a:avLst/>
          </a:prstGeom>
          <a:noFill/>
        </p:spPr>
        <p:txBody>
          <a:bodyPr wrap="square" rtlCol="0">
            <a:spAutoFit/>
          </a:bodyPr>
          <a:lstStyle/>
          <a:p>
            <a:pPr algn="ctr"/>
            <a:r>
              <a:rPr lang="en-US" dirty="0" smtClean="0"/>
              <a:t>where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20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fade">
                                      <p:cBhvr>
                                        <p:cTn id="12" dur="2000"/>
                                        <p:tgtEl>
                                          <p:spTgt spid="102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20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028"/>
                                        </p:tgtEl>
                                        <p:attrNameLst>
                                          <p:attrName>style.visibility</p:attrName>
                                        </p:attrNameLst>
                                      </p:cBhvr>
                                      <p:to>
                                        <p:strVal val="visible"/>
                                      </p:to>
                                    </p:set>
                                    <p:animEffect transition="in" filter="fade">
                                      <p:cBhvr>
                                        <p:cTn id="18" dur="2000"/>
                                        <p:tgtEl>
                                          <p:spTgt spid="102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xEl>
                                              <p:pRg st="0" end="0"/>
                                            </p:txEl>
                                          </p:spTgt>
                                        </p:tgtEl>
                                        <p:attrNameLst>
                                          <p:attrName>style.visibility</p:attrName>
                                        </p:attrNameLst>
                                      </p:cBhvr>
                                      <p:to>
                                        <p:strVal val="visible"/>
                                      </p:to>
                                    </p:set>
                                    <p:animEffect transition="in" filter="fade">
                                      <p:cBhvr>
                                        <p:cTn id="23" dur="2000"/>
                                        <p:tgtEl>
                                          <p:spTgt spid="1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29"/>
                                        </p:tgtEl>
                                        <p:attrNameLst>
                                          <p:attrName>style.visibility</p:attrName>
                                        </p:attrNameLst>
                                      </p:cBhvr>
                                      <p:to>
                                        <p:strVal val="visible"/>
                                      </p:to>
                                    </p:set>
                                    <p:animEffect transition="in" filter="fade">
                                      <p:cBhvr>
                                        <p:cTn id="28" dur="2000"/>
                                        <p:tgtEl>
                                          <p:spTgt spid="102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2000"/>
                                        <p:tgtEl>
                                          <p:spTgt spid="23"/>
                                        </p:tgtEl>
                                      </p:cBhvr>
                                    </p:animEffect>
                                  </p:childTnLst>
                                </p:cTn>
                              </p:par>
                              <p:par>
                                <p:cTn id="34" presetID="10" presetClass="entr" presetSubtype="0" fill="hold" nodeType="withEffect">
                                  <p:stCondLst>
                                    <p:cond delay="0"/>
                                  </p:stCondLst>
                                  <p:childTnLst>
                                    <p:set>
                                      <p:cBhvr>
                                        <p:cTn id="35" dur="1" fill="hold">
                                          <p:stCondLst>
                                            <p:cond delay="0"/>
                                          </p:stCondLst>
                                        </p:cTn>
                                        <p:tgtEl>
                                          <p:spTgt spid="1030"/>
                                        </p:tgtEl>
                                        <p:attrNameLst>
                                          <p:attrName>style.visibility</p:attrName>
                                        </p:attrNameLst>
                                      </p:cBhvr>
                                      <p:to>
                                        <p:strVal val="visible"/>
                                      </p:to>
                                    </p:set>
                                    <p:animEffect transition="in" filter="fade">
                                      <p:cBhvr>
                                        <p:cTn id="36" dur="20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p:bldP spid="18" grpId="0"/>
      <p:bldP spid="19" grpId="0" build="allAtOnce"/>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15</a:t>
            </a:fld>
            <a:endParaRPr lang="en-US"/>
          </a:p>
        </p:txBody>
      </p:sp>
      <p:sp>
        <p:nvSpPr>
          <p:cNvPr id="21" name="Rectangle 20"/>
          <p:cNvSpPr/>
          <p:nvPr/>
        </p:nvSpPr>
        <p:spPr>
          <a:xfrm>
            <a:off x="990600" y="1"/>
            <a:ext cx="7467600" cy="1077218"/>
          </a:xfrm>
          <a:prstGeom prst="rect">
            <a:avLst/>
          </a:prstGeom>
        </p:spPr>
        <p:txBody>
          <a:bodyPr wrap="square">
            <a:spAutoFit/>
          </a:bodyPr>
          <a:lstStyle/>
          <a:p>
            <a:pPr algn="ctr"/>
            <a:r>
              <a:rPr lang="en-US" altLang="en-US" sz="3200" dirty="0" smtClean="0">
                <a:solidFill>
                  <a:schemeClr val="bg1"/>
                </a:solidFill>
              </a:rPr>
              <a:t>Reflection from Dielectric</a:t>
            </a:r>
            <a:endParaRPr lang="en-US" sz="3200" b="1" dirty="0" smtClean="0">
              <a:solidFill>
                <a:schemeClr val="bg1"/>
              </a:solidFill>
            </a:endParaRPr>
          </a:p>
          <a:p>
            <a:pPr algn="ctr"/>
            <a:endParaRPr lang="en-US" sz="3200" b="1" dirty="0">
              <a:solidFill>
                <a:schemeClr val="bg1"/>
              </a:solidFill>
            </a:endParaRPr>
          </a:p>
        </p:txBody>
      </p:sp>
      <p:sp>
        <p:nvSpPr>
          <p:cNvPr id="18" name="TextBox 17"/>
          <p:cNvSpPr txBox="1"/>
          <p:nvPr/>
        </p:nvSpPr>
        <p:spPr>
          <a:xfrm>
            <a:off x="228600" y="794772"/>
            <a:ext cx="8077200" cy="1338828"/>
          </a:xfrm>
          <a:prstGeom prst="rect">
            <a:avLst/>
          </a:prstGeom>
          <a:noFill/>
        </p:spPr>
        <p:txBody>
          <a:bodyPr wrap="square" rtlCol="0">
            <a:spAutoFit/>
          </a:bodyPr>
          <a:lstStyle/>
          <a:p>
            <a:pPr algn="just">
              <a:lnSpc>
                <a:spcPct val="150000"/>
              </a:lnSpc>
            </a:pPr>
            <a:r>
              <a:rPr lang="en-US" dirty="0" smtClean="0"/>
              <a:t>For the case when the first medium is free space and µ</a:t>
            </a:r>
            <a:r>
              <a:rPr lang="en-US" baseline="-25000" dirty="0" smtClean="0"/>
              <a:t>1</a:t>
            </a:r>
            <a:r>
              <a:rPr lang="en-US" dirty="0" smtClean="0"/>
              <a:t> = µ</a:t>
            </a:r>
            <a:r>
              <a:rPr lang="en-US" baseline="-25000" dirty="0" smtClean="0"/>
              <a:t>2</a:t>
            </a:r>
            <a:r>
              <a:rPr lang="en-US" dirty="0" smtClean="0"/>
              <a:t> , the reflection coefficients for the two cases of vertical and horizontal polarization can be simplified to</a:t>
            </a:r>
            <a:endParaRPr lang="en-US" dirty="0"/>
          </a:p>
        </p:txBody>
      </p:sp>
      <p:pic>
        <p:nvPicPr>
          <p:cNvPr id="2050" name="Picture 2"/>
          <p:cNvPicPr>
            <a:picLocks noChangeAspect="1" noChangeArrowheads="1"/>
          </p:cNvPicPr>
          <p:nvPr/>
        </p:nvPicPr>
        <p:blipFill>
          <a:blip r:embed="rId2"/>
          <a:srcRect/>
          <a:stretch>
            <a:fillRect/>
          </a:stretch>
        </p:blipFill>
        <p:spPr bwMode="auto">
          <a:xfrm>
            <a:off x="2286000" y="1981200"/>
            <a:ext cx="3400425" cy="2012042"/>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0" y="65325"/>
            <a:ext cx="9144000" cy="6792675"/>
            <a:chOff x="0" y="65325"/>
            <a:chExt cx="9144000"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404838"/>
              <a:ext cx="9144000" cy="6453162"/>
              <a:chOff x="-323094" y="776786"/>
              <a:chExt cx="14645896" cy="8136116"/>
            </a:xfrm>
          </p:grpSpPr>
          <p:grpSp>
            <p:nvGrpSpPr>
              <p:cNvPr id="4" name="Group 44"/>
              <p:cNvGrpSpPr/>
              <p:nvPr/>
            </p:nvGrpSpPr>
            <p:grpSpPr>
              <a:xfrm>
                <a:off x="-323094" y="1232011"/>
                <a:ext cx="14645896" cy="7680891"/>
                <a:chOff x="-323094" y="1232011"/>
                <a:chExt cx="14645896"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2063" y="6974366"/>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6293" y="7415699"/>
                  <a:ext cx="1436172"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16</a:t>
            </a:fld>
            <a:endParaRPr lang="en-US"/>
          </a:p>
        </p:txBody>
      </p:sp>
      <p:sp>
        <p:nvSpPr>
          <p:cNvPr id="21" name="Rectangle 20"/>
          <p:cNvSpPr/>
          <p:nvPr/>
        </p:nvSpPr>
        <p:spPr>
          <a:xfrm>
            <a:off x="990600" y="1"/>
            <a:ext cx="7467600" cy="584775"/>
          </a:xfrm>
          <a:prstGeom prst="rect">
            <a:avLst/>
          </a:prstGeom>
        </p:spPr>
        <p:txBody>
          <a:bodyPr wrap="square">
            <a:spAutoFit/>
          </a:bodyPr>
          <a:lstStyle/>
          <a:p>
            <a:pPr algn="ctr"/>
            <a:r>
              <a:rPr lang="en-US" sz="3200" b="1" dirty="0" smtClean="0">
                <a:solidFill>
                  <a:schemeClr val="bg1"/>
                </a:solidFill>
              </a:rPr>
              <a:t>Brewster Angle</a:t>
            </a:r>
            <a:endParaRPr lang="en-US" sz="3200" b="1" dirty="0">
              <a:solidFill>
                <a:schemeClr val="bg1"/>
              </a:solidFill>
            </a:endParaRPr>
          </a:p>
        </p:txBody>
      </p:sp>
      <p:sp>
        <p:nvSpPr>
          <p:cNvPr id="16" name="TextBox 15"/>
          <p:cNvSpPr txBox="1"/>
          <p:nvPr/>
        </p:nvSpPr>
        <p:spPr>
          <a:xfrm>
            <a:off x="381000" y="762000"/>
            <a:ext cx="8458200" cy="1477328"/>
          </a:xfrm>
          <a:prstGeom prst="rect">
            <a:avLst/>
          </a:prstGeom>
          <a:noFill/>
        </p:spPr>
        <p:txBody>
          <a:bodyPr wrap="square" rtlCol="0">
            <a:spAutoFit/>
          </a:bodyPr>
          <a:lstStyle/>
          <a:p>
            <a:pPr algn="just">
              <a:lnSpc>
                <a:spcPct val="150000"/>
              </a:lnSpc>
            </a:pPr>
            <a:r>
              <a:rPr lang="en-US" sz="2000" dirty="0" smtClean="0"/>
              <a:t>The Brewster angle is the angle at which no reflection occurs in the medium of origin. It occurs when the incident angle </a:t>
            </a:r>
            <a:r>
              <a:rPr lang="el-GR" sz="2000" dirty="0" smtClean="0"/>
              <a:t>θ</a:t>
            </a:r>
            <a:r>
              <a:rPr lang="en-US" sz="2000" baseline="-25000" dirty="0" smtClean="0"/>
              <a:t>B</a:t>
            </a:r>
            <a:r>
              <a:rPr lang="en-US" sz="2000" dirty="0" smtClean="0"/>
              <a:t> is such that the reflection coefficient </a:t>
            </a:r>
            <a:r>
              <a:rPr lang="el-GR" sz="2000" dirty="0" smtClean="0"/>
              <a:t>Γ</a:t>
            </a:r>
            <a:r>
              <a:rPr lang="en-US" sz="2000" baseline="-25000" dirty="0" smtClean="0"/>
              <a:t>II</a:t>
            </a:r>
            <a:r>
              <a:rPr lang="en-US" sz="2000" dirty="0" smtClean="0"/>
              <a:t> is equal to zero. The Brewster angle is given by the value of </a:t>
            </a:r>
            <a:r>
              <a:rPr lang="el-GR" sz="2000" dirty="0" smtClean="0"/>
              <a:t>θ</a:t>
            </a:r>
            <a:r>
              <a:rPr lang="en-US" sz="2000" baseline="-25000" dirty="0" smtClean="0"/>
              <a:t>B</a:t>
            </a:r>
            <a:r>
              <a:rPr lang="en-US" sz="2000" dirty="0" smtClean="0"/>
              <a:t> which satisfies</a:t>
            </a:r>
            <a:endParaRPr lang="en-US" sz="2000" dirty="0"/>
          </a:p>
        </p:txBody>
      </p:sp>
      <p:pic>
        <p:nvPicPr>
          <p:cNvPr id="3074" name="Picture 2"/>
          <p:cNvPicPr>
            <a:picLocks noChangeAspect="1" noChangeArrowheads="1"/>
          </p:cNvPicPr>
          <p:nvPr/>
        </p:nvPicPr>
        <p:blipFill>
          <a:blip r:embed="rId2"/>
          <a:srcRect/>
          <a:stretch>
            <a:fillRect/>
          </a:stretch>
        </p:blipFill>
        <p:spPr bwMode="auto">
          <a:xfrm>
            <a:off x="3505200" y="2438400"/>
            <a:ext cx="1967312" cy="604837"/>
          </a:xfrm>
          <a:prstGeom prst="rect">
            <a:avLst/>
          </a:prstGeom>
          <a:noFill/>
          <a:ln w="9525">
            <a:noFill/>
            <a:miter lim="800000"/>
            <a:headEnd/>
            <a:tailEnd/>
          </a:ln>
          <a:effectLst/>
        </p:spPr>
      </p:pic>
      <p:sp>
        <p:nvSpPr>
          <p:cNvPr id="15" name="Rectangle 14"/>
          <p:cNvSpPr/>
          <p:nvPr/>
        </p:nvSpPr>
        <p:spPr>
          <a:xfrm>
            <a:off x="304800" y="3352800"/>
            <a:ext cx="8458200" cy="967957"/>
          </a:xfrm>
          <a:prstGeom prst="rect">
            <a:avLst/>
          </a:prstGeom>
        </p:spPr>
        <p:txBody>
          <a:bodyPr wrap="square">
            <a:spAutoFit/>
          </a:bodyPr>
          <a:lstStyle/>
          <a:p>
            <a:pPr algn="just">
              <a:lnSpc>
                <a:spcPct val="150000"/>
              </a:lnSpc>
            </a:pPr>
            <a:r>
              <a:rPr lang="en-US" sz="2000" dirty="0" smtClean="0"/>
              <a:t>For the case when the first medium is free space and the second medium has a relative permittivity </a:t>
            </a:r>
            <a:r>
              <a:rPr lang="en-US" sz="2000" i="1" dirty="0" err="1" smtClean="0"/>
              <a:t>ε</a:t>
            </a:r>
            <a:r>
              <a:rPr lang="en-US" sz="2000" i="1" baseline="-25000" dirty="0" err="1" smtClean="0"/>
              <a:t>r</a:t>
            </a:r>
            <a:r>
              <a:rPr lang="en-US" sz="2000" i="1" dirty="0" smtClean="0"/>
              <a:t> ,</a:t>
            </a:r>
            <a:r>
              <a:rPr lang="en-US" sz="2000" dirty="0" smtClean="0"/>
              <a:t> The Brewster angle is given by</a:t>
            </a:r>
            <a:r>
              <a:rPr lang="en-US" sz="2000" i="1" dirty="0" smtClean="0"/>
              <a:t> </a:t>
            </a:r>
            <a:endParaRPr lang="en-US" sz="2000" dirty="0"/>
          </a:p>
        </p:txBody>
      </p:sp>
      <p:pic>
        <p:nvPicPr>
          <p:cNvPr id="3075" name="Picture 3"/>
          <p:cNvPicPr>
            <a:picLocks noChangeAspect="1" noChangeArrowheads="1"/>
          </p:cNvPicPr>
          <p:nvPr/>
        </p:nvPicPr>
        <p:blipFill>
          <a:blip r:embed="rId3"/>
          <a:srcRect/>
          <a:stretch>
            <a:fillRect/>
          </a:stretch>
        </p:blipFill>
        <p:spPr bwMode="auto">
          <a:xfrm>
            <a:off x="3505200" y="4495800"/>
            <a:ext cx="2117847" cy="722151"/>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fade">
                                      <p:cBhvr>
                                        <p:cTn id="12" dur="20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fade">
                                      <p:cBhvr>
                                        <p:cTn id="17" dur="2000"/>
                                        <p:tgtEl>
                                          <p:spTgt spid="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75"/>
                                        </p:tgtEl>
                                        <p:attrNameLst>
                                          <p:attrName>style.visibility</p:attrName>
                                        </p:attrNameLst>
                                      </p:cBhvr>
                                      <p:to>
                                        <p:strVal val="visible"/>
                                      </p:to>
                                    </p:set>
                                    <p:animEffect transition="in" filter="fade">
                                      <p:cBhvr>
                                        <p:cTn id="22" dur="20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15"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p:nvPr/>
        </p:nvGrpSpPr>
        <p:grpSpPr>
          <a:xfrm>
            <a:off x="-1" y="65325"/>
            <a:ext cx="9144001" cy="6792675"/>
            <a:chOff x="-1" y="65325"/>
            <a:chExt cx="9144001" cy="6792675"/>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1"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1" y="404838"/>
              <a:ext cx="9144001" cy="6453162"/>
              <a:chOff x="-323095" y="776786"/>
              <a:chExt cx="14645897" cy="8136116"/>
            </a:xfrm>
          </p:grpSpPr>
          <p:grpSp>
            <p:nvGrpSpPr>
              <p:cNvPr id="4" name="Group 44"/>
              <p:cNvGrpSpPr/>
              <p:nvPr/>
            </p:nvGrpSpPr>
            <p:grpSpPr>
              <a:xfrm>
                <a:off x="-323095" y="1232011"/>
                <a:ext cx="14645897" cy="7680891"/>
                <a:chOff x="-323095" y="1232011"/>
                <a:chExt cx="14645897" cy="7680891"/>
              </a:xfrm>
            </p:grpSpPr>
            <p:sp>
              <p:nvSpPr>
                <p:cNvPr id="11" name="Half Frame 10"/>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266820" y="7511610"/>
                  <a:ext cx="903684" cy="1016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3" name="Half Frame 12"/>
                <p:cNvSpPr/>
                <p:nvPr/>
              </p:nvSpPr>
              <p:spPr>
                <a:xfrm rot="5400000">
                  <a:off x="12825599" y="1170980"/>
                  <a:ext cx="1436172" cy="1558234"/>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4" name="Half Frame 13"/>
                <p:cNvSpPr/>
                <p:nvPr/>
              </p:nvSpPr>
              <p:spPr>
                <a:xfrm rot="16200000">
                  <a:off x="181537" y="7952943"/>
                  <a:ext cx="903684" cy="1016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10" name="Half Frame 7"/>
              <p:cNvSpPr/>
              <p:nvPr/>
            </p:nvSpPr>
            <p:spPr>
              <a:xfrm rot="5400000">
                <a:off x="12501348" y="668630"/>
                <a:ext cx="1341921" cy="1558234"/>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1"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sp>
        <p:nvSpPr>
          <p:cNvPr id="17" name="Slide Number Placeholder 16"/>
          <p:cNvSpPr>
            <a:spLocks noGrp="1"/>
          </p:cNvSpPr>
          <p:nvPr>
            <p:ph type="sldNum" sz="quarter" idx="12"/>
          </p:nvPr>
        </p:nvSpPr>
        <p:spPr/>
        <p:txBody>
          <a:bodyPr/>
          <a:lstStyle/>
          <a:p>
            <a:fld id="{4846ABB7-46DB-4F16-AB8B-BFEDDDD52D19}" type="slidenum">
              <a:rPr lang="en-US" smtClean="0"/>
              <a:pPr/>
              <a:t>17</a:t>
            </a:fld>
            <a:endParaRPr lang="en-US"/>
          </a:p>
        </p:txBody>
      </p:sp>
      <p:sp>
        <p:nvSpPr>
          <p:cNvPr id="18" name="Rectangle 17"/>
          <p:cNvSpPr/>
          <p:nvPr/>
        </p:nvSpPr>
        <p:spPr>
          <a:xfrm>
            <a:off x="228600" y="990600"/>
            <a:ext cx="8534400" cy="1938992"/>
          </a:xfrm>
          <a:prstGeom prst="rect">
            <a:avLst/>
          </a:prstGeom>
        </p:spPr>
        <p:txBody>
          <a:bodyPr wrap="square">
            <a:spAutoFit/>
          </a:bodyPr>
          <a:lstStyle/>
          <a:p>
            <a:pPr marL="284163" indent="-284163" algn="just">
              <a:lnSpc>
                <a:spcPct val="150000"/>
              </a:lnSpc>
              <a:buFont typeface="Wingdings" pitchFamily="2" charset="2"/>
              <a:buChar char="Ø"/>
            </a:pPr>
            <a:r>
              <a:rPr lang="en-US" sz="2000" dirty="0" smtClean="0"/>
              <a:t>Since electromagnetic energy cannot pass through a perfect conductor a plane wave incident on a conductor has all of its energy reflected.</a:t>
            </a:r>
          </a:p>
          <a:p>
            <a:pPr marL="284163" indent="-284163" algn="just">
              <a:lnSpc>
                <a:spcPct val="150000"/>
              </a:lnSpc>
              <a:buFont typeface="Wingdings" pitchFamily="2" charset="2"/>
              <a:buChar char="Ø"/>
            </a:pPr>
            <a:r>
              <a:rPr lang="en-US" sz="2000" dirty="0" smtClean="0"/>
              <a:t>For the case when E-field polarization is a in the plane of incidence, the boundary conditions require that</a:t>
            </a:r>
            <a:endParaRPr lang="en-US" sz="2000" dirty="0"/>
          </a:p>
        </p:txBody>
      </p:sp>
      <p:sp>
        <p:nvSpPr>
          <p:cNvPr id="15" name="Rectangle 14"/>
          <p:cNvSpPr/>
          <p:nvPr/>
        </p:nvSpPr>
        <p:spPr>
          <a:xfrm>
            <a:off x="990600" y="1"/>
            <a:ext cx="7467600" cy="584775"/>
          </a:xfrm>
          <a:prstGeom prst="rect">
            <a:avLst/>
          </a:prstGeom>
        </p:spPr>
        <p:txBody>
          <a:bodyPr wrap="square">
            <a:spAutoFit/>
          </a:bodyPr>
          <a:lstStyle/>
          <a:p>
            <a:pPr algn="ctr"/>
            <a:r>
              <a:rPr lang="en-US" sz="3200" dirty="0" smtClean="0">
                <a:solidFill>
                  <a:schemeClr val="bg1"/>
                </a:solidFill>
              </a:rPr>
              <a:t>Reflection from Perfect Conductors</a:t>
            </a:r>
            <a:endParaRPr lang="en-US" sz="3200" dirty="0">
              <a:solidFill>
                <a:schemeClr val="bg1"/>
              </a:solidFill>
            </a:endParaRPr>
          </a:p>
        </p:txBody>
      </p:sp>
      <p:pic>
        <p:nvPicPr>
          <p:cNvPr id="4098" name="Picture 2"/>
          <p:cNvPicPr>
            <a:picLocks noChangeAspect="1" noChangeArrowheads="1"/>
          </p:cNvPicPr>
          <p:nvPr/>
        </p:nvPicPr>
        <p:blipFill>
          <a:blip r:embed="rId2"/>
          <a:srcRect/>
          <a:stretch>
            <a:fillRect/>
          </a:stretch>
        </p:blipFill>
        <p:spPr bwMode="auto">
          <a:xfrm>
            <a:off x="4038600" y="2438400"/>
            <a:ext cx="1123950" cy="505778"/>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2514600" y="3048000"/>
            <a:ext cx="4819650" cy="642620"/>
          </a:xfrm>
          <a:prstGeom prst="rect">
            <a:avLst/>
          </a:prstGeom>
          <a:noFill/>
          <a:ln w="9525">
            <a:noFill/>
            <a:miter lim="800000"/>
            <a:headEnd/>
            <a:tailEnd/>
          </a:ln>
          <a:effectLst/>
        </p:spPr>
      </p:pic>
      <p:sp>
        <p:nvSpPr>
          <p:cNvPr id="16" name="Rectangle 15"/>
          <p:cNvSpPr/>
          <p:nvPr/>
        </p:nvSpPr>
        <p:spPr>
          <a:xfrm>
            <a:off x="228600" y="3886200"/>
            <a:ext cx="8763000" cy="784830"/>
          </a:xfrm>
          <a:prstGeom prst="rect">
            <a:avLst/>
          </a:prstGeom>
        </p:spPr>
        <p:txBody>
          <a:bodyPr wrap="square">
            <a:spAutoFit/>
          </a:bodyPr>
          <a:lstStyle/>
          <a:p>
            <a:pPr marL="284163" indent="-284163">
              <a:lnSpc>
                <a:spcPct val="150000"/>
              </a:lnSpc>
              <a:buFont typeface="Wingdings" pitchFamily="2" charset="2"/>
              <a:buChar char="Ø"/>
            </a:pPr>
            <a:r>
              <a:rPr lang="en-US" dirty="0" smtClean="0"/>
              <a:t>Similarly, for the case when the E-field is horizontally polarized, the boundary conditions</a:t>
            </a:r>
          </a:p>
          <a:p>
            <a:r>
              <a:rPr lang="en-US" dirty="0" smtClean="0"/>
              <a:t>      require that</a:t>
            </a:r>
            <a:endParaRPr lang="en-US" dirty="0"/>
          </a:p>
        </p:txBody>
      </p:sp>
      <p:pic>
        <p:nvPicPr>
          <p:cNvPr id="19" name="Picture 2"/>
          <p:cNvPicPr>
            <a:picLocks noChangeAspect="1" noChangeArrowheads="1"/>
          </p:cNvPicPr>
          <p:nvPr/>
        </p:nvPicPr>
        <p:blipFill>
          <a:blip r:embed="rId2"/>
          <a:srcRect/>
          <a:stretch>
            <a:fillRect/>
          </a:stretch>
        </p:blipFill>
        <p:spPr bwMode="auto">
          <a:xfrm>
            <a:off x="1752600" y="4267200"/>
            <a:ext cx="971550" cy="437198"/>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2209800" y="4800601"/>
            <a:ext cx="5638800" cy="48471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20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99"/>
                                        </p:tgtEl>
                                        <p:attrNameLst>
                                          <p:attrName>style.visibility</p:attrName>
                                        </p:attrNameLst>
                                      </p:cBhvr>
                                      <p:to>
                                        <p:strVal val="visible"/>
                                      </p:to>
                                    </p:set>
                                    <p:animEffect transition="in" filter="fade">
                                      <p:cBhvr>
                                        <p:cTn id="17" dur="2000"/>
                                        <p:tgtEl>
                                          <p:spTgt spid="4099"/>
                                        </p:tgtEl>
                                      </p:cBhvr>
                                    </p:animEffect>
                                  </p:childTnLst>
                                </p:cTn>
                              </p:par>
                              <p:par>
                                <p:cTn id="18" presetID="10" presetClass="entr" presetSubtype="0" fill="hold" nodeType="withEffect">
                                  <p:stCondLst>
                                    <p:cond delay="0"/>
                                  </p:stCondLst>
                                  <p:childTnLst>
                                    <p:set>
                                      <p:cBhvr>
                                        <p:cTn id="19" dur="1" fill="hold">
                                          <p:stCondLst>
                                            <p:cond delay="0"/>
                                          </p:stCondLst>
                                        </p:cTn>
                                        <p:tgtEl>
                                          <p:spTgt spid="4098"/>
                                        </p:tgtEl>
                                        <p:attrNameLst>
                                          <p:attrName>style.visibility</p:attrName>
                                        </p:attrNameLst>
                                      </p:cBhvr>
                                      <p:to>
                                        <p:strVal val="visible"/>
                                      </p:to>
                                    </p:set>
                                    <p:animEffect transition="in" filter="fade">
                                      <p:cBhvr>
                                        <p:cTn id="20" dur="2000"/>
                                        <p:tgtEl>
                                          <p:spTgt spid="409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animEffect transition="in" filter="fade">
                                      <p:cBhvr>
                                        <p:cTn id="25" dur="2000"/>
                                        <p:tgtEl>
                                          <p:spTgt spid="16">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xEl>
                                              <p:pRg st="1" end="1"/>
                                            </p:txEl>
                                          </p:spTgt>
                                        </p:tgtEl>
                                        <p:attrNameLst>
                                          <p:attrName>style.visibility</p:attrName>
                                        </p:attrNameLst>
                                      </p:cBhvr>
                                      <p:to>
                                        <p:strVal val="visible"/>
                                      </p:to>
                                    </p:set>
                                    <p:animEffect transition="in" filter="fade">
                                      <p:cBhvr>
                                        <p:cTn id="28" dur="2000"/>
                                        <p:tgtEl>
                                          <p:spTgt spid="16">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2000"/>
                                        <p:tgtEl>
                                          <p:spTgt spid="19"/>
                                        </p:tgtEl>
                                      </p:cBhvr>
                                    </p:animEffect>
                                  </p:childTnLst>
                                </p:cTn>
                              </p:par>
                              <p:par>
                                <p:cTn id="34" presetID="10" presetClass="entr" presetSubtype="0" fill="hold" nodeType="withEffect">
                                  <p:stCondLst>
                                    <p:cond delay="0"/>
                                  </p:stCondLst>
                                  <p:childTnLst>
                                    <p:set>
                                      <p:cBhvr>
                                        <p:cTn id="35" dur="1" fill="hold">
                                          <p:stCondLst>
                                            <p:cond delay="0"/>
                                          </p:stCondLst>
                                        </p:cTn>
                                        <p:tgtEl>
                                          <p:spTgt spid="4100"/>
                                        </p:tgtEl>
                                        <p:attrNameLst>
                                          <p:attrName>style.visibility</p:attrName>
                                        </p:attrNameLst>
                                      </p:cBhvr>
                                      <p:to>
                                        <p:strVal val="visible"/>
                                      </p:to>
                                    </p:set>
                                    <p:animEffect transition="in" filter="fade">
                                      <p:cBhvr>
                                        <p:cTn id="36" dur="20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P spid="16"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76200" y="65325"/>
            <a:ext cx="9067800" cy="6855826"/>
            <a:chOff x="0" y="65325"/>
            <a:chExt cx="9067800" cy="6432478"/>
          </a:xfrm>
        </p:grpSpPr>
        <p:sp>
          <p:nvSpPr>
            <p:cNvPr id="5" name="Title 10"/>
            <p:cNvSpPr txBox="1">
              <a:spLocks/>
            </p:cNvSpPr>
            <p:nvPr/>
          </p:nvSpPr>
          <p:spPr>
            <a:xfrm>
              <a:off x="0" y="65325"/>
              <a:ext cx="8991600" cy="425324"/>
            </a:xfrm>
            <a:prstGeom prst="rect">
              <a:avLst/>
            </a:prstGeom>
            <a:solidFill>
              <a:srgbClr val="C0504D">
                <a:lumMod val="50000"/>
              </a:srgbClr>
            </a:solidFill>
            <a:ln w="28575" cap="flat" cmpd="sng" algn="ctr">
              <a:noFill/>
              <a:prstDash val="solid"/>
            </a:ln>
            <a:effectLst/>
          </p:spPr>
          <p:txBody>
            <a:bodyPr rtlCol="0" anchor="t" anchorCtr="0">
              <a:noAutofit/>
            </a:bodyPr>
            <a:lstStyle>
              <a:lvl1pPr algn="ctr" defTabSz="648172" rtl="0" eaLnBrk="1" latinLnBrk="0" hangingPunct="1">
                <a:spcBef>
                  <a:spcPct val="0"/>
                </a:spcBef>
                <a:buNone/>
                <a:defRPr sz="6200" kern="1200">
                  <a:solidFill>
                    <a:schemeClr val="tx1"/>
                  </a:solidFill>
                  <a:latin typeface="+mj-lt"/>
                  <a:ea typeface="+mj-ea"/>
                  <a:cs typeface="+mj-cs"/>
                </a:defRPr>
              </a:lvl1pPr>
            </a:lstStyle>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1200" b="0" i="0" u="none" strike="noStrike" kern="1200" cap="none" spc="0" normalizeH="0" baseline="0" noProof="0" dirty="0">
                <a:ln>
                  <a:noFill/>
                </a:ln>
                <a:solidFill>
                  <a:sysClr val="windowText" lastClr="000000"/>
                </a:solidFill>
                <a:effectLst/>
                <a:uLnTx/>
                <a:uFillTx/>
                <a:latin typeface="Calibri"/>
                <a:ea typeface="+mj-ea"/>
                <a:cs typeface="+mj-cs"/>
                <a:sym typeface="Times New Roman"/>
              </a:endParaRPr>
            </a:p>
            <a:p>
              <a:pPr marL="0" marR="0" lvl="0" indent="0" algn="l" defTabSz="648172" rtl="0" eaLnBrk="1" fontAlgn="auto" latinLnBrk="0" hangingPunct="1">
                <a:lnSpc>
                  <a:spcPct val="100000"/>
                </a:lnSpc>
                <a:spcBef>
                  <a:spcPct val="0"/>
                </a:spcBef>
                <a:spcAft>
                  <a:spcPts val="0"/>
                </a:spcAft>
                <a:buClrTx/>
                <a:buSzTx/>
                <a:buFontTx/>
                <a:buNone/>
                <a:tabLst/>
                <a:defRPr/>
              </a:pPr>
              <a:endParaRPr kumimoji="0" lang="en-IN" sz="3200" b="1" i="0" u="none" strike="noStrike" kern="1200" cap="none" spc="0" normalizeH="0" baseline="0" noProof="0" dirty="0" smtClean="0">
                <a:ln>
                  <a:noFill/>
                </a:ln>
                <a:solidFill>
                  <a:srgbClr val="1F497D"/>
                </a:solidFill>
                <a:effectLst/>
                <a:uLnTx/>
                <a:uFillTx/>
                <a:latin typeface="Calibri"/>
                <a:ea typeface="+mj-ea"/>
                <a:cs typeface="Calibri" panose="020F0502020204030204" pitchFamily="34" charset="0"/>
                <a:sym typeface="Times New Roman"/>
              </a:endParaRPr>
            </a:p>
          </p:txBody>
        </p:sp>
        <p:grpSp>
          <p:nvGrpSpPr>
            <p:cNvPr id="3" name="Group 4"/>
            <p:cNvGrpSpPr/>
            <p:nvPr/>
          </p:nvGrpSpPr>
          <p:grpSpPr>
            <a:xfrm>
              <a:off x="0" y="504496"/>
              <a:ext cx="9067798" cy="5993307"/>
              <a:chOff x="-323093" y="902435"/>
              <a:chExt cx="14523851" cy="7556333"/>
            </a:xfrm>
          </p:grpSpPr>
          <p:grpSp>
            <p:nvGrpSpPr>
              <p:cNvPr id="4" name="Group 44"/>
              <p:cNvGrpSpPr/>
              <p:nvPr/>
            </p:nvGrpSpPr>
            <p:grpSpPr>
              <a:xfrm>
                <a:off x="-323093" y="1357660"/>
                <a:ext cx="14523851" cy="7101108"/>
                <a:chOff x="-323093" y="1357660"/>
                <a:chExt cx="14523851" cy="7101108"/>
              </a:xfrm>
            </p:grpSpPr>
            <p:sp>
              <p:nvSpPr>
                <p:cNvPr id="9" name="Half Frame 8"/>
                <p:cNvSpPr/>
                <p:nvPr/>
              </p:nvSpPr>
              <p:spPr>
                <a:xfrm rot="10800000">
                  <a:off x="11841971" y="6170817"/>
                  <a:ext cx="1588602" cy="1544546"/>
                </a:xfrm>
                <a:prstGeom prst="halfFrame">
                  <a:avLst>
                    <a:gd name="adj1" fmla="val 19380"/>
                    <a:gd name="adj2" fmla="val 21705"/>
                  </a:avLst>
                </a:prstGeom>
                <a:solidFill>
                  <a:srgbClr val="EEECE1">
                    <a:lumMod val="40000"/>
                    <a:lumOff val="60000"/>
                  </a:srgb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0" name="Half Frame 9"/>
                <p:cNvSpPr/>
                <p:nvPr/>
              </p:nvSpPr>
              <p:spPr>
                <a:xfrm rot="16200000">
                  <a:off x="-262063" y="6520234"/>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1" name="Half Frame 10"/>
                <p:cNvSpPr/>
                <p:nvPr/>
              </p:nvSpPr>
              <p:spPr>
                <a:xfrm rot="5400000">
                  <a:off x="12703555" y="1296630"/>
                  <a:ext cx="1436173" cy="1558233"/>
                </a:xfrm>
                <a:prstGeom prst="halfFrame">
                  <a:avLst>
                    <a:gd name="adj1" fmla="val 19380"/>
                    <a:gd name="adj2" fmla="val 21705"/>
                  </a:avLst>
                </a:prstGeom>
                <a:solidFill>
                  <a:sysClr val="windowText" lastClr="000000">
                    <a:lumMod val="50000"/>
                    <a:lumOff val="50000"/>
                  </a:sysClr>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sp>
              <p:nvSpPr>
                <p:cNvPr id="12" name="Half Frame 11"/>
                <p:cNvSpPr/>
                <p:nvPr/>
              </p:nvSpPr>
              <p:spPr>
                <a:xfrm rot="16200000">
                  <a:off x="186294" y="6961565"/>
                  <a:ext cx="1436173"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sp>
            <p:nvSpPr>
              <p:cNvPr id="8" name="Half Frame 7"/>
              <p:cNvSpPr/>
              <p:nvPr/>
            </p:nvSpPr>
            <p:spPr>
              <a:xfrm rot="5400000">
                <a:off x="12379305" y="794279"/>
                <a:ext cx="1341921" cy="1558233"/>
              </a:xfrm>
              <a:prstGeom prst="halfFrame">
                <a:avLst>
                  <a:gd name="adj1" fmla="val 19380"/>
                  <a:gd name="adj2" fmla="val 21705"/>
                </a:avLst>
              </a:prstGeom>
              <a:solidFill>
                <a:srgbClr val="C00000"/>
              </a:solidFill>
              <a:ln w="9525" cap="flat" cmpd="sng" algn="ctr">
                <a:no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200" b="0" i="0" u="none" strike="noStrike" kern="0" cap="none" spc="0" normalizeH="0" baseline="0" noProof="0" dirty="0">
                  <a:ln>
                    <a:noFill/>
                  </a:ln>
                  <a:solidFill>
                    <a:sysClr val="windowText" lastClr="000000"/>
                  </a:solidFill>
                  <a:effectLst/>
                  <a:uLnTx/>
                  <a:uFillTx/>
                  <a:latin typeface="Calibri"/>
                  <a:ea typeface="+mn-ea"/>
                  <a:cs typeface="+mn-cs"/>
                </a:endParaRPr>
              </a:p>
            </p:txBody>
          </p:sp>
        </p:grpSp>
      </p:grpSp>
      <p:pic>
        <p:nvPicPr>
          <p:cNvPr id="16" name="image96.png"/>
          <p:cNvPicPr/>
          <p:nvPr/>
        </p:nvPicPr>
        <p:blipFill>
          <a:blip r:embed="rId3">
            <a:extLst/>
          </a:blip>
          <a:stretch>
            <a:fillRect/>
          </a:stretch>
        </p:blipFill>
        <p:spPr>
          <a:xfrm>
            <a:off x="915892" y="1482242"/>
            <a:ext cx="6991913" cy="3928567"/>
          </a:xfrm>
          <a:prstGeom prst="rect">
            <a:avLst/>
          </a:prstGeom>
          <a:ln w="12700">
            <a:miter lim="400000"/>
          </a:ln>
        </p:spPr>
      </p:pic>
      <p:sp>
        <p:nvSpPr>
          <p:cNvPr id="13" name="Slide Number Placeholder 12"/>
          <p:cNvSpPr>
            <a:spLocks noGrp="1"/>
          </p:cNvSpPr>
          <p:nvPr>
            <p:ph type="sldNum" sz="quarter" idx="12"/>
          </p:nvPr>
        </p:nvSpPr>
        <p:spPr/>
        <p:txBody>
          <a:bodyPr/>
          <a:lstStyle/>
          <a:p>
            <a:fld id="{4846ABB7-46DB-4F16-AB8B-BFEDDDD52D19}" type="slidenum">
              <a:rPr lang="en-US" smtClean="0"/>
              <a:pPr/>
              <a:t>18</a:t>
            </a:fld>
            <a:endParaRPr lang="en-US"/>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8&quot; unique_id=&quot;15639&quot;&gt;&lt;/object&gt;&lt;object type=&quot;2&quot; unique_id=&quot;15640&quot;&gt;&lt;object type=&quot;3&quot; unique_id=&quot;15641&quot;&gt;&lt;property id=&quot;20148&quot; value=&quot;5&quot;/&gt;&lt;property id=&quot;20300&quot; value=&quot;Slide 1 - &amp;quot;Wireless and Mobile Communication (UEC 804) &amp;quot;&quot;/&gt;&lt;property id=&quot;20307&quot; value=&quot;257&quot;/&gt;&lt;/object&gt;&lt;object type=&quot;3&quot; unique_id=&quot;15642&quot;&gt;&lt;property id=&quot;20148&quot; value=&quot;5&quot;/&gt;&lt;property id=&quot;20300&quot; value=&quot;Slide 2&quot;/&gt;&lt;property id=&quot;20307&quot; value=&quot;258&quot;/&gt;&lt;/object&gt;&lt;object type=&quot;3&quot; unique_id=&quot;15783&quot;&gt;&lt;property id=&quot;20148&quot; value=&quot;5&quot;/&gt;&lt;property id=&quot;20300&quot; value=&quot;Slide 18&quot;/&gt;&lt;property id=&quot;20307&quot; value=&quot;267&quot;/&gt;&lt;/object&gt;&lt;object type=&quot;3&quot; unique_id=&quot;17791&quot;&gt;&lt;property id=&quot;20148&quot; value=&quot;5&quot;/&gt;&lt;property id=&quot;20300&quot; value=&quot;Slide 15&quot;/&gt;&lt;property id=&quot;20307&quot; value=&quot;273&quot;/&gt;&lt;/object&gt;&lt;object type=&quot;3&quot; unique_id=&quot;18610&quot;&gt;&lt;property id=&quot;20148&quot; value=&quot;5&quot;/&gt;&lt;property id=&quot;20300&quot; value=&quot;Slide 3&quot;/&gt;&lt;property id=&quot;20307&quot; value=&quot;280&quot;/&gt;&lt;/object&gt;&lt;object type=&quot;3&quot; unique_id=&quot;18668&quot;&gt;&lt;property id=&quot;20148&quot; value=&quot;5&quot;/&gt;&lt;property id=&quot;20300&quot; value=&quot;Slide 17&quot;/&gt;&lt;property id=&quot;20307&quot; value=&quot;281&quot;/&gt;&lt;/object&gt;&lt;object type=&quot;3&quot; unique_id=&quot;19771&quot;&gt;&lt;property id=&quot;20148&quot; value=&quot;5&quot;/&gt;&lt;property id=&quot;20300&quot; value=&quot;Slide 4&quot;/&gt;&lt;property id=&quot;20307&quot; value=&quot;286&quot;/&gt;&lt;/object&gt;&lt;object type=&quot;3&quot; unique_id=&quot;19772&quot;&gt;&lt;property id=&quot;20148&quot; value=&quot;5&quot;/&gt;&lt;property id=&quot;20300&quot; value=&quot;Slide 16&quot;/&gt;&lt;property id=&quot;20307&quot; value=&quot;287&quot;/&gt;&lt;/object&gt;&lt;object type=&quot;3&quot; unique_id=&quot;20164&quot;&gt;&lt;property id=&quot;20148&quot; value=&quot;5&quot;/&gt;&lt;property id=&quot;20300&quot; value=&quot;Slide 5&quot;/&gt;&lt;property id=&quot;20307&quot; value=&quot;290&quot;/&gt;&lt;/object&gt;&lt;object type=&quot;3&quot; unique_id=&quot;20165&quot;&gt;&lt;property id=&quot;20148&quot; value=&quot;5&quot;/&gt;&lt;property id=&quot;20300&quot; value=&quot;Slide 6&quot;/&gt;&lt;property id=&quot;20307&quot; value=&quot;291&quot;/&gt;&lt;/object&gt;&lt;object type=&quot;3&quot; unique_id=&quot;20166&quot;&gt;&lt;property id=&quot;20148&quot; value=&quot;5&quot;/&gt;&lt;property id=&quot;20300&quot; value=&quot;Slide 7&quot;/&gt;&lt;property id=&quot;20307&quot; value=&quot;292&quot;/&gt;&lt;/object&gt;&lt;object type=&quot;3&quot; unique_id=&quot;20167&quot;&gt;&lt;property id=&quot;20148&quot; value=&quot;5&quot;/&gt;&lt;property id=&quot;20300&quot; value=&quot;Slide 9&quot;/&gt;&lt;property id=&quot;20307&quot; value=&quot;293&quot;/&gt;&lt;/object&gt;&lt;object type=&quot;3&quot; unique_id=&quot;20168&quot;&gt;&lt;property id=&quot;20148&quot; value=&quot;5&quot;/&gt;&lt;property id=&quot;20300&quot; value=&quot;Slide 12&quot;/&gt;&lt;property id=&quot;20307&quot; value=&quot;294&quot;/&gt;&lt;/object&gt;&lt;object type=&quot;3&quot; unique_id=&quot;20169&quot;&gt;&lt;property id=&quot;20148&quot; value=&quot;5&quot;/&gt;&lt;property id=&quot;20300&quot; value=&quot;Slide 13&quot;/&gt;&lt;property id=&quot;20307&quot; value=&quot;295&quot;/&gt;&lt;/object&gt;&lt;object type=&quot;3&quot; unique_id=&quot;20170&quot;&gt;&lt;property id=&quot;20148&quot; value=&quot;5&quot;/&gt;&lt;property id=&quot;20300&quot; value=&quot;Slide 14&quot;/&gt;&lt;property id=&quot;20307&quot; value=&quot;296&quot;/&gt;&lt;/object&gt;&lt;object type=&quot;3&quot; unique_id=&quot;22706&quot;&gt;&lt;property id=&quot;20148&quot; value=&quot;5&quot;/&gt;&lt;property id=&quot;20300&quot; value=&quot;Slide 8&quot;/&gt;&lt;property id=&quot;20307&quot; value=&quot;299&quot;/&gt;&lt;/object&gt;&lt;object type=&quot;3&quot; unique_id=&quot;22707&quot;&gt;&lt;property id=&quot;20148&quot; value=&quot;5&quot;/&gt;&lt;property id=&quot;20300&quot; value=&quot;Slide 10&quot;/&gt;&lt;property id=&quot;20307&quot; value=&quot;297&quot;/&gt;&lt;/object&gt;&lt;object type=&quot;3&quot; unique_id=&quot;22708&quot;&gt;&lt;property id=&quot;20148&quot; value=&quot;5&quot;/&gt;&lt;property id=&quot;20300&quot; value=&quot;Slide 11&quot;/&gt;&lt;property id=&quot;20307&quot; value=&quot;298&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7732</TotalTime>
  <Words>714</Words>
  <Application>Microsoft Office PowerPoint</Application>
  <PresentationFormat>On-screen Show (4:3)</PresentationFormat>
  <Paragraphs>75</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Wireless and Mobile Communication (UEC 804)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and Mobile Communication (UEC 804)</dc:title>
  <dc:creator>Surbhi Sharma</dc:creator>
  <cp:lastModifiedBy>Surbhi Sharma</cp:lastModifiedBy>
  <cp:revision>64</cp:revision>
  <dcterms:created xsi:type="dcterms:W3CDTF">2020-06-07T16:43:59Z</dcterms:created>
  <dcterms:modified xsi:type="dcterms:W3CDTF">2020-09-23T14:13:48Z</dcterms:modified>
</cp:coreProperties>
</file>
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475" r:id="rId2"/>
    <p:sldId id="476" r:id="rId3"/>
    <p:sldId id="477" r:id="rId4"/>
    <p:sldId id="329" r:id="rId5"/>
    <p:sldId id="496" r:id="rId6"/>
    <p:sldId id="481" r:id="rId7"/>
    <p:sldId id="482" r:id="rId8"/>
    <p:sldId id="497" r:id="rId9"/>
    <p:sldId id="483" r:id="rId10"/>
    <p:sldId id="495" r:id="rId11"/>
    <p:sldId id="484" r:id="rId12"/>
    <p:sldId id="485" r:id="rId13"/>
    <p:sldId id="498" r:id="rId14"/>
    <p:sldId id="330" r:id="rId15"/>
    <p:sldId id="487" r:id="rId16"/>
    <p:sldId id="488" r:id="rId17"/>
    <p:sldId id="499" r:id="rId18"/>
    <p:sldId id="493" r:id="rId19"/>
    <p:sldId id="490" r:id="rId20"/>
    <p:sldId id="491" r:id="rId21"/>
    <p:sldId id="492" r:id="rId22"/>
    <p:sldId id="480" r:id="rId2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5ECA2C06-48EA-444B-B9BC-9DB7AAF658DE}" type="slidenum">
              <a:rPr lang="en-US" altLang="en-US"/>
              <a:pPr/>
              <a:t>‹#›</a:t>
            </a:fld>
            <a:endParaRPr lang="en-US" altLang="en-US"/>
          </a:p>
        </p:txBody>
      </p:sp>
    </p:spTree>
    <p:extLst>
      <p:ext uri="{BB962C8B-B14F-4D97-AF65-F5344CB8AC3E}">
        <p14:creationId xmlns:p14="http://schemas.microsoft.com/office/powerpoint/2010/main" val="3811059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a:ln/>
        </p:spPr>
      </p:sp>
      <p:sp>
        <p:nvSpPr>
          <p:cNvPr id="71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71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charset="0"/>
              </a:defRPr>
            </a:lvl1pPr>
            <a:lvl2pPr marL="742950" indent="-285750">
              <a:spcBef>
                <a:spcPct val="30000"/>
              </a:spcBef>
              <a:defRPr sz="1200">
                <a:solidFill>
                  <a:schemeClr val="tx1"/>
                </a:solidFill>
                <a:latin typeface="Arial" charset="0"/>
              </a:defRPr>
            </a:lvl2pPr>
            <a:lvl3pPr marL="1143000" indent="-228600">
              <a:spcBef>
                <a:spcPct val="30000"/>
              </a:spcBef>
              <a:defRPr sz="1200">
                <a:solidFill>
                  <a:schemeClr val="tx1"/>
                </a:solidFill>
                <a:latin typeface="Arial" charset="0"/>
              </a:defRPr>
            </a:lvl3pPr>
            <a:lvl4pPr marL="1600200" indent="-228600">
              <a:spcBef>
                <a:spcPct val="30000"/>
              </a:spcBef>
              <a:defRPr sz="1200">
                <a:solidFill>
                  <a:schemeClr val="tx1"/>
                </a:solidFill>
                <a:latin typeface="Arial" charset="0"/>
              </a:defRPr>
            </a:lvl4pPr>
            <a:lvl5pPr marL="2057400" indent="-22860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a:spcBef>
                <a:spcPct val="0"/>
              </a:spcBef>
            </a:pPr>
            <a:fld id="{852CF7BC-1EF5-43C7-BA8D-DD21BCE2072B}" type="slidenum">
              <a:rPr lang="en-US" altLang="en-US"/>
              <a:pPr>
                <a:spcBef>
                  <a:spcPct val="0"/>
                </a:spcBef>
              </a:pPr>
              <a:t>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6C1B88AE-A3C3-4D8D-9F8A-519F4C44DA0F}"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9E616A62-86D7-437F-94CD-618077AE3B6F}" type="slidenum">
              <a:rPr lang="en-US" altLang="en-US"/>
              <a:pPr/>
              <a:t>‹#›</a:t>
            </a:fld>
            <a:endParaRPr lang="en-US" altLang="en-US"/>
          </a:p>
        </p:txBody>
      </p:sp>
    </p:spTree>
    <p:extLst>
      <p:ext uri="{BB962C8B-B14F-4D97-AF65-F5344CB8AC3E}">
        <p14:creationId xmlns:p14="http://schemas.microsoft.com/office/powerpoint/2010/main" val="3739194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1930E37C-F364-4050-AAD7-C22EEAF077E7}"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B7FCB056-FB42-45E8-8E76-4D14E449FAF4}" type="slidenum">
              <a:rPr lang="en-US" altLang="en-US"/>
              <a:pPr/>
              <a:t>‹#›</a:t>
            </a:fld>
            <a:endParaRPr lang="en-US" altLang="en-US"/>
          </a:p>
        </p:txBody>
      </p:sp>
    </p:spTree>
    <p:extLst>
      <p:ext uri="{BB962C8B-B14F-4D97-AF65-F5344CB8AC3E}">
        <p14:creationId xmlns:p14="http://schemas.microsoft.com/office/powerpoint/2010/main" val="2115650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2230CFC-E9C9-483B-8829-AE6C01B14053}"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79DB0094-847B-40FE-8075-AE7E1A86F6A1}" type="slidenum">
              <a:rPr lang="en-US" altLang="en-US"/>
              <a:pPr/>
              <a:t>‹#›</a:t>
            </a:fld>
            <a:endParaRPr lang="en-US" altLang="en-US"/>
          </a:p>
        </p:txBody>
      </p:sp>
    </p:spTree>
    <p:extLst>
      <p:ext uri="{BB962C8B-B14F-4D97-AF65-F5344CB8AC3E}">
        <p14:creationId xmlns:p14="http://schemas.microsoft.com/office/powerpoint/2010/main" val="2984733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4"/>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4"/>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19A3F39A-5137-4B5F-ADB4-573C3237F1D6}" type="datetime1">
              <a:rPr lang="en-US"/>
              <a:pPr>
                <a:defRPr/>
              </a:pPr>
              <a:t>9/2/2025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8FF267B8-7F74-423C-B4D2-FEA9FCA2EF1C}" type="slidenum">
              <a:rPr lang="en-US" altLang="en-US"/>
              <a:pPr/>
              <a:t>‹#›</a:t>
            </a:fld>
            <a:endParaRPr lang="en-US" altLang="en-US"/>
          </a:p>
        </p:txBody>
      </p:sp>
    </p:spTree>
    <p:extLst>
      <p:ext uri="{BB962C8B-B14F-4D97-AF65-F5344CB8AC3E}">
        <p14:creationId xmlns:p14="http://schemas.microsoft.com/office/powerpoint/2010/main" val="772745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F99D9F2D-822C-444A-B2D8-1DA876E06AF1}" type="datetime1">
              <a:rPr lang="en-US"/>
              <a:pPr>
                <a:defRPr/>
              </a:pPr>
              <a:t>9/2/2025</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9" name="Rectangle 6"/>
          <p:cNvSpPr>
            <a:spLocks noGrp="1" noChangeArrowheads="1"/>
          </p:cNvSpPr>
          <p:nvPr>
            <p:ph type="sldNum" sz="quarter" idx="12"/>
          </p:nvPr>
        </p:nvSpPr>
        <p:spPr>
          <a:ln/>
        </p:spPr>
        <p:txBody>
          <a:bodyPr/>
          <a:lstStyle>
            <a:lvl1pPr>
              <a:defRPr/>
            </a:lvl1pPr>
          </a:lstStyle>
          <a:p>
            <a:fld id="{EAC0B7D7-301D-431B-9398-1CAA57139677}" type="slidenum">
              <a:rPr lang="en-US" altLang="en-US"/>
              <a:pPr/>
              <a:t>‹#›</a:t>
            </a:fld>
            <a:endParaRPr lang="en-US" altLang="en-US"/>
          </a:p>
        </p:txBody>
      </p:sp>
    </p:spTree>
    <p:extLst>
      <p:ext uri="{BB962C8B-B14F-4D97-AF65-F5344CB8AC3E}">
        <p14:creationId xmlns:p14="http://schemas.microsoft.com/office/powerpoint/2010/main" val="3277668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4A47F092-CB28-406F-8F4D-A9CB9C6DDF6E}" type="datetime1">
              <a:rPr lang="en-US"/>
              <a:pPr>
                <a:defRPr/>
              </a:pPr>
              <a:t>9/2/2025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5" name="Rectangle 6"/>
          <p:cNvSpPr>
            <a:spLocks noGrp="1" noChangeArrowheads="1"/>
          </p:cNvSpPr>
          <p:nvPr>
            <p:ph type="sldNum" sz="quarter" idx="12"/>
          </p:nvPr>
        </p:nvSpPr>
        <p:spPr>
          <a:ln/>
        </p:spPr>
        <p:txBody>
          <a:bodyPr/>
          <a:lstStyle>
            <a:lvl1pPr>
              <a:defRPr/>
            </a:lvl1pPr>
          </a:lstStyle>
          <a:p>
            <a:fld id="{1B99854B-65BC-43BE-A440-239932B51D95}" type="slidenum">
              <a:rPr lang="en-US" altLang="en-US"/>
              <a:pPr/>
              <a:t>‹#›</a:t>
            </a:fld>
            <a:endParaRPr lang="en-US" altLang="en-US"/>
          </a:p>
        </p:txBody>
      </p:sp>
    </p:spTree>
    <p:extLst>
      <p:ext uri="{BB962C8B-B14F-4D97-AF65-F5344CB8AC3E}">
        <p14:creationId xmlns:p14="http://schemas.microsoft.com/office/powerpoint/2010/main" val="1237025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9007E84-0DE2-4EBA-A409-4F43CD132524}" type="datetime1">
              <a:rPr lang="en-US"/>
              <a:pPr>
                <a:defRPr/>
              </a:pPr>
              <a:t>9/2/2025</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4" name="Rectangle 6"/>
          <p:cNvSpPr>
            <a:spLocks noGrp="1" noChangeArrowheads="1"/>
          </p:cNvSpPr>
          <p:nvPr>
            <p:ph type="sldNum" sz="quarter" idx="12"/>
          </p:nvPr>
        </p:nvSpPr>
        <p:spPr>
          <a:ln/>
        </p:spPr>
        <p:txBody>
          <a:bodyPr/>
          <a:lstStyle>
            <a:lvl1pPr>
              <a:defRPr/>
            </a:lvl1pPr>
          </a:lstStyle>
          <a:p>
            <a:fld id="{F31F4165-8E61-41BD-BC99-D27EFE7336C0}" type="slidenum">
              <a:rPr lang="en-US" altLang="en-US"/>
              <a:pPr/>
              <a:t>‹#›</a:t>
            </a:fld>
            <a:endParaRPr lang="en-US" altLang="en-US"/>
          </a:p>
        </p:txBody>
      </p:sp>
    </p:spTree>
    <p:extLst>
      <p:ext uri="{BB962C8B-B14F-4D97-AF65-F5344CB8AC3E}">
        <p14:creationId xmlns:p14="http://schemas.microsoft.com/office/powerpoint/2010/main" val="2001470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4"/>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C8E5DB6-A284-4473-8D52-2F93B221A663}" type="datetime1">
              <a:rPr lang="en-US"/>
              <a:pPr>
                <a:defRPr/>
              </a:pPr>
              <a:t>9/2/2025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465AC913-5F39-4B24-BFD0-B77263A5C7A7}" type="slidenum">
              <a:rPr lang="en-US" altLang="en-US"/>
              <a:pPr/>
              <a:t>‹#›</a:t>
            </a:fld>
            <a:endParaRPr lang="en-US" altLang="en-US"/>
          </a:p>
        </p:txBody>
      </p:sp>
    </p:spTree>
    <p:extLst>
      <p:ext uri="{BB962C8B-B14F-4D97-AF65-F5344CB8AC3E}">
        <p14:creationId xmlns:p14="http://schemas.microsoft.com/office/powerpoint/2010/main" val="1173289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922AB68A-FDA8-4C6A-8D84-B7BB18575DE0}" type="datetime1">
              <a:rPr lang="en-US"/>
              <a:pPr>
                <a:defRPr/>
              </a:pPr>
              <a:t>9/2/2025</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7" name="Rectangle 6"/>
          <p:cNvSpPr>
            <a:spLocks noGrp="1" noChangeArrowheads="1"/>
          </p:cNvSpPr>
          <p:nvPr>
            <p:ph type="sldNum" sz="quarter" idx="12"/>
          </p:nvPr>
        </p:nvSpPr>
        <p:spPr>
          <a:ln/>
        </p:spPr>
        <p:txBody>
          <a:bodyPr/>
          <a:lstStyle>
            <a:lvl1pPr>
              <a:defRPr/>
            </a:lvl1pPr>
          </a:lstStyle>
          <a:p>
            <a:fld id="{9E063986-ACC6-45AD-BDD0-5F965E3788AA}" type="slidenum">
              <a:rPr lang="en-US" altLang="en-US"/>
              <a:pPr/>
              <a:t>‹#›</a:t>
            </a:fld>
            <a:endParaRPr lang="en-US" altLang="en-US"/>
          </a:p>
        </p:txBody>
      </p:sp>
    </p:spTree>
    <p:extLst>
      <p:ext uri="{BB962C8B-B14F-4D97-AF65-F5344CB8AC3E}">
        <p14:creationId xmlns:p14="http://schemas.microsoft.com/office/powerpoint/2010/main" val="2491451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2AD4280E-22ED-4EE1-B707-2A227E6C5DF4}"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4C7C7317-8101-4973-AC7E-BD1AD42ECD8E}" type="slidenum">
              <a:rPr lang="en-US" altLang="en-US"/>
              <a:pPr/>
              <a:t>‹#›</a:t>
            </a:fld>
            <a:endParaRPr lang="en-US" altLang="en-US"/>
          </a:p>
        </p:txBody>
      </p:sp>
    </p:spTree>
    <p:extLst>
      <p:ext uri="{BB962C8B-B14F-4D97-AF65-F5344CB8AC3E}">
        <p14:creationId xmlns:p14="http://schemas.microsoft.com/office/powerpoint/2010/main" val="2329808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DE5ACD89-3346-458A-A6CB-1C441E96DBEA}"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E98E295A-1F21-45D2-9B8C-DF51B8F8C321}" type="slidenum">
              <a:rPr lang="en-US" altLang="en-US"/>
              <a:pPr/>
              <a:t>‹#›</a:t>
            </a:fld>
            <a:endParaRPr lang="en-US" altLang="en-US"/>
          </a:p>
        </p:txBody>
      </p:sp>
    </p:spTree>
    <p:extLst>
      <p:ext uri="{BB962C8B-B14F-4D97-AF65-F5344CB8AC3E}">
        <p14:creationId xmlns:p14="http://schemas.microsoft.com/office/powerpoint/2010/main" val="2714674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4"/>
            <a:ext cx="82296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fld id="{6B3C3EC6-FBA6-45B6-B3D5-58AC3D9E5AB4}" type="datetime1">
              <a:rPr lang="en-US"/>
              <a:pPr>
                <a:defRPr/>
              </a:pPr>
              <a:t>9/2/2025</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Paper No – 50; Session No - 41</a:t>
            </a:r>
          </a:p>
        </p:txBody>
      </p:sp>
      <p:sp>
        <p:nvSpPr>
          <p:cNvPr id="6" name="Rectangle 6"/>
          <p:cNvSpPr>
            <a:spLocks noGrp="1" noChangeArrowheads="1"/>
          </p:cNvSpPr>
          <p:nvPr>
            <p:ph type="sldNum" sz="quarter" idx="12"/>
          </p:nvPr>
        </p:nvSpPr>
        <p:spPr>
          <a:ln/>
        </p:spPr>
        <p:txBody>
          <a:bodyPr/>
          <a:lstStyle>
            <a:lvl1pPr>
              <a:defRPr/>
            </a:lvl1pPr>
          </a:lstStyle>
          <a:p>
            <a:fld id="{4F6CEE9F-ABAF-4D64-B423-0B2F034D9054}" type="slidenum">
              <a:rPr lang="en-US" altLang="en-US"/>
              <a:pPr/>
              <a:t>‹#›</a:t>
            </a:fld>
            <a:endParaRPr lang="en-US" altLang="en-US"/>
          </a:p>
        </p:txBody>
      </p:sp>
    </p:spTree>
    <p:extLst>
      <p:ext uri="{BB962C8B-B14F-4D97-AF65-F5344CB8AC3E}">
        <p14:creationId xmlns:p14="http://schemas.microsoft.com/office/powerpoint/2010/main" val="2994735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050">
                <a:latin typeface="Arial" charset="0"/>
              </a:defRPr>
            </a:lvl1pPr>
          </a:lstStyle>
          <a:p>
            <a:pPr>
              <a:defRPr/>
            </a:pPr>
            <a:fld id="{97959B4A-5782-4BCA-8A5F-9502DE7283C4}" type="datetime1">
              <a:rPr lang="en-US"/>
              <a:pPr>
                <a:defRPr/>
              </a:pPr>
              <a:t>9/2/2025</a:t>
            </a:fld>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50">
                <a:latin typeface="Arial" charset="0"/>
              </a:defRPr>
            </a:lvl1pPr>
          </a:lstStyle>
          <a:p>
            <a:pPr>
              <a:defRPr/>
            </a:pPr>
            <a:r>
              <a:rPr lang="en-US"/>
              <a:t>Paper No – 50; Session No - 41</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6855D25F-EAF1-44F4-B045-AF33E30AA7E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900" algn="ctr" rtl="0" fontAlgn="base">
        <a:spcBef>
          <a:spcPct val="0"/>
        </a:spcBef>
        <a:spcAft>
          <a:spcPct val="0"/>
        </a:spcAft>
        <a:defRPr sz="3300">
          <a:solidFill>
            <a:schemeClr val="tx2"/>
          </a:solidFill>
          <a:latin typeface="Arial" charset="0"/>
        </a:defRPr>
      </a:lvl6pPr>
      <a:lvl7pPr marL="685800" algn="ctr" rtl="0" fontAlgn="base">
        <a:spcBef>
          <a:spcPct val="0"/>
        </a:spcBef>
        <a:spcAft>
          <a:spcPct val="0"/>
        </a:spcAft>
        <a:defRPr sz="3300">
          <a:solidFill>
            <a:schemeClr val="tx2"/>
          </a:solidFill>
          <a:latin typeface="Arial" charset="0"/>
        </a:defRPr>
      </a:lvl7pPr>
      <a:lvl8pPr marL="1028700" algn="ctr" rtl="0" fontAlgn="base">
        <a:spcBef>
          <a:spcPct val="0"/>
        </a:spcBef>
        <a:spcAft>
          <a:spcPct val="0"/>
        </a:spcAft>
        <a:defRPr sz="3300">
          <a:solidFill>
            <a:schemeClr val="tx2"/>
          </a:solidFill>
          <a:latin typeface="Arial" charset="0"/>
        </a:defRPr>
      </a:lvl8pPr>
      <a:lvl9pPr marL="1371600" algn="ctr" rtl="0" fontAlgn="base">
        <a:spcBef>
          <a:spcPct val="0"/>
        </a:spcBef>
        <a:spcAft>
          <a:spcPct val="0"/>
        </a:spcAft>
        <a:defRPr sz="3300">
          <a:solidFill>
            <a:schemeClr val="tx2"/>
          </a:solidFill>
          <a:latin typeface="Arial" charset="0"/>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defRPr>
      </a:lvl2pPr>
      <a:lvl3pPr marL="857250" indent="-171450" algn="l" rtl="0" eaLnBrk="0" fontAlgn="base" hangingPunct="0">
        <a:spcBef>
          <a:spcPct val="20000"/>
        </a:spcBef>
        <a:spcAft>
          <a:spcPct val="0"/>
        </a:spcAft>
        <a:buChar char="•"/>
        <a:defRPr>
          <a:solidFill>
            <a:schemeClr val="tx1"/>
          </a:solidFill>
          <a:latin typeface="+mn-lt"/>
        </a:defRPr>
      </a:lvl3pPr>
      <a:lvl4pPr marL="1200150" indent="-171450" algn="l" rtl="0" eaLnBrk="0" fontAlgn="base" hangingPunct="0">
        <a:spcBef>
          <a:spcPct val="20000"/>
        </a:spcBef>
        <a:spcAft>
          <a:spcPct val="0"/>
        </a:spcAft>
        <a:buChar char="–"/>
        <a:defRPr sz="1500">
          <a:solidFill>
            <a:schemeClr val="tx1"/>
          </a:solidFill>
          <a:latin typeface="+mn-lt"/>
        </a:defRPr>
      </a:lvl4pPr>
      <a:lvl5pPr marL="1543050" indent="-171450" algn="l" rtl="0" eaLnBrk="0" fontAlgn="base" hangingPunct="0">
        <a:spcBef>
          <a:spcPct val="20000"/>
        </a:spcBef>
        <a:spcAft>
          <a:spcPct val="0"/>
        </a:spcAft>
        <a:buChar char="»"/>
        <a:defRPr sz="1500">
          <a:solidFill>
            <a:schemeClr val="tx1"/>
          </a:solidFill>
          <a:latin typeface="+mn-lt"/>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0160" y="762000"/>
            <a:ext cx="8829040" cy="1470025"/>
          </a:xfrm>
        </p:spPr>
        <p:txBody>
          <a:bodyPr>
            <a:normAutofit/>
          </a:bodyPr>
          <a:lstStyle/>
          <a:p>
            <a:pPr algn="ctr"/>
            <a:r>
              <a:rPr lang="en-US" b="1" dirty="0">
                <a:solidFill>
                  <a:srgbClr val="000099"/>
                </a:solidFill>
                <a:latin typeface="Cambria" pitchFamily="18" charset="0"/>
                <a:ea typeface="Cambria" pitchFamily="18" charset="0"/>
              </a:rPr>
              <a:t>5G WIRELESS </a:t>
            </a:r>
            <a:r>
              <a:rPr lang="en-US" b="1" dirty="0" smtClean="0">
                <a:solidFill>
                  <a:srgbClr val="000099"/>
                </a:solidFill>
                <a:latin typeface="Cambria" pitchFamily="18" charset="0"/>
                <a:ea typeface="Cambria" pitchFamily="18" charset="0"/>
              </a:rPr>
              <a:t>COMMUNICATION </a:t>
            </a:r>
            <a:br>
              <a:rPr lang="en-US" b="1" dirty="0" smtClean="0">
                <a:solidFill>
                  <a:srgbClr val="000099"/>
                </a:solidFill>
                <a:latin typeface="Cambria" pitchFamily="18" charset="0"/>
                <a:ea typeface="Cambria" pitchFamily="18" charset="0"/>
              </a:rPr>
            </a:br>
            <a:r>
              <a:rPr lang="en-US" b="1" dirty="0" smtClean="0">
                <a:solidFill>
                  <a:srgbClr val="000099"/>
                </a:solidFill>
                <a:latin typeface="Cambria" pitchFamily="18" charset="0"/>
                <a:ea typeface="Cambria" pitchFamily="18" charset="0"/>
              </a:rPr>
              <a:t>(UEC 719) </a:t>
            </a:r>
            <a:endParaRPr lang="en-US" b="1" dirty="0">
              <a:solidFill>
                <a:srgbClr val="000099"/>
              </a:solidFill>
              <a:latin typeface="Cambria" pitchFamily="18" charset="0"/>
              <a:ea typeface="Cambria" pitchFamily="18" charset="0"/>
            </a:endParaRPr>
          </a:p>
        </p:txBody>
      </p:sp>
      <p:sp>
        <p:nvSpPr>
          <p:cNvPr id="7" name="Slide Number Placeholder 14"/>
          <p:cNvSpPr>
            <a:spLocks noGrp="1"/>
          </p:cNvSpPr>
          <p:nvPr>
            <p:ph type="sldNum" sz="quarter" idx="4294967295"/>
          </p:nvPr>
        </p:nvSpPr>
        <p:spPr>
          <a:xfrm>
            <a:off x="7833360" y="6378575"/>
            <a:ext cx="2844800" cy="276999"/>
          </a:xfrm>
          <a:prstGeom prst="rect">
            <a:avLst/>
          </a:prstGeom>
        </p:spPr>
        <p:txBody>
          <a:bodyPr/>
          <a:lstStyle/>
          <a:p>
            <a:fld id="{4846ABB7-46DB-4F16-AB8B-BFEDDDD52D19}" type="slidenum">
              <a:rPr lang="en-US" smtClean="0">
                <a:latin typeface="Cambria" pitchFamily="18" charset="0"/>
                <a:ea typeface="Cambria" pitchFamily="18" charset="0"/>
              </a:rPr>
              <a:pPr/>
              <a:t>1</a:t>
            </a:fld>
            <a:endParaRPr lang="en-US">
              <a:latin typeface="Cambria" pitchFamily="18" charset="0"/>
              <a:ea typeface="Cambria" pitchFamily="18" charset="0"/>
            </a:endParaRPr>
          </a:p>
        </p:txBody>
      </p:sp>
      <p:sp>
        <p:nvSpPr>
          <p:cNvPr id="8" name="TextBox 7"/>
          <p:cNvSpPr txBox="1"/>
          <p:nvPr/>
        </p:nvSpPr>
        <p:spPr>
          <a:xfrm>
            <a:off x="238760" y="4670414"/>
            <a:ext cx="3342583" cy="1384995"/>
          </a:xfrm>
          <a:prstGeom prst="rect">
            <a:avLst/>
          </a:prstGeom>
          <a:noFill/>
        </p:spPr>
        <p:txBody>
          <a:bodyPr wrap="none" rtlCol="0">
            <a:spAutoFit/>
          </a:bodyPr>
          <a:lstStyle/>
          <a:p>
            <a:pPr algn="ctr"/>
            <a:r>
              <a:rPr lang="en-US" sz="2800" dirty="0" smtClean="0">
                <a:solidFill>
                  <a:srgbClr val="002060"/>
                </a:solidFill>
                <a:latin typeface="Cambria" pitchFamily="18" charset="0"/>
                <a:ea typeface="Cambria" pitchFamily="18" charset="0"/>
                <a:cs typeface="+mj-cs"/>
              </a:rPr>
              <a:t>Dr</a:t>
            </a:r>
            <a:r>
              <a:rPr lang="en-US" sz="2800" dirty="0">
                <a:solidFill>
                  <a:srgbClr val="002060"/>
                </a:solidFill>
                <a:latin typeface="Cambria" pitchFamily="18" charset="0"/>
                <a:ea typeface="Cambria" pitchFamily="18" charset="0"/>
                <a:cs typeface="+mj-cs"/>
              </a:rPr>
              <a:t>. </a:t>
            </a:r>
            <a:r>
              <a:rPr lang="en-US" sz="2800" dirty="0" err="1" smtClean="0">
                <a:solidFill>
                  <a:srgbClr val="002060"/>
                </a:solidFill>
                <a:latin typeface="Cambria" pitchFamily="18" charset="0"/>
                <a:ea typeface="Cambria" pitchFamily="18" charset="0"/>
                <a:cs typeface="+mj-cs"/>
              </a:rPr>
              <a:t>Amit</a:t>
            </a:r>
            <a:r>
              <a:rPr lang="en-US" sz="2800" dirty="0" smtClean="0">
                <a:solidFill>
                  <a:srgbClr val="002060"/>
                </a:solidFill>
                <a:latin typeface="Cambria" pitchFamily="18" charset="0"/>
                <a:ea typeface="Cambria" pitchFamily="18" charset="0"/>
                <a:cs typeface="+mj-cs"/>
              </a:rPr>
              <a:t> Mishra</a:t>
            </a:r>
            <a:endParaRPr lang="en-US" sz="2800" dirty="0">
              <a:solidFill>
                <a:srgbClr val="002060"/>
              </a:solidFill>
              <a:latin typeface="Cambria" pitchFamily="18" charset="0"/>
              <a:ea typeface="Cambria" pitchFamily="18" charset="0"/>
              <a:cs typeface="+mj-cs"/>
            </a:endParaRPr>
          </a:p>
          <a:p>
            <a:pPr algn="ctr"/>
            <a:r>
              <a:rPr lang="en-US" sz="2800" dirty="0">
                <a:solidFill>
                  <a:srgbClr val="002060"/>
                </a:solidFill>
                <a:latin typeface="Cambria" pitchFamily="18" charset="0"/>
                <a:ea typeface="Cambria" pitchFamily="18" charset="0"/>
                <a:cs typeface="+mj-cs"/>
              </a:rPr>
              <a:t>Associate Professor, </a:t>
            </a:r>
          </a:p>
          <a:p>
            <a:pPr algn="ctr"/>
            <a:r>
              <a:rPr lang="en-US" sz="2800" dirty="0">
                <a:solidFill>
                  <a:srgbClr val="002060"/>
                </a:solidFill>
                <a:latin typeface="Cambria" pitchFamily="18" charset="0"/>
                <a:ea typeface="Cambria" pitchFamily="18" charset="0"/>
                <a:cs typeface="+mj-cs"/>
              </a:rPr>
              <a:t>TIET, Patiala</a:t>
            </a:r>
            <a:endParaRPr lang="en-IN" sz="2800" dirty="0">
              <a:solidFill>
                <a:srgbClr val="002060"/>
              </a:solidFill>
              <a:latin typeface="Cambria" pitchFamily="18" charset="0"/>
              <a:ea typeface="Cambria" pitchFamily="18" charset="0"/>
              <a:cs typeface="+mj-cs"/>
            </a:endParaRPr>
          </a:p>
        </p:txBody>
      </p:sp>
      <p:sp>
        <p:nvSpPr>
          <p:cNvPr id="9" name="TextBox 8"/>
          <p:cNvSpPr txBox="1"/>
          <p:nvPr/>
        </p:nvSpPr>
        <p:spPr>
          <a:xfrm>
            <a:off x="5527097" y="4646908"/>
            <a:ext cx="3342583" cy="1384995"/>
          </a:xfrm>
          <a:prstGeom prst="rect">
            <a:avLst/>
          </a:prstGeom>
          <a:noFill/>
        </p:spPr>
        <p:txBody>
          <a:bodyPr wrap="none" rtlCol="0">
            <a:spAutoFit/>
          </a:bodyPr>
          <a:lstStyle/>
          <a:p>
            <a:pPr algn="ctr"/>
            <a:r>
              <a:rPr lang="en-US" sz="2800" dirty="0" smtClean="0">
                <a:solidFill>
                  <a:srgbClr val="002060"/>
                </a:solidFill>
                <a:latin typeface="Cambria" pitchFamily="18" charset="0"/>
                <a:ea typeface="Cambria" pitchFamily="18" charset="0"/>
                <a:cs typeface="+mj-cs"/>
              </a:rPr>
              <a:t>Dr</a:t>
            </a:r>
            <a:r>
              <a:rPr lang="en-US" sz="2800" dirty="0">
                <a:solidFill>
                  <a:srgbClr val="002060"/>
                </a:solidFill>
                <a:latin typeface="Cambria" pitchFamily="18" charset="0"/>
                <a:ea typeface="Cambria" pitchFamily="18" charset="0"/>
                <a:cs typeface="+mj-cs"/>
              </a:rPr>
              <a:t>. </a:t>
            </a:r>
            <a:r>
              <a:rPr lang="en-US" sz="2800" dirty="0" err="1" smtClean="0">
                <a:solidFill>
                  <a:srgbClr val="002060"/>
                </a:solidFill>
                <a:latin typeface="Cambria" pitchFamily="18" charset="0"/>
                <a:ea typeface="Cambria" pitchFamily="18" charset="0"/>
                <a:cs typeface="+mj-cs"/>
              </a:rPr>
              <a:t>Surbhi</a:t>
            </a:r>
            <a:r>
              <a:rPr lang="en-US" sz="2800" dirty="0" smtClean="0">
                <a:solidFill>
                  <a:srgbClr val="002060"/>
                </a:solidFill>
                <a:latin typeface="Cambria" pitchFamily="18" charset="0"/>
                <a:ea typeface="Cambria" pitchFamily="18" charset="0"/>
                <a:cs typeface="+mj-cs"/>
              </a:rPr>
              <a:t> Sharma</a:t>
            </a:r>
            <a:endParaRPr lang="en-US" sz="2800" dirty="0">
              <a:solidFill>
                <a:srgbClr val="002060"/>
              </a:solidFill>
              <a:latin typeface="Cambria" pitchFamily="18" charset="0"/>
              <a:ea typeface="Cambria" pitchFamily="18" charset="0"/>
              <a:cs typeface="+mj-cs"/>
            </a:endParaRPr>
          </a:p>
          <a:p>
            <a:pPr algn="ctr"/>
            <a:r>
              <a:rPr lang="en-US" sz="2800" dirty="0">
                <a:solidFill>
                  <a:srgbClr val="002060"/>
                </a:solidFill>
                <a:latin typeface="Cambria" pitchFamily="18" charset="0"/>
                <a:ea typeface="Cambria" pitchFamily="18" charset="0"/>
                <a:cs typeface="+mj-cs"/>
              </a:rPr>
              <a:t>Associate Professor, </a:t>
            </a:r>
          </a:p>
          <a:p>
            <a:pPr algn="ctr"/>
            <a:r>
              <a:rPr lang="en-US" sz="2800" dirty="0">
                <a:solidFill>
                  <a:srgbClr val="002060"/>
                </a:solidFill>
                <a:latin typeface="Cambria" pitchFamily="18" charset="0"/>
                <a:ea typeface="Cambria" pitchFamily="18" charset="0"/>
                <a:cs typeface="+mj-cs"/>
              </a:rPr>
              <a:t>TIET, Patiala</a:t>
            </a:r>
            <a:endParaRPr lang="en-IN" sz="2800" dirty="0">
              <a:solidFill>
                <a:srgbClr val="002060"/>
              </a:solidFill>
              <a:latin typeface="Cambria" pitchFamily="18" charset="0"/>
              <a:ea typeface="Cambria" pitchFamily="18" charset="0"/>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428875" y="1736725"/>
            <a:ext cx="4171950" cy="1749425"/>
          </a:xfrm>
        </p:spPr>
        <p:txBody>
          <a:bodyPr>
            <a:normAutofit fontScale="47500" lnSpcReduction="20000"/>
          </a:bodyPr>
          <a:lstStyle/>
          <a:p>
            <a:pPr algn="ctr">
              <a:buFontTx/>
              <a:buNone/>
              <a:defRPr/>
            </a:pPr>
            <a:r>
              <a:rPr lang="en-US" sz="6000" dirty="0">
                <a:solidFill>
                  <a:srgbClr val="00B0F0"/>
                </a:solidFill>
              </a:rPr>
              <a:t>Lecture: </a:t>
            </a:r>
            <a:r>
              <a:rPr lang="en-US" sz="6000" dirty="0" smtClean="0">
                <a:solidFill>
                  <a:srgbClr val="00B0F0"/>
                </a:solidFill>
              </a:rPr>
              <a:t>9-11</a:t>
            </a:r>
            <a:endParaRPr lang="en-US" sz="6000" dirty="0">
              <a:solidFill>
                <a:srgbClr val="00B0F0"/>
              </a:solidFill>
            </a:endParaRPr>
          </a:p>
          <a:p>
            <a:pPr algn="ctr">
              <a:buFontTx/>
              <a:buNone/>
              <a:defRPr/>
            </a:pPr>
            <a:endParaRPr lang="en-US" sz="4950" dirty="0">
              <a:solidFill>
                <a:srgbClr val="C00000"/>
              </a:solidFill>
            </a:endParaRPr>
          </a:p>
          <a:p>
            <a:pPr algn="ctr">
              <a:buFontTx/>
              <a:buNone/>
              <a:defRPr/>
            </a:pPr>
            <a:r>
              <a:rPr lang="en-US" sz="5700" dirty="0">
                <a:solidFill>
                  <a:srgbClr val="C00000"/>
                </a:solidFill>
              </a:rPr>
              <a:t>OFDM-SYSTEM MODEL</a:t>
            </a:r>
          </a:p>
          <a:p>
            <a:pPr algn="ctr">
              <a:buFontTx/>
              <a:buNone/>
              <a:defRPr/>
            </a:pPr>
            <a:r>
              <a:rPr lang="en-US" sz="2850" dirty="0">
                <a:solidFill>
                  <a:srgbClr val="C00000"/>
                </a:solidFill>
              </a:rPr>
              <a:t>OFDM-Waveform for 5G</a:t>
            </a:r>
          </a:p>
          <a:p>
            <a:pPr algn="ctr">
              <a:buFontTx/>
              <a:buNone/>
              <a:defRPr/>
            </a:pPr>
            <a:endParaRPr lang="en-US" sz="1725" dirty="0">
              <a:solidFill>
                <a:srgbClr val="C00000"/>
              </a:solidFill>
            </a:endParaRPr>
          </a:p>
        </p:txBody>
      </p:sp>
      <p:sp>
        <p:nvSpPr>
          <p:cNvPr id="3075" name="Slide Number Placeholder 14"/>
          <p:cNvSpPr>
            <a:spLocks noGrp="1"/>
          </p:cNvSpPr>
          <p:nvPr>
            <p:ph type="sldNum" sz="quarter" idx="12"/>
          </p:nvPr>
        </p:nvSpPr>
        <p:spPr>
          <a:xfrm>
            <a:off x="6057900" y="5624513"/>
            <a:ext cx="1600200"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charset="0"/>
              </a:defRPr>
            </a:lvl1pPr>
            <a:lvl2pPr marL="557213" indent="-214313">
              <a:spcBef>
                <a:spcPct val="20000"/>
              </a:spcBef>
              <a:buChar char="–"/>
              <a:defRPr sz="2100">
                <a:solidFill>
                  <a:schemeClr val="tx1"/>
                </a:solidFill>
                <a:latin typeface="Arial" charset="0"/>
              </a:defRPr>
            </a:lvl2pPr>
            <a:lvl3pPr marL="857250" indent="-171450">
              <a:spcBef>
                <a:spcPct val="20000"/>
              </a:spcBef>
              <a:buChar char="•"/>
              <a:defRPr>
                <a:solidFill>
                  <a:schemeClr val="tx1"/>
                </a:solidFill>
                <a:latin typeface="Arial" charset="0"/>
              </a:defRPr>
            </a:lvl3pPr>
            <a:lvl4pPr marL="1200150" indent="-171450">
              <a:spcBef>
                <a:spcPct val="20000"/>
              </a:spcBef>
              <a:buChar char="–"/>
              <a:defRPr sz="1500">
                <a:solidFill>
                  <a:schemeClr val="tx1"/>
                </a:solidFill>
                <a:latin typeface="Arial" charset="0"/>
              </a:defRPr>
            </a:lvl4pPr>
            <a:lvl5pPr marL="1543050" indent="-171450">
              <a:spcBef>
                <a:spcPct val="20000"/>
              </a:spcBef>
              <a:buChar char="»"/>
              <a:defRPr sz="1500">
                <a:solidFill>
                  <a:schemeClr val="tx1"/>
                </a:solidFill>
                <a:latin typeface="Arial" charset="0"/>
              </a:defRPr>
            </a:lvl5pPr>
            <a:lvl6pPr marL="2000250" indent="-171450" eaLnBrk="0" fontAlgn="base" hangingPunct="0">
              <a:spcBef>
                <a:spcPct val="20000"/>
              </a:spcBef>
              <a:spcAft>
                <a:spcPct val="0"/>
              </a:spcAft>
              <a:buChar char="»"/>
              <a:defRPr sz="1500">
                <a:solidFill>
                  <a:schemeClr val="tx1"/>
                </a:solidFill>
                <a:latin typeface="Arial" charset="0"/>
              </a:defRPr>
            </a:lvl6pPr>
            <a:lvl7pPr marL="2457450" indent="-171450" eaLnBrk="0" fontAlgn="base" hangingPunct="0">
              <a:spcBef>
                <a:spcPct val="20000"/>
              </a:spcBef>
              <a:spcAft>
                <a:spcPct val="0"/>
              </a:spcAft>
              <a:buChar char="»"/>
              <a:defRPr sz="1500">
                <a:solidFill>
                  <a:schemeClr val="tx1"/>
                </a:solidFill>
                <a:latin typeface="Arial" charset="0"/>
              </a:defRPr>
            </a:lvl7pPr>
            <a:lvl8pPr marL="2914650" indent="-171450" eaLnBrk="0" fontAlgn="base" hangingPunct="0">
              <a:spcBef>
                <a:spcPct val="20000"/>
              </a:spcBef>
              <a:spcAft>
                <a:spcPct val="0"/>
              </a:spcAft>
              <a:buChar char="»"/>
              <a:defRPr sz="1500">
                <a:solidFill>
                  <a:schemeClr val="tx1"/>
                </a:solidFill>
                <a:latin typeface="Arial" charset="0"/>
              </a:defRPr>
            </a:lvl8pPr>
            <a:lvl9pPr marL="3371850" indent="-171450" eaLnBrk="0" fontAlgn="base" hangingPunct="0">
              <a:spcBef>
                <a:spcPct val="20000"/>
              </a:spcBef>
              <a:spcAft>
                <a:spcPct val="0"/>
              </a:spcAft>
              <a:buChar char="»"/>
              <a:defRPr sz="1500">
                <a:solidFill>
                  <a:schemeClr val="tx1"/>
                </a:solidFill>
                <a:latin typeface="Arial" charset="0"/>
              </a:defRPr>
            </a:lvl9pPr>
          </a:lstStyle>
          <a:p>
            <a:pPr>
              <a:spcBef>
                <a:spcPct val="0"/>
              </a:spcBef>
              <a:buFontTx/>
              <a:buNone/>
            </a:pPr>
            <a:fld id="{28270C2B-F570-482D-B7D8-379B0AD8AD3A}" type="slidenum">
              <a:rPr lang="en-US" altLang="en-US" sz="1000"/>
              <a:pPr>
                <a:spcBef>
                  <a:spcPct val="0"/>
                </a:spcBef>
                <a:buFontTx/>
                <a:buNone/>
              </a:pPr>
              <a:t>2</a:t>
            </a:fld>
            <a:endParaRPr lang="en-US" altLang="en-US" sz="10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p:cNvSpPr>
            <a:spLocks noGrp="1"/>
          </p:cNvSpPr>
          <p:nvPr>
            <p:ph idx="4294967295"/>
          </p:nvPr>
        </p:nvSpPr>
        <p:spPr>
          <a:xfrm>
            <a:off x="2365375" y="187325"/>
            <a:ext cx="4171950" cy="879475"/>
          </a:xfrm>
        </p:spPr>
        <p:txBody>
          <a:bodyPr/>
          <a:lstStyle/>
          <a:p>
            <a:pPr algn="ctr">
              <a:buFontTx/>
              <a:buNone/>
            </a:pPr>
            <a:r>
              <a:rPr lang="en-US" altLang="en-US" sz="3300" smtClean="0">
                <a:solidFill>
                  <a:srgbClr val="00B0F0"/>
                </a:solidFill>
              </a:rPr>
              <a:t>Contents</a:t>
            </a:r>
          </a:p>
        </p:txBody>
      </p:sp>
      <p:sp>
        <p:nvSpPr>
          <p:cNvPr id="4099" name="Slide Number Placeholder 14"/>
          <p:cNvSpPr>
            <a:spLocks noGrp="1"/>
          </p:cNvSpPr>
          <p:nvPr>
            <p:ph type="sldNum" sz="quarter" idx="12"/>
          </p:nvPr>
        </p:nvSpPr>
        <p:spPr>
          <a:xfrm>
            <a:off x="6057900" y="5624513"/>
            <a:ext cx="1600200" cy="27463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Arial" charset="0"/>
              </a:defRPr>
            </a:lvl1pPr>
            <a:lvl2pPr marL="557213" indent="-214313">
              <a:spcBef>
                <a:spcPct val="20000"/>
              </a:spcBef>
              <a:buChar char="–"/>
              <a:defRPr sz="2100">
                <a:solidFill>
                  <a:schemeClr val="tx1"/>
                </a:solidFill>
                <a:latin typeface="Arial" charset="0"/>
              </a:defRPr>
            </a:lvl2pPr>
            <a:lvl3pPr marL="857250" indent="-171450">
              <a:spcBef>
                <a:spcPct val="20000"/>
              </a:spcBef>
              <a:buChar char="•"/>
              <a:defRPr>
                <a:solidFill>
                  <a:schemeClr val="tx1"/>
                </a:solidFill>
                <a:latin typeface="Arial" charset="0"/>
              </a:defRPr>
            </a:lvl3pPr>
            <a:lvl4pPr marL="1200150" indent="-171450">
              <a:spcBef>
                <a:spcPct val="20000"/>
              </a:spcBef>
              <a:buChar char="–"/>
              <a:defRPr sz="1500">
                <a:solidFill>
                  <a:schemeClr val="tx1"/>
                </a:solidFill>
                <a:latin typeface="Arial" charset="0"/>
              </a:defRPr>
            </a:lvl4pPr>
            <a:lvl5pPr marL="1543050" indent="-171450">
              <a:spcBef>
                <a:spcPct val="20000"/>
              </a:spcBef>
              <a:buChar char="»"/>
              <a:defRPr sz="1500">
                <a:solidFill>
                  <a:schemeClr val="tx1"/>
                </a:solidFill>
                <a:latin typeface="Arial" charset="0"/>
              </a:defRPr>
            </a:lvl5pPr>
            <a:lvl6pPr marL="2000250" indent="-171450" eaLnBrk="0" fontAlgn="base" hangingPunct="0">
              <a:spcBef>
                <a:spcPct val="20000"/>
              </a:spcBef>
              <a:spcAft>
                <a:spcPct val="0"/>
              </a:spcAft>
              <a:buChar char="»"/>
              <a:defRPr sz="1500">
                <a:solidFill>
                  <a:schemeClr val="tx1"/>
                </a:solidFill>
                <a:latin typeface="Arial" charset="0"/>
              </a:defRPr>
            </a:lvl6pPr>
            <a:lvl7pPr marL="2457450" indent="-171450" eaLnBrk="0" fontAlgn="base" hangingPunct="0">
              <a:spcBef>
                <a:spcPct val="20000"/>
              </a:spcBef>
              <a:spcAft>
                <a:spcPct val="0"/>
              </a:spcAft>
              <a:buChar char="»"/>
              <a:defRPr sz="1500">
                <a:solidFill>
                  <a:schemeClr val="tx1"/>
                </a:solidFill>
                <a:latin typeface="Arial" charset="0"/>
              </a:defRPr>
            </a:lvl7pPr>
            <a:lvl8pPr marL="2914650" indent="-171450" eaLnBrk="0" fontAlgn="base" hangingPunct="0">
              <a:spcBef>
                <a:spcPct val="20000"/>
              </a:spcBef>
              <a:spcAft>
                <a:spcPct val="0"/>
              </a:spcAft>
              <a:buChar char="»"/>
              <a:defRPr sz="1500">
                <a:solidFill>
                  <a:schemeClr val="tx1"/>
                </a:solidFill>
                <a:latin typeface="Arial" charset="0"/>
              </a:defRPr>
            </a:lvl8pPr>
            <a:lvl9pPr marL="3371850" indent="-171450" eaLnBrk="0" fontAlgn="base" hangingPunct="0">
              <a:spcBef>
                <a:spcPct val="20000"/>
              </a:spcBef>
              <a:spcAft>
                <a:spcPct val="0"/>
              </a:spcAft>
              <a:buChar char="»"/>
              <a:defRPr sz="1500">
                <a:solidFill>
                  <a:schemeClr val="tx1"/>
                </a:solidFill>
                <a:latin typeface="Arial" charset="0"/>
              </a:defRPr>
            </a:lvl9pPr>
          </a:lstStyle>
          <a:p>
            <a:pPr>
              <a:spcBef>
                <a:spcPct val="0"/>
              </a:spcBef>
              <a:buFontTx/>
              <a:buNone/>
            </a:pPr>
            <a:fld id="{D8E9BFDC-D866-4011-871E-84FBC2DB700C}" type="slidenum">
              <a:rPr lang="en-US" altLang="en-US" sz="1000"/>
              <a:pPr>
                <a:spcBef>
                  <a:spcPct val="0"/>
                </a:spcBef>
                <a:buFontTx/>
                <a:buNone/>
              </a:pPr>
              <a:t>3</a:t>
            </a:fld>
            <a:endParaRPr lang="en-US" altLang="en-US" sz="1000"/>
          </a:p>
        </p:txBody>
      </p:sp>
      <p:sp>
        <p:nvSpPr>
          <p:cNvPr id="7" name="Rectangle 6"/>
          <p:cNvSpPr/>
          <p:nvPr/>
        </p:nvSpPr>
        <p:spPr>
          <a:xfrm>
            <a:off x="304800" y="1066800"/>
            <a:ext cx="8458200" cy="3323987"/>
          </a:xfrm>
          <a:prstGeom prst="rect">
            <a:avLst/>
          </a:prstGeom>
        </p:spPr>
        <p:txBody>
          <a:bodyPr wrap="square">
            <a:spAutoFit/>
          </a:bodyPr>
          <a:lstStyle/>
          <a:p>
            <a:pPr marL="214313" indent="-214313" algn="just" eaLnBrk="1" hangingPunct="1">
              <a:lnSpc>
                <a:spcPct val="150000"/>
              </a:lnSpc>
              <a:buFont typeface="Arial" panose="020B0604020202020204" pitchFamily="34" charset="0"/>
              <a:buChar char="•"/>
              <a:defRPr/>
            </a:pPr>
            <a:r>
              <a:rPr lang="en-US" sz="2000" dirty="0">
                <a:solidFill>
                  <a:srgbClr val="C00000"/>
                </a:solidFill>
                <a:latin typeface="+mj-lt"/>
              </a:rPr>
              <a:t>OFDM </a:t>
            </a:r>
            <a:r>
              <a:rPr lang="en-US" sz="2000" dirty="0" smtClean="0">
                <a:solidFill>
                  <a:srgbClr val="C00000"/>
                </a:solidFill>
                <a:latin typeface="+mj-lt"/>
              </a:rPr>
              <a:t>System Model</a:t>
            </a:r>
            <a:endParaRPr lang="en-US" sz="2000" dirty="0">
              <a:solidFill>
                <a:srgbClr val="C00000"/>
              </a:solidFill>
              <a:latin typeface="+mj-lt"/>
            </a:endParaRPr>
          </a:p>
          <a:p>
            <a:pPr marL="214313" indent="-214313" algn="just" eaLnBrk="1" hangingPunct="1">
              <a:lnSpc>
                <a:spcPct val="150000"/>
              </a:lnSpc>
              <a:buFont typeface="Arial" panose="020B0604020202020204" pitchFamily="34" charset="0"/>
              <a:buChar char="•"/>
              <a:defRPr/>
            </a:pPr>
            <a:r>
              <a:rPr lang="en-US" sz="2000" dirty="0">
                <a:solidFill>
                  <a:srgbClr val="C00000"/>
                </a:solidFill>
                <a:latin typeface="+mj-lt"/>
              </a:rPr>
              <a:t>OFDM </a:t>
            </a:r>
            <a:r>
              <a:rPr lang="en-US" sz="2000" dirty="0" smtClean="0">
                <a:solidFill>
                  <a:srgbClr val="C00000"/>
                </a:solidFill>
                <a:latin typeface="+mj-lt"/>
              </a:rPr>
              <a:t>Signal Generation</a:t>
            </a:r>
          </a:p>
          <a:p>
            <a:pPr marL="214313" indent="-214313" algn="just" eaLnBrk="1" hangingPunct="1">
              <a:lnSpc>
                <a:spcPct val="150000"/>
              </a:lnSpc>
              <a:buFont typeface="Arial" panose="020B0604020202020204" pitchFamily="34" charset="0"/>
              <a:buChar char="•"/>
              <a:defRPr/>
            </a:pPr>
            <a:r>
              <a:rPr lang="en-US" sz="2000" dirty="0" smtClean="0">
                <a:solidFill>
                  <a:srgbClr val="C00000"/>
                </a:solidFill>
                <a:latin typeface="+mj-lt"/>
              </a:rPr>
              <a:t>Cyclic Prefix or Guard Band Insertion</a:t>
            </a:r>
          </a:p>
          <a:p>
            <a:pPr marL="214313" indent="-214313" algn="just" eaLnBrk="1" hangingPunct="1">
              <a:lnSpc>
                <a:spcPct val="150000"/>
              </a:lnSpc>
              <a:buFont typeface="Arial" panose="020B0604020202020204" pitchFamily="34" charset="0"/>
              <a:buChar char="•"/>
              <a:defRPr/>
            </a:pPr>
            <a:r>
              <a:rPr lang="en-US" sz="2000" dirty="0" smtClean="0">
                <a:solidFill>
                  <a:srgbClr val="C00000"/>
                </a:solidFill>
                <a:latin typeface="+mj-lt"/>
              </a:rPr>
              <a:t>Why Cyclic Prefix?</a:t>
            </a:r>
          </a:p>
          <a:p>
            <a:pPr marL="214313" indent="-214313" algn="just" eaLnBrk="1" hangingPunct="1">
              <a:lnSpc>
                <a:spcPct val="150000"/>
              </a:lnSpc>
              <a:buFont typeface="Arial" panose="020B0604020202020204" pitchFamily="34" charset="0"/>
              <a:buChar char="•"/>
              <a:defRPr/>
            </a:pPr>
            <a:r>
              <a:rPr lang="en-US" sz="2000" dirty="0" smtClean="0">
                <a:solidFill>
                  <a:srgbClr val="C00000"/>
                </a:solidFill>
                <a:latin typeface="+mj-lt"/>
              </a:rPr>
              <a:t>OFDM Receiver Model</a:t>
            </a:r>
          </a:p>
          <a:p>
            <a:pPr marL="214313" indent="-214313" algn="just" eaLnBrk="1" hangingPunct="1">
              <a:lnSpc>
                <a:spcPct val="150000"/>
              </a:lnSpc>
              <a:buFont typeface="Arial" panose="020B0604020202020204" pitchFamily="34" charset="0"/>
              <a:buChar char="•"/>
              <a:defRPr/>
            </a:pPr>
            <a:r>
              <a:rPr lang="en-US" sz="2000" dirty="0" smtClean="0">
                <a:solidFill>
                  <a:srgbClr val="C00000"/>
                </a:solidFill>
                <a:latin typeface="+mj-lt"/>
              </a:rPr>
              <a:t>OFDM Receiver (Detailed Mathematical Explanation of Each Block)</a:t>
            </a:r>
            <a:endParaRPr lang="en-US" sz="2000" dirty="0">
              <a:solidFill>
                <a:srgbClr val="C00000"/>
              </a:solidFill>
              <a:latin typeface="+mj-lt"/>
            </a:endParaRPr>
          </a:p>
          <a:p>
            <a:pPr marL="214313" indent="-214313" algn="just" eaLnBrk="1" hangingPunct="1">
              <a:lnSpc>
                <a:spcPct val="150000"/>
              </a:lnSpc>
              <a:buFont typeface="Arial" panose="020B0604020202020204" pitchFamily="34" charset="0"/>
              <a:buChar char="•"/>
              <a:defRPr/>
            </a:pPr>
            <a:endParaRPr lang="en-US" sz="2000" dirty="0">
              <a:solidFill>
                <a:srgbClr val="C00000"/>
              </a:solidFill>
              <a:latin typeface="+mj-l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noChangeArrowheads="1"/>
          </p:cNvSpPr>
          <p:nvPr>
            <p:ph type="title"/>
          </p:nvPr>
        </p:nvSpPr>
        <p:spPr>
          <a:xfrm>
            <a:off x="1433513" y="182563"/>
            <a:ext cx="6172200" cy="600075"/>
          </a:xfrm>
        </p:spPr>
        <p:txBody>
          <a:bodyPr/>
          <a:lstStyle/>
          <a:p>
            <a:pPr eaLnBrk="1" hangingPunct="1"/>
            <a:r>
              <a:rPr lang="fr-FR" altLang="en-US" sz="1800" b="1" smtClean="0"/>
              <a:t>OFDM System Model </a:t>
            </a:r>
            <a:br>
              <a:rPr lang="fr-FR" altLang="en-US" sz="1800" b="1" smtClean="0"/>
            </a:br>
            <a:r>
              <a:rPr lang="fr-FR" altLang="en-US" sz="1200" smtClean="0"/>
              <a:t>[S. Hara and R. Prasad (2003)]</a:t>
            </a:r>
            <a:endParaRPr lang="fr-FR" altLang="en-US" sz="1800" smtClean="0"/>
          </a:p>
        </p:txBody>
      </p:sp>
      <p:grpSp>
        <p:nvGrpSpPr>
          <p:cNvPr id="6147" name="Group 57"/>
          <p:cNvGrpSpPr>
            <a:grpSpLocks/>
          </p:cNvGrpSpPr>
          <p:nvPr/>
        </p:nvGrpSpPr>
        <p:grpSpPr bwMode="auto">
          <a:xfrm>
            <a:off x="428625" y="990600"/>
            <a:ext cx="8362950" cy="5486400"/>
            <a:chOff x="255447" y="736600"/>
            <a:chExt cx="9208433" cy="5054600"/>
          </a:xfrm>
        </p:grpSpPr>
        <p:grpSp>
          <p:nvGrpSpPr>
            <p:cNvPr id="6148" name="Group 64"/>
            <p:cNvGrpSpPr>
              <a:grpSpLocks/>
            </p:cNvGrpSpPr>
            <p:nvPr/>
          </p:nvGrpSpPr>
          <p:grpSpPr bwMode="auto">
            <a:xfrm>
              <a:off x="255447" y="736600"/>
              <a:ext cx="9208433" cy="5054600"/>
              <a:chOff x="255447" y="736600"/>
              <a:chExt cx="9208433" cy="5054600"/>
            </a:xfrm>
          </p:grpSpPr>
          <p:grpSp>
            <p:nvGrpSpPr>
              <p:cNvPr id="6150" name="Group 180"/>
              <p:cNvGrpSpPr>
                <a:grpSpLocks/>
              </p:cNvGrpSpPr>
              <p:nvPr/>
            </p:nvGrpSpPr>
            <p:grpSpPr bwMode="auto">
              <a:xfrm>
                <a:off x="255447" y="736600"/>
                <a:ext cx="9208433" cy="5054600"/>
                <a:chOff x="12829" y="304800"/>
                <a:chExt cx="9208738" cy="5054600"/>
              </a:xfrm>
            </p:grpSpPr>
            <p:grpSp>
              <p:nvGrpSpPr>
                <p:cNvPr id="6159" name="Group 115"/>
                <p:cNvGrpSpPr>
                  <a:grpSpLocks/>
                </p:cNvGrpSpPr>
                <p:nvPr/>
              </p:nvGrpSpPr>
              <p:grpSpPr bwMode="auto">
                <a:xfrm>
                  <a:off x="12829" y="304800"/>
                  <a:ext cx="9208738" cy="5054600"/>
                  <a:chOff x="12829" y="304800"/>
                  <a:chExt cx="9208738" cy="5054600"/>
                </a:xfrm>
              </p:grpSpPr>
              <p:sp>
                <p:nvSpPr>
                  <p:cNvPr id="86" name="Rectangle 85"/>
                  <p:cNvSpPr/>
                  <p:nvPr/>
                </p:nvSpPr>
                <p:spPr bwMode="auto">
                  <a:xfrm>
                    <a:off x="1098370" y="304800"/>
                    <a:ext cx="1059320" cy="1073517"/>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200" dirty="0">
                        <a:solidFill>
                          <a:schemeClr val="tx1"/>
                        </a:solidFill>
                      </a:rPr>
                      <a:t>Encoder</a:t>
                    </a:r>
                  </a:p>
                  <a:p>
                    <a:pPr algn="ctr" eaLnBrk="1" hangingPunct="1">
                      <a:defRPr/>
                    </a:pPr>
                    <a:r>
                      <a:rPr lang="en-US" sz="1200" dirty="0">
                        <a:solidFill>
                          <a:schemeClr val="tx1"/>
                        </a:solidFill>
                      </a:rPr>
                      <a:t>(M-PSK, </a:t>
                    </a:r>
                  </a:p>
                  <a:p>
                    <a:pPr algn="ctr" eaLnBrk="1" hangingPunct="1">
                      <a:defRPr/>
                    </a:pPr>
                    <a:r>
                      <a:rPr lang="en-US" sz="1200" dirty="0">
                        <a:solidFill>
                          <a:schemeClr val="tx1"/>
                        </a:solidFill>
                      </a:rPr>
                      <a:t>M-QAM etc)</a:t>
                    </a:r>
                  </a:p>
                </p:txBody>
              </p:sp>
              <p:cxnSp>
                <p:nvCxnSpPr>
                  <p:cNvPr id="91" name="Straight Arrow Connector 90"/>
                  <p:cNvCxnSpPr/>
                  <p:nvPr/>
                </p:nvCxnSpPr>
                <p:spPr bwMode="auto">
                  <a:xfrm>
                    <a:off x="566962" y="876661"/>
                    <a:ext cx="531408" cy="1462"/>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92" name="Rectangle 91"/>
                  <p:cNvSpPr/>
                  <p:nvPr/>
                </p:nvSpPr>
                <p:spPr bwMode="auto">
                  <a:xfrm>
                    <a:off x="687577" y="3428824"/>
                    <a:ext cx="1443891" cy="1073517"/>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rPr>
                      <a:t>Decoder</a:t>
                    </a:r>
                  </a:p>
                  <a:p>
                    <a:pPr algn="ctr" eaLnBrk="1" hangingPunct="1">
                      <a:defRPr/>
                    </a:pPr>
                    <a:r>
                      <a:rPr lang="en-US" dirty="0">
                        <a:solidFill>
                          <a:schemeClr val="tx1"/>
                        </a:solidFill>
                      </a:rPr>
                      <a:t>(M-PSK, </a:t>
                    </a:r>
                  </a:p>
                  <a:p>
                    <a:pPr algn="ctr" eaLnBrk="1" hangingPunct="1">
                      <a:defRPr/>
                    </a:pPr>
                    <a:r>
                      <a:rPr lang="en-US" dirty="0">
                        <a:solidFill>
                          <a:schemeClr val="tx1"/>
                        </a:solidFill>
                      </a:rPr>
                      <a:t>M-QAM etc)</a:t>
                    </a:r>
                  </a:p>
                </p:txBody>
              </p:sp>
              <p:cxnSp>
                <p:nvCxnSpPr>
                  <p:cNvPr id="93" name="Straight Arrow Connector 92"/>
                  <p:cNvCxnSpPr>
                    <a:endCxn id="92" idx="3"/>
                  </p:cNvCxnSpPr>
                  <p:nvPr/>
                </p:nvCxnSpPr>
                <p:spPr bwMode="auto">
                  <a:xfrm rot="10800000">
                    <a:off x="2131468" y="3967045"/>
                    <a:ext cx="251719"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94" name="Straight Arrow Connector 93"/>
                  <p:cNvCxnSpPr>
                    <a:stCxn id="86" idx="3"/>
                    <a:endCxn id="108" idx="1"/>
                  </p:cNvCxnSpPr>
                  <p:nvPr/>
                </p:nvCxnSpPr>
                <p:spPr bwMode="auto">
                  <a:xfrm>
                    <a:off x="2157689" y="843021"/>
                    <a:ext cx="305909"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97" name="TextBox 96"/>
                  <p:cNvSpPr txBox="1"/>
                  <p:nvPr/>
                </p:nvSpPr>
                <p:spPr bwMode="auto">
                  <a:xfrm>
                    <a:off x="14578" y="2615641"/>
                    <a:ext cx="1248109" cy="59672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lgn="ctr" eaLnBrk="1" hangingPunct="1">
                      <a:defRPr/>
                    </a:pPr>
                    <a:r>
                      <a:rPr lang="en-US" dirty="0"/>
                      <a:t>output bit</a:t>
                    </a:r>
                  </a:p>
                  <a:p>
                    <a:pPr algn="ctr" eaLnBrk="1" hangingPunct="1">
                      <a:defRPr/>
                    </a:pPr>
                    <a:r>
                      <a:rPr lang="en-US" dirty="0"/>
                      <a:t>stream</a:t>
                    </a:r>
                  </a:p>
                </p:txBody>
              </p:sp>
              <p:grpSp>
                <p:nvGrpSpPr>
                  <p:cNvPr id="6168" name="Group 114"/>
                  <p:cNvGrpSpPr>
                    <a:grpSpLocks/>
                  </p:cNvGrpSpPr>
                  <p:nvPr/>
                </p:nvGrpSpPr>
                <p:grpSpPr bwMode="auto">
                  <a:xfrm>
                    <a:off x="12829" y="304800"/>
                    <a:ext cx="9208738" cy="5054600"/>
                    <a:chOff x="12829" y="304800"/>
                    <a:chExt cx="9208738" cy="5054600"/>
                  </a:xfrm>
                </p:grpSpPr>
                <p:grpSp>
                  <p:nvGrpSpPr>
                    <p:cNvPr id="6169" name="Group 280"/>
                    <p:cNvGrpSpPr>
                      <a:grpSpLocks/>
                    </p:cNvGrpSpPr>
                    <p:nvPr/>
                  </p:nvGrpSpPr>
                  <p:grpSpPr bwMode="auto">
                    <a:xfrm>
                      <a:off x="12829" y="304800"/>
                      <a:ext cx="9208738" cy="5054600"/>
                      <a:chOff x="-48893" y="304800"/>
                      <a:chExt cx="9328685" cy="5387140"/>
                    </a:xfrm>
                  </p:grpSpPr>
                  <p:sp>
                    <p:nvSpPr>
                      <p:cNvPr id="108" name="Rectangle 107"/>
                      <p:cNvSpPr/>
                      <p:nvPr/>
                    </p:nvSpPr>
                    <p:spPr bwMode="auto">
                      <a:xfrm>
                        <a:off x="2433798" y="304800"/>
                        <a:ext cx="571976" cy="114414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200" dirty="0">
                            <a:solidFill>
                              <a:schemeClr val="tx1"/>
                            </a:solidFill>
                          </a:rPr>
                          <a:t>S/P</a:t>
                        </a:r>
                      </a:p>
                      <a:p>
                        <a:pPr algn="ctr" eaLnBrk="1" hangingPunct="1">
                          <a:defRPr/>
                        </a:pPr>
                        <a:endParaRPr lang="en-US" sz="1200" dirty="0">
                          <a:solidFill>
                            <a:schemeClr val="tx1"/>
                          </a:solidFill>
                        </a:endParaRPr>
                      </a:p>
                    </p:txBody>
                  </p:sp>
                  <p:sp>
                    <p:nvSpPr>
                      <p:cNvPr id="109" name="Rectangle 108"/>
                      <p:cNvSpPr/>
                      <p:nvPr/>
                    </p:nvSpPr>
                    <p:spPr bwMode="auto">
                      <a:xfrm>
                        <a:off x="3515770" y="304800"/>
                        <a:ext cx="915514" cy="114414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rPr>
                          <a:t>N-Point</a:t>
                        </a:r>
                      </a:p>
                      <a:p>
                        <a:pPr algn="ctr" eaLnBrk="1" hangingPunct="1">
                          <a:defRPr/>
                        </a:pPr>
                        <a:r>
                          <a:rPr lang="en-US" dirty="0">
                            <a:solidFill>
                              <a:schemeClr val="tx1"/>
                            </a:solidFill>
                          </a:rPr>
                          <a:t>IFFT</a:t>
                        </a:r>
                      </a:p>
                    </p:txBody>
                  </p:sp>
                  <p:sp>
                    <p:nvSpPr>
                      <p:cNvPr id="110" name="Rectangle 109"/>
                      <p:cNvSpPr/>
                      <p:nvPr/>
                    </p:nvSpPr>
                    <p:spPr bwMode="auto">
                      <a:xfrm>
                        <a:off x="6000232" y="304800"/>
                        <a:ext cx="901348" cy="114414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rPr>
                          <a:t>Add</a:t>
                        </a:r>
                      </a:p>
                      <a:p>
                        <a:pPr algn="ctr" eaLnBrk="1" hangingPunct="1">
                          <a:defRPr/>
                        </a:pPr>
                        <a:r>
                          <a:rPr lang="en-US" dirty="0">
                            <a:solidFill>
                              <a:schemeClr val="tx1"/>
                            </a:solidFill>
                          </a:rPr>
                          <a:t>Cyclic Prefix </a:t>
                        </a:r>
                      </a:p>
                    </p:txBody>
                  </p:sp>
                  <p:sp>
                    <p:nvSpPr>
                      <p:cNvPr id="116" name="Rectangle 115"/>
                      <p:cNvSpPr/>
                      <p:nvPr/>
                    </p:nvSpPr>
                    <p:spPr bwMode="auto">
                      <a:xfrm>
                        <a:off x="4971385" y="304800"/>
                        <a:ext cx="649891" cy="114414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rPr>
                          <a:t>P/S</a:t>
                        </a:r>
                      </a:p>
                      <a:p>
                        <a:pPr algn="ctr" eaLnBrk="1" hangingPunct="1">
                          <a:defRPr/>
                        </a:pPr>
                        <a:endParaRPr lang="en-US" dirty="0">
                          <a:solidFill>
                            <a:schemeClr val="tx1"/>
                          </a:solidFill>
                        </a:endParaRPr>
                      </a:p>
                    </p:txBody>
                  </p:sp>
                  <p:sp>
                    <p:nvSpPr>
                      <p:cNvPr id="117" name="Rectangle 116"/>
                      <p:cNvSpPr/>
                      <p:nvPr/>
                    </p:nvSpPr>
                    <p:spPr bwMode="auto">
                      <a:xfrm>
                        <a:off x="8213758" y="1279037"/>
                        <a:ext cx="1066034" cy="91344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200" dirty="0">
                            <a:solidFill>
                              <a:schemeClr val="tx1"/>
                            </a:solidFill>
                          </a:rPr>
                          <a:t>Fading Channel</a:t>
                        </a:r>
                      </a:p>
                    </p:txBody>
                  </p:sp>
                  <p:sp>
                    <p:nvSpPr>
                      <p:cNvPr id="118" name="Rectangle 117"/>
                      <p:cNvSpPr/>
                      <p:nvPr/>
                    </p:nvSpPr>
                    <p:spPr bwMode="auto">
                      <a:xfrm>
                        <a:off x="7317722" y="3628117"/>
                        <a:ext cx="1002285" cy="114414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050" dirty="0">
                            <a:solidFill>
                              <a:schemeClr val="tx1"/>
                            </a:solidFill>
                          </a:rPr>
                          <a:t>Remove</a:t>
                        </a:r>
                      </a:p>
                      <a:p>
                        <a:pPr algn="ctr" eaLnBrk="1" hangingPunct="1">
                          <a:defRPr/>
                        </a:pPr>
                        <a:r>
                          <a:rPr lang="en-US" sz="1050" dirty="0">
                            <a:solidFill>
                              <a:schemeClr val="tx1"/>
                            </a:solidFill>
                          </a:rPr>
                          <a:t>Cyclic Prefix </a:t>
                        </a:r>
                      </a:p>
                    </p:txBody>
                  </p:sp>
                  <p:sp>
                    <p:nvSpPr>
                      <p:cNvPr id="119" name="Rectangle 118"/>
                      <p:cNvSpPr/>
                      <p:nvPr/>
                    </p:nvSpPr>
                    <p:spPr bwMode="auto">
                      <a:xfrm>
                        <a:off x="5001488" y="3634352"/>
                        <a:ext cx="917285" cy="114414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rPr>
                          <a:t>N</a:t>
                        </a:r>
                      </a:p>
                      <a:p>
                        <a:pPr algn="ctr" eaLnBrk="1" hangingPunct="1">
                          <a:defRPr/>
                        </a:pPr>
                        <a:r>
                          <a:rPr lang="en-US" dirty="0">
                            <a:solidFill>
                              <a:schemeClr val="tx1"/>
                            </a:solidFill>
                          </a:rPr>
                          <a:t>Point</a:t>
                        </a:r>
                      </a:p>
                      <a:p>
                        <a:pPr algn="ctr" eaLnBrk="1" hangingPunct="1">
                          <a:defRPr/>
                        </a:pPr>
                        <a:r>
                          <a:rPr lang="en-US" dirty="0">
                            <a:solidFill>
                              <a:schemeClr val="tx1"/>
                            </a:solidFill>
                          </a:rPr>
                          <a:t>FFT</a:t>
                        </a:r>
                      </a:p>
                    </p:txBody>
                  </p:sp>
                  <p:cxnSp>
                    <p:nvCxnSpPr>
                      <p:cNvPr id="120" name="Straight Arrow Connector 119"/>
                      <p:cNvCxnSpPr/>
                      <p:nvPr/>
                    </p:nvCxnSpPr>
                    <p:spPr bwMode="auto">
                      <a:xfrm>
                        <a:off x="5665547" y="914283"/>
                        <a:ext cx="302810" cy="1558"/>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121" name="Flowchart: Or 120"/>
                      <p:cNvSpPr/>
                      <p:nvPr/>
                    </p:nvSpPr>
                    <p:spPr bwMode="auto">
                      <a:xfrm>
                        <a:off x="8367820" y="2660115"/>
                        <a:ext cx="761453" cy="531543"/>
                      </a:xfrm>
                      <a:prstGeom prst="flowChartOr">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endParaRPr lang="en-US"/>
                      </a:p>
                    </p:txBody>
                  </p:sp>
                  <p:cxnSp>
                    <p:nvCxnSpPr>
                      <p:cNvPr id="122" name="Straight Arrow Connector 121"/>
                      <p:cNvCxnSpPr>
                        <a:stCxn id="117" idx="2"/>
                        <a:endCxn id="121" idx="0"/>
                      </p:cNvCxnSpPr>
                      <p:nvPr/>
                    </p:nvCxnSpPr>
                    <p:spPr bwMode="auto">
                      <a:xfrm rot="16200000" flipH="1">
                        <a:off x="8513844" y="2425413"/>
                        <a:ext cx="467634" cy="177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23" name="Straight Arrow Connector 122"/>
                      <p:cNvCxnSpPr>
                        <a:endCxn id="121" idx="2"/>
                      </p:cNvCxnSpPr>
                      <p:nvPr/>
                    </p:nvCxnSpPr>
                    <p:spPr bwMode="auto">
                      <a:xfrm>
                        <a:off x="7301786" y="2887697"/>
                        <a:ext cx="1066034" cy="38969"/>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0" name="Straight Arrow Connector 129"/>
                      <p:cNvCxnSpPr>
                        <a:stCxn id="118" idx="1"/>
                      </p:cNvCxnSpPr>
                      <p:nvPr/>
                    </p:nvCxnSpPr>
                    <p:spPr bwMode="auto">
                      <a:xfrm rot="10800000">
                        <a:off x="6947621" y="4198630"/>
                        <a:ext cx="370101" cy="1559"/>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1" name="Straight Arrow Connector 130"/>
                      <p:cNvCxnSpPr/>
                      <p:nvPr/>
                    </p:nvCxnSpPr>
                    <p:spPr bwMode="auto">
                      <a:xfrm rot="10800000">
                        <a:off x="4548158" y="4016253"/>
                        <a:ext cx="453330"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2" name="Straight Arrow Connector 131"/>
                      <p:cNvCxnSpPr/>
                      <p:nvPr/>
                    </p:nvCxnSpPr>
                    <p:spPr bwMode="auto">
                      <a:xfrm rot="10800000">
                        <a:off x="4548158" y="3785554"/>
                        <a:ext cx="453330" cy="3118"/>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3" name="Straight Arrow Connector 132"/>
                      <p:cNvCxnSpPr/>
                      <p:nvPr/>
                    </p:nvCxnSpPr>
                    <p:spPr bwMode="auto">
                      <a:xfrm rot="10800000">
                        <a:off x="4548158" y="4320215"/>
                        <a:ext cx="453330"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5" name="Straight Arrow Connector 134"/>
                      <p:cNvCxnSpPr/>
                      <p:nvPr/>
                    </p:nvCxnSpPr>
                    <p:spPr bwMode="auto">
                      <a:xfrm rot="10800000">
                        <a:off x="4548158" y="4547796"/>
                        <a:ext cx="453330" cy="3118"/>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136" name="TextBox 135"/>
                      <p:cNvSpPr txBox="1"/>
                      <p:nvPr/>
                    </p:nvSpPr>
                    <p:spPr bwMode="auto">
                      <a:xfrm>
                        <a:off x="-48893" y="1062367"/>
                        <a:ext cx="1120930" cy="63442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lgn="ctr" eaLnBrk="1" hangingPunct="1">
                          <a:defRPr/>
                        </a:pPr>
                        <a:r>
                          <a:rPr lang="en-US" dirty="0"/>
                          <a:t>Input bit</a:t>
                        </a:r>
                      </a:p>
                      <a:p>
                        <a:pPr algn="ctr" eaLnBrk="1" hangingPunct="1">
                          <a:defRPr/>
                        </a:pPr>
                        <a:r>
                          <a:rPr lang="en-US" dirty="0"/>
                          <a:t>stream</a:t>
                        </a:r>
                      </a:p>
                    </p:txBody>
                  </p:sp>
                  <p:sp>
                    <p:nvSpPr>
                      <p:cNvPr id="137" name="TextBox 136"/>
                      <p:cNvSpPr txBox="1"/>
                      <p:nvPr/>
                    </p:nvSpPr>
                    <p:spPr bwMode="auto">
                      <a:xfrm>
                        <a:off x="5699192" y="2398241"/>
                        <a:ext cx="2751856" cy="363195"/>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ctr" eaLnBrk="1" hangingPunct="1">
                          <a:defRPr/>
                        </a:pPr>
                        <a:r>
                          <a:rPr lang="en-US" dirty="0"/>
                          <a:t>White Gaussian Noise</a:t>
                        </a:r>
                      </a:p>
                    </p:txBody>
                  </p:sp>
                  <p:cxnSp>
                    <p:nvCxnSpPr>
                      <p:cNvPr id="138" name="Straight Arrow Connector 137"/>
                      <p:cNvCxnSpPr/>
                      <p:nvPr/>
                    </p:nvCxnSpPr>
                    <p:spPr bwMode="auto">
                      <a:xfrm>
                        <a:off x="2980982" y="457560"/>
                        <a:ext cx="534788"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39" name="Straight Arrow Connector 138"/>
                      <p:cNvCxnSpPr/>
                      <p:nvPr/>
                    </p:nvCxnSpPr>
                    <p:spPr bwMode="auto">
                      <a:xfrm>
                        <a:off x="2980982" y="1065484"/>
                        <a:ext cx="534788" cy="1559"/>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0" name="Straight Arrow Connector 139"/>
                      <p:cNvCxnSpPr/>
                      <p:nvPr/>
                    </p:nvCxnSpPr>
                    <p:spPr bwMode="auto">
                      <a:xfrm>
                        <a:off x="2980982" y="759963"/>
                        <a:ext cx="534788" cy="3118"/>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1" name="Straight Arrow Connector 140"/>
                      <p:cNvCxnSpPr/>
                      <p:nvPr/>
                    </p:nvCxnSpPr>
                    <p:spPr bwMode="auto">
                      <a:xfrm>
                        <a:off x="2980982" y="1372564"/>
                        <a:ext cx="534788"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143" name="Rectangle 142"/>
                      <p:cNvSpPr/>
                      <p:nvPr/>
                    </p:nvSpPr>
                    <p:spPr bwMode="auto">
                      <a:xfrm>
                        <a:off x="3478582" y="3634352"/>
                        <a:ext cx="1069576" cy="1144144"/>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rPr>
                          <a:t>MMSE Equalizer</a:t>
                        </a:r>
                      </a:p>
                    </p:txBody>
                  </p:sp>
                  <p:cxnSp>
                    <p:nvCxnSpPr>
                      <p:cNvPr id="144" name="Straight Arrow Connector 143"/>
                      <p:cNvCxnSpPr/>
                      <p:nvPr/>
                    </p:nvCxnSpPr>
                    <p:spPr bwMode="auto">
                      <a:xfrm rot="10800000">
                        <a:off x="3023482" y="4016253"/>
                        <a:ext cx="455100"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6" name="Straight Arrow Connector 145"/>
                      <p:cNvCxnSpPr/>
                      <p:nvPr/>
                    </p:nvCxnSpPr>
                    <p:spPr bwMode="auto">
                      <a:xfrm rot="10800000">
                        <a:off x="3023482" y="3785554"/>
                        <a:ext cx="455100" cy="3118"/>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7" name="Straight Arrow Connector 146"/>
                      <p:cNvCxnSpPr/>
                      <p:nvPr/>
                    </p:nvCxnSpPr>
                    <p:spPr bwMode="auto">
                      <a:xfrm rot="10800000">
                        <a:off x="3023482" y="4320215"/>
                        <a:ext cx="455100"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149" name="Straight Arrow Connector 148"/>
                      <p:cNvCxnSpPr/>
                      <p:nvPr/>
                    </p:nvCxnSpPr>
                    <p:spPr bwMode="auto">
                      <a:xfrm rot="10800000">
                        <a:off x="3023482" y="4547796"/>
                        <a:ext cx="455100" cy="3118"/>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
                    <p:nvSpPr>
                      <p:cNvPr id="150" name="Rectangle 149"/>
                      <p:cNvSpPr/>
                      <p:nvPr/>
                    </p:nvSpPr>
                    <p:spPr bwMode="auto">
                      <a:xfrm>
                        <a:off x="4038162" y="5012312"/>
                        <a:ext cx="1296241" cy="679628"/>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sz="1200" dirty="0">
                            <a:solidFill>
                              <a:schemeClr val="tx1"/>
                            </a:solidFill>
                          </a:rPr>
                          <a:t>Channel</a:t>
                        </a:r>
                      </a:p>
                      <a:p>
                        <a:pPr algn="ctr" eaLnBrk="1" hangingPunct="1">
                          <a:defRPr/>
                        </a:pPr>
                        <a:r>
                          <a:rPr lang="en-US" sz="1200" dirty="0">
                            <a:solidFill>
                              <a:schemeClr val="tx1"/>
                            </a:solidFill>
                          </a:rPr>
                          <a:t>Estimation</a:t>
                        </a:r>
                      </a:p>
                    </p:txBody>
                  </p:sp>
                  <p:cxnSp>
                    <p:nvCxnSpPr>
                      <p:cNvPr id="151" name="Elbow Connector 64"/>
                      <p:cNvCxnSpPr>
                        <a:stCxn id="150" idx="1"/>
                      </p:cNvCxnSpPr>
                      <p:nvPr/>
                    </p:nvCxnSpPr>
                    <p:spPr bwMode="auto">
                      <a:xfrm rot="10800000">
                        <a:off x="3659206" y="4778496"/>
                        <a:ext cx="378956" cy="572072"/>
                      </a:xfrm>
                      <a:prstGeom prst="bentConnector2">
                        <a:avLst/>
                      </a:prstGeom>
                      <a:ln>
                        <a:tailEnd type="arrow"/>
                      </a:ln>
                    </p:spPr>
                    <p:style>
                      <a:lnRef idx="2">
                        <a:schemeClr val="dk1"/>
                      </a:lnRef>
                      <a:fillRef idx="1">
                        <a:schemeClr val="lt1"/>
                      </a:fillRef>
                      <a:effectRef idx="0">
                        <a:schemeClr val="dk1"/>
                      </a:effectRef>
                      <a:fontRef idx="minor">
                        <a:schemeClr val="dk1"/>
                      </a:fontRef>
                    </p:style>
                  </p:cxnSp>
                  <p:cxnSp>
                    <p:nvCxnSpPr>
                      <p:cNvPr id="152" name="Elbow Connector 64"/>
                      <p:cNvCxnSpPr>
                        <a:endCxn id="150" idx="3"/>
                      </p:cNvCxnSpPr>
                      <p:nvPr/>
                    </p:nvCxnSpPr>
                    <p:spPr bwMode="auto">
                      <a:xfrm rot="5400000">
                        <a:off x="5201542" y="4911356"/>
                        <a:ext cx="572072" cy="306353"/>
                      </a:xfrm>
                      <a:prstGeom prst="bentConnector2">
                        <a:avLst/>
                      </a:prstGeom>
                      <a:ln>
                        <a:tailEnd type="arrow"/>
                      </a:ln>
                    </p:spPr>
                    <p:style>
                      <a:lnRef idx="2">
                        <a:schemeClr val="dk1"/>
                      </a:lnRef>
                      <a:fillRef idx="1">
                        <a:schemeClr val="lt1"/>
                      </a:fillRef>
                      <a:effectRef idx="0">
                        <a:schemeClr val="dk1"/>
                      </a:effectRef>
                      <a:fontRef idx="minor">
                        <a:schemeClr val="dk1"/>
                      </a:fontRef>
                    </p:style>
                  </p:cxnSp>
                </p:grpSp>
                <p:cxnSp>
                  <p:nvCxnSpPr>
                    <p:cNvPr id="101" name="Shape 100"/>
                    <p:cNvCxnSpPr>
                      <a:endCxn id="117" idx="0"/>
                    </p:cNvCxnSpPr>
                    <p:nvPr/>
                  </p:nvCxnSpPr>
                  <p:spPr>
                    <a:xfrm>
                      <a:off x="6873934" y="838634"/>
                      <a:ext cx="1821470" cy="380265"/>
                    </a:xfrm>
                    <a:prstGeom prst="bentConnector2">
                      <a:avLst/>
                    </a:prstGeom>
                    <a:ln w="25400">
                      <a:solidFill>
                        <a:srgbClr val="000000"/>
                      </a:solidFill>
                      <a:tailEnd type="arrow"/>
                    </a:ln>
                  </p:spPr>
                  <p:style>
                    <a:lnRef idx="1">
                      <a:schemeClr val="accent1"/>
                    </a:lnRef>
                    <a:fillRef idx="0">
                      <a:schemeClr val="accent1"/>
                    </a:fillRef>
                    <a:effectRef idx="0">
                      <a:schemeClr val="accent1"/>
                    </a:effectRef>
                    <a:fontRef idx="minor">
                      <a:schemeClr val="tx1"/>
                    </a:fontRef>
                  </p:style>
                </p:cxnSp>
                <p:cxnSp>
                  <p:nvCxnSpPr>
                    <p:cNvPr id="102" name="Shape 101"/>
                    <p:cNvCxnSpPr>
                      <a:stCxn id="121" idx="4"/>
                      <a:endCxn id="118" idx="3"/>
                    </p:cNvCxnSpPr>
                    <p:nvPr/>
                  </p:nvCxnSpPr>
                  <p:spPr>
                    <a:xfrm rot="5400000">
                      <a:off x="8012499" y="3275081"/>
                      <a:ext cx="946275" cy="423029"/>
                    </a:xfrm>
                    <a:prstGeom prst="bentConnector2">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
              <p:nvSpPr>
                <p:cNvPr id="84" name="Rectangle 83"/>
                <p:cNvSpPr/>
                <p:nvPr/>
              </p:nvSpPr>
              <p:spPr bwMode="auto">
                <a:xfrm>
                  <a:off x="2400668" y="3422973"/>
                  <a:ext cx="645032" cy="1073517"/>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rPr>
                    <a:t>P/S</a:t>
                  </a:r>
                </a:p>
                <a:p>
                  <a:pPr algn="ctr" eaLnBrk="1" hangingPunct="1">
                    <a:defRPr/>
                  </a:pPr>
                  <a:endParaRPr lang="en-US" dirty="0">
                    <a:solidFill>
                      <a:schemeClr val="tx1"/>
                    </a:solidFill>
                  </a:endParaRPr>
                </a:p>
              </p:txBody>
            </p:sp>
            <p:sp>
              <p:nvSpPr>
                <p:cNvPr id="85" name="Rectangle 84"/>
                <p:cNvSpPr/>
                <p:nvPr/>
              </p:nvSpPr>
              <p:spPr bwMode="auto">
                <a:xfrm>
                  <a:off x="6340777" y="3422973"/>
                  <a:ext cx="562873" cy="1073517"/>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solidFill>
                        <a:schemeClr val="tx1"/>
                      </a:solidFill>
                    </a:rPr>
                    <a:t>S/P</a:t>
                  </a:r>
                </a:p>
                <a:p>
                  <a:pPr algn="ctr" eaLnBrk="1" hangingPunct="1">
                    <a:defRPr/>
                  </a:pPr>
                  <a:endParaRPr lang="en-US" dirty="0">
                    <a:solidFill>
                      <a:schemeClr val="tx1"/>
                    </a:solidFill>
                  </a:endParaRPr>
                </a:p>
              </p:txBody>
            </p:sp>
          </p:grpSp>
          <p:cxnSp>
            <p:nvCxnSpPr>
              <p:cNvPr id="68" name="Straight Arrow Connector 67"/>
              <p:cNvCxnSpPr/>
              <p:nvPr/>
            </p:nvCxnSpPr>
            <p:spPr bwMode="auto">
              <a:xfrm>
                <a:off x="4681368" y="888706"/>
                <a:ext cx="529643" cy="292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69" name="Straight Arrow Connector 68"/>
              <p:cNvCxnSpPr/>
              <p:nvPr/>
            </p:nvCxnSpPr>
            <p:spPr bwMode="auto">
              <a:xfrm>
                <a:off x="4681368" y="1460567"/>
                <a:ext cx="529643" cy="1462"/>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0" name="Straight Arrow Connector 69"/>
              <p:cNvCxnSpPr/>
              <p:nvPr/>
            </p:nvCxnSpPr>
            <p:spPr bwMode="auto">
              <a:xfrm>
                <a:off x="4681368" y="1175367"/>
                <a:ext cx="529643" cy="1463"/>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2" name="Straight Arrow Connector 71"/>
              <p:cNvCxnSpPr/>
              <p:nvPr/>
            </p:nvCxnSpPr>
            <p:spPr bwMode="auto">
              <a:xfrm>
                <a:off x="4681368" y="1748690"/>
                <a:ext cx="529643"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6" name="Straight Arrow Connector 75"/>
              <p:cNvCxnSpPr/>
              <p:nvPr/>
            </p:nvCxnSpPr>
            <p:spPr bwMode="auto">
              <a:xfrm rot="10800000">
                <a:off x="6130456" y="4218951"/>
                <a:ext cx="452730" cy="1462"/>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7" name="Straight Arrow Connector 76"/>
              <p:cNvCxnSpPr/>
              <p:nvPr/>
            </p:nvCxnSpPr>
            <p:spPr bwMode="auto">
              <a:xfrm rot="10800000">
                <a:off x="6130456" y="4005417"/>
                <a:ext cx="452730" cy="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8" name="Straight Arrow Connector 77"/>
              <p:cNvCxnSpPr/>
              <p:nvPr/>
            </p:nvCxnSpPr>
            <p:spPr bwMode="auto">
              <a:xfrm rot="10800000">
                <a:off x="6130456" y="4504149"/>
                <a:ext cx="452730" cy="292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79" name="Straight Arrow Connector 78"/>
              <p:cNvCxnSpPr/>
              <p:nvPr/>
            </p:nvCxnSpPr>
            <p:spPr bwMode="auto">
              <a:xfrm rot="10800000">
                <a:off x="6130456" y="4717683"/>
                <a:ext cx="452730" cy="2925"/>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grpSp>
        <p:cxnSp>
          <p:nvCxnSpPr>
            <p:cNvPr id="65" name="Shape 64"/>
            <p:cNvCxnSpPr>
              <a:stCxn id="92" idx="1"/>
            </p:cNvCxnSpPr>
            <p:nvPr/>
          </p:nvCxnSpPr>
          <p:spPr>
            <a:xfrm rot="10800000">
              <a:off x="472198" y="3733382"/>
              <a:ext cx="457974" cy="665463"/>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362200"/>
            <a:ext cx="8229600" cy="1143000"/>
          </a:xfrm>
        </p:spPr>
        <p:txBody>
          <a:bodyPr/>
          <a:lstStyle/>
          <a:p>
            <a:r>
              <a:rPr lang="en-US" altLang="en-US" sz="3600" b="1" dirty="0">
                <a:solidFill>
                  <a:srgbClr val="FF0000"/>
                </a:solidFill>
              </a:rPr>
              <a:t>OFDM Signal Generation</a:t>
            </a:r>
            <a:endParaRPr lang="en-IN" dirty="0"/>
          </a:p>
        </p:txBody>
      </p:sp>
    </p:spTree>
    <p:extLst>
      <p:ext uri="{BB962C8B-B14F-4D97-AF65-F5344CB8AC3E}">
        <p14:creationId xmlns:p14="http://schemas.microsoft.com/office/powerpoint/2010/main" val="2301354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1485900" y="228600"/>
            <a:ext cx="6172200" cy="365125"/>
          </a:xfrm>
        </p:spPr>
        <p:txBody>
          <a:bodyPr/>
          <a:lstStyle/>
          <a:p>
            <a:r>
              <a:rPr lang="en-US" altLang="en-US" sz="2100" b="1" dirty="0" smtClean="0">
                <a:solidFill>
                  <a:srgbClr val="FF0000"/>
                </a:solidFill>
              </a:rPr>
              <a:t>OFDM Signal Generation</a:t>
            </a:r>
            <a:endParaRPr lang="en-IN" altLang="en-US" sz="2100" dirty="0" smtClean="0">
              <a:solidFill>
                <a:srgbClr val="FF0000"/>
              </a:solidFill>
            </a:endParaRPr>
          </a:p>
        </p:txBody>
      </p:sp>
      <mc:AlternateContent xmlns:mc="http://schemas.openxmlformats.org/markup-compatibility/2006" xmlns:a14="http://schemas.microsoft.com/office/drawing/2010/main">
        <mc:Choice Requires="a14">
          <p:sp>
            <p:nvSpPr>
              <p:cNvPr id="2" name="Rectangle 1"/>
              <p:cNvSpPr/>
              <p:nvPr/>
            </p:nvSpPr>
            <p:spPr>
              <a:xfrm>
                <a:off x="381000" y="762000"/>
                <a:ext cx="8001000" cy="2585323"/>
              </a:xfrm>
              <a:prstGeom prst="rect">
                <a:avLst/>
              </a:prstGeom>
            </p:spPr>
            <p:txBody>
              <a:bodyPr wrap="square">
                <a:spAutoFit/>
              </a:bodyPr>
              <a:lstStyle/>
              <a:p>
                <a:pPr marL="285750" indent="-285750" algn="just">
                  <a:buFont typeface="Arial" panose="020B0604020202020204" pitchFamily="34" charset="0"/>
                  <a:buChar char="•"/>
                </a:pPr>
                <a:r>
                  <a:rPr lang="en-US" dirty="0" smtClean="0"/>
                  <a:t>Encoder/Mapper: Input data stream is first converted into complex data symbols by using digital modulation schemes like M-PSK, M-QAM, </a:t>
                </a:r>
                <a:r>
                  <a:rPr lang="en-US" dirty="0" err="1" smtClean="0"/>
                  <a:t>etc</a:t>
                </a:r>
                <a:endParaRPr lang="en-US" dirty="0" smtClean="0"/>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r>
                  <a:rPr lang="en-US" dirty="0" smtClean="0"/>
                  <a:t>After that, </a:t>
                </a:r>
                <a:r>
                  <a:rPr lang="en-US" dirty="0"/>
                  <a:t>a block of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𝑁</m:t>
                    </m:r>
                    <m:r>
                      <a:rPr lang="en-US" i="1">
                        <a:latin typeface="Cambria Math" panose="02040503050406030204" pitchFamily="18" charset="0"/>
                      </a:rPr>
                      <m:t>′ </m:t>
                    </m:r>
                  </m:oMath>
                </a14:m>
                <a:r>
                  <a:rPr lang="en-US" dirty="0"/>
                  <a:t>complex data symbols </a:t>
                </a:r>
                <a14:m>
                  <m:oMath xmlns:m="http://schemas.openxmlformats.org/officeDocument/2006/math">
                    <m:d>
                      <m:dPr>
                        <m:begChr m:val="{"/>
                        <m:endChr m:val="}"/>
                        <m:ctrlPr>
                          <a:rPr lang="en-IN" i="1">
                            <a:latin typeface="Cambria Math" panose="02040503050406030204" pitchFamily="18" charset="0"/>
                          </a:rPr>
                        </m:ctrlPr>
                      </m:dPr>
                      <m:e>
                        <m:r>
                          <a:rPr lang="en-US" i="1">
                            <a:latin typeface="Cambria Math" panose="02040503050406030204" pitchFamily="18" charset="0"/>
                          </a:rPr>
                          <m:t>𝑋</m:t>
                        </m:r>
                        <m:d>
                          <m:dPr>
                            <m:ctrlPr>
                              <a:rPr lang="en-IN"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  </m:t>
                        </m:r>
                        <m:r>
                          <a:rPr lang="en-US" i="1">
                            <a:latin typeface="Cambria Math" panose="02040503050406030204" pitchFamily="18" charset="0"/>
                          </a:rPr>
                          <m:t>𝑓𝑜𝑟</m:t>
                        </m:r>
                        <m:r>
                          <a:rPr lang="en-US" i="1">
                            <a:latin typeface="Cambria Math" panose="02040503050406030204" pitchFamily="18" charset="0"/>
                          </a:rPr>
                          <m:t>  </m:t>
                        </m:r>
                        <m:r>
                          <a:rPr lang="en-US" i="1">
                            <a:latin typeface="Cambria Math" panose="02040503050406030204" pitchFamily="18" charset="0"/>
                          </a:rPr>
                          <m:t>𝑘</m:t>
                        </m:r>
                        <m:r>
                          <a:rPr lang="en-US" i="1">
                            <a:latin typeface="Cambria Math" panose="02040503050406030204" pitchFamily="18" charset="0"/>
                          </a:rPr>
                          <m:t>=0, 1, 2, …, </m:t>
                        </m:r>
                        <m:r>
                          <a:rPr lang="en-US" i="1">
                            <a:latin typeface="Cambria Math" panose="02040503050406030204" pitchFamily="18" charset="0"/>
                          </a:rPr>
                          <m:t>𝑁</m:t>
                        </m:r>
                        <m:r>
                          <a:rPr lang="en-US" i="1">
                            <a:latin typeface="Cambria Math" panose="02040503050406030204" pitchFamily="18" charset="0"/>
                          </a:rPr>
                          <m:t>−1</m:t>
                        </m:r>
                      </m:e>
                    </m:d>
                    <m:r>
                      <a:rPr lang="en-US" i="1">
                        <a:latin typeface="Cambria Math" panose="02040503050406030204" pitchFamily="18" charset="0"/>
                      </a:rPr>
                      <m:t> </m:t>
                    </m:r>
                  </m:oMath>
                </a14:m>
                <a:r>
                  <a:rPr lang="en-US" dirty="0"/>
                  <a:t>are </a:t>
                </a:r>
                <a:r>
                  <a:rPr lang="en-US" dirty="0" smtClean="0"/>
                  <a:t>converted </a:t>
                </a:r>
                <a:r>
                  <a:rPr lang="en-US" dirty="0"/>
                  <a:t>from serial to parallel. </a:t>
                </a:r>
                <a:endParaRPr lang="en-US" dirty="0" smtClean="0"/>
              </a:p>
              <a:p>
                <a:pPr marL="285750" indent="-285750" algn="just">
                  <a:buFont typeface="Arial" panose="020B0604020202020204" pitchFamily="34" charset="0"/>
                  <a:buChar char="•"/>
                </a:pPr>
                <a:endParaRPr lang="en-US" dirty="0" smtClean="0"/>
              </a:p>
              <a:p>
                <a:pPr marL="285750" indent="-285750" algn="just">
                  <a:buFont typeface="Arial" panose="020B0604020202020204" pitchFamily="34" charset="0"/>
                  <a:buChar char="•"/>
                </a:pPr>
                <a:r>
                  <a:rPr lang="en-US" dirty="0" smtClean="0"/>
                  <a:t>These </a:t>
                </a:r>
                <a:r>
                  <a:rPr lang="en-US" dirty="0"/>
                  <a:t>complex parallel data symbols are then modulated by a group of orthogonal sub-carriers, which satisfy the following condition of </a:t>
                </a:r>
                <a:r>
                  <a:rPr lang="en-US" dirty="0" smtClean="0"/>
                  <a:t>orthogonality–</a:t>
                </a:r>
                <a:endParaRPr lang="en-IN" dirty="0">
                  <a:effectLst/>
                </a:endParaRPr>
              </a:p>
            </p:txBody>
          </p:sp>
        </mc:Choice>
        <mc:Fallback xmlns="">
          <p:sp>
            <p:nvSpPr>
              <p:cNvPr id="2" name="Rectangle 1"/>
              <p:cNvSpPr>
                <a:spLocks noRot="1" noChangeAspect="1" noMove="1" noResize="1" noEditPoints="1" noAdjustHandles="1" noChangeArrowheads="1" noChangeShapeType="1" noTextEdit="1"/>
              </p:cNvSpPr>
              <p:nvPr/>
            </p:nvSpPr>
            <p:spPr>
              <a:xfrm>
                <a:off x="381000" y="762000"/>
                <a:ext cx="8001000" cy="2585323"/>
              </a:xfrm>
              <a:prstGeom prst="rect">
                <a:avLst/>
              </a:prstGeom>
              <a:blipFill rotWithShape="1">
                <a:blip r:embed="rId2"/>
                <a:stretch>
                  <a:fillRect l="-534" t="-1179" r="-610" b="-28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371600" y="3347323"/>
                <a:ext cx="6781800" cy="9766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IN" i="1">
                              <a:latin typeface="Cambria Math" panose="02040503050406030204" pitchFamily="18" charset="0"/>
                            </a:rPr>
                          </m:ctrlPr>
                        </m:fPr>
                        <m:num>
                          <m:r>
                            <a:rPr lang="en-US" i="1">
                              <a:latin typeface="Cambria Math" panose="02040503050406030204" pitchFamily="18" charset="0"/>
                            </a:rPr>
                            <m:t>1</m:t>
                          </m:r>
                        </m:num>
                        <m:den>
                          <m:sSub>
                            <m:sSubPr>
                              <m:ctrlPr>
                                <a:rPr lang="en-IN"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𝑢</m:t>
                              </m:r>
                            </m:sub>
                          </m:sSub>
                        </m:den>
                      </m:f>
                      <m:nary>
                        <m:naryPr>
                          <m:limLoc m:val="subSup"/>
                          <m:grow m:val="on"/>
                          <m:ctrlPr>
                            <a:rPr lang="en-IN" i="1">
                              <a:latin typeface="Cambria Math" panose="02040503050406030204" pitchFamily="18" charset="0"/>
                            </a:rPr>
                          </m:ctrlPr>
                        </m:naryPr>
                        <m:sub>
                          <m:r>
                            <a:rPr lang="en-US" i="1">
                              <a:latin typeface="Cambria Math" panose="02040503050406030204" pitchFamily="18" charset="0"/>
                            </a:rPr>
                            <m:t>0</m:t>
                          </m:r>
                        </m:sub>
                        <m:sup>
                          <m:sSub>
                            <m:sSubPr>
                              <m:ctrlPr>
                                <a:rPr lang="en-IN"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𝑢</m:t>
                              </m:r>
                            </m:sub>
                          </m:sSub>
                        </m:sup>
                        <m:e>
                          <m:sSup>
                            <m:sSupPr>
                              <m:ctrlPr>
                                <a:rPr lang="en-IN"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2</m:t>
                              </m:r>
                              <m:r>
                                <a:rPr lang="en-US" i="1">
                                  <a:latin typeface="Cambria Math" panose="02040503050406030204" pitchFamily="18" charset="0"/>
                                </a:rPr>
                                <m:t>𝜋</m:t>
                              </m:r>
                              <m:sSub>
                                <m:sSubPr>
                                  <m:ctrlPr>
                                    <a:rPr lang="en-IN"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r>
                                <a:rPr lang="en-US" i="1">
                                  <a:latin typeface="Cambria Math" panose="02040503050406030204" pitchFamily="18" charset="0"/>
                                </a:rPr>
                                <m:t>𝑡</m:t>
                              </m:r>
                            </m:sup>
                          </m:sSup>
                          <m:r>
                            <a:rPr lang="en-US" i="1">
                              <a:latin typeface="Cambria Math" panose="02040503050406030204" pitchFamily="18" charset="0"/>
                            </a:rPr>
                            <m:t>  </m:t>
                          </m:r>
                          <m:sSup>
                            <m:sSupPr>
                              <m:ctrlPr>
                                <a:rPr lang="en-IN"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2</m:t>
                              </m:r>
                              <m:r>
                                <a:rPr lang="en-US" i="1">
                                  <a:latin typeface="Cambria Math" panose="02040503050406030204" pitchFamily="18" charset="0"/>
                                </a:rPr>
                                <m:t>𝜋</m:t>
                              </m:r>
                              <m:sSub>
                                <m:sSubPr>
                                  <m:ctrlPr>
                                    <a:rPr lang="en-IN"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𝑚</m:t>
                                  </m:r>
                                </m:sub>
                              </m:sSub>
                              <m:r>
                                <a:rPr lang="en-US" i="1">
                                  <a:latin typeface="Cambria Math" panose="02040503050406030204" pitchFamily="18" charset="0"/>
                                </a:rPr>
                                <m:t>𝑡</m:t>
                              </m:r>
                            </m:sup>
                          </m:sSup>
                          <m:r>
                            <a:rPr lang="en-US" i="1">
                              <a:latin typeface="Cambria Math" panose="02040503050406030204" pitchFamily="18" charset="0"/>
                            </a:rPr>
                            <m:t>  </m:t>
                          </m:r>
                          <m:r>
                            <a:rPr lang="en-US" i="1">
                              <a:latin typeface="Cambria Math" panose="02040503050406030204" pitchFamily="18" charset="0"/>
                            </a:rPr>
                            <m:t>𝑑𝑡</m:t>
                          </m:r>
                        </m:e>
                      </m:nary>
                      <m:r>
                        <a:rPr lang="en-US" i="1">
                          <a:latin typeface="Cambria Math" panose="02040503050406030204" pitchFamily="18" charset="0"/>
                        </a:rPr>
                        <m:t> = </m:t>
                      </m:r>
                      <m:d>
                        <m:dPr>
                          <m:begChr m:val="{"/>
                          <m:endChr m:val=""/>
                          <m:ctrlPr>
                            <a:rPr lang="en-IN" i="1">
                              <a:latin typeface="Cambria Math" panose="02040503050406030204" pitchFamily="18" charset="0"/>
                            </a:rPr>
                          </m:ctrlPr>
                        </m:dPr>
                        <m:e>
                          <m:eqArr>
                            <m:eqArrPr>
                              <m:ctrlPr>
                                <a:rPr lang="en-IN" i="1">
                                  <a:latin typeface="Cambria Math" panose="02040503050406030204" pitchFamily="18" charset="0"/>
                                </a:rPr>
                              </m:ctrlPr>
                            </m:eqArrPr>
                            <m:e>
                              <m:r>
                                <a:rPr lang="en-US" i="1">
                                  <a:latin typeface="Cambria Math" panose="02040503050406030204" pitchFamily="18" charset="0"/>
                                </a:rPr>
                                <m:t>1,</m:t>
                              </m:r>
                              <m:r>
                                <a:rPr lang="en-US">
                                  <a:latin typeface="Cambria Math" panose="02040503050406030204" pitchFamily="18" charset="0"/>
                                </a:rPr>
                                <m:t>   </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𝑚</m:t>
                              </m:r>
                            </m:e>
                            <m:e/>
                            <m:e>
                              <m:r>
                                <a:rPr lang="en-US" i="1">
                                  <a:latin typeface="Cambria Math" panose="02040503050406030204" pitchFamily="18" charset="0"/>
                                </a:rPr>
                                <m:t>0,</m:t>
                              </m:r>
                              <m:r>
                                <a:rPr lang="en-US">
                                  <a:latin typeface="Cambria Math" panose="02040503050406030204" pitchFamily="18" charset="0"/>
                                </a:rPr>
                                <m:t>   </m:t>
                              </m:r>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𝑚</m:t>
                              </m:r>
                            </m:e>
                          </m:eqArr>
                        </m:e>
                      </m:d>
                      <m:r>
                        <a:rPr lang="en-US" i="1">
                          <a:latin typeface="Cambria Math" panose="02040503050406030204" pitchFamily="18" charset="0"/>
                        </a:rPr>
                        <m:t>    ,</m:t>
                      </m:r>
                    </m:oMath>
                  </m:oMathPara>
                </a14:m>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1371600" y="3347323"/>
                <a:ext cx="6781800" cy="976614"/>
              </a:xfrm>
              <a:prstGeom prst="rect">
                <a:avLst/>
              </a:prstGeom>
              <a:blipFill rotWithShape="1">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65285" y="4655019"/>
                <a:ext cx="7772400" cy="676532"/>
              </a:xfrm>
              <a:prstGeom prst="rect">
                <a:avLst/>
              </a:prstGeom>
            </p:spPr>
            <p:txBody>
              <a:bodyPr wrap="square">
                <a:spAutoFit/>
              </a:bodyPr>
              <a:lstStyle/>
              <a:p>
                <a:r>
                  <a:rPr lang="en-US" dirty="0"/>
                  <a:t>where,  </a:t>
                </a:r>
                <a14:m>
                  <m:oMath xmlns:m="http://schemas.openxmlformats.org/officeDocument/2006/math">
                    <m:sSub>
                      <m:sSubPr>
                        <m:ctrlPr>
                          <a:rPr lang="en-IN"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sub>
                    </m:sSub>
                    <m:r>
                      <a:rPr lang="en-US" i="1">
                        <a:latin typeface="Cambria Math" panose="02040503050406030204" pitchFamily="18" charset="0"/>
                      </a:rPr>
                      <m:t>=</m:t>
                    </m:r>
                    <m:f>
                      <m:fPr>
                        <m:type m:val="lin"/>
                        <m:ctrlPr>
                          <a:rPr lang="en-IN" i="1">
                            <a:latin typeface="Cambria Math" panose="02040503050406030204" pitchFamily="18" charset="0"/>
                          </a:rPr>
                        </m:ctrlPr>
                      </m:fPr>
                      <m:num>
                        <m:r>
                          <a:rPr lang="en-US" i="1">
                            <a:latin typeface="Cambria Math" panose="02040503050406030204" pitchFamily="18" charset="0"/>
                          </a:rPr>
                          <m:t>𝑘</m:t>
                        </m:r>
                      </m:num>
                      <m:den>
                        <m:sSub>
                          <m:sSubPr>
                            <m:ctrlPr>
                              <a:rPr lang="en-IN"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𝑢</m:t>
                            </m:r>
                          </m:sub>
                        </m:sSub>
                      </m:den>
                    </m:f>
                    <m:r>
                      <a:rPr lang="en-US" i="1">
                        <a:latin typeface="Cambria Math" panose="02040503050406030204" pitchFamily="18" charset="0"/>
                      </a:rPr>
                      <m:t>,   </m:t>
                    </m:r>
                    <m:r>
                      <a:rPr lang="en-US" i="1">
                        <a:latin typeface="Cambria Math" panose="02040503050406030204" pitchFamily="18" charset="0"/>
                      </a:rPr>
                      <m:t>𝑓𝑜𝑟</m:t>
                    </m:r>
                    <m:r>
                      <a:rPr lang="en-US" i="1">
                        <a:latin typeface="Cambria Math" panose="02040503050406030204" pitchFamily="18" charset="0"/>
                      </a:rPr>
                      <m:t> </m:t>
                    </m:r>
                    <m:r>
                      <a:rPr lang="en-US" i="1">
                        <a:latin typeface="Cambria Math" panose="02040503050406030204" pitchFamily="18" charset="0"/>
                      </a:rPr>
                      <m:t>𝑘</m:t>
                    </m:r>
                    <m:r>
                      <a:rPr lang="en-US" i="1">
                        <a:latin typeface="Cambria Math" panose="02040503050406030204" pitchFamily="18" charset="0"/>
                      </a:rPr>
                      <m:t>=0, 1, 2, …, </m:t>
                    </m:r>
                    <m:r>
                      <a:rPr lang="en-US" i="1">
                        <a:latin typeface="Cambria Math" panose="02040503050406030204" pitchFamily="18" charset="0"/>
                      </a:rPr>
                      <m:t>𝑁</m:t>
                    </m:r>
                    <m:r>
                      <a:rPr lang="en-US" i="1">
                        <a:latin typeface="Cambria Math" panose="02040503050406030204" pitchFamily="18" charset="0"/>
                      </a:rPr>
                      <m:t>−1</m:t>
                    </m:r>
                  </m:oMath>
                </a14:m>
                <a:r>
                  <a:rPr lang="en-US" dirty="0"/>
                  <a:t> and </a:t>
                </a:r>
                <a14:m>
                  <m:oMath xmlns:m="http://schemas.openxmlformats.org/officeDocument/2006/math">
                    <m:r>
                      <a:rPr lang="en-US" i="1">
                        <a:latin typeface="Cambria Math" panose="02040503050406030204" pitchFamily="18" charset="0"/>
                      </a:rPr>
                      <m:t>1/</m:t>
                    </m:r>
                    <m:sSub>
                      <m:sSubPr>
                        <m:ctrlPr>
                          <a:rPr lang="en-IN"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𝑢</m:t>
                        </m:r>
                      </m:sub>
                    </m:sSub>
                  </m:oMath>
                </a14:m>
                <a:r>
                  <a:rPr lang="en-US" dirty="0"/>
                  <a:t> is the minimum sub-carrier spacing required. </a:t>
                </a:r>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665285" y="4655019"/>
                <a:ext cx="7772400" cy="676532"/>
              </a:xfrm>
              <a:prstGeom prst="rect">
                <a:avLst/>
              </a:prstGeom>
              <a:blipFill rotWithShape="1">
                <a:blip r:embed="rId4"/>
                <a:stretch>
                  <a:fillRect l="-627" t="-63063" b="-52252"/>
                </a:stretch>
              </a:blipFill>
            </p:spPr>
            <p:txBody>
              <a:bodyPr/>
              <a:lstStyle/>
              <a:p>
                <a:r>
                  <a:rPr lang="en-IN">
                    <a:noFill/>
                  </a:rPr>
                  <a:t> </a:t>
                </a:r>
              </a:p>
            </p:txBody>
          </p:sp>
        </mc:Fallback>
      </mc:AlternateContent>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485900" y="106363"/>
            <a:ext cx="6172200" cy="365125"/>
          </a:xfrm>
        </p:spPr>
        <p:txBody>
          <a:bodyPr/>
          <a:lstStyle/>
          <a:p>
            <a:r>
              <a:rPr lang="en-US" altLang="en-US" sz="2100" b="1" smtClean="0">
                <a:solidFill>
                  <a:srgbClr val="FF0000"/>
                </a:solidFill>
              </a:rPr>
              <a:t>OFDM Signal Generation</a:t>
            </a:r>
            <a:endParaRPr lang="en-IN" altLang="en-US" sz="2100" smtClean="0">
              <a:solidFill>
                <a:srgbClr val="FF0000"/>
              </a:solidFill>
            </a:endParaRPr>
          </a:p>
        </p:txBody>
      </p:sp>
      <mc:AlternateContent xmlns:mc="http://schemas.openxmlformats.org/markup-compatibility/2006" xmlns:a14="http://schemas.microsoft.com/office/drawing/2010/main">
        <mc:Choice Requires="a14">
          <p:sp>
            <p:nvSpPr>
              <p:cNvPr id="4" name="Rectangle 3"/>
              <p:cNvSpPr/>
              <p:nvPr/>
            </p:nvSpPr>
            <p:spPr>
              <a:xfrm>
                <a:off x="228600" y="685800"/>
                <a:ext cx="8458200" cy="395173"/>
              </a:xfrm>
              <a:prstGeom prst="rect">
                <a:avLst/>
              </a:prstGeom>
            </p:spPr>
            <p:txBody>
              <a:bodyPr wrap="square">
                <a:spAutoFit/>
              </a:bodyPr>
              <a:lstStyle/>
              <a:p>
                <a:r>
                  <a:rPr lang="en-US" dirty="0"/>
                  <a:t>The baseband OFDM signal transmitted during </a:t>
                </a:r>
                <a14:m>
                  <m:oMath xmlns:m="http://schemas.openxmlformats.org/officeDocument/2006/math">
                    <m:sSup>
                      <m:sSupPr>
                        <m:ctrlPr>
                          <a:rPr lang="en-IN" i="1">
                            <a:latin typeface="Cambria Math" panose="02040503050406030204" pitchFamily="18" charset="0"/>
                          </a:rPr>
                        </m:ctrlPr>
                      </m:sSupPr>
                      <m:e>
                        <m:r>
                          <a:rPr lang="en-US" i="1">
                            <a:latin typeface="Cambria Math" panose="02040503050406030204" pitchFamily="18" charset="0"/>
                          </a:rPr>
                          <m:t>𝑖</m:t>
                        </m:r>
                      </m:e>
                      <m:sup>
                        <m:r>
                          <a:rPr lang="en-US" i="1">
                            <a:latin typeface="Cambria Math" panose="02040503050406030204" pitchFamily="18" charset="0"/>
                          </a:rPr>
                          <m:t>𝑡h</m:t>
                        </m:r>
                      </m:sup>
                    </m:sSup>
                  </m:oMath>
                </a14:m>
                <a:r>
                  <a:rPr lang="en-US" dirty="0"/>
                  <a:t> block can be written </a:t>
                </a:r>
                <a:r>
                  <a:rPr lang="en-US" dirty="0" smtClean="0"/>
                  <a:t>as-</a:t>
                </a:r>
              </a:p>
            </p:txBody>
          </p:sp>
        </mc:Choice>
        <mc:Fallback xmlns="">
          <p:sp>
            <p:nvSpPr>
              <p:cNvPr id="4" name="Rectangle 3"/>
              <p:cNvSpPr>
                <a:spLocks noRot="1" noChangeAspect="1" noMove="1" noResize="1" noEditPoints="1" noAdjustHandles="1" noChangeArrowheads="1" noChangeShapeType="1" noTextEdit="1"/>
              </p:cNvSpPr>
              <p:nvPr/>
            </p:nvSpPr>
            <p:spPr>
              <a:xfrm>
                <a:off x="228600" y="685800"/>
                <a:ext cx="8458200" cy="395173"/>
              </a:xfrm>
              <a:prstGeom prst="rect">
                <a:avLst/>
              </a:prstGeom>
              <a:blipFill rotWithShape="1">
                <a:blip r:embed="rId2"/>
                <a:stretch>
                  <a:fillRect l="-649" b="-2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371600" y="1295400"/>
                <a:ext cx="6781800" cy="8714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a:rPr>
                        <m:t>𝑥</m:t>
                      </m:r>
                      <m:d>
                        <m:dPr>
                          <m:ctrlPr>
                            <a:rPr lang="en-IN" i="1">
                              <a:latin typeface="Cambria Math" panose="02040503050406030204" pitchFamily="18" charset="0"/>
                            </a:rPr>
                          </m:ctrlPr>
                        </m:dPr>
                        <m:e>
                          <m:r>
                            <a:rPr lang="en-US" i="1">
                              <a:latin typeface="Cambria Math"/>
                            </a:rPr>
                            <m:t>𝑖</m:t>
                          </m:r>
                          <m:r>
                            <a:rPr lang="en-US" i="1">
                              <a:latin typeface="Cambria Math"/>
                            </a:rPr>
                            <m:t>,</m:t>
                          </m:r>
                          <m:r>
                            <a:rPr lang="en-US" i="1">
                              <a:latin typeface="Cambria Math"/>
                            </a:rPr>
                            <m:t>𝑡</m:t>
                          </m:r>
                        </m:e>
                      </m:d>
                      <m:r>
                        <a:rPr lang="en-US" i="1">
                          <a:latin typeface="Cambria Math"/>
                        </a:rPr>
                        <m:t>=</m:t>
                      </m:r>
                      <m:f>
                        <m:fPr>
                          <m:ctrlPr>
                            <a:rPr lang="en-IN" i="1">
                              <a:latin typeface="Cambria Math" panose="02040503050406030204" pitchFamily="18" charset="0"/>
                            </a:rPr>
                          </m:ctrlPr>
                        </m:fPr>
                        <m:num>
                          <m:r>
                            <a:rPr lang="en-US" i="1">
                              <a:latin typeface="Cambria Math"/>
                            </a:rPr>
                            <m:t>1</m:t>
                          </m:r>
                        </m:num>
                        <m:den>
                          <m:r>
                            <a:rPr lang="en-US" i="1">
                              <a:latin typeface="Cambria Math"/>
                            </a:rPr>
                            <m:t>𝑁</m:t>
                          </m:r>
                        </m:den>
                      </m:f>
                      <m:nary>
                        <m:naryPr>
                          <m:chr m:val="∑"/>
                          <m:limLoc m:val="undOvr"/>
                          <m:ctrlPr>
                            <a:rPr lang="en-IN" i="1">
                              <a:latin typeface="Cambria Math" panose="02040503050406030204" pitchFamily="18" charset="0"/>
                            </a:rPr>
                          </m:ctrlPr>
                        </m:naryPr>
                        <m:sub>
                          <m:r>
                            <a:rPr lang="en-US" i="1">
                              <a:latin typeface="Cambria Math"/>
                            </a:rPr>
                            <m:t>𝑘</m:t>
                          </m:r>
                          <m:r>
                            <a:rPr lang="en-US" i="1">
                              <a:latin typeface="Cambria Math"/>
                            </a:rPr>
                            <m:t>=0</m:t>
                          </m:r>
                        </m:sub>
                        <m:sup>
                          <m:r>
                            <a:rPr lang="en-US" i="1">
                              <a:latin typeface="Cambria Math"/>
                            </a:rPr>
                            <m:t>𝑁</m:t>
                          </m:r>
                          <m:r>
                            <a:rPr lang="en-US" i="1">
                              <a:latin typeface="Cambria Math"/>
                            </a:rPr>
                            <m:t>−1</m:t>
                          </m:r>
                        </m:sup>
                        <m:e>
                          <m:r>
                            <a:rPr lang="en-US" i="1">
                              <a:latin typeface="Cambria Math"/>
                            </a:rPr>
                            <m:t>  </m:t>
                          </m:r>
                          <m:r>
                            <a:rPr lang="en-US" i="1">
                              <a:latin typeface="Cambria Math"/>
                            </a:rPr>
                            <m:t>𝑋</m:t>
                          </m:r>
                          <m:d>
                            <m:dPr>
                              <m:ctrlPr>
                                <a:rPr lang="en-IN" i="1">
                                  <a:latin typeface="Cambria Math" panose="02040503050406030204" pitchFamily="18" charset="0"/>
                                </a:rPr>
                              </m:ctrlPr>
                            </m:dPr>
                            <m:e>
                              <m:r>
                                <a:rPr lang="en-US" i="1">
                                  <a:latin typeface="Cambria Math"/>
                                </a:rPr>
                                <m:t>𝑖</m:t>
                              </m:r>
                              <m:r>
                                <a:rPr lang="en-US" i="1">
                                  <a:latin typeface="Cambria Math"/>
                                </a:rPr>
                                <m:t>,</m:t>
                              </m:r>
                              <m:r>
                                <a:rPr lang="en-US" i="1">
                                  <a:latin typeface="Cambria Math"/>
                                </a:rPr>
                                <m:t>𝑘</m:t>
                              </m:r>
                            </m:e>
                          </m:d>
                          <m:sSup>
                            <m:sSupPr>
                              <m:ctrlPr>
                                <a:rPr lang="en-IN" i="1">
                                  <a:latin typeface="Cambria Math" panose="02040503050406030204" pitchFamily="18" charset="0"/>
                                </a:rPr>
                              </m:ctrlPr>
                            </m:sSupPr>
                            <m:e>
                              <m:r>
                                <a:rPr lang="en-US" i="1">
                                  <a:latin typeface="Cambria Math"/>
                                </a:rPr>
                                <m:t> </m:t>
                              </m:r>
                              <m:r>
                                <a:rPr lang="en-US" i="1">
                                  <a:latin typeface="Cambria Math"/>
                                </a:rPr>
                                <m:t>𝑒</m:t>
                              </m:r>
                            </m:e>
                            <m:sup>
                              <m:r>
                                <a:rPr lang="en-US" i="1">
                                  <a:latin typeface="Cambria Math"/>
                                </a:rPr>
                                <m:t>𝑗</m:t>
                              </m:r>
                              <m:r>
                                <a:rPr lang="en-US" i="1">
                                  <a:latin typeface="Cambria Math"/>
                                </a:rPr>
                                <m:t> 2 </m:t>
                              </m:r>
                              <m:r>
                                <a:rPr lang="en-US" i="1">
                                  <a:latin typeface="Cambria Math"/>
                                </a:rPr>
                                <m:t>𝜋</m:t>
                              </m:r>
                              <m:r>
                                <a:rPr lang="en-US" i="1">
                                  <a:latin typeface="Cambria Math"/>
                                </a:rPr>
                                <m:t> </m:t>
                              </m:r>
                              <m:sSub>
                                <m:sSubPr>
                                  <m:ctrlPr>
                                    <a:rPr lang="en-IN" i="1">
                                      <a:latin typeface="Cambria Math" panose="02040503050406030204" pitchFamily="18" charset="0"/>
                                    </a:rPr>
                                  </m:ctrlPr>
                                </m:sSubPr>
                                <m:e>
                                  <m:r>
                                    <a:rPr lang="en-US" i="1">
                                      <a:latin typeface="Cambria Math"/>
                                    </a:rPr>
                                    <m:t>𝑓</m:t>
                                  </m:r>
                                </m:e>
                                <m:sub>
                                  <m:r>
                                    <a:rPr lang="en-US" i="1">
                                      <a:latin typeface="Cambria Math"/>
                                    </a:rPr>
                                    <m:t>𝑘</m:t>
                                  </m:r>
                                  <m:r>
                                    <a:rPr lang="en-US" i="1">
                                      <a:latin typeface="Cambria Math"/>
                                    </a:rPr>
                                    <m:t> </m:t>
                                  </m:r>
                                </m:sub>
                              </m:sSub>
                              <m:r>
                                <a:rPr lang="en-US" i="1">
                                  <a:latin typeface="Cambria Math"/>
                                </a:rPr>
                                <m:t>𝑡</m:t>
                              </m:r>
                            </m:sup>
                          </m:sSup>
                        </m:e>
                      </m:nary>
                      <m:r>
                        <a:rPr lang="en-US" i="1">
                          <a:latin typeface="Cambria Math"/>
                        </a:rPr>
                        <m:t>,     </m:t>
                      </m:r>
                      <m:r>
                        <a:rPr lang="en-US" i="1">
                          <a:latin typeface="Cambria Math"/>
                        </a:rPr>
                        <m:t>𝑓𝑜𝑟</m:t>
                      </m:r>
                      <m:r>
                        <a:rPr lang="en-US" i="1">
                          <a:latin typeface="Cambria Math"/>
                        </a:rPr>
                        <m:t>   0  ≤  </m:t>
                      </m:r>
                      <m:r>
                        <a:rPr lang="en-US" i="1">
                          <a:latin typeface="Cambria Math"/>
                        </a:rPr>
                        <m:t>𝑡</m:t>
                      </m:r>
                      <m:r>
                        <a:rPr lang="en-US" i="1">
                          <a:latin typeface="Cambria Math"/>
                        </a:rPr>
                        <m:t> ≤  </m:t>
                      </m:r>
                      <m:sSub>
                        <m:sSubPr>
                          <m:ctrlPr>
                            <a:rPr lang="en-IN" i="1">
                              <a:latin typeface="Cambria Math" panose="02040503050406030204" pitchFamily="18" charset="0"/>
                            </a:rPr>
                          </m:ctrlPr>
                        </m:sSubPr>
                        <m:e>
                          <m:r>
                            <a:rPr lang="en-US" i="1">
                              <a:latin typeface="Cambria Math"/>
                            </a:rPr>
                            <m:t>𝑇</m:t>
                          </m:r>
                        </m:e>
                        <m:sub>
                          <m:r>
                            <a:rPr lang="en-US" i="1">
                              <a:latin typeface="Cambria Math"/>
                            </a:rPr>
                            <m:t>𝑢</m:t>
                          </m:r>
                        </m:sub>
                      </m:sSub>
                      <m:r>
                        <a:rPr lang="en-US" i="1">
                          <a:latin typeface="Cambria Math"/>
                        </a:rPr>
                        <m:t> </m:t>
                      </m:r>
                    </m:oMath>
                  </m:oMathPara>
                </a14:m>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1371600" y="1295400"/>
                <a:ext cx="6781800" cy="871457"/>
              </a:xfrm>
              <a:prstGeom prst="rect">
                <a:avLst/>
              </a:prstGeom>
              <a:blipFill rotWithShape="1">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533400" y="2590800"/>
                <a:ext cx="8077200" cy="2041200"/>
              </a:xfrm>
              <a:prstGeom prst="rect">
                <a:avLst/>
              </a:prstGeom>
            </p:spPr>
            <p:txBody>
              <a:bodyPr wrap="square">
                <a:spAutoFit/>
              </a:bodyPr>
              <a:lstStyle/>
              <a:p>
                <a:r>
                  <a:rPr lang="en-US" dirty="0" smtClean="0"/>
                  <a:t>where, </a:t>
                </a:r>
              </a:p>
              <a:p>
                <a:pPr marL="285750" indent="-28575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US" i="1">
                            <a:latin typeface="Cambria Math"/>
                          </a:rPr>
                          <m:t>𝑇</m:t>
                        </m:r>
                      </m:e>
                      <m:sub>
                        <m:r>
                          <a:rPr lang="en-US" i="1">
                            <a:latin typeface="Cambria Math"/>
                          </a:rPr>
                          <m:t>𝑢</m:t>
                        </m:r>
                      </m:sub>
                    </m:sSub>
                    <m:d>
                      <m:dPr>
                        <m:ctrlPr>
                          <a:rPr lang="en-IN" i="1">
                            <a:latin typeface="Cambria Math" panose="02040503050406030204" pitchFamily="18" charset="0"/>
                          </a:rPr>
                        </m:ctrlPr>
                      </m:dPr>
                      <m:e>
                        <m:r>
                          <a:rPr lang="en-US" i="1">
                            <a:latin typeface="Cambria Math"/>
                          </a:rPr>
                          <m:t>=</m:t>
                        </m:r>
                        <m:r>
                          <a:rPr lang="en-US" i="1">
                            <a:latin typeface="Cambria Math"/>
                          </a:rPr>
                          <m:t>𝑁</m:t>
                        </m:r>
                        <m:sSub>
                          <m:sSubPr>
                            <m:ctrlPr>
                              <a:rPr lang="en-IN" i="1">
                                <a:latin typeface="Cambria Math" panose="02040503050406030204" pitchFamily="18" charset="0"/>
                              </a:rPr>
                            </m:ctrlPr>
                          </m:sSubPr>
                          <m:e>
                            <m:r>
                              <a:rPr lang="en-US" i="1">
                                <a:latin typeface="Cambria Math"/>
                              </a:rPr>
                              <m:t>𝑇</m:t>
                            </m:r>
                          </m:e>
                          <m:sub>
                            <m:r>
                              <a:rPr lang="en-US" i="1">
                                <a:latin typeface="Cambria Math"/>
                              </a:rPr>
                              <m:t>𝑠</m:t>
                            </m:r>
                          </m:sub>
                        </m:sSub>
                      </m:e>
                    </m:d>
                    <m:r>
                      <a:rPr lang="en-US" i="1">
                        <a:latin typeface="Cambria Math"/>
                      </a:rPr>
                      <m:t>  </m:t>
                    </m:r>
                  </m:oMath>
                </a14:m>
                <a:r>
                  <a:rPr lang="en-US" dirty="0"/>
                  <a:t>is the useful duration of one OFDM symbol,</a:t>
                </a:r>
                <a14:m>
                  <m:oMath xmlns:m="http://schemas.openxmlformats.org/officeDocument/2006/math">
                    <m:r>
                      <a:rPr lang="en-US" i="1">
                        <a:latin typeface="Cambria Math"/>
                      </a:rPr>
                      <m:t>  </m:t>
                    </m:r>
                  </m:oMath>
                </a14:m>
                <a:endParaRPr lang="en-US" i="1" dirty="0" smtClean="0">
                  <a:latin typeface="Cambria Math"/>
                </a:endParaRPr>
              </a:p>
              <a:p>
                <a:pPr marL="285750" indent="-28575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US" i="1">
                            <a:latin typeface="Cambria Math"/>
                          </a:rPr>
                          <m:t> </m:t>
                        </m:r>
                        <m:r>
                          <a:rPr lang="en-US" i="1">
                            <a:latin typeface="Cambria Math"/>
                          </a:rPr>
                          <m:t>𝑇</m:t>
                        </m:r>
                      </m:e>
                      <m:sub>
                        <m:r>
                          <a:rPr lang="en-US" i="1">
                            <a:latin typeface="Cambria Math"/>
                          </a:rPr>
                          <m:t>𝑠</m:t>
                        </m:r>
                      </m:sub>
                    </m:sSub>
                  </m:oMath>
                </a14:m>
                <a:r>
                  <a:rPr lang="en-US" dirty="0"/>
                  <a:t> is the sampling interval,</a:t>
                </a:r>
                <a14:m>
                  <m:oMath xmlns:m="http://schemas.openxmlformats.org/officeDocument/2006/math">
                    <m:r>
                      <a:rPr lang="en-US" i="1">
                        <a:latin typeface="Cambria Math"/>
                      </a:rPr>
                      <m:t> </m:t>
                    </m:r>
                    <m:sSub>
                      <m:sSubPr>
                        <m:ctrlPr>
                          <a:rPr lang="en-IN" i="1">
                            <a:latin typeface="Cambria Math" panose="02040503050406030204" pitchFamily="18" charset="0"/>
                          </a:rPr>
                        </m:ctrlPr>
                      </m:sSubPr>
                      <m:e>
                        <m:r>
                          <a:rPr lang="en-US" i="1">
                            <a:latin typeface="Cambria Math"/>
                          </a:rPr>
                          <m:t> </m:t>
                        </m:r>
                        <m:r>
                          <a:rPr lang="en-US" i="1">
                            <a:latin typeface="Cambria Math"/>
                          </a:rPr>
                          <m:t>𝑓</m:t>
                        </m:r>
                      </m:e>
                      <m:sub>
                        <m:r>
                          <a:rPr lang="en-US" i="1">
                            <a:latin typeface="Cambria Math"/>
                          </a:rPr>
                          <m:t>𝑘</m:t>
                        </m:r>
                      </m:sub>
                    </m:sSub>
                    <m:r>
                      <a:rPr lang="en-US" i="1">
                        <a:latin typeface="Cambria Math"/>
                      </a:rPr>
                      <m:t> </m:t>
                    </m:r>
                    <m:d>
                      <m:dPr>
                        <m:ctrlPr>
                          <a:rPr lang="en-IN" i="1">
                            <a:latin typeface="Cambria Math" panose="02040503050406030204" pitchFamily="18" charset="0"/>
                          </a:rPr>
                        </m:ctrlPr>
                      </m:dPr>
                      <m:e>
                        <m:f>
                          <m:fPr>
                            <m:type m:val="lin"/>
                            <m:ctrlPr>
                              <a:rPr lang="en-IN" i="1">
                                <a:latin typeface="Cambria Math" panose="02040503050406030204" pitchFamily="18" charset="0"/>
                              </a:rPr>
                            </m:ctrlPr>
                          </m:fPr>
                          <m:num>
                            <m:r>
                              <a:rPr lang="en-US" i="1">
                                <a:latin typeface="Cambria Math"/>
                              </a:rPr>
                              <m:t>=</m:t>
                            </m:r>
                            <m:r>
                              <a:rPr lang="en-US" i="1">
                                <a:latin typeface="Cambria Math"/>
                              </a:rPr>
                              <m:t>𝑘</m:t>
                            </m:r>
                          </m:num>
                          <m:den>
                            <m:sSub>
                              <m:sSubPr>
                                <m:ctrlPr>
                                  <a:rPr lang="en-IN" i="1">
                                    <a:latin typeface="Cambria Math" panose="02040503050406030204" pitchFamily="18" charset="0"/>
                                  </a:rPr>
                                </m:ctrlPr>
                              </m:sSubPr>
                              <m:e>
                                <m:r>
                                  <a:rPr lang="en-US" i="1">
                                    <a:latin typeface="Cambria Math"/>
                                  </a:rPr>
                                  <m:t>𝑇</m:t>
                                </m:r>
                              </m:e>
                              <m:sub>
                                <m:r>
                                  <a:rPr lang="en-US" i="1">
                                    <a:latin typeface="Cambria Math"/>
                                  </a:rPr>
                                  <m:t>𝑢</m:t>
                                </m:r>
                              </m:sub>
                            </m:sSub>
                          </m:den>
                        </m:f>
                      </m:e>
                    </m:d>
                    <m:r>
                      <a:rPr lang="en-US" i="1">
                        <a:latin typeface="Cambria Math"/>
                      </a:rPr>
                      <m:t>  </m:t>
                    </m:r>
                  </m:oMath>
                </a14:m>
                <a:r>
                  <a:rPr lang="en-US" dirty="0"/>
                  <a:t>is the sub-carrier frequency of the </a:t>
                </a:r>
                <a14:m>
                  <m:oMath xmlns:m="http://schemas.openxmlformats.org/officeDocument/2006/math">
                    <m:sSup>
                      <m:sSupPr>
                        <m:ctrlPr>
                          <a:rPr lang="en-IN" i="1">
                            <a:latin typeface="Cambria Math" panose="02040503050406030204" pitchFamily="18" charset="0"/>
                          </a:rPr>
                        </m:ctrlPr>
                      </m:sSupPr>
                      <m:e>
                        <m:r>
                          <a:rPr lang="en-US" i="1">
                            <a:latin typeface="Cambria Math"/>
                          </a:rPr>
                          <m:t>𝑘</m:t>
                        </m:r>
                      </m:e>
                      <m:sup>
                        <m:r>
                          <a:rPr lang="en-US" i="1">
                            <a:latin typeface="Cambria Math"/>
                          </a:rPr>
                          <m:t>𝑡h</m:t>
                        </m:r>
                      </m:sup>
                    </m:sSup>
                    <m:r>
                      <a:rPr lang="en-US" i="1">
                        <a:latin typeface="Cambria Math"/>
                      </a:rPr>
                      <m:t> </m:t>
                    </m:r>
                  </m:oMath>
                </a14:m>
                <a:r>
                  <a:rPr lang="en-US" dirty="0"/>
                  <a:t>sub-carrier, </a:t>
                </a:r>
                <a:endParaRPr lang="en-US" dirty="0" smtClean="0"/>
              </a:p>
              <a:p>
                <a:pPr marL="285750" indent="-285750">
                  <a:buFont typeface="Arial" panose="020B0604020202020204" pitchFamily="34" charset="0"/>
                  <a:buChar char="•"/>
                </a:pPr>
                <a14:m>
                  <m:oMath xmlns:m="http://schemas.openxmlformats.org/officeDocument/2006/math">
                    <m:r>
                      <a:rPr lang="en-US" i="1">
                        <a:latin typeface="Cambria Math"/>
                      </a:rPr>
                      <m:t>𝑋</m:t>
                    </m:r>
                    <m:d>
                      <m:dPr>
                        <m:ctrlPr>
                          <a:rPr lang="en-IN" i="1">
                            <a:latin typeface="Cambria Math" panose="02040503050406030204" pitchFamily="18" charset="0"/>
                          </a:rPr>
                        </m:ctrlPr>
                      </m:dPr>
                      <m:e>
                        <m:r>
                          <a:rPr lang="en-US" i="1">
                            <a:latin typeface="Cambria Math"/>
                          </a:rPr>
                          <m:t>𝑖</m:t>
                        </m:r>
                        <m:r>
                          <a:rPr lang="en-US" i="1">
                            <a:latin typeface="Cambria Math"/>
                          </a:rPr>
                          <m:t>,</m:t>
                        </m:r>
                        <m:r>
                          <a:rPr lang="en-US" i="1">
                            <a:latin typeface="Cambria Math"/>
                          </a:rPr>
                          <m:t>𝑘</m:t>
                        </m:r>
                      </m:e>
                    </m:d>
                    <m:r>
                      <a:rPr lang="en-US" i="1">
                        <a:latin typeface="Cambria Math"/>
                      </a:rPr>
                      <m:t> </m:t>
                    </m:r>
                  </m:oMath>
                </a14:m>
                <a:r>
                  <a:rPr lang="en-US" dirty="0"/>
                  <a:t>is the complex data symbol of </a:t>
                </a:r>
                <a14:m>
                  <m:oMath xmlns:m="http://schemas.openxmlformats.org/officeDocument/2006/math">
                    <m:sSup>
                      <m:sSupPr>
                        <m:ctrlPr>
                          <a:rPr lang="en-IN" i="1">
                            <a:latin typeface="Cambria Math" panose="02040503050406030204" pitchFamily="18" charset="0"/>
                          </a:rPr>
                        </m:ctrlPr>
                      </m:sSupPr>
                      <m:e>
                        <m:r>
                          <a:rPr lang="en-US" i="1">
                            <a:latin typeface="Cambria Math"/>
                          </a:rPr>
                          <m:t>𝑖</m:t>
                        </m:r>
                      </m:e>
                      <m:sup>
                        <m:r>
                          <a:rPr lang="en-US" i="1">
                            <a:latin typeface="Cambria Math"/>
                          </a:rPr>
                          <m:t>𝑡h</m:t>
                        </m:r>
                      </m:sup>
                    </m:sSup>
                    <m:r>
                      <a:rPr lang="en-US" i="1">
                        <a:latin typeface="Cambria Math"/>
                      </a:rPr>
                      <m:t> </m:t>
                    </m:r>
                  </m:oMath>
                </a14:m>
                <a:r>
                  <a:rPr lang="en-US" dirty="0"/>
                  <a:t>block, modulated on </a:t>
                </a:r>
                <a14:m>
                  <m:oMath xmlns:m="http://schemas.openxmlformats.org/officeDocument/2006/math">
                    <m:sSup>
                      <m:sSupPr>
                        <m:ctrlPr>
                          <a:rPr lang="en-IN" i="1">
                            <a:latin typeface="Cambria Math" panose="02040503050406030204" pitchFamily="18" charset="0"/>
                          </a:rPr>
                        </m:ctrlPr>
                      </m:sSupPr>
                      <m:e>
                        <m:r>
                          <a:rPr lang="en-US" i="1">
                            <a:latin typeface="Cambria Math"/>
                          </a:rPr>
                          <m:t>𝑘</m:t>
                        </m:r>
                      </m:e>
                      <m:sup>
                        <m:r>
                          <a:rPr lang="en-US" i="1">
                            <a:latin typeface="Cambria Math"/>
                          </a:rPr>
                          <m:t>𝑡h</m:t>
                        </m:r>
                      </m:sup>
                    </m:sSup>
                    <m:r>
                      <a:rPr lang="en-US" i="1">
                        <a:latin typeface="Cambria Math"/>
                      </a:rPr>
                      <m:t> </m:t>
                    </m:r>
                  </m:oMath>
                </a14:m>
                <a:r>
                  <a:rPr lang="en-US" dirty="0"/>
                  <a:t>sub-carrier, </a:t>
                </a:r>
                <a:endParaRPr lang="en-US" dirty="0" smtClean="0"/>
              </a:p>
              <a:p>
                <a:pPr marL="285750" indent="-285750">
                  <a:buFont typeface="Arial" panose="020B0604020202020204" pitchFamily="34" charset="0"/>
                  <a:buChar char="•"/>
                </a:pPr>
                <a:r>
                  <a:rPr lang="en-US" dirty="0" smtClean="0"/>
                  <a:t>N </a:t>
                </a:r>
                <a:r>
                  <a:rPr lang="en-US" dirty="0"/>
                  <a:t>is the total number of sub-carriers</a:t>
                </a:r>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533400" y="2590800"/>
                <a:ext cx="8077200" cy="2041200"/>
              </a:xfrm>
              <a:prstGeom prst="rect">
                <a:avLst/>
              </a:prstGeom>
              <a:blipFill rotWithShape="1">
                <a:blip r:embed="rId4"/>
                <a:stretch>
                  <a:fillRect l="-679" t="-1493" b="-388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246610" y="4651396"/>
                <a:ext cx="8363989" cy="457754"/>
              </a:xfrm>
              <a:prstGeom prst="rect">
                <a:avLst/>
              </a:prstGeom>
            </p:spPr>
            <p:txBody>
              <a:bodyPr wrap="square">
                <a:spAutoFit/>
              </a:bodyPr>
              <a:lstStyle/>
              <a:p>
                <a:pPr algn="just">
                  <a:lnSpc>
                    <a:spcPct val="150000"/>
                  </a:lnSpc>
                  <a:spcBef>
                    <a:spcPts val="1200"/>
                  </a:spcBef>
                </a:pPr>
                <a:r>
                  <a:rPr lang="en-US" dirty="0">
                    <a:latin typeface="Times New Roman" panose="02020603050405020304" pitchFamily="18" charset="0"/>
                  </a:rPr>
                  <a:t>The discrete version of the baseband OFDM signal </a:t>
                </a:r>
                <a14:m>
                  <m:oMath xmlns:m="http://schemas.openxmlformats.org/officeDocument/2006/math">
                    <m:r>
                      <a:rPr lang="en-US" sz="1800" i="1">
                        <a:effectLst/>
                        <a:latin typeface="Cambria Math" panose="02040503050406030204" pitchFamily="18" charset="0"/>
                      </a:rPr>
                      <m:t>𝑥</m:t>
                    </m:r>
                    <m:d>
                      <m:dPr>
                        <m:ctrlPr>
                          <a:rPr lang="en-IN" sz="1800" i="1">
                            <a:effectLst/>
                            <a:latin typeface="Cambria Math" panose="02040503050406030204" pitchFamily="18" charset="0"/>
                          </a:rPr>
                        </m:ctrlPr>
                      </m:dPr>
                      <m:e>
                        <m:r>
                          <a:rPr lang="en-US" sz="1800" i="1">
                            <a:effectLst/>
                            <a:latin typeface="Cambria Math" panose="02040503050406030204" pitchFamily="18" charset="0"/>
                          </a:rPr>
                          <m:t>𝑖</m:t>
                        </m:r>
                        <m:r>
                          <a:rPr lang="en-US" sz="1800" i="1">
                            <a:effectLst/>
                            <a:latin typeface="Cambria Math" panose="02040503050406030204" pitchFamily="18" charset="0"/>
                          </a:rPr>
                          <m:t>,</m:t>
                        </m:r>
                        <m:r>
                          <a:rPr lang="en-US" sz="1800" i="1">
                            <a:effectLst/>
                            <a:latin typeface="Cambria Math" panose="02040503050406030204" pitchFamily="18" charset="0"/>
                          </a:rPr>
                          <m:t>𝑛</m:t>
                        </m:r>
                      </m:e>
                    </m:d>
                    <m:r>
                      <a:rPr lang="en-US" sz="1800" i="1">
                        <a:effectLst/>
                        <a:latin typeface="Cambria Math" panose="02040503050406030204" pitchFamily="18" charset="0"/>
                      </a:rPr>
                      <m:t> </m:t>
                    </m:r>
                  </m:oMath>
                </a14:m>
                <a:r>
                  <a:rPr lang="en-US" sz="1800" dirty="0">
                    <a:effectLst/>
                    <a:latin typeface="Times New Roman" panose="02020603050405020304" pitchFamily="18" charset="0"/>
                  </a:rPr>
                  <a:t>can be expressed as </a:t>
                </a:r>
                <a:r>
                  <a:rPr lang="en-US" sz="1800" dirty="0" smtClean="0">
                    <a:effectLst/>
                    <a:latin typeface="Times New Roman" panose="02020603050405020304" pitchFamily="18" charset="0"/>
                  </a:rPr>
                  <a:t>–</a:t>
                </a:r>
                <a:endParaRPr lang="en-IN" dirty="0">
                  <a:effectLst/>
                </a:endParaRPr>
              </a:p>
            </p:txBody>
          </p:sp>
        </mc:Choice>
        <mc:Fallback xmlns="">
          <p:sp>
            <p:nvSpPr>
              <p:cNvPr id="2" name="Rectangle 1"/>
              <p:cNvSpPr>
                <a:spLocks noRot="1" noChangeAspect="1" noMove="1" noResize="1" noEditPoints="1" noAdjustHandles="1" noChangeArrowheads="1" noChangeShapeType="1" noTextEdit="1"/>
              </p:cNvSpPr>
              <p:nvPr/>
            </p:nvSpPr>
            <p:spPr>
              <a:xfrm>
                <a:off x="246610" y="4651396"/>
                <a:ext cx="8363989" cy="457754"/>
              </a:xfrm>
              <a:prstGeom prst="rect">
                <a:avLst/>
              </a:prstGeom>
              <a:blipFill>
                <a:blip r:embed="rId5"/>
                <a:stretch>
                  <a:fillRect l="-583" b="-21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1028700" y="5301519"/>
                <a:ext cx="7086600" cy="87152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Times New Roman" panose="02020603050405020304" pitchFamily="18" charset="0"/>
                          <a:cs typeface="Times New Roman" panose="02020603050405020304" pitchFamily="18" charset="0"/>
                        </a:rPr>
                        <m:t>𝑥</m:t>
                      </m:r>
                      <m:d>
                        <m:dPr>
                          <m:ctrlPr>
                            <a:rPr lang="en-IN" i="1">
                              <a:latin typeface="Cambria Math" panose="02040503050406030204" pitchFamily="18" charset="0"/>
                            </a:rPr>
                          </m:ctrlPr>
                        </m:dPr>
                        <m:e>
                          <m:r>
                            <a:rPr lang="en-US" i="1">
                              <a:latin typeface="Cambria Math" panose="02040503050406030204" pitchFamily="18" charset="0"/>
                              <a:ea typeface="Times New Roman" panose="02020603050405020304" pitchFamily="18" charset="0"/>
                              <a:cs typeface="Times New Roman" panose="02020603050405020304" pitchFamily="18" charset="0"/>
                            </a:rPr>
                            <m:t>𝑖</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𝑛</m:t>
                          </m:r>
                        </m:e>
                      </m:d>
                      <m:r>
                        <a:rPr lang="en-US" i="1">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latin typeface="Cambria Math" panose="02040503050406030204" pitchFamily="18" charset="0"/>
                            </a:rPr>
                          </m:ctrlPr>
                        </m:fPr>
                        <m:num>
                          <m:r>
                            <a:rPr lang="en-US" i="1">
                              <a:latin typeface="Cambria Math" panose="02040503050406030204" pitchFamily="18" charset="0"/>
                              <a:ea typeface="Times New Roman" panose="02020603050405020304" pitchFamily="18" charset="0"/>
                              <a:cs typeface="Times New Roman" panose="02020603050405020304" pitchFamily="18" charset="0"/>
                            </a:rPr>
                            <m:t>1</m:t>
                          </m:r>
                        </m:num>
                        <m:den>
                          <m:r>
                            <a:rPr lang="en-US" i="1">
                              <a:latin typeface="Cambria Math" panose="02040503050406030204" pitchFamily="18" charset="0"/>
                              <a:ea typeface="Times New Roman" panose="02020603050405020304" pitchFamily="18" charset="0"/>
                              <a:cs typeface="Times New Roman" panose="02020603050405020304" pitchFamily="18" charset="0"/>
                            </a:rPr>
                            <m:t>𝑁</m:t>
                          </m:r>
                        </m:den>
                      </m:f>
                      <m:nary>
                        <m:naryPr>
                          <m:chr m:val="∑"/>
                          <m:limLoc m:val="undOvr"/>
                          <m:ctrlPr>
                            <a:rPr lang="en-IN" i="1">
                              <a:latin typeface="Cambria Math" panose="02040503050406030204" pitchFamily="18" charset="0"/>
                            </a:rPr>
                          </m:ctrlPr>
                        </m:naryPr>
                        <m:sub>
                          <m:r>
                            <a:rPr lang="en-US" i="1">
                              <a:latin typeface="Cambria Math" panose="02040503050406030204" pitchFamily="18" charset="0"/>
                              <a:ea typeface="Times New Roman" panose="02020603050405020304" pitchFamily="18" charset="0"/>
                              <a:cs typeface="Times New Roman" panose="02020603050405020304" pitchFamily="18" charset="0"/>
                            </a:rPr>
                            <m:t>𝑘</m:t>
                          </m:r>
                          <m:r>
                            <a:rPr lang="en-US" i="1">
                              <a:latin typeface="Cambria Math" panose="02040503050406030204" pitchFamily="18" charset="0"/>
                              <a:ea typeface="Times New Roman" panose="02020603050405020304" pitchFamily="18" charset="0"/>
                              <a:cs typeface="Times New Roman" panose="02020603050405020304" pitchFamily="18" charset="0"/>
                            </a:rPr>
                            <m:t>=0</m:t>
                          </m:r>
                        </m:sub>
                        <m:sup>
                          <m:r>
                            <a:rPr lang="en-US" i="1">
                              <a:latin typeface="Cambria Math" panose="02040503050406030204" pitchFamily="18" charset="0"/>
                              <a:ea typeface="Times New Roman" panose="02020603050405020304" pitchFamily="18" charset="0"/>
                              <a:cs typeface="Times New Roman" panose="02020603050405020304" pitchFamily="18" charset="0"/>
                            </a:rPr>
                            <m:t>𝑁</m:t>
                          </m:r>
                          <m:r>
                            <a:rPr lang="en-US" i="1">
                              <a:latin typeface="Cambria Math" panose="02040503050406030204" pitchFamily="18" charset="0"/>
                              <a:ea typeface="Times New Roman" panose="02020603050405020304" pitchFamily="18" charset="0"/>
                              <a:cs typeface="Times New Roman" panose="02020603050405020304" pitchFamily="18" charset="0"/>
                            </a:rPr>
                            <m:t>−1</m:t>
                          </m:r>
                        </m:sup>
                        <m:e>
                          <m:r>
                            <a:rPr lang="en-US" i="1">
                              <a:latin typeface="Cambria Math" panose="02040503050406030204" pitchFamily="18" charset="0"/>
                              <a:ea typeface="Times New Roman" panose="02020603050405020304" pitchFamily="18" charset="0"/>
                              <a:cs typeface="Times New Roman" panose="02020603050405020304" pitchFamily="18" charset="0"/>
                            </a:rPr>
                            <m:t>𝑋</m:t>
                          </m:r>
                          <m:d>
                            <m:dPr>
                              <m:ctrlPr>
                                <a:rPr lang="en-IN" i="1">
                                  <a:latin typeface="Cambria Math" panose="02040503050406030204" pitchFamily="18" charset="0"/>
                                </a:rPr>
                              </m:ctrlPr>
                            </m:dPr>
                            <m:e>
                              <m:r>
                                <a:rPr lang="en-US" i="1">
                                  <a:latin typeface="Cambria Math" panose="02040503050406030204" pitchFamily="18" charset="0"/>
                                  <a:ea typeface="Times New Roman" panose="02020603050405020304" pitchFamily="18" charset="0"/>
                                  <a:cs typeface="Times New Roman" panose="02020603050405020304" pitchFamily="18" charset="0"/>
                                </a:rPr>
                                <m:t>𝑖</m:t>
                              </m:r>
                              <m:r>
                                <a:rPr lang="en-US"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𝑘</m:t>
                              </m:r>
                            </m:e>
                          </m:d>
                          <m:r>
                            <a:rPr lang="en-US" i="1">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i="1">
                                  <a:latin typeface="Cambria Math" panose="02040503050406030204" pitchFamily="18" charset="0"/>
                                </a:rPr>
                              </m:ctrlPr>
                            </m:sSupPr>
                            <m:e>
                              <m:r>
                                <a:rPr lang="en-US" i="1">
                                  <a:latin typeface="Cambria Math" panose="02040503050406030204" pitchFamily="18" charset="0"/>
                                  <a:ea typeface="Times New Roman" panose="02020603050405020304" pitchFamily="18" charset="0"/>
                                  <a:cs typeface="Times New Roman" panose="02020603050405020304" pitchFamily="18" charset="0"/>
                                </a:rPr>
                                <m:t>𝑒</m:t>
                              </m:r>
                            </m:e>
                            <m:sup>
                              <m:r>
                                <a:rPr lang="en-US" i="1">
                                  <a:latin typeface="Cambria Math" panose="02040503050406030204" pitchFamily="18" charset="0"/>
                                  <a:ea typeface="Times New Roman" panose="02020603050405020304" pitchFamily="18" charset="0"/>
                                  <a:cs typeface="Times New Roman" panose="02020603050405020304" pitchFamily="18" charset="0"/>
                                </a:rPr>
                                <m:t>𝑗</m:t>
                              </m:r>
                              <m:r>
                                <a:rPr lang="en-US" i="1">
                                  <a:latin typeface="Cambria Math" panose="02040503050406030204" pitchFamily="18" charset="0"/>
                                  <a:ea typeface="Times New Roman" panose="02020603050405020304" pitchFamily="18" charset="0"/>
                                  <a:cs typeface="Times New Roman" panose="02020603050405020304" pitchFamily="18" charset="0"/>
                                </a:rPr>
                                <m:t> 2 </m:t>
                              </m:r>
                              <m:r>
                                <a:rPr lang="en-US" i="1">
                                  <a:latin typeface="Cambria Math" panose="02040503050406030204" pitchFamily="18" charset="0"/>
                                  <a:ea typeface="Times New Roman" panose="02020603050405020304" pitchFamily="18" charset="0"/>
                                  <a:cs typeface="Times New Roman" panose="02020603050405020304" pitchFamily="18" charset="0"/>
                                </a:rPr>
                                <m:t>𝜋</m:t>
                              </m:r>
                              <m:r>
                                <a:rPr lang="en-US" i="1">
                                  <a:latin typeface="Cambria Math" panose="02040503050406030204" pitchFamily="18" charset="0"/>
                                  <a:ea typeface="Times New Roman" panose="02020603050405020304" pitchFamily="18" charset="0"/>
                                  <a:cs typeface="Times New Roman" panose="02020603050405020304" pitchFamily="18" charset="0"/>
                                </a:rPr>
                                <m:t> </m:t>
                              </m:r>
                              <m:r>
                                <a:rPr lang="en-US" i="1">
                                  <a:latin typeface="Cambria Math" panose="02040503050406030204" pitchFamily="18" charset="0"/>
                                  <a:ea typeface="Times New Roman" panose="02020603050405020304" pitchFamily="18" charset="0"/>
                                  <a:cs typeface="Times New Roman" panose="02020603050405020304" pitchFamily="18" charset="0"/>
                                </a:rPr>
                                <m:t>𝑘</m:t>
                              </m:r>
                              <m:r>
                                <a:rPr lang="en-US" i="1">
                                  <a:latin typeface="Cambria Math" panose="02040503050406030204" pitchFamily="18" charset="0"/>
                                  <a:ea typeface="Times New Roman" panose="02020603050405020304" pitchFamily="18" charset="0"/>
                                  <a:cs typeface="Times New Roman" panose="02020603050405020304" pitchFamily="18" charset="0"/>
                                </a:rPr>
                                <m:t> </m:t>
                              </m:r>
                              <m:r>
                                <a:rPr lang="en-US" i="1">
                                  <a:latin typeface="Cambria Math" panose="02040503050406030204" pitchFamily="18" charset="0"/>
                                  <a:ea typeface="Times New Roman" panose="02020603050405020304" pitchFamily="18" charset="0"/>
                                  <a:cs typeface="Times New Roman" panose="02020603050405020304" pitchFamily="18" charset="0"/>
                                </a:rPr>
                                <m:t>𝑛</m:t>
                              </m:r>
                              <m:r>
                                <a:rPr lang="en-US" i="1">
                                  <a:latin typeface="Cambria Math" panose="02040503050406030204" pitchFamily="18" charset="0"/>
                                  <a:ea typeface="Times New Roman" panose="02020603050405020304" pitchFamily="18" charset="0"/>
                                  <a:cs typeface="Times New Roman" panose="02020603050405020304" pitchFamily="18" charset="0"/>
                                </a:rPr>
                                <m:t> / </m:t>
                              </m:r>
                              <m:r>
                                <a:rPr lang="en-US" i="1">
                                  <a:latin typeface="Cambria Math" panose="02040503050406030204" pitchFamily="18" charset="0"/>
                                  <a:ea typeface="Times New Roman" panose="02020603050405020304" pitchFamily="18" charset="0"/>
                                  <a:cs typeface="Times New Roman" panose="02020603050405020304" pitchFamily="18" charset="0"/>
                                </a:rPr>
                                <m:t>𝑁</m:t>
                              </m:r>
                            </m:sup>
                          </m:sSup>
                          <m:r>
                            <a:rPr lang="en-US" i="1">
                              <a:latin typeface="Cambria Math" panose="02040503050406030204" pitchFamily="18" charset="0"/>
                              <a:ea typeface="Times New Roman" panose="02020603050405020304" pitchFamily="18" charset="0"/>
                              <a:cs typeface="Times New Roman" panose="02020603050405020304" pitchFamily="18" charset="0"/>
                            </a:rPr>
                            <m:t> ,</m:t>
                          </m:r>
                        </m:e>
                      </m:nary>
                      <m:r>
                        <a:rPr lang="en-US" i="1">
                          <a:latin typeface="Cambria Math" panose="02040503050406030204" pitchFamily="18" charset="0"/>
                          <a:ea typeface="Times New Roman" panose="02020603050405020304" pitchFamily="18" charset="0"/>
                          <a:cs typeface="Times New Roman" panose="02020603050405020304" pitchFamily="18" charset="0"/>
                        </a:rPr>
                        <m:t>       </m:t>
                      </m:r>
                      <m:r>
                        <a:rPr lang="en-US" i="1">
                          <a:latin typeface="Cambria Math" panose="02040503050406030204" pitchFamily="18" charset="0"/>
                          <a:ea typeface="Times New Roman" panose="02020603050405020304" pitchFamily="18" charset="0"/>
                          <a:cs typeface="Times New Roman" panose="02020603050405020304" pitchFamily="18" charset="0"/>
                        </a:rPr>
                        <m:t>𝑓𝑜𝑟</m:t>
                      </m:r>
                      <m:r>
                        <a:rPr lang="en-US" i="1">
                          <a:latin typeface="Cambria Math" panose="02040503050406030204" pitchFamily="18" charset="0"/>
                          <a:ea typeface="Times New Roman" panose="02020603050405020304" pitchFamily="18" charset="0"/>
                          <a:cs typeface="Times New Roman" panose="02020603050405020304" pitchFamily="18" charset="0"/>
                        </a:rPr>
                        <m:t>   </m:t>
                      </m:r>
                      <m:r>
                        <a:rPr lang="en-US" i="1">
                          <a:latin typeface="Cambria Math" panose="02040503050406030204" pitchFamily="18" charset="0"/>
                          <a:ea typeface="Times New Roman" panose="02020603050405020304" pitchFamily="18" charset="0"/>
                          <a:cs typeface="Times New Roman" panose="02020603050405020304" pitchFamily="18" charset="0"/>
                        </a:rPr>
                        <m:t>𝑛</m:t>
                      </m:r>
                      <m:r>
                        <a:rPr lang="en-US" i="1">
                          <a:latin typeface="Cambria Math" panose="02040503050406030204" pitchFamily="18" charset="0"/>
                          <a:ea typeface="Times New Roman" panose="02020603050405020304" pitchFamily="18" charset="0"/>
                          <a:cs typeface="Times New Roman" panose="02020603050405020304" pitchFamily="18" charset="0"/>
                        </a:rPr>
                        <m:t>=0, 1,…, </m:t>
                      </m:r>
                      <m:r>
                        <a:rPr lang="en-US" i="1">
                          <a:latin typeface="Cambria Math" panose="02040503050406030204" pitchFamily="18" charset="0"/>
                          <a:ea typeface="Times New Roman" panose="02020603050405020304" pitchFamily="18" charset="0"/>
                          <a:cs typeface="Times New Roman" panose="02020603050405020304" pitchFamily="18" charset="0"/>
                        </a:rPr>
                        <m:t>𝑁</m:t>
                      </m:r>
                      <m:r>
                        <a:rPr lang="en-US" i="1">
                          <a:latin typeface="Cambria Math" panose="02040503050406030204" pitchFamily="18" charset="0"/>
                          <a:ea typeface="Times New Roman" panose="02020603050405020304" pitchFamily="18" charset="0"/>
                          <a:cs typeface="Times New Roman" panose="02020603050405020304" pitchFamily="18" charset="0"/>
                        </a:rPr>
                        <m:t>−1</m:t>
                      </m:r>
                    </m:oMath>
                  </m:oMathPara>
                </a14:m>
                <a:r>
                  <a:rPr lang="en-US" dirty="0">
                    <a:latin typeface="Times New Roman" panose="02020603050405020304" pitchFamily="18" charset="0"/>
                    <a:ea typeface="Times New Roman" panose="02020603050405020304" pitchFamily="18" charset="0"/>
                  </a:rPr>
                  <a:t/>
                </a:r>
                <a:br>
                  <a:rPr lang="en-US" dirty="0">
                    <a:latin typeface="Times New Roman" panose="02020603050405020304" pitchFamily="18" charset="0"/>
                    <a:ea typeface="Times New Roman" panose="02020603050405020304" pitchFamily="18" charset="0"/>
                  </a:rPr>
                </a:br>
                <a:endParaRPr lang="en-IN" dirty="0"/>
              </a:p>
            </p:txBody>
          </p:sp>
        </mc:Choice>
        <mc:Fallback xmlns="">
          <p:sp>
            <p:nvSpPr>
              <p:cNvPr id="3" name="Rectangle 2"/>
              <p:cNvSpPr>
                <a:spLocks noRot="1" noChangeAspect="1" noMove="1" noResize="1" noEditPoints="1" noAdjustHandles="1" noChangeArrowheads="1" noChangeShapeType="1" noTextEdit="1"/>
              </p:cNvSpPr>
              <p:nvPr/>
            </p:nvSpPr>
            <p:spPr>
              <a:xfrm>
                <a:off x="1028700" y="5301519"/>
                <a:ext cx="7086600" cy="871521"/>
              </a:xfrm>
              <a:prstGeom prst="rect">
                <a:avLst/>
              </a:prstGeom>
              <a:blipFill>
                <a:blip r:embed="rId6"/>
                <a:stretch>
                  <a:fillRect/>
                </a:stretch>
              </a:blipFill>
            </p:spPr>
            <p:txBody>
              <a:bodyPr/>
              <a:lstStyle/>
              <a:p>
                <a:r>
                  <a:rPr lang="en-IN">
                    <a:noFill/>
                  </a:rPr>
                  <a:t> </a:t>
                </a:r>
              </a:p>
            </p:txBody>
          </p:sp>
        </mc:Fallback>
      </mc:AlternateContent>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133600"/>
            <a:ext cx="8229600" cy="2438400"/>
          </a:xfrm>
        </p:spPr>
        <p:txBody>
          <a:bodyPr/>
          <a:lstStyle/>
          <a:p>
            <a:r>
              <a:rPr lang="en-US" altLang="en-US" sz="3600" b="1" dirty="0"/>
              <a:t>Cyclic Prefix </a:t>
            </a:r>
            <a:r>
              <a:rPr lang="en-US" altLang="en-US" sz="3600" b="1" dirty="0" smtClean="0"/>
              <a:t/>
            </a:r>
            <a:br>
              <a:rPr lang="en-US" altLang="en-US" sz="3600" b="1" dirty="0" smtClean="0"/>
            </a:br>
            <a:r>
              <a:rPr lang="en-US" altLang="en-US" sz="3600" b="1" dirty="0" smtClean="0"/>
              <a:t>or </a:t>
            </a:r>
            <a:br>
              <a:rPr lang="en-US" altLang="en-US" sz="3600" b="1" dirty="0" smtClean="0"/>
            </a:br>
            <a:r>
              <a:rPr lang="en-US" altLang="en-US" sz="3600" b="1" dirty="0" smtClean="0"/>
              <a:t>Guard </a:t>
            </a:r>
            <a:r>
              <a:rPr lang="en-US" altLang="en-US" sz="3600" b="1" dirty="0"/>
              <a:t>Band Insertion </a:t>
            </a:r>
            <a:endParaRPr lang="en-IN" dirty="0"/>
          </a:p>
        </p:txBody>
      </p:sp>
    </p:spTree>
    <p:extLst>
      <p:ext uri="{BB962C8B-B14F-4D97-AF65-F5344CB8AC3E}">
        <p14:creationId xmlns:p14="http://schemas.microsoft.com/office/powerpoint/2010/main" val="330199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524000" y="228600"/>
            <a:ext cx="6172200" cy="365125"/>
          </a:xfrm>
        </p:spPr>
        <p:txBody>
          <a:bodyPr/>
          <a:lstStyle/>
          <a:p>
            <a:r>
              <a:rPr lang="en-US" altLang="en-US" sz="2100" b="1" dirty="0" smtClean="0"/>
              <a:t>Cyclic Prefix or Guard Band Insertion </a:t>
            </a:r>
            <a:endParaRPr lang="en-IN" altLang="en-US" sz="2100" dirty="0" smtClean="0">
              <a:solidFill>
                <a:srgbClr val="FF0000"/>
              </a:solidFill>
            </a:endParaRPr>
          </a:p>
        </p:txBody>
      </p:sp>
      <p:sp>
        <p:nvSpPr>
          <p:cNvPr id="3" name="Content Placeholder 2"/>
          <p:cNvSpPr>
            <a:spLocks noGrp="1"/>
          </p:cNvSpPr>
          <p:nvPr>
            <p:ph idx="1"/>
          </p:nvPr>
        </p:nvSpPr>
        <p:spPr>
          <a:xfrm>
            <a:off x="609600" y="914400"/>
            <a:ext cx="7848600" cy="3581400"/>
          </a:xfrm>
        </p:spPr>
        <p:txBody>
          <a:bodyPr/>
          <a:lstStyle/>
          <a:p>
            <a:pPr algn="just">
              <a:defRPr/>
            </a:pPr>
            <a:r>
              <a:rPr lang="en-US" sz="1600" dirty="0"/>
              <a:t>A guard band interval is usually inserted between successive OFDM symbols to avoid the inter-symbol interference (ISI) caused due to the delay spread of multipath channel. </a:t>
            </a:r>
          </a:p>
          <a:p>
            <a:pPr algn="just">
              <a:defRPr/>
            </a:pPr>
            <a:r>
              <a:rPr lang="en-US" sz="1600" dirty="0"/>
              <a:t>If a guard band interval with no signal transmission is inserted then the ISI can be eliminated almost completely, but a sudden change of waveform contains higher spectral components, so they result in ICI. </a:t>
            </a:r>
          </a:p>
          <a:p>
            <a:pPr algn="just">
              <a:defRPr/>
            </a:pPr>
            <a:r>
              <a:rPr lang="en-US" sz="1600" dirty="0"/>
              <a:t>Therefore the guard interval insertion technique with cyclic prefix (CP) is generally used to avoid ICI. </a:t>
            </a:r>
            <a:endParaRPr lang="en-IN" sz="1600" dirty="0"/>
          </a:p>
          <a:p>
            <a:pPr algn="just">
              <a:defRPr/>
            </a:pPr>
            <a:r>
              <a:rPr lang="en-US" sz="1600" dirty="0"/>
              <a:t>This scheme was first introduced by </a:t>
            </a:r>
            <a:r>
              <a:rPr lang="en-US" sz="1600" dirty="0" err="1"/>
              <a:t>Peled</a:t>
            </a:r>
            <a:r>
              <a:rPr lang="en-US" sz="1600" dirty="0"/>
              <a:t> and Ruiz in 1980.</a:t>
            </a:r>
          </a:p>
          <a:p>
            <a:pPr algn="just">
              <a:defRPr/>
            </a:pPr>
            <a:r>
              <a:rPr lang="en-US" sz="1600" dirty="0"/>
              <a:t>A technique of cyclic extension (CE) (more commonly referred to today as CP) was suggested as a solution of maintaining the orthogonality when signal is passed through multipath fading channel.</a:t>
            </a:r>
          </a:p>
          <a:p>
            <a:pPr algn="just">
              <a:defRPr/>
            </a:pPr>
            <a:r>
              <a:rPr lang="en-US" sz="1600" dirty="0"/>
              <a:t>In this method, the OFDM symbol is cyclically extended in the guard time.</a:t>
            </a:r>
          </a:p>
          <a:p>
            <a:pPr algn="just">
              <a:defRPr/>
            </a:pPr>
            <a:r>
              <a:rPr lang="en-US" sz="1600" dirty="0"/>
              <a:t>The CP insertion is shown in Figure </a:t>
            </a:r>
            <a:endParaRPr lang="en-IN" sz="1600" dirty="0"/>
          </a:p>
          <a:p>
            <a:pPr marL="0" indent="0">
              <a:buFontTx/>
              <a:buNone/>
              <a:defRPr/>
            </a:pPr>
            <a:endParaRPr lang="en-IN" sz="1200" dirty="0"/>
          </a:p>
        </p:txBody>
      </p:sp>
      <p:pic>
        <p:nvPicPr>
          <p:cNvPr id="10244" name="Picture 3" descr="C:\college_data-may 09\ofdm\IEEE-PAPER\my thesis of phd\thesis_15_Mayl_12\CP_inserti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4953000"/>
            <a:ext cx="3954463"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p:cNvPicPr>
            <a:picLocks noChangeAspect="1"/>
          </p:cNvPicPr>
          <p:nvPr/>
        </p:nvPicPr>
        <p:blipFill>
          <a:blip r:embed="rId2"/>
          <a:stretch>
            <a:fillRect/>
          </a:stretch>
        </p:blipFill>
        <p:spPr>
          <a:xfrm>
            <a:off x="304800" y="609600"/>
            <a:ext cx="8077200" cy="5655072"/>
          </a:xfrm>
          <a:prstGeom prst="rect">
            <a:avLst/>
          </a:prstGeom>
        </p:spPr>
      </p:pic>
    </p:spTree>
    <p:extLst>
      <p:ext uri="{BB962C8B-B14F-4D97-AF65-F5344CB8AC3E}">
        <p14:creationId xmlns:p14="http://schemas.microsoft.com/office/powerpoint/2010/main" val="5144038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524000" y="152400"/>
            <a:ext cx="6172200" cy="365125"/>
          </a:xfrm>
        </p:spPr>
        <p:txBody>
          <a:bodyPr/>
          <a:lstStyle/>
          <a:p>
            <a:r>
              <a:rPr lang="en-US" altLang="en-US" sz="2100" b="1" dirty="0" smtClean="0"/>
              <a:t>Cyclic Prefix or Guard Band Insertion </a:t>
            </a:r>
            <a:endParaRPr lang="en-IN" altLang="en-US" sz="2100" dirty="0" smtClean="0">
              <a:solidFill>
                <a:srgbClr val="FF0000"/>
              </a:solidFill>
            </a:endParaRPr>
          </a:p>
        </p:txBody>
      </p:sp>
      <mc:AlternateContent xmlns:mc="http://schemas.openxmlformats.org/markup-compatibility/2006" xmlns:a14="http://schemas.microsoft.com/office/drawing/2010/main">
        <mc:Choice Requires="a14">
          <p:sp>
            <p:nvSpPr>
              <p:cNvPr id="4" name="Rectangle 3"/>
              <p:cNvSpPr/>
              <p:nvPr/>
            </p:nvSpPr>
            <p:spPr>
              <a:xfrm>
                <a:off x="381000" y="838200"/>
                <a:ext cx="8458200" cy="640496"/>
              </a:xfrm>
              <a:prstGeom prst="rect">
                <a:avLst/>
              </a:prstGeom>
            </p:spPr>
            <p:txBody>
              <a:bodyPr wrap="square">
                <a:spAutoFit/>
              </a:bodyPr>
              <a:lstStyle/>
              <a:p>
                <a:pPr marL="285750" indent="-285750">
                  <a:buFont typeface="Arial" panose="020B0604020202020204" pitchFamily="34" charset="0"/>
                  <a:buChar char="•"/>
                </a:pPr>
                <a:r>
                  <a:rPr lang="en-US" sz="1600" dirty="0"/>
                  <a:t>Due to CP insertion; the transmitted signal is extended to </a:t>
                </a:r>
                <a14:m>
                  <m:oMath xmlns:m="http://schemas.openxmlformats.org/officeDocument/2006/math">
                    <m:sSub>
                      <m:sSubPr>
                        <m:ctrlPr>
                          <a:rPr lang="en-IN" sz="1600" i="1">
                            <a:latin typeface="Cambria Math" panose="02040503050406030204" pitchFamily="18" charset="0"/>
                          </a:rPr>
                        </m:ctrlPr>
                      </m:sSubPr>
                      <m:e>
                        <m:sSub>
                          <m:sSubPr>
                            <m:ctrlPr>
                              <a:rPr lang="en-IN" sz="1600" i="1">
                                <a:latin typeface="Cambria Math" panose="02040503050406030204" pitchFamily="18" charset="0"/>
                              </a:rPr>
                            </m:ctrlPr>
                          </m:sSubPr>
                          <m:e>
                            <m:r>
                              <a:rPr lang="en-US" sz="1600" i="1">
                                <a:latin typeface="Cambria Math" panose="02040503050406030204" pitchFamily="18" charset="0"/>
                              </a:rPr>
                              <m:t>𝑇</m:t>
                            </m:r>
                          </m:e>
                          <m:sub>
                            <m:r>
                              <a:rPr lang="en-US" sz="1600" i="1">
                                <a:latin typeface="Cambria Math" panose="02040503050406030204" pitchFamily="18" charset="0"/>
                              </a:rPr>
                              <m:t>𝑠𝑦𝑚</m:t>
                            </m:r>
                          </m:sub>
                        </m:sSub>
                        <m:r>
                          <a:rPr lang="en-US" sz="1600" i="1">
                            <a:latin typeface="Cambria Math" panose="02040503050406030204" pitchFamily="18" charset="0"/>
                          </a:rPr>
                          <m:t>=</m:t>
                        </m:r>
                        <m:r>
                          <a:rPr lang="en-US" sz="1600" i="1">
                            <a:latin typeface="Cambria Math" panose="02040503050406030204" pitchFamily="18" charset="0"/>
                          </a:rPr>
                          <m:t>𝑇</m:t>
                        </m:r>
                      </m:e>
                      <m:sub>
                        <m:r>
                          <a:rPr lang="en-US" sz="1600" i="1">
                            <a:latin typeface="Cambria Math" panose="02040503050406030204" pitchFamily="18" charset="0"/>
                          </a:rPr>
                          <m:t>𝑢</m:t>
                        </m:r>
                      </m:sub>
                    </m:sSub>
                    <m:r>
                      <a:rPr lang="en-US" sz="1600" i="1">
                        <a:latin typeface="Cambria Math" panose="02040503050406030204" pitchFamily="18" charset="0"/>
                      </a:rPr>
                      <m:t>+</m:t>
                    </m:r>
                    <m:sSub>
                      <m:sSubPr>
                        <m:ctrlPr>
                          <a:rPr lang="en-IN" sz="1600" i="1">
                            <a:latin typeface="Cambria Math" panose="02040503050406030204" pitchFamily="18" charset="0"/>
                          </a:rPr>
                        </m:ctrlPr>
                      </m:sSubPr>
                      <m:e>
                        <m:r>
                          <a:rPr lang="en-US" sz="1600" i="1">
                            <a:latin typeface="Cambria Math" panose="02040503050406030204" pitchFamily="18" charset="0"/>
                          </a:rPr>
                          <m:t>𝑇</m:t>
                        </m:r>
                      </m:e>
                      <m:sub>
                        <m:r>
                          <a:rPr lang="en-US" sz="1600" i="1">
                            <a:latin typeface="Cambria Math" panose="02040503050406030204" pitchFamily="18" charset="0"/>
                          </a:rPr>
                          <m:t>𝑔</m:t>
                        </m:r>
                        <m:r>
                          <a:rPr lang="en-US" sz="1600" i="1">
                            <a:latin typeface="Cambria Math" panose="02040503050406030204" pitchFamily="18" charset="0"/>
                          </a:rPr>
                          <m:t> </m:t>
                        </m:r>
                      </m:sub>
                    </m:sSub>
                  </m:oMath>
                </a14:m>
                <a:r>
                  <a:rPr lang="en-US" sz="1600" dirty="0"/>
                  <a:t> and can be expressed as –</a:t>
                </a:r>
                <a:endParaRPr lang="en-IN" sz="1600" dirty="0"/>
              </a:p>
            </p:txBody>
          </p:sp>
        </mc:Choice>
        <mc:Fallback xmlns="">
          <p:sp>
            <p:nvSpPr>
              <p:cNvPr id="4" name="Rectangle 3"/>
              <p:cNvSpPr>
                <a:spLocks noRot="1" noChangeAspect="1" noMove="1" noResize="1" noEditPoints="1" noAdjustHandles="1" noChangeArrowheads="1" noChangeShapeType="1" noTextEdit="1"/>
              </p:cNvSpPr>
              <p:nvPr/>
            </p:nvSpPr>
            <p:spPr>
              <a:xfrm>
                <a:off x="381000" y="838200"/>
                <a:ext cx="8458200" cy="640496"/>
              </a:xfrm>
              <a:prstGeom prst="rect">
                <a:avLst/>
              </a:prstGeom>
              <a:blipFill rotWithShape="1">
                <a:blip r:embed="rId2"/>
                <a:stretch>
                  <a:fillRect l="-288" t="-2857" b="-1047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811215" y="1524000"/>
                <a:ext cx="6553200" cy="87799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IN" i="1">
                              <a:latin typeface="Cambria Math" panose="02040503050406030204" pitchFamily="18" charset="0"/>
                            </a:rPr>
                          </m:ctrlPr>
                        </m:accPr>
                        <m:e>
                          <m:r>
                            <a:rPr lang="en-US" i="1">
                              <a:latin typeface="Cambria Math" panose="02040503050406030204" pitchFamily="18" charset="0"/>
                            </a:rPr>
                            <m:t>𝑥</m:t>
                          </m:r>
                        </m:e>
                      </m:acc>
                      <m:d>
                        <m:dPr>
                          <m:ctrlPr>
                            <a:rPr lang="en-IN"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e>
                      </m:d>
                      <m:r>
                        <a:rPr lang="en-US" i="1">
                          <a:latin typeface="Cambria Math" panose="02040503050406030204" pitchFamily="18" charset="0"/>
                        </a:rPr>
                        <m:t>=</m:t>
                      </m:r>
                      <m:nary>
                        <m:naryPr>
                          <m:chr m:val="∑"/>
                          <m:limLoc m:val="undOvr"/>
                          <m:ctrlPr>
                            <a:rPr lang="en-IN" i="1">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=0</m:t>
                          </m:r>
                        </m:sub>
                        <m:sup>
                          <m:r>
                            <a:rPr lang="en-US" i="1">
                              <a:latin typeface="Cambria Math" panose="02040503050406030204" pitchFamily="18" charset="0"/>
                            </a:rPr>
                            <m:t>𝑁</m:t>
                          </m:r>
                          <m:r>
                            <a:rPr lang="en-US" i="1">
                              <a:latin typeface="Cambria Math" panose="02040503050406030204" pitchFamily="18" charset="0"/>
                            </a:rPr>
                            <m:t>−1</m:t>
                          </m:r>
                        </m:sup>
                        <m:e>
                          <m:r>
                            <a:rPr lang="en-US" i="1">
                              <a:latin typeface="Cambria Math" panose="02040503050406030204" pitchFamily="18" charset="0"/>
                            </a:rPr>
                            <m:t>𝑋</m:t>
                          </m:r>
                          <m:d>
                            <m:dPr>
                              <m:ctrlPr>
                                <a:rPr lang="en-IN"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𝑘</m:t>
                              </m:r>
                            </m:e>
                          </m:d>
                          <m:sSup>
                            <m:sSupPr>
                              <m:ctrlPr>
                                <a:rPr lang="en-IN" i="1">
                                  <a:latin typeface="Cambria Math" panose="02040503050406030204" pitchFamily="18" charset="0"/>
                                </a:rPr>
                              </m:ctrlPr>
                            </m:sSupPr>
                            <m:e>
                              <m:r>
                                <a:rPr lang="en-US" i="1">
                                  <a:latin typeface="Cambria Math" panose="02040503050406030204" pitchFamily="18" charset="0"/>
                                </a:rPr>
                                <m:t> </m:t>
                              </m:r>
                              <m:r>
                                <a:rPr lang="en-US" i="1">
                                  <a:latin typeface="Cambria Math" panose="02040503050406030204" pitchFamily="18" charset="0"/>
                                </a:rPr>
                                <m:t>𝑒</m:t>
                              </m:r>
                            </m:e>
                            <m:sup>
                              <m:r>
                                <a:rPr lang="en-US" i="1">
                                  <a:latin typeface="Cambria Math" panose="02040503050406030204" pitchFamily="18" charset="0"/>
                                </a:rPr>
                                <m:t>𝑗</m:t>
                              </m:r>
                              <m:r>
                                <a:rPr lang="en-US" i="1">
                                  <a:latin typeface="Cambria Math" panose="02040503050406030204" pitchFamily="18" charset="0"/>
                                </a:rPr>
                                <m:t> 2 </m:t>
                              </m:r>
                              <m:r>
                                <a:rPr lang="en-US" i="1">
                                  <a:latin typeface="Cambria Math" panose="02040503050406030204" pitchFamily="18" charset="0"/>
                                </a:rPr>
                                <m:t>𝜋</m:t>
                              </m:r>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𝑘</m:t>
                                  </m:r>
                                  <m:r>
                                    <a:rPr lang="en-US" i="1">
                                      <a:latin typeface="Cambria Math" panose="02040503050406030204" pitchFamily="18" charset="0"/>
                                    </a:rPr>
                                    <m:t> </m:t>
                                  </m:r>
                                </m:sub>
                              </m:sSub>
                              <m:r>
                                <a:rPr lang="en-US" i="1">
                                  <a:latin typeface="Cambria Math" panose="02040503050406030204" pitchFamily="18" charset="0"/>
                                </a:rPr>
                                <m:t>𝑡</m:t>
                              </m:r>
                            </m:sup>
                          </m:sSup>
                        </m:e>
                      </m:nary>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𝑓𝑜𝑟</m:t>
                          </m:r>
                          <m:r>
                            <a:rPr lang="en-US" i="1">
                              <a:latin typeface="Cambria Math" panose="02040503050406030204" pitchFamily="18" charset="0"/>
                            </a:rPr>
                            <m:t>  − </m:t>
                          </m:r>
                          <m:r>
                            <a:rPr lang="en-US" i="1">
                              <a:latin typeface="Cambria Math" panose="02040503050406030204" pitchFamily="18" charset="0"/>
                            </a:rPr>
                            <m:t>𝑇</m:t>
                          </m:r>
                        </m:e>
                        <m:sub>
                          <m:r>
                            <a:rPr lang="en-US" i="1">
                              <a:latin typeface="Cambria Math" panose="02040503050406030204" pitchFamily="18" charset="0"/>
                            </a:rPr>
                            <m:t>𝑔</m:t>
                          </m:r>
                        </m:sub>
                      </m:sSub>
                      <m:r>
                        <a:rPr lang="en-US" i="1">
                          <a:latin typeface="Cambria Math" panose="02040503050406030204" pitchFamily="18" charset="0"/>
                        </a:rPr>
                        <m:t>  ≤  </m:t>
                      </m:r>
                      <m:r>
                        <a:rPr lang="en-US" i="1">
                          <a:latin typeface="Cambria Math" panose="02040503050406030204" pitchFamily="18" charset="0"/>
                        </a:rPr>
                        <m:t>𝑡</m:t>
                      </m:r>
                      <m:r>
                        <a:rPr lang="en-US" i="1">
                          <a:latin typeface="Cambria Math" panose="02040503050406030204" pitchFamily="18" charset="0"/>
                        </a:rPr>
                        <m:t> ≤  </m:t>
                      </m:r>
                      <m:sSub>
                        <m:sSubPr>
                          <m:ctrlPr>
                            <a:rPr lang="en-IN"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𝑢</m:t>
                          </m:r>
                        </m:sub>
                      </m:sSub>
                      <m:r>
                        <a:rPr lang="en-US" i="1">
                          <a:latin typeface="Cambria Math" panose="02040503050406030204" pitchFamily="18" charset="0"/>
                        </a:rPr>
                        <m:t> </m:t>
                      </m:r>
                    </m:oMath>
                  </m:oMathPara>
                </a14:m>
                <a:endParaRPr lang="en-IN" dirty="0"/>
              </a:p>
            </p:txBody>
          </p:sp>
        </mc:Choice>
        <mc:Fallback xmlns="">
          <p:sp>
            <p:nvSpPr>
              <p:cNvPr id="5" name="Rectangle 4"/>
              <p:cNvSpPr>
                <a:spLocks noRot="1" noChangeAspect="1" noMove="1" noResize="1" noEditPoints="1" noAdjustHandles="1" noChangeArrowheads="1" noChangeShapeType="1" noTextEdit="1"/>
              </p:cNvSpPr>
              <p:nvPr/>
            </p:nvSpPr>
            <p:spPr>
              <a:xfrm>
                <a:off x="1811215" y="1524000"/>
                <a:ext cx="6553200" cy="877997"/>
              </a:xfrm>
              <a:prstGeom prst="rect">
                <a:avLst/>
              </a:prstGeom>
              <a:blipFill rotWithShape="1">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685800" y="2590800"/>
                <a:ext cx="6553200" cy="395558"/>
              </a:xfrm>
              <a:prstGeom prst="rect">
                <a:avLst/>
              </a:prstGeom>
            </p:spPr>
            <p:txBody>
              <a:bodyPr wrap="square">
                <a:spAutoFit/>
              </a:bodyPr>
              <a:lstStyle/>
              <a:p>
                <a:r>
                  <a:rPr lang="en-US" dirty="0"/>
                  <a:t>where,</a:t>
                </a:r>
                <a14:m>
                  <m:oMath xmlns:m="http://schemas.openxmlformats.org/officeDocument/2006/math">
                    <m:r>
                      <a:rPr lang="en-US" i="1">
                        <a:latin typeface="Cambria Math" panose="02040503050406030204" pitchFamily="18" charset="0"/>
                      </a:rPr>
                      <m:t>  </m:t>
                    </m:r>
                    <m:acc>
                      <m:accPr>
                        <m:chr m:val="̃"/>
                        <m:ctrlPr>
                          <a:rPr lang="en-IN" i="1">
                            <a:latin typeface="Cambria Math" panose="02040503050406030204" pitchFamily="18" charset="0"/>
                          </a:rPr>
                        </m:ctrlPr>
                      </m:accPr>
                      <m:e>
                        <m:r>
                          <a:rPr lang="en-US" i="1">
                            <a:latin typeface="Cambria Math" panose="02040503050406030204" pitchFamily="18" charset="0"/>
                          </a:rPr>
                          <m:t>𝑥</m:t>
                        </m:r>
                      </m:e>
                    </m:acc>
                    <m:d>
                      <m:dPr>
                        <m:ctrlPr>
                          <a:rPr lang="en-IN"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𝑡</m:t>
                        </m:r>
                      </m:e>
                    </m:d>
                    <m:r>
                      <a:rPr lang="en-US" i="1">
                        <a:latin typeface="Cambria Math" panose="02040503050406030204" pitchFamily="18" charset="0"/>
                      </a:rPr>
                      <m:t>=</m:t>
                    </m:r>
                    <m:r>
                      <a:rPr lang="en-US" i="1">
                        <a:latin typeface="Cambria Math" panose="02040503050406030204" pitchFamily="18" charset="0"/>
                      </a:rPr>
                      <m:t>𝑥</m:t>
                    </m:r>
                    <m:d>
                      <m:dPr>
                        <m:ctrlPr>
                          <a:rPr lang="en-IN"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𝑡</m:t>
                        </m:r>
                        <m:r>
                          <a:rPr lang="en-US" i="1">
                            <a:latin typeface="Cambria Math" panose="02040503050406030204" pitchFamily="18" charset="0"/>
                          </a:rPr>
                          <m:t>+</m:t>
                        </m:r>
                        <m:sSub>
                          <m:sSubPr>
                            <m:ctrlPr>
                              <a:rPr lang="en-IN"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𝑢</m:t>
                            </m:r>
                          </m:sub>
                        </m:sSub>
                      </m:e>
                    </m:d>
                    <m:r>
                      <a:rPr lang="en-US" i="1">
                        <a:latin typeface="Cambria Math" panose="02040503050406030204" pitchFamily="18" charset="0"/>
                      </a:rPr>
                      <m:t>,      </m:t>
                    </m:r>
                    <m:r>
                      <a:rPr lang="en-US" i="1">
                        <a:latin typeface="Cambria Math" panose="02040503050406030204" pitchFamily="18" charset="0"/>
                      </a:rPr>
                      <m:t>𝑓𝑜𝑟</m:t>
                    </m:r>
                    <m:r>
                      <a:rPr lang="en-US" i="1">
                        <a:latin typeface="Cambria Math" panose="02040503050406030204" pitchFamily="18" charset="0"/>
                      </a:rPr>
                      <m:t>  </m:t>
                    </m:r>
                    <m:sSub>
                      <m:sSubPr>
                        <m:ctrlPr>
                          <a:rPr lang="en-IN"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𝑇</m:t>
                        </m:r>
                      </m:e>
                      <m:sub>
                        <m:r>
                          <a:rPr lang="en-US" i="1">
                            <a:latin typeface="Cambria Math" panose="02040503050406030204" pitchFamily="18" charset="0"/>
                          </a:rPr>
                          <m:t>𝑔</m:t>
                        </m:r>
                      </m:sub>
                    </m:sSub>
                    <m:r>
                      <a:rPr lang="en-US" i="1">
                        <a:latin typeface="Cambria Math" panose="02040503050406030204" pitchFamily="18" charset="0"/>
                      </a:rPr>
                      <m:t>  ≤  </m:t>
                    </m:r>
                    <m:r>
                      <a:rPr lang="en-US" i="1">
                        <a:latin typeface="Cambria Math" panose="02040503050406030204" pitchFamily="18" charset="0"/>
                      </a:rPr>
                      <m:t>𝑡</m:t>
                    </m:r>
                    <m:r>
                      <a:rPr lang="en-US" i="1">
                        <a:latin typeface="Cambria Math" panose="02040503050406030204" pitchFamily="18" charset="0"/>
                      </a:rPr>
                      <m:t> ≤  0 </m:t>
                    </m:r>
                  </m:oMath>
                </a14:m>
                <a:r>
                  <a:rPr lang="en-US" dirty="0"/>
                  <a:t>	 </a:t>
                </a:r>
                <a:endParaRPr lang="en-IN" dirty="0"/>
              </a:p>
            </p:txBody>
          </p:sp>
        </mc:Choice>
        <mc:Fallback xmlns="">
          <p:sp>
            <p:nvSpPr>
              <p:cNvPr id="6" name="Rectangle 5"/>
              <p:cNvSpPr>
                <a:spLocks noRot="1" noChangeAspect="1" noMove="1" noResize="1" noEditPoints="1" noAdjustHandles="1" noChangeArrowheads="1" noChangeShapeType="1" noTextEdit="1"/>
              </p:cNvSpPr>
              <p:nvPr/>
            </p:nvSpPr>
            <p:spPr>
              <a:xfrm>
                <a:off x="685800" y="2590800"/>
                <a:ext cx="6553200" cy="395558"/>
              </a:xfrm>
              <a:prstGeom prst="rect">
                <a:avLst/>
              </a:prstGeom>
              <a:blipFill rotWithShape="1">
                <a:blip r:embed="rId4"/>
                <a:stretch>
                  <a:fillRect l="-837" t="-7692" b="-16923"/>
                </a:stretch>
              </a:blipFill>
            </p:spPr>
            <p:txBody>
              <a:bodyPr/>
              <a:lstStyle/>
              <a:p>
                <a:r>
                  <a:rPr lang="en-IN">
                    <a:noFill/>
                  </a:rPr>
                  <a:t> </a:t>
                </a:r>
              </a:p>
            </p:txBody>
          </p:sp>
        </mc:Fallback>
      </mc:AlternateContent>
      <p:sp>
        <p:nvSpPr>
          <p:cNvPr id="7" name="Rectangle 6"/>
          <p:cNvSpPr/>
          <p:nvPr/>
        </p:nvSpPr>
        <p:spPr>
          <a:xfrm>
            <a:off x="515814" y="3276600"/>
            <a:ext cx="8018585" cy="646331"/>
          </a:xfrm>
          <a:prstGeom prst="rect">
            <a:avLst/>
          </a:prstGeom>
        </p:spPr>
        <p:txBody>
          <a:bodyPr wrap="square">
            <a:spAutoFit/>
          </a:bodyPr>
          <a:lstStyle/>
          <a:p>
            <a:pPr marL="285750" indent="-285750">
              <a:buFont typeface="Arial" panose="020B0604020202020204" pitchFamily="34" charset="0"/>
              <a:buChar char="•"/>
            </a:pPr>
            <a:r>
              <a:rPr lang="en-US" dirty="0"/>
              <a:t>The discrete version of the baseband OFDM signal with CP can be expressed as –</a:t>
            </a:r>
            <a:endParaRPr lang="en-IN" dirty="0">
              <a:effectLst/>
            </a:endParaRPr>
          </a:p>
        </p:txBody>
      </p:sp>
      <mc:AlternateContent xmlns:mc="http://schemas.openxmlformats.org/markup-compatibility/2006" xmlns:a14="http://schemas.microsoft.com/office/drawing/2010/main">
        <mc:Choice Requires="a14">
          <p:sp>
            <p:nvSpPr>
              <p:cNvPr id="8" name="Rectangle 7"/>
              <p:cNvSpPr/>
              <p:nvPr/>
            </p:nvSpPr>
            <p:spPr>
              <a:xfrm>
                <a:off x="1447800" y="3924692"/>
                <a:ext cx="6916615" cy="105451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𝑥</m:t>
                      </m:r>
                      <m:d>
                        <m:dPr>
                          <m:ctrlPr>
                            <a:rPr lang="en-IN" sz="1600" i="1">
                              <a:latin typeface="Cambria Math" panose="02040503050406030204" pitchFamily="18" charset="0"/>
                            </a:rPr>
                          </m:ctrlPr>
                        </m:dPr>
                        <m:e>
                          <m:r>
                            <a:rPr lang="en-US" sz="1600" i="1">
                              <a:latin typeface="Cambria Math" panose="02040503050406030204" pitchFamily="18" charset="0"/>
                            </a:rPr>
                            <m:t>𝑖</m:t>
                          </m:r>
                          <m:r>
                            <a:rPr lang="en-US" sz="1600" i="1">
                              <a:latin typeface="Cambria Math" panose="02040503050406030204" pitchFamily="18" charset="0"/>
                            </a:rPr>
                            <m:t>,</m:t>
                          </m:r>
                          <m:r>
                            <a:rPr lang="en-US" sz="1600" i="1">
                              <a:latin typeface="Cambria Math" panose="02040503050406030204" pitchFamily="18" charset="0"/>
                            </a:rPr>
                            <m:t>𝑛</m:t>
                          </m:r>
                        </m:e>
                      </m:d>
                      <m:r>
                        <a:rPr lang="en-US" sz="1600" i="1">
                          <a:latin typeface="Cambria Math" panose="02040503050406030204" pitchFamily="18" charset="0"/>
                        </a:rPr>
                        <m:t>= </m:t>
                      </m:r>
                      <m:d>
                        <m:dPr>
                          <m:begChr m:val="{"/>
                          <m:endChr m:val=""/>
                          <m:ctrlPr>
                            <a:rPr lang="en-IN" sz="1600" i="1">
                              <a:latin typeface="Cambria Math" panose="02040503050406030204" pitchFamily="18" charset="0"/>
                            </a:rPr>
                          </m:ctrlPr>
                        </m:dPr>
                        <m:e>
                          <m:eqArr>
                            <m:eqArrPr>
                              <m:ctrlPr>
                                <a:rPr lang="en-IN" sz="1600" i="1">
                                  <a:latin typeface="Cambria Math" panose="02040503050406030204" pitchFamily="18" charset="0"/>
                                </a:rPr>
                              </m:ctrlPr>
                            </m:eqArrPr>
                            <m:e>
                              <m:r>
                                <a:rPr lang="en-US" sz="1600" i="1">
                                  <a:latin typeface="Cambria Math" panose="02040503050406030204" pitchFamily="18" charset="0"/>
                                </a:rPr>
                                <m:t>𝑥</m:t>
                              </m:r>
                              <m:d>
                                <m:dPr>
                                  <m:ctrlPr>
                                    <a:rPr lang="en-IN" sz="1600" i="1">
                                      <a:latin typeface="Cambria Math" panose="02040503050406030204" pitchFamily="18" charset="0"/>
                                    </a:rPr>
                                  </m:ctrlPr>
                                </m:dPr>
                                <m:e>
                                  <m:r>
                                    <a:rPr lang="en-US" sz="1600" i="1">
                                      <a:latin typeface="Cambria Math" panose="02040503050406030204" pitchFamily="18" charset="0"/>
                                    </a:rPr>
                                    <m:t>𝑖</m:t>
                                  </m:r>
                                  <m:r>
                                    <a:rPr lang="en-US" sz="1600" i="1">
                                      <a:latin typeface="Cambria Math" panose="02040503050406030204" pitchFamily="18" charset="0"/>
                                    </a:rPr>
                                    <m:t>,</m:t>
                                  </m:r>
                                  <m:r>
                                    <a:rPr lang="en-US" sz="1600" i="1">
                                      <a:latin typeface="Cambria Math" panose="02040503050406030204" pitchFamily="18" charset="0"/>
                                    </a:rPr>
                                    <m:t>𝑛</m:t>
                                  </m:r>
                                  <m:r>
                                    <a:rPr lang="en-US" sz="1600" i="1">
                                      <a:latin typeface="Cambria Math" panose="02040503050406030204" pitchFamily="18" charset="0"/>
                                    </a:rPr>
                                    <m:t>+</m:t>
                                  </m:r>
                                  <m:r>
                                    <a:rPr lang="en-US" sz="1600" i="1">
                                      <a:latin typeface="Cambria Math" panose="02040503050406030204" pitchFamily="18" charset="0"/>
                                    </a:rPr>
                                    <m:t>𝑁</m:t>
                                  </m:r>
                                </m:e>
                              </m:d>
                              <m:r>
                                <a:rPr lang="en-US" sz="1600" i="1">
                                  <a:latin typeface="Cambria Math" panose="02040503050406030204" pitchFamily="18" charset="0"/>
                                </a:rPr>
                                <m:t>, </m:t>
                              </m:r>
                              <m:r>
                                <a:rPr lang="en-US" sz="1600" b="0" i="1" smtClean="0">
                                  <a:latin typeface="Cambria Math"/>
                                </a:rPr>
                                <m:t>    </m:t>
                              </m:r>
                              <m:r>
                                <a:rPr lang="en-US" sz="1600" i="1">
                                  <a:latin typeface="Cambria Math" panose="02040503050406030204" pitchFamily="18" charset="0"/>
                                </a:rPr>
                                <m:t>𝑓𝑜𝑟</m:t>
                              </m:r>
                              <m:r>
                                <a:rPr lang="en-US" sz="1600" i="1">
                                  <a:latin typeface="Cambria Math" panose="02040503050406030204" pitchFamily="18" charset="0"/>
                                </a:rPr>
                                <m:t>  </m:t>
                              </m:r>
                              <m:r>
                                <a:rPr lang="en-US" sz="1600" i="1">
                                  <a:latin typeface="Cambria Math" panose="02040503050406030204" pitchFamily="18" charset="0"/>
                                </a:rPr>
                                <m:t>𝑛</m:t>
                              </m:r>
                              <m:r>
                                <a:rPr lang="en-US" sz="1600" i="1">
                                  <a:latin typeface="Cambria Math" panose="02040503050406030204" pitchFamily="18" charset="0"/>
                                </a:rPr>
                                <m:t>=0, 1,…,</m:t>
                              </m:r>
                              <m:r>
                                <a:rPr lang="en-US" sz="1600" i="1">
                                  <a:latin typeface="Cambria Math" panose="02040503050406030204" pitchFamily="18" charset="0"/>
                                </a:rPr>
                                <m:t>𝐺</m:t>
                              </m:r>
                              <m:r>
                                <a:rPr lang="en-US" sz="1600" i="1">
                                  <a:latin typeface="Cambria Math" panose="02040503050406030204" pitchFamily="18" charset="0"/>
                                </a:rPr>
                                <m:t>−1.</m:t>
                              </m:r>
                            </m:e>
                            <m:e>
                              <m:f>
                                <m:fPr>
                                  <m:ctrlPr>
                                    <a:rPr lang="en-IN" sz="1600" i="1">
                                      <a:latin typeface="Cambria Math" panose="02040503050406030204" pitchFamily="18" charset="0"/>
                                    </a:rPr>
                                  </m:ctrlPr>
                                </m:fPr>
                                <m:num>
                                  <m:r>
                                    <a:rPr lang="en-US" sz="1600" i="1">
                                      <a:latin typeface="Cambria Math" panose="02040503050406030204" pitchFamily="18" charset="0"/>
                                    </a:rPr>
                                    <m:t>1</m:t>
                                  </m:r>
                                </m:num>
                                <m:den>
                                  <m:r>
                                    <a:rPr lang="en-US" sz="1600" i="1">
                                      <a:latin typeface="Cambria Math" panose="02040503050406030204" pitchFamily="18" charset="0"/>
                                    </a:rPr>
                                    <m:t>𝑁</m:t>
                                  </m:r>
                                </m:den>
                              </m:f>
                              <m:r>
                                <a:rPr lang="en-US" sz="1600" i="1">
                                  <a:latin typeface="Cambria Math" panose="02040503050406030204" pitchFamily="18" charset="0"/>
                                </a:rPr>
                                <m:t> </m:t>
                              </m:r>
                              <m:nary>
                                <m:naryPr>
                                  <m:chr m:val="∑"/>
                                  <m:limLoc m:val="undOvr"/>
                                  <m:ctrlPr>
                                    <a:rPr lang="en-IN" sz="1600" i="1">
                                      <a:latin typeface="Cambria Math" panose="02040503050406030204" pitchFamily="18" charset="0"/>
                                    </a:rPr>
                                  </m:ctrlPr>
                                </m:naryPr>
                                <m:sub>
                                  <m:r>
                                    <a:rPr lang="en-US" sz="1600" i="1">
                                      <a:latin typeface="Cambria Math" panose="02040503050406030204" pitchFamily="18" charset="0"/>
                                    </a:rPr>
                                    <m:t>𝑘</m:t>
                                  </m:r>
                                  <m:r>
                                    <a:rPr lang="en-US" sz="1600" i="1">
                                      <a:latin typeface="Cambria Math" panose="02040503050406030204" pitchFamily="18" charset="0"/>
                                    </a:rPr>
                                    <m:t>=0</m:t>
                                  </m:r>
                                </m:sub>
                                <m:sup>
                                  <m:r>
                                    <a:rPr lang="en-US" sz="1600" i="1">
                                      <a:latin typeface="Cambria Math" panose="02040503050406030204" pitchFamily="18" charset="0"/>
                                    </a:rPr>
                                    <m:t>𝑁</m:t>
                                  </m:r>
                                  <m:r>
                                    <a:rPr lang="en-US" sz="1600" i="1">
                                      <a:latin typeface="Cambria Math" panose="02040503050406030204" pitchFamily="18" charset="0"/>
                                    </a:rPr>
                                    <m:t>−1</m:t>
                                  </m:r>
                                </m:sup>
                                <m:e>
                                  <m:r>
                                    <a:rPr lang="en-US" sz="1600" i="1">
                                      <a:latin typeface="Cambria Math" panose="02040503050406030204" pitchFamily="18" charset="0"/>
                                    </a:rPr>
                                    <m:t>𝑋</m:t>
                                  </m:r>
                                  <m:d>
                                    <m:dPr>
                                      <m:ctrlPr>
                                        <a:rPr lang="en-IN" sz="1600" i="1">
                                          <a:latin typeface="Cambria Math" panose="02040503050406030204" pitchFamily="18" charset="0"/>
                                        </a:rPr>
                                      </m:ctrlPr>
                                    </m:dPr>
                                    <m:e>
                                      <m:r>
                                        <a:rPr lang="en-US" sz="1600" i="1">
                                          <a:latin typeface="Cambria Math" panose="02040503050406030204" pitchFamily="18" charset="0"/>
                                        </a:rPr>
                                        <m:t>𝑖</m:t>
                                      </m:r>
                                      <m:r>
                                        <a:rPr lang="en-US" sz="1600" i="1">
                                          <a:latin typeface="Cambria Math" panose="02040503050406030204" pitchFamily="18" charset="0"/>
                                        </a:rPr>
                                        <m:t>,</m:t>
                                      </m:r>
                                      <m:r>
                                        <a:rPr lang="en-US" sz="1600" i="1">
                                          <a:latin typeface="Cambria Math" panose="02040503050406030204" pitchFamily="18" charset="0"/>
                                        </a:rPr>
                                        <m:t>𝑘</m:t>
                                      </m:r>
                                    </m:e>
                                  </m:d>
                                  <m:r>
                                    <a:rPr lang="en-US" sz="1600" i="1">
                                      <a:latin typeface="Cambria Math" panose="02040503050406030204" pitchFamily="18" charset="0"/>
                                    </a:rPr>
                                    <m:t> </m:t>
                                  </m:r>
                                  <m:sSup>
                                    <m:sSupPr>
                                      <m:ctrlPr>
                                        <a:rPr lang="en-IN" sz="1600" i="1">
                                          <a:latin typeface="Cambria Math" panose="02040503050406030204" pitchFamily="18" charset="0"/>
                                        </a:rPr>
                                      </m:ctrlPr>
                                    </m:sSupPr>
                                    <m:e>
                                      <m:r>
                                        <a:rPr lang="en-US" sz="1600" i="1">
                                          <a:latin typeface="Cambria Math" panose="02040503050406030204" pitchFamily="18" charset="0"/>
                                        </a:rPr>
                                        <m:t>𝑒</m:t>
                                      </m:r>
                                    </m:e>
                                    <m:sup>
                                      <m:r>
                                        <a:rPr lang="en-US" sz="1600" i="1">
                                          <a:latin typeface="Cambria Math" panose="02040503050406030204" pitchFamily="18" charset="0"/>
                                        </a:rPr>
                                        <m:t>𝑗</m:t>
                                      </m:r>
                                      <m:r>
                                        <a:rPr lang="en-US" sz="1600" i="1">
                                          <a:latin typeface="Cambria Math" panose="02040503050406030204" pitchFamily="18" charset="0"/>
                                        </a:rPr>
                                        <m:t> 2 </m:t>
                                      </m:r>
                                      <m:r>
                                        <a:rPr lang="en-US" sz="1600" i="1">
                                          <a:latin typeface="Cambria Math" panose="02040503050406030204" pitchFamily="18" charset="0"/>
                                        </a:rPr>
                                        <m:t>𝜋</m:t>
                                      </m:r>
                                      <m:r>
                                        <a:rPr lang="en-US" sz="1600" i="1">
                                          <a:latin typeface="Cambria Math" panose="02040503050406030204" pitchFamily="18" charset="0"/>
                                        </a:rPr>
                                        <m:t> </m:t>
                                      </m:r>
                                      <m:r>
                                        <a:rPr lang="en-US" sz="1600" i="1">
                                          <a:latin typeface="Cambria Math" panose="02040503050406030204" pitchFamily="18" charset="0"/>
                                        </a:rPr>
                                        <m:t>𝑘</m:t>
                                      </m:r>
                                      <m:r>
                                        <a:rPr lang="en-US" sz="1600" i="1">
                                          <a:latin typeface="Cambria Math" panose="02040503050406030204" pitchFamily="18" charset="0"/>
                                        </a:rPr>
                                        <m:t> </m:t>
                                      </m:r>
                                      <m:d>
                                        <m:dPr>
                                          <m:ctrlPr>
                                            <a:rPr lang="en-IN" sz="1600" i="1">
                                              <a:latin typeface="Cambria Math" panose="02040503050406030204" pitchFamily="18" charset="0"/>
                                            </a:rPr>
                                          </m:ctrlPr>
                                        </m:dPr>
                                        <m:e>
                                          <m:r>
                                            <a:rPr lang="en-US" sz="1600" i="1">
                                              <a:latin typeface="Cambria Math" panose="02040503050406030204" pitchFamily="18" charset="0"/>
                                            </a:rPr>
                                            <m:t>𝑛</m:t>
                                          </m:r>
                                          <m:r>
                                            <a:rPr lang="en-US" sz="1600" i="1">
                                              <a:latin typeface="Cambria Math" panose="02040503050406030204" pitchFamily="18" charset="0"/>
                                            </a:rPr>
                                            <m:t>−</m:t>
                                          </m:r>
                                          <m:r>
                                            <a:rPr lang="en-US" sz="1600" i="1">
                                              <a:latin typeface="Cambria Math" panose="02040503050406030204" pitchFamily="18" charset="0"/>
                                            </a:rPr>
                                            <m:t>𝐺</m:t>
                                          </m:r>
                                        </m:e>
                                      </m:d>
                                      <m:r>
                                        <a:rPr lang="en-US" sz="1600" i="1">
                                          <a:latin typeface="Cambria Math" panose="02040503050406030204" pitchFamily="18" charset="0"/>
                                        </a:rPr>
                                        <m:t> / </m:t>
                                      </m:r>
                                      <m:r>
                                        <a:rPr lang="en-US" sz="1600" i="1">
                                          <a:latin typeface="Cambria Math" panose="02040503050406030204" pitchFamily="18" charset="0"/>
                                        </a:rPr>
                                        <m:t>𝑁</m:t>
                                      </m:r>
                                    </m:sup>
                                  </m:sSup>
                                  <m:r>
                                    <a:rPr lang="en-US" sz="1600" i="1">
                                      <a:latin typeface="Cambria Math" panose="02040503050406030204" pitchFamily="18" charset="0"/>
                                    </a:rPr>
                                    <m:t> </m:t>
                                  </m:r>
                                </m:e>
                              </m:nary>
                              <m:r>
                                <a:rPr lang="en-US" sz="1600" i="1">
                                  <a:latin typeface="Cambria Math" panose="02040503050406030204" pitchFamily="18" charset="0"/>
                                </a:rPr>
                                <m:t>,  </m:t>
                              </m:r>
                              <m:r>
                                <a:rPr lang="en-US" sz="1600" i="1">
                                  <a:latin typeface="Cambria Math" panose="02040503050406030204" pitchFamily="18" charset="0"/>
                                </a:rPr>
                                <m:t>𝑓𝑜𝑟</m:t>
                              </m:r>
                              <m:r>
                                <a:rPr lang="en-US" sz="1600" i="1">
                                  <a:latin typeface="Cambria Math" panose="02040503050406030204" pitchFamily="18" charset="0"/>
                                </a:rPr>
                                <m:t>  </m:t>
                              </m:r>
                              <m:r>
                                <a:rPr lang="en-US" sz="1600" i="1">
                                  <a:latin typeface="Cambria Math" panose="02040503050406030204" pitchFamily="18" charset="0"/>
                                </a:rPr>
                                <m:t>𝑛</m:t>
                              </m:r>
                              <m:r>
                                <a:rPr lang="en-US" sz="1600" i="1">
                                  <a:latin typeface="Cambria Math" panose="02040503050406030204" pitchFamily="18" charset="0"/>
                                </a:rPr>
                                <m:t>=</m:t>
                              </m:r>
                              <m:r>
                                <a:rPr lang="en-US" sz="1600" i="1">
                                  <a:latin typeface="Cambria Math" panose="02040503050406030204" pitchFamily="18" charset="0"/>
                                </a:rPr>
                                <m:t>𝐺</m:t>
                              </m:r>
                              <m:r>
                                <a:rPr lang="en-US" sz="1600" i="1">
                                  <a:latin typeface="Cambria Math" panose="02040503050406030204" pitchFamily="18" charset="0"/>
                                </a:rPr>
                                <m:t>, </m:t>
                              </m:r>
                              <m:r>
                                <a:rPr lang="en-US" sz="1600" i="1">
                                  <a:latin typeface="Cambria Math" panose="02040503050406030204" pitchFamily="18" charset="0"/>
                                </a:rPr>
                                <m:t>𝐺</m:t>
                              </m:r>
                              <m:r>
                                <a:rPr lang="en-US" sz="1600" i="1">
                                  <a:latin typeface="Cambria Math" panose="02040503050406030204" pitchFamily="18" charset="0"/>
                                </a:rPr>
                                <m:t>+1,…,</m:t>
                              </m:r>
                              <m:r>
                                <a:rPr lang="en-US" sz="1600" i="1">
                                  <a:latin typeface="Cambria Math" panose="02040503050406030204" pitchFamily="18" charset="0"/>
                                </a:rPr>
                                <m:t>𝐺</m:t>
                              </m:r>
                              <m:r>
                                <a:rPr lang="en-US" sz="1600" i="1">
                                  <a:latin typeface="Cambria Math" panose="02040503050406030204" pitchFamily="18" charset="0"/>
                                </a:rPr>
                                <m:t>+</m:t>
                              </m:r>
                              <m:r>
                                <a:rPr lang="en-US" sz="1600" i="1">
                                  <a:latin typeface="Cambria Math" panose="02040503050406030204" pitchFamily="18" charset="0"/>
                                </a:rPr>
                                <m:t>𝑁</m:t>
                              </m:r>
                              <m:r>
                                <a:rPr lang="en-US" sz="1600" i="1">
                                  <a:latin typeface="Cambria Math" panose="02040503050406030204" pitchFamily="18" charset="0"/>
                                </a:rPr>
                                <m:t>−1.</m:t>
                              </m:r>
                            </m:e>
                          </m:eqArr>
                        </m:e>
                      </m:d>
                    </m:oMath>
                  </m:oMathPara>
                </a14:m>
                <a:endParaRPr lang="en-IN" sz="1600" dirty="0"/>
              </a:p>
            </p:txBody>
          </p:sp>
        </mc:Choice>
        <mc:Fallback xmlns="">
          <p:sp>
            <p:nvSpPr>
              <p:cNvPr id="8" name="Rectangle 7"/>
              <p:cNvSpPr>
                <a:spLocks noRot="1" noChangeAspect="1" noMove="1" noResize="1" noEditPoints="1" noAdjustHandles="1" noChangeArrowheads="1" noChangeShapeType="1" noTextEdit="1"/>
              </p:cNvSpPr>
              <p:nvPr/>
            </p:nvSpPr>
            <p:spPr>
              <a:xfrm>
                <a:off x="1447800" y="3924692"/>
                <a:ext cx="6916615" cy="1054519"/>
              </a:xfrm>
              <a:prstGeom prst="rect">
                <a:avLst/>
              </a:prstGeom>
              <a:blipFill rotWithShape="1">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720968" y="5181600"/>
                <a:ext cx="7669823" cy="1100173"/>
              </a:xfrm>
              <a:prstGeom prst="rect">
                <a:avLst/>
              </a:prstGeom>
            </p:spPr>
            <p:txBody>
              <a:bodyPr wrap="square">
                <a:spAutoFit/>
              </a:bodyPr>
              <a:lstStyle/>
              <a:p>
                <a:r>
                  <a:rPr lang="en-US" sz="1600" dirty="0" smtClean="0"/>
                  <a:t>where,</a:t>
                </a:r>
                <a14:m>
                  <m:oMath xmlns:m="http://schemas.openxmlformats.org/officeDocument/2006/math">
                    <m:r>
                      <a:rPr lang="en-US" sz="1600" i="1">
                        <a:latin typeface="Cambria Math" panose="02040503050406030204" pitchFamily="18" charset="0"/>
                      </a:rPr>
                      <m:t> </m:t>
                    </m:r>
                  </m:oMath>
                </a14:m>
                <a:endParaRPr lang="en-US" sz="1600" i="1" dirty="0" smtClean="0"/>
              </a:p>
              <a:p>
                <a:pPr marL="285750" indent="-285750">
                  <a:buFont typeface="Arial" panose="020B0604020202020204" pitchFamily="34" charset="0"/>
                  <a:buChar char="•"/>
                </a:pPr>
                <a14:m>
                  <m:oMath xmlns:m="http://schemas.openxmlformats.org/officeDocument/2006/math">
                    <m:r>
                      <a:rPr lang="en-US" sz="1600" i="1">
                        <a:latin typeface="Cambria Math" panose="02040503050406030204" pitchFamily="18" charset="0"/>
                      </a:rPr>
                      <m:t>𝑁</m:t>
                    </m:r>
                  </m:oMath>
                </a14:m>
                <a:r>
                  <a:rPr lang="en-US" sz="1600" dirty="0"/>
                  <a:t> is total number of sub-carriers and</a:t>
                </a:r>
                <a14:m>
                  <m:oMath xmlns:m="http://schemas.openxmlformats.org/officeDocument/2006/math">
                    <m:r>
                      <a:rPr lang="en-US" sz="1600" i="1">
                        <a:latin typeface="Cambria Math" panose="02040503050406030204" pitchFamily="18" charset="0"/>
                      </a:rPr>
                      <m:t> </m:t>
                    </m:r>
                  </m:oMath>
                </a14:m>
                <a:endParaRPr lang="en-US" sz="1600" i="1" dirty="0" smtClean="0"/>
              </a:p>
              <a:p>
                <a:pPr marL="285750" indent="-285750">
                  <a:buFont typeface="Arial" panose="020B0604020202020204" pitchFamily="34" charset="0"/>
                  <a:buChar char="•"/>
                </a:pPr>
                <a14:m>
                  <m:oMath xmlns:m="http://schemas.openxmlformats.org/officeDocument/2006/math">
                    <m:r>
                      <a:rPr lang="en-US" sz="1600" i="1">
                        <a:latin typeface="Cambria Math" panose="02040503050406030204" pitchFamily="18" charset="0"/>
                      </a:rPr>
                      <m:t>𝐺</m:t>
                    </m:r>
                  </m:oMath>
                </a14:m>
                <a:r>
                  <a:rPr lang="en-US" sz="1600" dirty="0"/>
                  <a:t> is total number of CP samples appended in an OFDM symbol during</a:t>
                </a:r>
                <a14:m>
                  <m:oMath xmlns:m="http://schemas.openxmlformats.org/officeDocument/2006/math">
                    <m:sSup>
                      <m:sSupPr>
                        <m:ctrlPr>
                          <a:rPr lang="en-IN" sz="1600" i="1">
                            <a:latin typeface="Cambria Math" panose="02040503050406030204" pitchFamily="18" charset="0"/>
                          </a:rPr>
                        </m:ctrlPr>
                      </m:sSupPr>
                      <m:e>
                        <m:r>
                          <a:rPr lang="en-US" sz="1600" i="1">
                            <a:latin typeface="Cambria Math" panose="02040503050406030204" pitchFamily="18" charset="0"/>
                          </a:rPr>
                          <m:t> </m:t>
                        </m:r>
                        <m:r>
                          <a:rPr lang="en-US" sz="1600" i="1">
                            <a:latin typeface="Cambria Math" panose="02040503050406030204" pitchFamily="18" charset="0"/>
                          </a:rPr>
                          <m:t>𝑖</m:t>
                        </m:r>
                      </m:e>
                      <m:sup>
                        <m:r>
                          <a:rPr lang="en-US" sz="1600" i="1">
                            <a:latin typeface="Cambria Math" panose="02040503050406030204" pitchFamily="18" charset="0"/>
                          </a:rPr>
                          <m:t>𝑡h</m:t>
                        </m:r>
                      </m:sup>
                    </m:sSup>
                  </m:oMath>
                </a14:m>
                <a:r>
                  <a:rPr lang="en-US" sz="1600" dirty="0"/>
                  <a:t> block transmission</a:t>
                </a:r>
                <a:endParaRPr lang="en-IN" sz="1600" dirty="0"/>
              </a:p>
            </p:txBody>
          </p:sp>
        </mc:Choice>
        <mc:Fallback xmlns="">
          <p:sp>
            <p:nvSpPr>
              <p:cNvPr id="9" name="Rectangle 8"/>
              <p:cNvSpPr>
                <a:spLocks noRot="1" noChangeAspect="1" noMove="1" noResize="1" noEditPoints="1" noAdjustHandles="1" noChangeArrowheads="1" noChangeShapeType="1" noTextEdit="1"/>
              </p:cNvSpPr>
              <p:nvPr/>
            </p:nvSpPr>
            <p:spPr>
              <a:xfrm>
                <a:off x="720968" y="5181600"/>
                <a:ext cx="7669823" cy="1100173"/>
              </a:xfrm>
              <a:prstGeom prst="rect">
                <a:avLst/>
              </a:prstGeom>
              <a:blipFill rotWithShape="1">
                <a:blip r:embed="rId6"/>
                <a:stretch>
                  <a:fillRect l="-397" t="-1667" r="-159" b="-6667"/>
                </a:stretch>
              </a:blipFill>
            </p:spPr>
            <p:txBody>
              <a:bodyPr/>
              <a:lstStyle/>
              <a:p>
                <a:r>
                  <a:rPr lang="en-IN">
                    <a:noFill/>
                  </a:rPr>
                  <a:t> </a:t>
                </a:r>
              </a:p>
            </p:txBody>
          </p:sp>
        </mc:Fallback>
      </mc:AlternateContent>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414463" y="252413"/>
            <a:ext cx="6172200" cy="365125"/>
          </a:xfrm>
        </p:spPr>
        <p:txBody>
          <a:bodyPr/>
          <a:lstStyle/>
          <a:p>
            <a:r>
              <a:rPr lang="en-US" altLang="en-US" sz="2100" b="1" smtClean="0"/>
              <a:t>Why Cyclic Prefix ?</a:t>
            </a:r>
            <a:endParaRPr lang="en-IN" altLang="en-US" sz="2100" smtClean="0">
              <a:solidFill>
                <a:srgbClr val="FF0000"/>
              </a:solidFill>
            </a:endParaRPr>
          </a:p>
        </p:txBody>
      </p:sp>
      <p:sp>
        <p:nvSpPr>
          <p:cNvPr id="3" name="Content Placeholder 2"/>
          <p:cNvSpPr>
            <a:spLocks noGrp="1"/>
          </p:cNvSpPr>
          <p:nvPr>
            <p:ph idx="1"/>
          </p:nvPr>
        </p:nvSpPr>
        <p:spPr>
          <a:xfrm>
            <a:off x="914400" y="1981199"/>
            <a:ext cx="7620000" cy="1686957"/>
          </a:xfrm>
        </p:spPr>
        <p:txBody>
          <a:bodyPr/>
          <a:lstStyle/>
          <a:p>
            <a:pPr marL="0" indent="0" algn="just">
              <a:buFontTx/>
              <a:buNone/>
              <a:defRPr/>
            </a:pPr>
            <a:r>
              <a:rPr lang="en-US" sz="1400" dirty="0"/>
              <a:t>The length of guard interval or CP plays an important role. </a:t>
            </a:r>
          </a:p>
          <a:p>
            <a:pPr algn="just">
              <a:defRPr/>
            </a:pPr>
            <a:r>
              <a:rPr lang="en-US" sz="1400" dirty="0">
                <a:solidFill>
                  <a:srgbClr val="FF0000"/>
                </a:solidFill>
              </a:rPr>
              <a:t>If the length of the CP &lt;  maximum delay of a multipath channel, </a:t>
            </a:r>
          </a:p>
          <a:p>
            <a:pPr marL="0" indent="0" algn="just">
              <a:buFontTx/>
              <a:buNone/>
              <a:defRPr/>
            </a:pPr>
            <a:r>
              <a:rPr lang="en-US" sz="1400" dirty="0"/>
              <a:t>                the tail part of an OFDM symbol affects the head part of the next symbol, resulting in the ISI. </a:t>
            </a:r>
          </a:p>
          <a:p>
            <a:pPr algn="just">
              <a:defRPr/>
            </a:pPr>
            <a:r>
              <a:rPr lang="en-US" sz="1400" dirty="0">
                <a:solidFill>
                  <a:srgbClr val="FF0000"/>
                </a:solidFill>
              </a:rPr>
              <a:t>If the length of the CP &gt; maximum delay of multipath channel </a:t>
            </a:r>
          </a:p>
          <a:p>
            <a:pPr marL="0" indent="0" algn="just">
              <a:buFontTx/>
              <a:buNone/>
              <a:defRPr/>
            </a:pPr>
            <a:r>
              <a:rPr lang="en-US" sz="1400" dirty="0"/>
              <a:t>	It increases the overhead of the system.</a:t>
            </a:r>
          </a:p>
        </p:txBody>
      </p:sp>
      <p:sp>
        <p:nvSpPr>
          <p:cNvPr id="4" name="Rectangle 3"/>
          <p:cNvSpPr/>
          <p:nvPr/>
        </p:nvSpPr>
        <p:spPr>
          <a:xfrm>
            <a:off x="304800" y="779463"/>
            <a:ext cx="8458200" cy="1092607"/>
          </a:xfrm>
          <a:prstGeom prst="rect">
            <a:avLst/>
          </a:prstGeom>
        </p:spPr>
        <p:txBody>
          <a:bodyPr>
            <a:spAutoFit/>
          </a:bodyPr>
          <a:lstStyle/>
          <a:p>
            <a:pPr algn="just" eaLnBrk="1" hangingPunct="1">
              <a:defRPr/>
            </a:pPr>
            <a:r>
              <a:rPr lang="en-US" dirty="0"/>
              <a:t>Two benefits of using a cyclic prefix between subsequent OFDM symbols:</a:t>
            </a:r>
          </a:p>
          <a:p>
            <a:pPr algn="just" eaLnBrk="1" hangingPunct="1">
              <a:defRPr/>
            </a:pPr>
            <a:endParaRPr lang="en-US" sz="1100" dirty="0"/>
          </a:p>
          <a:p>
            <a:pPr marL="257175" indent="-257175" algn="just" eaLnBrk="1" hangingPunct="1">
              <a:buFont typeface="+mj-lt"/>
              <a:buAutoNum type="arabicPeriod"/>
              <a:defRPr/>
            </a:pPr>
            <a:r>
              <a:rPr lang="en-US" dirty="0">
                <a:solidFill>
                  <a:srgbClr val="FF0000"/>
                </a:solidFill>
              </a:rPr>
              <a:t>The CP isolates different OFDM blocks from each other when the wireless channel contains multiple paths, i.e. is frequency-selective.</a:t>
            </a:r>
          </a:p>
        </p:txBody>
      </p:sp>
      <p:sp>
        <p:nvSpPr>
          <p:cNvPr id="12293" name="Rectangle 4"/>
          <p:cNvSpPr>
            <a:spLocks noChangeArrowheads="1"/>
          </p:cNvSpPr>
          <p:nvPr/>
        </p:nvSpPr>
        <p:spPr bwMode="auto">
          <a:xfrm>
            <a:off x="275705" y="3728851"/>
            <a:ext cx="8458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Arial" charset="0"/>
              </a:defRPr>
            </a:lvl1pPr>
            <a:lvl2pPr marL="742950" indent="-285750">
              <a:spcBef>
                <a:spcPct val="20000"/>
              </a:spcBef>
              <a:buChar char="–"/>
              <a:defRPr sz="21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500">
                <a:solidFill>
                  <a:schemeClr val="tx1"/>
                </a:solidFill>
                <a:latin typeface="Arial" charset="0"/>
              </a:defRPr>
            </a:lvl4pPr>
            <a:lvl5pPr marL="2057400" indent="-228600">
              <a:spcBef>
                <a:spcPct val="20000"/>
              </a:spcBef>
              <a:buChar char="»"/>
              <a:defRPr sz="1500">
                <a:solidFill>
                  <a:schemeClr val="tx1"/>
                </a:solidFill>
                <a:latin typeface="Arial" charset="0"/>
              </a:defRPr>
            </a:lvl5pPr>
            <a:lvl6pPr marL="2514600" indent="-228600" eaLnBrk="0" fontAlgn="base" hangingPunct="0">
              <a:spcBef>
                <a:spcPct val="20000"/>
              </a:spcBef>
              <a:spcAft>
                <a:spcPct val="0"/>
              </a:spcAft>
              <a:buChar char="»"/>
              <a:defRPr sz="1500">
                <a:solidFill>
                  <a:schemeClr val="tx1"/>
                </a:solidFill>
                <a:latin typeface="Arial" charset="0"/>
              </a:defRPr>
            </a:lvl6pPr>
            <a:lvl7pPr marL="2971800" indent="-228600" eaLnBrk="0" fontAlgn="base" hangingPunct="0">
              <a:spcBef>
                <a:spcPct val="20000"/>
              </a:spcBef>
              <a:spcAft>
                <a:spcPct val="0"/>
              </a:spcAft>
              <a:buChar char="»"/>
              <a:defRPr sz="1500">
                <a:solidFill>
                  <a:schemeClr val="tx1"/>
                </a:solidFill>
                <a:latin typeface="Arial" charset="0"/>
              </a:defRPr>
            </a:lvl7pPr>
            <a:lvl8pPr marL="3429000" indent="-228600" eaLnBrk="0" fontAlgn="base" hangingPunct="0">
              <a:spcBef>
                <a:spcPct val="20000"/>
              </a:spcBef>
              <a:spcAft>
                <a:spcPct val="0"/>
              </a:spcAft>
              <a:buChar char="»"/>
              <a:defRPr sz="1500">
                <a:solidFill>
                  <a:schemeClr val="tx1"/>
                </a:solidFill>
                <a:latin typeface="Arial" charset="0"/>
              </a:defRPr>
            </a:lvl8pPr>
            <a:lvl9pPr marL="3886200" indent="-228600" eaLnBrk="0" fontAlgn="base" hangingPunct="0">
              <a:spcBef>
                <a:spcPct val="20000"/>
              </a:spcBef>
              <a:spcAft>
                <a:spcPct val="0"/>
              </a:spcAft>
              <a:buChar char="»"/>
              <a:defRPr sz="1500">
                <a:solidFill>
                  <a:schemeClr val="tx1"/>
                </a:solidFill>
                <a:latin typeface="Arial" charset="0"/>
              </a:defRPr>
            </a:lvl9pPr>
          </a:lstStyle>
          <a:p>
            <a:pPr algn="just" eaLnBrk="1" hangingPunct="1">
              <a:spcBef>
                <a:spcPct val="0"/>
              </a:spcBef>
              <a:buFontTx/>
              <a:buNone/>
            </a:pPr>
            <a:r>
              <a:rPr lang="en-US" altLang="en-US" sz="1800" dirty="0">
                <a:solidFill>
                  <a:srgbClr val="FF0000"/>
                </a:solidFill>
              </a:rPr>
              <a:t>2. The CP turns the linear convolution with the channel into a Circular convolution.</a:t>
            </a:r>
          </a:p>
        </p:txBody>
      </p:sp>
      <p:sp>
        <p:nvSpPr>
          <p:cNvPr id="6" name="Rectangle 5"/>
          <p:cNvSpPr/>
          <p:nvPr/>
        </p:nvSpPr>
        <p:spPr>
          <a:xfrm>
            <a:off x="743141" y="4435658"/>
            <a:ext cx="7962518" cy="307777"/>
          </a:xfrm>
          <a:prstGeom prst="rect">
            <a:avLst/>
          </a:prstGeom>
        </p:spPr>
        <p:txBody>
          <a:bodyPr wrap="square">
            <a:spAutoFit/>
          </a:bodyPr>
          <a:lstStyle/>
          <a:p>
            <a:pPr marL="214313" indent="-214313" algn="just" eaLnBrk="1" hangingPunct="1">
              <a:buFont typeface="Arial" panose="020B0604020202020204" pitchFamily="34" charset="0"/>
              <a:buChar char="•"/>
              <a:defRPr/>
            </a:pPr>
            <a:r>
              <a:rPr lang="en-US" sz="1400" dirty="0">
                <a:latin typeface="+mn-lt"/>
              </a:rPr>
              <a:t>Only with a circular convolution, we can use the single-tap equalization OFDM is so famous for.</a:t>
            </a:r>
          </a:p>
        </p:txBody>
      </p:sp>
      <p:sp>
        <p:nvSpPr>
          <p:cNvPr id="12297" name="Rectangle 8"/>
          <p:cNvSpPr>
            <a:spLocks noChangeArrowheads="1"/>
          </p:cNvSpPr>
          <p:nvPr/>
        </p:nvSpPr>
        <p:spPr bwMode="auto">
          <a:xfrm>
            <a:off x="568016" y="4989097"/>
            <a:ext cx="1300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charset="0"/>
              </a:defRPr>
            </a:lvl1pPr>
            <a:lvl2pPr marL="742950" indent="-285750">
              <a:spcBef>
                <a:spcPct val="20000"/>
              </a:spcBef>
              <a:buChar char="–"/>
              <a:defRPr sz="21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500">
                <a:solidFill>
                  <a:schemeClr val="tx1"/>
                </a:solidFill>
                <a:latin typeface="Arial" charset="0"/>
              </a:defRPr>
            </a:lvl4pPr>
            <a:lvl5pPr marL="2057400" indent="-228600">
              <a:spcBef>
                <a:spcPct val="20000"/>
              </a:spcBef>
              <a:buChar char="»"/>
              <a:defRPr sz="1500">
                <a:solidFill>
                  <a:schemeClr val="tx1"/>
                </a:solidFill>
                <a:latin typeface="Arial" charset="0"/>
              </a:defRPr>
            </a:lvl5pPr>
            <a:lvl6pPr marL="2514600" indent="-228600" eaLnBrk="0" fontAlgn="base" hangingPunct="0">
              <a:spcBef>
                <a:spcPct val="20000"/>
              </a:spcBef>
              <a:spcAft>
                <a:spcPct val="0"/>
              </a:spcAft>
              <a:buChar char="»"/>
              <a:defRPr sz="1500">
                <a:solidFill>
                  <a:schemeClr val="tx1"/>
                </a:solidFill>
                <a:latin typeface="Arial" charset="0"/>
              </a:defRPr>
            </a:lvl6pPr>
            <a:lvl7pPr marL="2971800" indent="-228600" eaLnBrk="0" fontAlgn="base" hangingPunct="0">
              <a:spcBef>
                <a:spcPct val="20000"/>
              </a:spcBef>
              <a:spcAft>
                <a:spcPct val="0"/>
              </a:spcAft>
              <a:buChar char="»"/>
              <a:defRPr sz="1500">
                <a:solidFill>
                  <a:schemeClr val="tx1"/>
                </a:solidFill>
                <a:latin typeface="Arial" charset="0"/>
              </a:defRPr>
            </a:lvl7pPr>
            <a:lvl8pPr marL="3429000" indent="-228600" eaLnBrk="0" fontAlgn="base" hangingPunct="0">
              <a:spcBef>
                <a:spcPct val="20000"/>
              </a:spcBef>
              <a:spcAft>
                <a:spcPct val="0"/>
              </a:spcAft>
              <a:buChar char="»"/>
              <a:defRPr sz="1500">
                <a:solidFill>
                  <a:schemeClr val="tx1"/>
                </a:solidFill>
                <a:latin typeface="Arial" charset="0"/>
              </a:defRPr>
            </a:lvl8pPr>
            <a:lvl9pPr marL="3886200" indent="-228600" eaLnBrk="0" fontAlgn="base" hangingPunct="0">
              <a:spcBef>
                <a:spcPct val="20000"/>
              </a:spcBef>
              <a:spcAft>
                <a:spcPct val="0"/>
              </a:spcAft>
              <a:buChar char="»"/>
              <a:defRPr sz="1500">
                <a:solidFill>
                  <a:schemeClr val="tx1"/>
                </a:solidFill>
                <a:latin typeface="Arial" charset="0"/>
              </a:defRPr>
            </a:lvl9pPr>
          </a:lstStyle>
          <a:p>
            <a:pPr algn="ctr" eaLnBrk="1" hangingPunct="1">
              <a:spcBef>
                <a:spcPct val="0"/>
              </a:spcBef>
              <a:buFontTx/>
              <a:buNone/>
            </a:pPr>
            <a:r>
              <a:rPr lang="en-US" altLang="en-US" sz="1800" dirty="0"/>
              <a:t>without CP</a:t>
            </a:r>
            <a:endParaRPr lang="en-IN" altLang="en-US" sz="1800" dirty="0"/>
          </a:p>
        </p:txBody>
      </p:sp>
      <p:sp>
        <p:nvSpPr>
          <p:cNvPr id="12298" name="Rectangle 9"/>
          <p:cNvSpPr>
            <a:spLocks noChangeArrowheads="1"/>
          </p:cNvSpPr>
          <p:nvPr/>
        </p:nvSpPr>
        <p:spPr bwMode="auto">
          <a:xfrm>
            <a:off x="800483" y="5517356"/>
            <a:ext cx="10302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charset="0"/>
              </a:defRPr>
            </a:lvl1pPr>
            <a:lvl2pPr marL="742950" indent="-285750">
              <a:spcBef>
                <a:spcPct val="20000"/>
              </a:spcBef>
              <a:buChar char="–"/>
              <a:defRPr sz="21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500">
                <a:solidFill>
                  <a:schemeClr val="tx1"/>
                </a:solidFill>
                <a:latin typeface="Arial" charset="0"/>
              </a:defRPr>
            </a:lvl4pPr>
            <a:lvl5pPr marL="2057400" indent="-228600">
              <a:spcBef>
                <a:spcPct val="20000"/>
              </a:spcBef>
              <a:buChar char="»"/>
              <a:defRPr sz="1500">
                <a:solidFill>
                  <a:schemeClr val="tx1"/>
                </a:solidFill>
                <a:latin typeface="Arial" charset="0"/>
              </a:defRPr>
            </a:lvl5pPr>
            <a:lvl6pPr marL="2514600" indent="-228600" eaLnBrk="0" fontAlgn="base" hangingPunct="0">
              <a:spcBef>
                <a:spcPct val="20000"/>
              </a:spcBef>
              <a:spcAft>
                <a:spcPct val="0"/>
              </a:spcAft>
              <a:buChar char="»"/>
              <a:defRPr sz="1500">
                <a:solidFill>
                  <a:schemeClr val="tx1"/>
                </a:solidFill>
                <a:latin typeface="Arial" charset="0"/>
              </a:defRPr>
            </a:lvl6pPr>
            <a:lvl7pPr marL="2971800" indent="-228600" eaLnBrk="0" fontAlgn="base" hangingPunct="0">
              <a:spcBef>
                <a:spcPct val="20000"/>
              </a:spcBef>
              <a:spcAft>
                <a:spcPct val="0"/>
              </a:spcAft>
              <a:buChar char="»"/>
              <a:defRPr sz="1500">
                <a:solidFill>
                  <a:schemeClr val="tx1"/>
                </a:solidFill>
                <a:latin typeface="Arial" charset="0"/>
              </a:defRPr>
            </a:lvl7pPr>
            <a:lvl8pPr marL="3429000" indent="-228600" eaLnBrk="0" fontAlgn="base" hangingPunct="0">
              <a:spcBef>
                <a:spcPct val="20000"/>
              </a:spcBef>
              <a:spcAft>
                <a:spcPct val="0"/>
              </a:spcAft>
              <a:buChar char="»"/>
              <a:defRPr sz="1500">
                <a:solidFill>
                  <a:schemeClr val="tx1"/>
                </a:solidFill>
                <a:latin typeface="Arial" charset="0"/>
              </a:defRPr>
            </a:lvl8pPr>
            <a:lvl9pPr marL="3886200" indent="-228600" eaLnBrk="0" fontAlgn="base" hangingPunct="0">
              <a:spcBef>
                <a:spcPct val="20000"/>
              </a:spcBef>
              <a:spcAft>
                <a:spcPct val="0"/>
              </a:spcAft>
              <a:buChar char="»"/>
              <a:defRPr sz="1500">
                <a:solidFill>
                  <a:schemeClr val="tx1"/>
                </a:solidFill>
                <a:latin typeface="Arial" charset="0"/>
              </a:defRPr>
            </a:lvl9pPr>
          </a:lstStyle>
          <a:p>
            <a:pPr algn="ctr" eaLnBrk="1" hangingPunct="1">
              <a:spcBef>
                <a:spcPct val="0"/>
              </a:spcBef>
              <a:buFontTx/>
              <a:buNone/>
            </a:pPr>
            <a:r>
              <a:rPr lang="en-US" altLang="en-US" sz="1800" dirty="0"/>
              <a:t>With CP</a:t>
            </a:r>
            <a:endParaRPr lang="en-IN" altLang="en-US" sz="1800" dirty="0"/>
          </a:p>
        </p:txBody>
      </p:sp>
      <mc:AlternateContent xmlns:mc="http://schemas.openxmlformats.org/markup-compatibility/2006" xmlns:a14="http://schemas.microsoft.com/office/drawing/2010/main">
        <mc:Choice Requires="a14">
          <p:sp>
            <p:nvSpPr>
              <p:cNvPr id="2" name="Rectangle 1"/>
              <p:cNvSpPr/>
              <p:nvPr/>
            </p:nvSpPr>
            <p:spPr>
              <a:xfrm>
                <a:off x="1868178" y="4968562"/>
                <a:ext cx="1146468" cy="369332"/>
              </a:xfrm>
              <a:prstGeom prst="rect">
                <a:avLst/>
              </a:prstGeom>
            </p:spPr>
            <p:txBody>
              <a:bodyPr wrap="none">
                <a:spAutoFit/>
              </a:bodyPr>
              <a:lstStyle/>
              <a:p>
                <a:r>
                  <a:rPr lang="en-IN" dirty="0"/>
                  <a:t>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h</m:t>
                    </m:r>
                  </m:oMath>
                </a14:m>
                <a:endParaRPr lang="en-IN" dirty="0"/>
              </a:p>
            </p:txBody>
          </p:sp>
        </mc:Choice>
        <mc:Fallback xmlns="">
          <p:sp>
            <p:nvSpPr>
              <p:cNvPr id="2" name="Rectangle 1"/>
              <p:cNvSpPr>
                <a:spLocks noRot="1" noChangeAspect="1" noMove="1" noResize="1" noEditPoints="1" noAdjustHandles="1" noChangeArrowheads="1" noChangeShapeType="1" noTextEdit="1"/>
              </p:cNvSpPr>
              <p:nvPr/>
            </p:nvSpPr>
            <p:spPr>
              <a:xfrm>
                <a:off x="1868178" y="4968562"/>
                <a:ext cx="1146468" cy="369332"/>
              </a:xfrm>
              <a:prstGeom prst="rect">
                <a:avLst/>
              </a:prstGeom>
              <a:blipFill>
                <a:blip r:embed="rId2"/>
                <a:stretch>
                  <a:fillRect b="-819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1868178" y="5480372"/>
                <a:ext cx="1348831" cy="390748"/>
              </a:xfrm>
              <a:prstGeom prst="rect">
                <a:avLst/>
              </a:prstGeom>
            </p:spPr>
            <p:txBody>
              <a:bodyPr wrap="none">
                <a:spAutoFit/>
              </a:bodyPr>
              <a:lstStyle/>
              <a:p>
                <a:r>
                  <a:rPr lang="en-IN" dirty="0" smtClean="0"/>
                  <a:t> </a:t>
                </a:r>
                <a14:m>
                  <m:oMath xmlns:m="http://schemas.openxmlformats.org/officeDocument/2006/math">
                    <m:r>
                      <a:rPr lang="en-US" i="1">
                        <a:latin typeface="Cambria Math" panose="02040503050406030204" pitchFamily="18" charset="0"/>
                      </a:rPr>
                      <m:t>𝑦</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a:rPr>
                          <m:t>𝑐𝑝</m:t>
                        </m:r>
                      </m:sub>
                    </m:sSub>
                    <m:r>
                      <a:rPr lang="en-US" i="1">
                        <a:latin typeface="Cambria Math" panose="02040503050406030204" pitchFamily="18" charset="0"/>
                      </a:rPr>
                      <m:t>∗</m:t>
                    </m:r>
                    <m:r>
                      <a:rPr lang="en-US" i="1">
                        <a:latin typeface="Cambria Math" panose="02040503050406030204" pitchFamily="18" charset="0"/>
                      </a:rPr>
                      <m:t>h</m:t>
                    </m:r>
                  </m:oMath>
                </a14:m>
                <a:endParaRPr lang="en-IN" dirty="0"/>
              </a:p>
            </p:txBody>
          </p:sp>
        </mc:Choice>
        <mc:Fallback xmlns="">
          <p:sp>
            <p:nvSpPr>
              <p:cNvPr id="14" name="Rectangle 13"/>
              <p:cNvSpPr>
                <a:spLocks noRot="1" noChangeAspect="1" noMove="1" noResize="1" noEditPoints="1" noAdjustHandles="1" noChangeArrowheads="1" noChangeShapeType="1" noTextEdit="1"/>
              </p:cNvSpPr>
              <p:nvPr/>
            </p:nvSpPr>
            <p:spPr>
              <a:xfrm>
                <a:off x="1868178" y="5480372"/>
                <a:ext cx="1348831" cy="390748"/>
              </a:xfrm>
              <a:prstGeom prst="rect">
                <a:avLst/>
              </a:prstGeom>
              <a:blipFill>
                <a:blip r:embed="rId3"/>
                <a:stretch>
                  <a:fillRect b="-4688"/>
                </a:stretch>
              </a:blipFill>
            </p:spPr>
            <p:txBody>
              <a:bodyPr/>
              <a:lstStyle/>
              <a:p>
                <a:r>
                  <a:rPr lang="en-IN">
                    <a:noFill/>
                  </a:rPr>
                  <a:t> </a:t>
                </a:r>
              </a:p>
            </p:txBody>
          </p:sp>
        </mc:Fallback>
      </mc:AlternateContent>
      <p:sp>
        <p:nvSpPr>
          <p:cNvPr id="15" name="Rectangle 8"/>
          <p:cNvSpPr>
            <a:spLocks noChangeArrowheads="1"/>
          </p:cNvSpPr>
          <p:nvPr/>
        </p:nvSpPr>
        <p:spPr bwMode="auto">
          <a:xfrm>
            <a:off x="3217009" y="4936517"/>
            <a:ext cx="484940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charset="0"/>
              </a:defRPr>
            </a:lvl1pPr>
            <a:lvl2pPr marL="742950" indent="-285750">
              <a:spcBef>
                <a:spcPct val="20000"/>
              </a:spcBef>
              <a:buChar char="–"/>
              <a:defRPr sz="21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500">
                <a:solidFill>
                  <a:schemeClr val="tx1"/>
                </a:solidFill>
                <a:latin typeface="Arial" charset="0"/>
              </a:defRPr>
            </a:lvl4pPr>
            <a:lvl5pPr marL="2057400" indent="-228600">
              <a:spcBef>
                <a:spcPct val="20000"/>
              </a:spcBef>
              <a:buChar char="»"/>
              <a:defRPr sz="1500">
                <a:solidFill>
                  <a:schemeClr val="tx1"/>
                </a:solidFill>
                <a:latin typeface="Arial" charset="0"/>
              </a:defRPr>
            </a:lvl5pPr>
            <a:lvl6pPr marL="2514600" indent="-228600" eaLnBrk="0" fontAlgn="base" hangingPunct="0">
              <a:spcBef>
                <a:spcPct val="20000"/>
              </a:spcBef>
              <a:spcAft>
                <a:spcPct val="0"/>
              </a:spcAft>
              <a:buChar char="»"/>
              <a:defRPr sz="1500">
                <a:solidFill>
                  <a:schemeClr val="tx1"/>
                </a:solidFill>
                <a:latin typeface="Arial" charset="0"/>
              </a:defRPr>
            </a:lvl6pPr>
            <a:lvl7pPr marL="2971800" indent="-228600" eaLnBrk="0" fontAlgn="base" hangingPunct="0">
              <a:spcBef>
                <a:spcPct val="20000"/>
              </a:spcBef>
              <a:spcAft>
                <a:spcPct val="0"/>
              </a:spcAft>
              <a:buChar char="»"/>
              <a:defRPr sz="1500">
                <a:solidFill>
                  <a:schemeClr val="tx1"/>
                </a:solidFill>
                <a:latin typeface="Arial" charset="0"/>
              </a:defRPr>
            </a:lvl7pPr>
            <a:lvl8pPr marL="3429000" indent="-228600" eaLnBrk="0" fontAlgn="base" hangingPunct="0">
              <a:spcBef>
                <a:spcPct val="20000"/>
              </a:spcBef>
              <a:spcAft>
                <a:spcPct val="0"/>
              </a:spcAft>
              <a:buChar char="»"/>
              <a:defRPr sz="1500">
                <a:solidFill>
                  <a:schemeClr val="tx1"/>
                </a:solidFill>
                <a:latin typeface="Arial" charset="0"/>
              </a:defRPr>
            </a:lvl8pPr>
            <a:lvl9pPr marL="3886200" indent="-228600" eaLnBrk="0" fontAlgn="base" hangingPunct="0">
              <a:spcBef>
                <a:spcPct val="20000"/>
              </a:spcBef>
              <a:spcAft>
                <a:spcPct val="0"/>
              </a:spcAft>
              <a:buChar char="»"/>
              <a:defRPr sz="1500">
                <a:solidFill>
                  <a:schemeClr val="tx1"/>
                </a:solidFill>
                <a:latin typeface="Arial" charset="0"/>
              </a:defRPr>
            </a:lvl9pPr>
          </a:lstStyle>
          <a:p>
            <a:pPr algn="ctr" eaLnBrk="1" hangingPunct="1">
              <a:spcBef>
                <a:spcPct val="0"/>
              </a:spcBef>
              <a:buFontTx/>
              <a:buNone/>
            </a:pPr>
            <a:r>
              <a:rPr lang="en-US" altLang="en-US" sz="1400" dirty="0" smtClean="0"/>
              <a:t>---- Linear Convolution of x  with channel impulse response</a:t>
            </a:r>
            <a:endParaRPr lang="en-IN" altLang="en-US" sz="1400" dirty="0"/>
          </a:p>
        </p:txBody>
      </p:sp>
      <p:sp>
        <p:nvSpPr>
          <p:cNvPr id="17" name="Rectangle 8"/>
          <p:cNvSpPr>
            <a:spLocks noChangeArrowheads="1"/>
          </p:cNvSpPr>
          <p:nvPr/>
        </p:nvSpPr>
        <p:spPr bwMode="auto">
          <a:xfrm>
            <a:off x="3446148" y="5481392"/>
            <a:ext cx="508825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charset="0"/>
              </a:defRPr>
            </a:lvl1pPr>
            <a:lvl2pPr marL="742950" indent="-285750">
              <a:spcBef>
                <a:spcPct val="20000"/>
              </a:spcBef>
              <a:buChar char="–"/>
              <a:defRPr sz="21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500">
                <a:solidFill>
                  <a:schemeClr val="tx1"/>
                </a:solidFill>
                <a:latin typeface="Arial" charset="0"/>
              </a:defRPr>
            </a:lvl4pPr>
            <a:lvl5pPr marL="2057400" indent="-228600">
              <a:spcBef>
                <a:spcPct val="20000"/>
              </a:spcBef>
              <a:buChar char="»"/>
              <a:defRPr sz="1500">
                <a:solidFill>
                  <a:schemeClr val="tx1"/>
                </a:solidFill>
                <a:latin typeface="Arial" charset="0"/>
              </a:defRPr>
            </a:lvl5pPr>
            <a:lvl6pPr marL="2514600" indent="-228600" eaLnBrk="0" fontAlgn="base" hangingPunct="0">
              <a:spcBef>
                <a:spcPct val="20000"/>
              </a:spcBef>
              <a:spcAft>
                <a:spcPct val="0"/>
              </a:spcAft>
              <a:buChar char="»"/>
              <a:defRPr sz="1500">
                <a:solidFill>
                  <a:schemeClr val="tx1"/>
                </a:solidFill>
                <a:latin typeface="Arial" charset="0"/>
              </a:defRPr>
            </a:lvl6pPr>
            <a:lvl7pPr marL="2971800" indent="-228600" eaLnBrk="0" fontAlgn="base" hangingPunct="0">
              <a:spcBef>
                <a:spcPct val="20000"/>
              </a:spcBef>
              <a:spcAft>
                <a:spcPct val="0"/>
              </a:spcAft>
              <a:buChar char="»"/>
              <a:defRPr sz="1500">
                <a:solidFill>
                  <a:schemeClr val="tx1"/>
                </a:solidFill>
                <a:latin typeface="Arial" charset="0"/>
              </a:defRPr>
            </a:lvl7pPr>
            <a:lvl8pPr marL="3429000" indent="-228600" eaLnBrk="0" fontAlgn="base" hangingPunct="0">
              <a:spcBef>
                <a:spcPct val="20000"/>
              </a:spcBef>
              <a:spcAft>
                <a:spcPct val="0"/>
              </a:spcAft>
              <a:buChar char="»"/>
              <a:defRPr sz="1500">
                <a:solidFill>
                  <a:schemeClr val="tx1"/>
                </a:solidFill>
                <a:latin typeface="Arial" charset="0"/>
              </a:defRPr>
            </a:lvl8pPr>
            <a:lvl9pPr marL="3886200" indent="-228600" eaLnBrk="0" fontAlgn="base" hangingPunct="0">
              <a:spcBef>
                <a:spcPct val="20000"/>
              </a:spcBef>
              <a:spcAft>
                <a:spcPct val="0"/>
              </a:spcAft>
              <a:buChar char="»"/>
              <a:defRPr sz="1500">
                <a:solidFill>
                  <a:schemeClr val="tx1"/>
                </a:solidFill>
                <a:latin typeface="Arial" charset="0"/>
              </a:defRPr>
            </a:lvl9pPr>
          </a:lstStyle>
          <a:p>
            <a:pPr algn="ctr" eaLnBrk="1" hangingPunct="1">
              <a:spcBef>
                <a:spcPct val="0"/>
              </a:spcBef>
              <a:buFontTx/>
              <a:buNone/>
            </a:pPr>
            <a:r>
              <a:rPr lang="en-US" altLang="en-US" sz="1400" dirty="0" smtClean="0"/>
              <a:t>---- Linear Convolution of </a:t>
            </a:r>
            <a:r>
              <a:rPr lang="en-US" altLang="en-US" sz="1400" dirty="0" err="1" smtClean="0"/>
              <a:t>x_cp</a:t>
            </a:r>
            <a:r>
              <a:rPr lang="en-US" altLang="en-US" sz="1400" dirty="0" smtClean="0"/>
              <a:t> with channel impulse response</a:t>
            </a:r>
            <a:endParaRPr lang="en-IN" altLang="en-US" sz="1400" dirty="0"/>
          </a:p>
        </p:txBody>
      </p:sp>
      <p:sp>
        <p:nvSpPr>
          <p:cNvPr id="18" name="Rectangle 8"/>
          <p:cNvSpPr>
            <a:spLocks noChangeArrowheads="1"/>
          </p:cNvSpPr>
          <p:nvPr/>
        </p:nvSpPr>
        <p:spPr bwMode="auto">
          <a:xfrm>
            <a:off x="392950" y="6172200"/>
            <a:ext cx="87510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Arial" charset="0"/>
              </a:defRPr>
            </a:lvl1pPr>
            <a:lvl2pPr marL="742950" indent="-285750">
              <a:spcBef>
                <a:spcPct val="20000"/>
              </a:spcBef>
              <a:buChar char="–"/>
              <a:defRPr sz="2100">
                <a:solidFill>
                  <a:schemeClr val="tx1"/>
                </a:solidFill>
                <a:latin typeface="Arial" charset="0"/>
              </a:defRPr>
            </a:lvl2pPr>
            <a:lvl3pPr marL="1143000" indent="-228600">
              <a:spcBef>
                <a:spcPct val="20000"/>
              </a:spcBef>
              <a:buChar char="•"/>
              <a:defRPr>
                <a:solidFill>
                  <a:schemeClr val="tx1"/>
                </a:solidFill>
                <a:latin typeface="Arial" charset="0"/>
              </a:defRPr>
            </a:lvl3pPr>
            <a:lvl4pPr marL="1600200" indent="-228600">
              <a:spcBef>
                <a:spcPct val="20000"/>
              </a:spcBef>
              <a:buChar char="–"/>
              <a:defRPr sz="1500">
                <a:solidFill>
                  <a:schemeClr val="tx1"/>
                </a:solidFill>
                <a:latin typeface="Arial" charset="0"/>
              </a:defRPr>
            </a:lvl4pPr>
            <a:lvl5pPr marL="2057400" indent="-228600">
              <a:spcBef>
                <a:spcPct val="20000"/>
              </a:spcBef>
              <a:buChar char="»"/>
              <a:defRPr sz="1500">
                <a:solidFill>
                  <a:schemeClr val="tx1"/>
                </a:solidFill>
                <a:latin typeface="Arial" charset="0"/>
              </a:defRPr>
            </a:lvl5pPr>
            <a:lvl6pPr marL="2514600" indent="-228600" eaLnBrk="0" fontAlgn="base" hangingPunct="0">
              <a:spcBef>
                <a:spcPct val="20000"/>
              </a:spcBef>
              <a:spcAft>
                <a:spcPct val="0"/>
              </a:spcAft>
              <a:buChar char="»"/>
              <a:defRPr sz="1500">
                <a:solidFill>
                  <a:schemeClr val="tx1"/>
                </a:solidFill>
                <a:latin typeface="Arial" charset="0"/>
              </a:defRPr>
            </a:lvl6pPr>
            <a:lvl7pPr marL="2971800" indent="-228600" eaLnBrk="0" fontAlgn="base" hangingPunct="0">
              <a:spcBef>
                <a:spcPct val="20000"/>
              </a:spcBef>
              <a:spcAft>
                <a:spcPct val="0"/>
              </a:spcAft>
              <a:buChar char="»"/>
              <a:defRPr sz="1500">
                <a:solidFill>
                  <a:schemeClr val="tx1"/>
                </a:solidFill>
                <a:latin typeface="Arial" charset="0"/>
              </a:defRPr>
            </a:lvl7pPr>
            <a:lvl8pPr marL="3429000" indent="-228600" eaLnBrk="0" fontAlgn="base" hangingPunct="0">
              <a:spcBef>
                <a:spcPct val="20000"/>
              </a:spcBef>
              <a:spcAft>
                <a:spcPct val="0"/>
              </a:spcAft>
              <a:buChar char="»"/>
              <a:defRPr sz="1500">
                <a:solidFill>
                  <a:schemeClr val="tx1"/>
                </a:solidFill>
                <a:latin typeface="Arial" charset="0"/>
              </a:defRPr>
            </a:lvl8pPr>
            <a:lvl9pPr marL="3886200" indent="-228600" eaLnBrk="0" fontAlgn="base" hangingPunct="0">
              <a:spcBef>
                <a:spcPct val="20000"/>
              </a:spcBef>
              <a:spcAft>
                <a:spcPct val="0"/>
              </a:spcAft>
              <a:buChar char="»"/>
              <a:defRPr sz="1500">
                <a:solidFill>
                  <a:schemeClr val="tx1"/>
                </a:solidFill>
                <a:latin typeface="Arial" charset="0"/>
              </a:defRPr>
            </a:lvl9pPr>
          </a:lstStyle>
          <a:p>
            <a:pPr algn="ctr" eaLnBrk="1" hangingPunct="1">
              <a:spcBef>
                <a:spcPct val="0"/>
              </a:spcBef>
              <a:buFontTx/>
              <a:buNone/>
            </a:pPr>
            <a:r>
              <a:rPr lang="en-US" altLang="en-US" sz="1400" dirty="0" smtClean="0"/>
              <a:t>*** This Linear Convolution of </a:t>
            </a:r>
            <a:r>
              <a:rPr lang="en-US" altLang="en-US" sz="1400" dirty="0" err="1" smtClean="0"/>
              <a:t>x_cp</a:t>
            </a:r>
            <a:r>
              <a:rPr lang="en-US" altLang="en-US" sz="1400" dirty="0" smtClean="0"/>
              <a:t> with channel impulse response is equal to circular convolution of x with h</a:t>
            </a:r>
            <a:endParaRPr lang="en-IN" altLang="en-US" sz="1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09800"/>
            <a:ext cx="8229600" cy="1143000"/>
          </a:xfrm>
        </p:spPr>
        <p:txBody>
          <a:bodyPr/>
          <a:lstStyle/>
          <a:p>
            <a:r>
              <a:rPr lang="en-US" altLang="en-US" sz="3600" b="1" dirty="0">
                <a:solidFill>
                  <a:srgbClr val="FF0000"/>
                </a:solidFill>
              </a:rPr>
              <a:t>Receiver Model</a:t>
            </a:r>
            <a:endParaRPr lang="en-IN" dirty="0"/>
          </a:p>
        </p:txBody>
      </p:sp>
    </p:spTree>
    <p:extLst>
      <p:ext uri="{BB962C8B-B14F-4D97-AF65-F5344CB8AC3E}">
        <p14:creationId xmlns:p14="http://schemas.microsoft.com/office/powerpoint/2010/main" val="29831890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457200"/>
            <a:ext cx="8229600" cy="3170099"/>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mj-lt"/>
                <a:ea typeface="Times New Roman" panose="02020603050405020304" pitchFamily="18" charset="0"/>
              </a:rPr>
              <a:t>At the receiver, after finding the start of frame (using timing estimation and correction), the CP is removed and the sample of OFDM symbol is converted from serial to parallel. </a:t>
            </a:r>
            <a:endParaRPr lang="en-US" sz="2000" dirty="0" smtClean="0">
              <a:latin typeface="+mj-lt"/>
              <a:ea typeface="Times New Roman" panose="02020603050405020304" pitchFamily="18" charset="0"/>
            </a:endParaRPr>
          </a:p>
          <a:p>
            <a:pPr marL="342900" indent="-342900" algn="just">
              <a:buFont typeface="Arial" panose="020B0604020202020204" pitchFamily="34" charset="0"/>
              <a:buChar char="•"/>
            </a:pPr>
            <a:endParaRPr lang="en-US" sz="2000" dirty="0">
              <a:latin typeface="+mj-lt"/>
              <a:ea typeface="Times New Roman" panose="02020603050405020304" pitchFamily="18" charset="0"/>
            </a:endParaRPr>
          </a:p>
          <a:p>
            <a:pPr marL="342900" indent="-342900" algn="just">
              <a:buFont typeface="Arial" panose="020B0604020202020204" pitchFamily="34" charset="0"/>
              <a:buChar char="•"/>
            </a:pPr>
            <a:r>
              <a:rPr lang="en-US" sz="2000" dirty="0" smtClean="0">
                <a:latin typeface="+mj-lt"/>
                <a:ea typeface="Times New Roman" panose="02020603050405020304" pitchFamily="18" charset="0"/>
              </a:rPr>
              <a:t>Then </a:t>
            </a:r>
            <a:r>
              <a:rPr lang="en-US" sz="2000" dirty="0">
                <a:latin typeface="+mj-lt"/>
                <a:ea typeface="Times New Roman" panose="02020603050405020304" pitchFamily="18" charset="0"/>
              </a:rPr>
              <a:t>these parallel samples are applied for FFT operation</a:t>
            </a:r>
            <a:r>
              <a:rPr lang="en-US" sz="2000" dirty="0" smtClean="0">
                <a:latin typeface="+mj-lt"/>
                <a:ea typeface="Times New Roman" panose="02020603050405020304" pitchFamily="18" charset="0"/>
              </a:rPr>
              <a:t>.</a:t>
            </a:r>
          </a:p>
          <a:p>
            <a:pPr marL="342900" indent="-342900" algn="just">
              <a:buFont typeface="Arial" panose="020B0604020202020204" pitchFamily="34" charset="0"/>
              <a:buChar char="•"/>
            </a:pPr>
            <a:endParaRPr lang="en-US" sz="2000" dirty="0">
              <a:latin typeface="+mj-lt"/>
              <a:ea typeface="Times New Roman" panose="02020603050405020304" pitchFamily="18" charset="0"/>
            </a:endParaRPr>
          </a:p>
          <a:p>
            <a:pPr marL="342900" indent="-342900" algn="just">
              <a:buFont typeface="Arial" panose="020B0604020202020204" pitchFamily="34" charset="0"/>
              <a:buChar char="•"/>
            </a:pPr>
            <a:r>
              <a:rPr lang="en-US" sz="2000" dirty="0" smtClean="0">
                <a:latin typeface="+mj-lt"/>
                <a:ea typeface="Times New Roman" panose="02020603050405020304" pitchFamily="18" charset="0"/>
              </a:rPr>
              <a:t> </a:t>
            </a:r>
            <a:r>
              <a:rPr lang="en-US" sz="2000" dirty="0">
                <a:latin typeface="+mj-lt"/>
                <a:ea typeface="Times New Roman" panose="02020603050405020304" pitchFamily="18" charset="0"/>
              </a:rPr>
              <a:t>After FFT, the channel equalization has been done. </a:t>
            </a:r>
            <a:endParaRPr lang="en-US" sz="2000" dirty="0" smtClean="0">
              <a:latin typeface="+mj-lt"/>
              <a:ea typeface="Times New Roman" panose="02020603050405020304" pitchFamily="18" charset="0"/>
            </a:endParaRPr>
          </a:p>
          <a:p>
            <a:pPr marL="342900" indent="-342900" algn="just">
              <a:buFont typeface="Arial" panose="020B0604020202020204" pitchFamily="34" charset="0"/>
              <a:buChar char="•"/>
            </a:pPr>
            <a:endParaRPr lang="en-US" sz="2000" dirty="0">
              <a:latin typeface="+mj-lt"/>
              <a:ea typeface="Times New Roman" panose="02020603050405020304" pitchFamily="18" charset="0"/>
            </a:endParaRPr>
          </a:p>
          <a:p>
            <a:pPr marL="342900" indent="-342900" algn="just">
              <a:buFont typeface="Arial" panose="020B0604020202020204" pitchFamily="34" charset="0"/>
              <a:buChar char="•"/>
            </a:pPr>
            <a:r>
              <a:rPr lang="en-US" sz="2000" dirty="0" smtClean="0">
                <a:latin typeface="+mj-lt"/>
                <a:ea typeface="Times New Roman" panose="02020603050405020304" pitchFamily="18" charset="0"/>
              </a:rPr>
              <a:t>These </a:t>
            </a:r>
            <a:r>
              <a:rPr lang="en-US" sz="2000" dirty="0">
                <a:latin typeface="+mj-lt"/>
                <a:ea typeface="Times New Roman" panose="02020603050405020304" pitchFamily="18" charset="0"/>
              </a:rPr>
              <a:t>equalized data is applied for decoding process to recover information symbol. </a:t>
            </a:r>
            <a:endParaRPr lang="en-IN" sz="2000" dirty="0">
              <a:latin typeface="+mj-lt"/>
            </a:endParaRPr>
          </a:p>
        </p:txBody>
      </p:sp>
      <p:sp>
        <p:nvSpPr>
          <p:cNvPr id="13314" name="Title 1"/>
          <p:cNvSpPr>
            <a:spLocks noGrp="1"/>
          </p:cNvSpPr>
          <p:nvPr>
            <p:ph type="title"/>
          </p:nvPr>
        </p:nvSpPr>
        <p:spPr>
          <a:xfrm>
            <a:off x="1524000" y="0"/>
            <a:ext cx="6172200" cy="457200"/>
          </a:xfrm>
        </p:spPr>
        <p:txBody>
          <a:bodyPr/>
          <a:lstStyle/>
          <a:p>
            <a:r>
              <a:rPr lang="en-US" altLang="en-US" sz="2200" b="1" dirty="0" smtClean="0">
                <a:solidFill>
                  <a:srgbClr val="FF0000"/>
                </a:solidFill>
              </a:rPr>
              <a:t>Receiver Model</a:t>
            </a:r>
          </a:p>
        </p:txBody>
      </p:sp>
      <mc:AlternateContent xmlns:mc="http://schemas.openxmlformats.org/markup-compatibility/2006" xmlns:a14="http://schemas.microsoft.com/office/drawing/2010/main">
        <mc:Choice Requires="a14">
          <p:sp>
            <p:nvSpPr>
              <p:cNvPr id="4" name="Rectangle 3"/>
              <p:cNvSpPr/>
              <p:nvPr/>
            </p:nvSpPr>
            <p:spPr>
              <a:xfrm>
                <a:off x="286789" y="3724817"/>
                <a:ext cx="8212975" cy="719364"/>
              </a:xfrm>
              <a:prstGeom prst="rect">
                <a:avLst/>
              </a:prstGeom>
            </p:spPr>
            <p:txBody>
              <a:bodyPr wrap="square">
                <a:spAutoFit/>
              </a:bodyPr>
              <a:lstStyle/>
              <a:p>
                <a:r>
                  <a:rPr lang="en-US" sz="2000" dirty="0">
                    <a:latin typeface="+mj-lt"/>
                    <a:ea typeface="Times New Roman" panose="02020603050405020304" pitchFamily="18" charset="0"/>
                  </a:rPr>
                  <a:t>After considering the effect of multipath fading channel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h</m:t>
                    </m:r>
                    <m:d>
                      <m:dPr>
                        <m:ctrlPr>
                          <a:rPr lang="en-IN" sz="2000" i="1">
                            <a:effectLst/>
                            <a:latin typeface="Cambria Math" panose="020405030504060302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𝜏</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000" dirty="0">
                    <a:effectLst/>
                    <a:latin typeface="+mj-lt"/>
                    <a:ea typeface="Times New Roman" panose="02020603050405020304" pitchFamily="18" charset="0"/>
                  </a:rPr>
                  <a:t> the </a:t>
                </a:r>
                <a14:m>
                  <m:oMath xmlns:m="http://schemas.openxmlformats.org/officeDocument/2006/math">
                    <m:sSup>
                      <m:sSupPr>
                        <m:ctrlPr>
                          <a:rPr lang="en-IN" sz="2000" i="1">
                            <a:effectLst/>
                            <a:latin typeface="Cambria Math" panose="020405030504060302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𝑖</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𝑡h</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000" dirty="0">
                    <a:effectLst/>
                    <a:latin typeface="+mj-lt"/>
                    <a:ea typeface="Times New Roman" panose="02020603050405020304" pitchFamily="18" charset="0"/>
                  </a:rPr>
                  <a:t>received signal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m:t>
                    </m:r>
                    <m:d>
                      <m:dPr>
                        <m:ctrlPr>
                          <a:rPr lang="en-IN" sz="2000" i="1">
                            <a:effectLst/>
                            <a:latin typeface="Cambria Math" panose="02040503050406030204" pitchFamily="18" charset="0"/>
                          </a:rPr>
                        </m:ctrlPr>
                      </m:d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2000" dirty="0">
                    <a:effectLst/>
                    <a:latin typeface="+mj-lt"/>
                    <a:ea typeface="Times New Roman" panose="02020603050405020304" pitchFamily="18" charset="0"/>
                  </a:rPr>
                  <a:t>can be expressed as –</a:t>
                </a:r>
                <a:endParaRPr lang="en-IN" sz="2000" dirty="0">
                  <a:latin typeface="+mj-lt"/>
                </a:endParaRPr>
              </a:p>
            </p:txBody>
          </p:sp>
        </mc:Choice>
        <mc:Fallback xmlns="">
          <p:sp>
            <p:nvSpPr>
              <p:cNvPr id="4" name="Rectangle 3"/>
              <p:cNvSpPr>
                <a:spLocks noRot="1" noChangeAspect="1" noMove="1" noResize="1" noEditPoints="1" noAdjustHandles="1" noChangeArrowheads="1" noChangeShapeType="1" noTextEdit="1"/>
              </p:cNvSpPr>
              <p:nvPr/>
            </p:nvSpPr>
            <p:spPr>
              <a:xfrm>
                <a:off x="286789" y="3724817"/>
                <a:ext cx="8212975" cy="719364"/>
              </a:xfrm>
              <a:prstGeom prst="rect">
                <a:avLst/>
              </a:prstGeom>
              <a:blipFill>
                <a:blip r:embed="rId2"/>
                <a:stretch>
                  <a:fillRect l="-742" t="-3390" b="-144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138877" y="4573564"/>
                <a:ext cx="4508798" cy="9580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𝑟</m:t>
                      </m:r>
                      <m:d>
                        <m:dPr>
                          <m:ctrlPr>
                            <a:rPr lang="en-IN" sz="2000" i="1">
                              <a:latin typeface="Cambria Math" panose="02040503050406030204" pitchFamily="18" charset="0"/>
                            </a:rPr>
                          </m:ctrlPr>
                        </m:dPr>
                        <m:e>
                          <m:r>
                            <a:rPr lang="en-IN" sz="2000" i="1">
                              <a:latin typeface="Cambria Math" panose="02040503050406030204" pitchFamily="18" charset="0"/>
                            </a:rPr>
                            <m:t>𝑖</m:t>
                          </m:r>
                          <m:r>
                            <a:rPr lang="en-IN" sz="2000" i="0">
                              <a:latin typeface="Cambria Math" panose="02040503050406030204" pitchFamily="18" charset="0"/>
                            </a:rPr>
                            <m:t>,</m:t>
                          </m:r>
                          <m:r>
                            <a:rPr lang="en-IN" sz="2000" i="1">
                              <a:latin typeface="Cambria Math" panose="02040503050406030204" pitchFamily="18" charset="0"/>
                            </a:rPr>
                            <m:t>𝑡</m:t>
                          </m:r>
                        </m:e>
                      </m:d>
                      <m:r>
                        <a:rPr lang="en-IN" sz="2000" i="0">
                          <a:latin typeface="Cambria Math" panose="02040503050406030204" pitchFamily="18" charset="0"/>
                        </a:rPr>
                        <m:t>=</m:t>
                      </m:r>
                      <m:nary>
                        <m:naryPr>
                          <m:chr m:val="∑"/>
                          <m:limLoc m:val="undOvr"/>
                          <m:ctrlPr>
                            <a:rPr lang="en-IN" sz="2000" i="1">
                              <a:latin typeface="Cambria Math" panose="02040503050406030204" pitchFamily="18" charset="0"/>
                            </a:rPr>
                          </m:ctrlPr>
                        </m:naryPr>
                        <m:sub>
                          <m:r>
                            <a:rPr lang="en-IN" sz="2000" i="1">
                              <a:latin typeface="Cambria Math" panose="02040503050406030204" pitchFamily="18" charset="0"/>
                            </a:rPr>
                            <m:t>𝑙</m:t>
                          </m:r>
                          <m:r>
                            <a:rPr lang="en-IN" sz="2000" i="0">
                              <a:latin typeface="Cambria Math" panose="02040503050406030204" pitchFamily="18" charset="0"/>
                            </a:rPr>
                            <m:t>=0</m:t>
                          </m:r>
                        </m:sub>
                        <m:sup>
                          <m:r>
                            <a:rPr lang="en-IN" sz="2000" i="1">
                              <a:latin typeface="Cambria Math" panose="02040503050406030204" pitchFamily="18" charset="0"/>
                            </a:rPr>
                            <m:t>𝐿</m:t>
                          </m:r>
                          <m:r>
                            <a:rPr lang="en-IN" sz="2000" i="0">
                              <a:latin typeface="Cambria Math" panose="02040503050406030204" pitchFamily="18" charset="0"/>
                            </a:rPr>
                            <m:t>−1</m:t>
                          </m:r>
                        </m:sup>
                        <m:e>
                          <m:d>
                            <m:dPr>
                              <m:begChr m:val=""/>
                              <m:ctrlPr>
                                <a:rPr lang="en-IN" sz="2000" i="1">
                                  <a:latin typeface="Cambria Math" panose="02040503050406030204" pitchFamily="18" charset="0"/>
                                </a:rPr>
                              </m:ctrlPr>
                            </m:dPr>
                            <m:e>
                              <m:sSub>
                                <m:sSubPr>
                                  <m:ctrlPr>
                                    <a:rPr lang="en-IN" sz="2000" i="1">
                                      <a:latin typeface="Cambria Math" panose="02040503050406030204" pitchFamily="18" charset="0"/>
                                    </a:rPr>
                                  </m:ctrlPr>
                                </m:sSubPr>
                                <m:e>
                                  <m:r>
                                    <a:rPr lang="en-IN" sz="2000" i="1">
                                      <a:latin typeface="Cambria Math" panose="02040503050406030204" pitchFamily="18" charset="0"/>
                                    </a:rPr>
                                    <m:t>h</m:t>
                                  </m:r>
                                </m:e>
                                <m:sub>
                                  <m:r>
                                    <a:rPr lang="en-IN" sz="2000" i="1">
                                      <a:latin typeface="Cambria Math" panose="02040503050406030204" pitchFamily="18" charset="0"/>
                                    </a:rPr>
                                    <m:t>𝑙</m:t>
                                  </m:r>
                                </m:sub>
                              </m:sSub>
                              <m:d>
                                <m:dPr>
                                  <m:ctrlPr>
                                    <a:rPr lang="en-IN" sz="2000" i="1">
                                      <a:latin typeface="Cambria Math" panose="02040503050406030204" pitchFamily="18" charset="0"/>
                                    </a:rPr>
                                  </m:ctrlPr>
                                </m:dPr>
                                <m:e>
                                  <m:r>
                                    <a:rPr lang="en-IN" sz="2000" i="1">
                                      <a:latin typeface="Cambria Math" panose="02040503050406030204" pitchFamily="18" charset="0"/>
                                    </a:rPr>
                                    <m:t>𝜏</m:t>
                                  </m:r>
                                </m:e>
                              </m:d>
                              <m:r>
                                <a:rPr lang="en-IN" sz="2000" i="0">
                                  <a:latin typeface="Cambria Math" panose="02040503050406030204" pitchFamily="18" charset="0"/>
                                </a:rPr>
                                <m:t> </m:t>
                              </m:r>
                              <m:acc>
                                <m:accPr>
                                  <m:chr m:val="̃"/>
                                  <m:ctrlPr>
                                    <a:rPr lang="en-IN" sz="2000" i="1">
                                      <a:latin typeface="Cambria Math" panose="02040503050406030204" pitchFamily="18" charset="0"/>
                                    </a:rPr>
                                  </m:ctrlPr>
                                </m:accPr>
                                <m:e>
                                  <m:r>
                                    <a:rPr lang="en-IN" sz="2000" i="1">
                                      <a:latin typeface="Cambria Math" panose="02040503050406030204" pitchFamily="18" charset="0"/>
                                    </a:rPr>
                                    <m:t>𝑥</m:t>
                                  </m:r>
                                </m:e>
                              </m:acc>
                              <m:d>
                                <m:dPr>
                                  <m:ctrlPr>
                                    <a:rPr lang="en-IN" sz="2000" i="1">
                                      <a:latin typeface="Cambria Math" panose="02040503050406030204" pitchFamily="18" charset="0"/>
                                    </a:rPr>
                                  </m:ctrlPr>
                                </m:dPr>
                                <m:e>
                                  <m:r>
                                    <a:rPr lang="en-IN" sz="2000" i="1">
                                      <a:latin typeface="Cambria Math" panose="02040503050406030204" pitchFamily="18" charset="0"/>
                                    </a:rPr>
                                    <m:t>𝑖</m:t>
                                  </m:r>
                                  <m:r>
                                    <a:rPr lang="en-IN" sz="2000" i="0">
                                      <a:latin typeface="Cambria Math" panose="02040503050406030204" pitchFamily="18" charset="0"/>
                                    </a:rPr>
                                    <m:t>,</m:t>
                                  </m:r>
                                  <m:r>
                                    <a:rPr lang="en-IN" sz="2000" i="1">
                                      <a:latin typeface="Cambria Math" panose="02040503050406030204" pitchFamily="18" charset="0"/>
                                    </a:rPr>
                                    <m:t>𝑡</m:t>
                                  </m:r>
                                  <m:r>
                                    <a:rPr lang="en-IN" sz="2000" i="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𝜏</m:t>
                                      </m:r>
                                    </m:e>
                                    <m:sub>
                                      <m:r>
                                        <a:rPr lang="en-IN" sz="2000" i="1">
                                          <a:latin typeface="Cambria Math" panose="02040503050406030204" pitchFamily="18" charset="0"/>
                                        </a:rPr>
                                        <m:t>𝑙</m:t>
                                      </m:r>
                                    </m:sub>
                                  </m:sSub>
                                </m:e>
                              </m:d>
                              <m:r>
                                <a:rPr lang="en-IN" sz="2000" i="0">
                                  <a:latin typeface="Cambria Math" panose="02040503050406030204" pitchFamily="18" charset="0"/>
                                </a:rPr>
                                <m:t>+</m:t>
                              </m:r>
                              <m:r>
                                <a:rPr lang="en-IN" sz="2000" i="1">
                                  <a:latin typeface="Cambria Math" panose="02040503050406030204" pitchFamily="18" charset="0"/>
                                </a:rPr>
                                <m:t>𝑤</m:t>
                              </m:r>
                              <m:r>
                                <a:rPr lang="en-IN" sz="2000" i="0">
                                  <a:latin typeface="Cambria Math" panose="02040503050406030204" pitchFamily="18" charset="0"/>
                                </a:rPr>
                                <m:t>(</m:t>
                              </m:r>
                              <m:r>
                                <a:rPr lang="en-IN" sz="2000" i="1">
                                  <a:latin typeface="Cambria Math" panose="02040503050406030204" pitchFamily="18" charset="0"/>
                                </a:rPr>
                                <m:t>𝑖</m:t>
                              </m:r>
                              <m:r>
                                <a:rPr lang="en-IN" sz="2000" i="0">
                                  <a:latin typeface="Cambria Math" panose="02040503050406030204" pitchFamily="18" charset="0"/>
                                </a:rPr>
                                <m:t>,</m:t>
                              </m:r>
                              <m:r>
                                <a:rPr lang="en-IN" sz="2000" i="1">
                                  <a:latin typeface="Cambria Math" panose="02040503050406030204" pitchFamily="18" charset="0"/>
                                </a:rPr>
                                <m:t>𝑡</m:t>
                              </m:r>
                            </m:e>
                          </m:d>
                        </m:e>
                      </m:nary>
                      <m:r>
                        <a:rPr lang="en-IN" sz="2000" i="0">
                          <a:latin typeface="Cambria Math" panose="02040503050406030204" pitchFamily="18" charset="0"/>
                        </a:rPr>
                        <m:t>, </m:t>
                      </m:r>
                    </m:oMath>
                  </m:oMathPara>
                </a14:m>
                <a:endParaRPr lang="en-IN" sz="2000" dirty="0"/>
              </a:p>
            </p:txBody>
          </p:sp>
        </mc:Choice>
        <mc:Fallback xmlns="">
          <p:sp>
            <p:nvSpPr>
              <p:cNvPr id="5" name="Rectangle 4"/>
              <p:cNvSpPr>
                <a:spLocks noRot="1" noChangeAspect="1" noMove="1" noResize="1" noEditPoints="1" noAdjustHandles="1" noChangeArrowheads="1" noChangeShapeType="1" noTextEdit="1"/>
              </p:cNvSpPr>
              <p:nvPr/>
            </p:nvSpPr>
            <p:spPr>
              <a:xfrm>
                <a:off x="2138877" y="4573564"/>
                <a:ext cx="4508798" cy="958083"/>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04800" y="5640248"/>
                <a:ext cx="8382000" cy="646331"/>
              </a:xfrm>
              <a:prstGeom prst="rect">
                <a:avLst/>
              </a:prstGeom>
            </p:spPr>
            <p:txBody>
              <a:bodyPr wrap="square">
                <a:spAutoFit/>
              </a:bodyPr>
              <a:lstStyle/>
              <a:p>
                <a:pPr algn="just"/>
                <a:r>
                  <a:rPr lang="en-US" dirty="0">
                    <a:latin typeface="+mj-lt"/>
                    <a:ea typeface="Times New Roman" panose="02020603050405020304" pitchFamily="18" charset="0"/>
                  </a:rPr>
                  <a:t>where,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𝑤</m:t>
                    </m:r>
                    <m:d>
                      <m:dPr>
                        <m:ctrlPr>
                          <a:rPr lang="en-IN" sz="1800" i="1">
                            <a:effectLst/>
                            <a:latin typeface="Cambria Math" panose="020405030504060302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dirty="0">
                    <a:effectLst/>
                    <a:latin typeface="+mj-lt"/>
                    <a:ea typeface="Times New Roman" panose="02020603050405020304" pitchFamily="18" charset="0"/>
                  </a:rPr>
                  <a:t>represents the additive white Gaussian noise (AWGN) at the receiver with two sided power spectral density of</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n-IN" sz="1800" i="1">
                            <a:effectLst/>
                            <a:latin typeface="Cambria Math" panose="02040503050406030204" pitchFamily="18" charset="0"/>
                          </a:rPr>
                        </m:ctrlPr>
                      </m:fPr>
                      <m:num>
                        <m:sSub>
                          <m:sSubPr>
                            <m:ctrlPr>
                              <a:rPr lang="en-IN" sz="1800" i="1">
                                <a:effectLst/>
                                <a:latin typeface="Cambria Math" panose="020405030504060302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𝑜</m:t>
                            </m:r>
                          </m:sub>
                        </m:sSub>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den>
                    </m:f>
                  </m:oMath>
                </a14:m>
                <a:r>
                  <a:rPr lang="en-US" sz="1800" dirty="0">
                    <a:effectLst/>
                    <a:latin typeface="+mj-lt"/>
                    <a:ea typeface="Times New Roman" panose="02020603050405020304" pitchFamily="18" charset="0"/>
                  </a:rPr>
                  <a:t>. </a:t>
                </a:r>
                <a:endParaRPr lang="en-IN" dirty="0">
                  <a:latin typeface="+mj-lt"/>
                </a:endParaRPr>
              </a:p>
            </p:txBody>
          </p:sp>
        </mc:Choice>
        <mc:Fallback xmlns="">
          <p:sp>
            <p:nvSpPr>
              <p:cNvPr id="6" name="Rectangle 5"/>
              <p:cNvSpPr>
                <a:spLocks noRot="1" noChangeAspect="1" noMove="1" noResize="1" noEditPoints="1" noAdjustHandles="1" noChangeArrowheads="1" noChangeShapeType="1" noTextEdit="1"/>
              </p:cNvSpPr>
              <p:nvPr/>
            </p:nvSpPr>
            <p:spPr>
              <a:xfrm>
                <a:off x="304800" y="5640248"/>
                <a:ext cx="8382000" cy="646331"/>
              </a:xfrm>
              <a:prstGeom prst="rect">
                <a:avLst/>
              </a:prstGeom>
              <a:blipFill>
                <a:blip r:embed="rId4"/>
                <a:stretch>
                  <a:fillRect l="-582" t="-23585" r="-582" b="-101887"/>
                </a:stretch>
              </a:blipFill>
            </p:spPr>
            <p:txBody>
              <a:bodyPr/>
              <a:lstStyle/>
              <a:p>
                <a:r>
                  <a:rPr lang="en-IN">
                    <a:noFill/>
                  </a:rPr>
                  <a:t> </a:t>
                </a: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457200"/>
            <a:ext cx="8229600" cy="3170099"/>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mj-lt"/>
                <a:ea typeface="Times New Roman" panose="02020603050405020304" pitchFamily="18" charset="0"/>
              </a:rPr>
              <a:t>If the length of CP is more than the maximum delay spread of multipath channel and if there is no timing and frequency offsets or the timing and frequency offsets are correctly estimated and corrected then the OFDM symbol can be correctly recovered from the received signal. </a:t>
            </a:r>
            <a:endParaRPr lang="en-US" sz="2000" dirty="0" smtClean="0">
              <a:latin typeface="+mj-lt"/>
              <a:ea typeface="Times New Roman" panose="02020603050405020304" pitchFamily="18" charset="0"/>
            </a:endParaRPr>
          </a:p>
          <a:p>
            <a:pPr marL="342900" indent="-342900" algn="just">
              <a:buFont typeface="Arial" panose="020B0604020202020204" pitchFamily="34" charset="0"/>
              <a:buChar char="•"/>
            </a:pPr>
            <a:endParaRPr lang="en-US" sz="2000" dirty="0" smtClean="0">
              <a:latin typeface="+mj-lt"/>
              <a:ea typeface="Times New Roman" panose="02020603050405020304" pitchFamily="18" charset="0"/>
            </a:endParaRPr>
          </a:p>
          <a:p>
            <a:pPr marL="342900" indent="-342900" algn="just">
              <a:buFont typeface="Arial" panose="020B0604020202020204" pitchFamily="34" charset="0"/>
              <a:buChar char="•"/>
            </a:pPr>
            <a:r>
              <a:rPr lang="en-US" sz="2000" dirty="0" smtClean="0">
                <a:latin typeface="+mj-lt"/>
                <a:ea typeface="Times New Roman" panose="02020603050405020304" pitchFamily="18" charset="0"/>
              </a:rPr>
              <a:t>By </a:t>
            </a:r>
            <a:r>
              <a:rPr lang="en-US" sz="2000" dirty="0">
                <a:latin typeface="+mj-lt"/>
                <a:ea typeface="Times New Roman" panose="02020603050405020304" pitchFamily="18" charset="0"/>
              </a:rPr>
              <a:t>considering above condition and after removing the CP, the received signal is given to the FFT block. </a:t>
            </a:r>
            <a:endParaRPr lang="en-US" sz="2000" dirty="0" smtClean="0">
              <a:latin typeface="+mj-lt"/>
              <a:ea typeface="Times New Roman" panose="02020603050405020304" pitchFamily="18" charset="0"/>
            </a:endParaRPr>
          </a:p>
          <a:p>
            <a:pPr marL="342900" indent="-342900" algn="just">
              <a:buFont typeface="Arial" panose="020B0604020202020204" pitchFamily="34" charset="0"/>
              <a:buChar char="•"/>
            </a:pPr>
            <a:endParaRPr lang="en-US" sz="2000" dirty="0">
              <a:latin typeface="+mj-lt"/>
              <a:ea typeface="Times New Roman" panose="02020603050405020304" pitchFamily="18" charset="0"/>
            </a:endParaRPr>
          </a:p>
          <a:p>
            <a:pPr marL="342900" indent="-342900" algn="just">
              <a:buFont typeface="Arial" panose="020B0604020202020204" pitchFamily="34" charset="0"/>
              <a:buChar char="•"/>
            </a:pPr>
            <a:r>
              <a:rPr lang="en-US" sz="2000" dirty="0" smtClean="0">
                <a:latin typeface="+mj-lt"/>
                <a:ea typeface="Times New Roman" panose="02020603050405020304" pitchFamily="18" charset="0"/>
              </a:rPr>
              <a:t>The </a:t>
            </a:r>
            <a:r>
              <a:rPr lang="en-US" sz="2000" dirty="0">
                <a:latin typeface="+mj-lt"/>
                <a:ea typeface="Times New Roman" panose="02020603050405020304" pitchFamily="18" charset="0"/>
              </a:rPr>
              <a:t>output of FFT, X ̂(</a:t>
            </a:r>
            <a:r>
              <a:rPr lang="en-US" sz="2000" dirty="0" err="1">
                <a:latin typeface="+mj-lt"/>
                <a:ea typeface="Times New Roman" panose="02020603050405020304" pitchFamily="18" charset="0"/>
              </a:rPr>
              <a:t>i,k</a:t>
            </a:r>
            <a:r>
              <a:rPr lang="en-US" sz="2000" dirty="0">
                <a:latin typeface="+mj-lt"/>
                <a:ea typeface="Times New Roman" panose="02020603050405020304" pitchFamily="18" charset="0"/>
              </a:rPr>
              <a:t>), can be expressed as –</a:t>
            </a:r>
            <a:endParaRPr lang="en-IN" sz="2000" dirty="0">
              <a:latin typeface="+mj-lt"/>
            </a:endParaRPr>
          </a:p>
        </p:txBody>
      </p:sp>
      <p:sp>
        <p:nvSpPr>
          <p:cNvPr id="13314" name="Title 1"/>
          <p:cNvSpPr>
            <a:spLocks noGrp="1"/>
          </p:cNvSpPr>
          <p:nvPr>
            <p:ph type="title"/>
          </p:nvPr>
        </p:nvSpPr>
        <p:spPr>
          <a:xfrm>
            <a:off x="1524000" y="0"/>
            <a:ext cx="6172200" cy="457200"/>
          </a:xfrm>
        </p:spPr>
        <p:txBody>
          <a:bodyPr/>
          <a:lstStyle/>
          <a:p>
            <a:r>
              <a:rPr lang="en-US" altLang="en-US" sz="2200" b="1" dirty="0" smtClean="0">
                <a:solidFill>
                  <a:srgbClr val="FF0000"/>
                </a:solidFill>
              </a:rPr>
              <a:t>Receiver Model</a:t>
            </a:r>
          </a:p>
        </p:txBody>
      </p:sp>
      <mc:AlternateContent xmlns:mc="http://schemas.openxmlformats.org/markup-compatibility/2006" xmlns:a14="http://schemas.microsoft.com/office/drawing/2010/main">
        <mc:Choice Requires="a14">
          <p:sp>
            <p:nvSpPr>
              <p:cNvPr id="3" name="Rectangle 2"/>
              <p:cNvSpPr/>
              <p:nvPr/>
            </p:nvSpPr>
            <p:spPr>
              <a:xfrm>
                <a:off x="685800" y="3864439"/>
                <a:ext cx="7848600" cy="440120"/>
              </a:xfrm>
              <a:prstGeom prst="rect">
                <a:avLst/>
              </a:prstGeom>
            </p:spPr>
            <p:txBody>
              <a:bodyPr wrap="square">
                <a:spAutoFit/>
              </a:bodyPr>
              <a:lstStyle/>
              <a:p>
                <a:r>
                  <a:rPr lang="en-IN" sz="2200" b="1" dirty="0" smtClean="0">
                    <a:solidFill>
                      <a:srgbClr val="FF0000"/>
                    </a:solidFill>
                    <a:latin typeface="Times New Roman" panose="02020603050405020304" pitchFamily="18" charset="0"/>
                    <a:ea typeface="Times New Roman" panose="02020603050405020304" pitchFamily="18" charset="0"/>
                  </a:rPr>
                  <a:t> </a:t>
                </a:r>
                <a14:m>
                  <m:oMath xmlns:m="http://schemas.openxmlformats.org/officeDocument/2006/math">
                    <m:acc>
                      <m:accPr>
                        <m:chr m:val="̂"/>
                        <m:ctrlPr>
                          <a:rPr lang="en-IN" sz="2200" b="1" i="1">
                            <a:solidFill>
                              <a:srgbClr val="FF0000"/>
                            </a:solidFill>
                            <a:effectLst/>
                            <a:latin typeface="Cambria Math" panose="02040503050406030204" pitchFamily="18" charset="0"/>
                          </a:rPr>
                        </m:ctrlPr>
                      </m:accPr>
                      <m:e>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𝑿</m:t>
                        </m:r>
                      </m:e>
                    </m:acc>
                    <m:d>
                      <m:dPr>
                        <m:ctrlPr>
                          <a:rPr lang="en-IN" sz="2200" b="1" i="1">
                            <a:solidFill>
                              <a:srgbClr val="FF0000"/>
                            </a:solidFill>
                            <a:effectLst/>
                            <a:latin typeface="Cambria Math" panose="02040503050406030204" pitchFamily="18" charset="0"/>
                          </a:rPr>
                        </m:ctrlPr>
                      </m:dPr>
                      <m:e>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𝒊</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𝒌</m:t>
                        </m:r>
                      </m:e>
                    </m:d>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𝑯</m:t>
                    </m:r>
                    <m:d>
                      <m:dPr>
                        <m:ctrlPr>
                          <a:rPr lang="en-IN" sz="2200" b="1" i="1">
                            <a:solidFill>
                              <a:srgbClr val="FF0000"/>
                            </a:solidFill>
                            <a:effectLst/>
                            <a:latin typeface="Cambria Math" panose="02040503050406030204" pitchFamily="18" charset="0"/>
                          </a:rPr>
                        </m:ctrlPr>
                      </m:dPr>
                      <m:e>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𝒌</m:t>
                        </m:r>
                      </m:e>
                    </m:d>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𝑿</m:t>
                    </m:r>
                    <m:d>
                      <m:dPr>
                        <m:ctrlPr>
                          <a:rPr lang="en-IN" sz="2200" b="1" i="1">
                            <a:solidFill>
                              <a:srgbClr val="FF0000"/>
                            </a:solidFill>
                            <a:effectLst/>
                            <a:latin typeface="Cambria Math" panose="02040503050406030204" pitchFamily="18" charset="0"/>
                          </a:rPr>
                        </m:ctrlPr>
                      </m:dPr>
                      <m:e>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𝒊</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𝒌</m:t>
                        </m:r>
                      </m:e>
                    </m:d>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𝑾</m:t>
                    </m:r>
                    <m:d>
                      <m:dPr>
                        <m:ctrlPr>
                          <a:rPr lang="en-IN" sz="2200" b="1" i="1">
                            <a:solidFill>
                              <a:srgbClr val="FF0000"/>
                            </a:solidFill>
                            <a:effectLst/>
                            <a:latin typeface="Cambria Math" panose="02040503050406030204" pitchFamily="18" charset="0"/>
                          </a:rPr>
                        </m:ctrlPr>
                      </m:dPr>
                      <m:e>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𝒊</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𝒌</m:t>
                        </m:r>
                      </m:e>
                    </m:d>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𝒇𝒐𝒓</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𝟏</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𝑵</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𝟏</m:t>
                    </m:r>
                  </m:oMath>
                </a14:m>
                <a:r>
                  <a:rPr lang="en-US" sz="2200" b="1" dirty="0">
                    <a:solidFill>
                      <a:srgbClr val="FF0000"/>
                    </a:solidFill>
                    <a:effectLst/>
                    <a:latin typeface="Times New Roman" panose="02020603050405020304" pitchFamily="18" charset="0"/>
                    <a:ea typeface="Times New Roman" panose="02020603050405020304" pitchFamily="18" charset="0"/>
                  </a:rPr>
                  <a:t> </a:t>
                </a:r>
                <a:endParaRPr lang="en-IN" sz="2200" b="1" dirty="0">
                  <a:solidFill>
                    <a:srgbClr val="FF000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685800" y="3864439"/>
                <a:ext cx="7848600" cy="440120"/>
              </a:xfrm>
              <a:prstGeom prst="rect">
                <a:avLst/>
              </a:prstGeom>
              <a:blipFill>
                <a:blip r:embed="rId2"/>
                <a:stretch>
                  <a:fillRect t="-5556" b="-180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322811" y="4330883"/>
                <a:ext cx="8237913" cy="1315232"/>
              </a:xfrm>
              <a:prstGeom prst="rect">
                <a:avLst/>
              </a:prstGeom>
            </p:spPr>
            <p:txBody>
              <a:bodyPr wrap="square">
                <a:spAutoFit/>
              </a:bodyPr>
              <a:lstStyle/>
              <a:p>
                <a:pPr algn="just">
                  <a:lnSpc>
                    <a:spcPct val="150000"/>
                  </a:lnSpc>
                  <a:spcBef>
                    <a:spcPts val="1200"/>
                  </a:spcBef>
                </a:pPr>
                <a:r>
                  <a:rPr lang="en-US" sz="1600" dirty="0">
                    <a:latin typeface="+mj-lt"/>
                    <a:ea typeface="Times New Roman" panose="02020603050405020304" pitchFamily="18" charset="0"/>
                  </a:rPr>
                  <a:t>where, </a:t>
                </a:r>
                <a14:m>
                  <m:oMath xmlns:m="http://schemas.openxmlformats.org/officeDocument/2006/math">
                    <m:r>
                      <a:rPr lang="en-US" sz="1600">
                        <a:latin typeface="Cambria Math" panose="02040503050406030204" pitchFamily="18" charset="0"/>
                        <a:ea typeface="Times New Roman" panose="02020603050405020304" pitchFamily="18" charset="0"/>
                      </a:rPr>
                      <m:t>𝐻</m:t>
                    </m:r>
                    <m:r>
                      <a:rPr lang="en-US" sz="1600">
                        <a:latin typeface="Cambria Math" panose="02040503050406030204" pitchFamily="18" charset="0"/>
                        <a:ea typeface="Times New Roman" panose="02020603050405020304" pitchFamily="18" charset="0"/>
                      </a:rPr>
                      <m:t>(</m:t>
                    </m:r>
                    <m:r>
                      <a:rPr lang="en-US" sz="1600">
                        <a:latin typeface="Cambria Math" panose="02040503050406030204" pitchFamily="18" charset="0"/>
                        <a:ea typeface="Times New Roman" panose="02020603050405020304" pitchFamily="18" charset="0"/>
                      </a:rPr>
                      <m:t>𝑘</m:t>
                    </m:r>
                    <m:r>
                      <a:rPr lang="en-US" sz="1600">
                        <a:latin typeface="Cambria Math" panose="02040503050406030204" pitchFamily="18" charset="0"/>
                        <a:ea typeface="Times New Roman" panose="02020603050405020304" pitchFamily="18" charset="0"/>
                      </a:rPr>
                      <m:t>) </m:t>
                    </m:r>
                  </m:oMath>
                </a14:m>
                <a:r>
                  <a:rPr lang="en-US" sz="1600" dirty="0">
                    <a:latin typeface="+mj-lt"/>
                    <a:ea typeface="Times New Roman" panose="02020603050405020304" pitchFamily="18" charset="0"/>
                  </a:rPr>
                  <a:t>denotes the frequency response of the multipath fading channel at the </a:t>
                </a:r>
                <a14:m>
                  <m:oMath xmlns:m="http://schemas.openxmlformats.org/officeDocument/2006/math">
                    <m:sSup>
                      <m:sSupPr>
                        <m:ctrlPr>
                          <a:rPr lang="en-IN" sz="1600" i="1">
                            <a:latin typeface="Cambria Math" panose="02040503050406030204" pitchFamily="18" charset="0"/>
                            <a:ea typeface="Times New Roman" panose="02020603050405020304" pitchFamily="18" charset="0"/>
                          </a:rPr>
                        </m:ctrlPr>
                      </m:sSupPr>
                      <m:e>
                        <m:r>
                          <a:rPr lang="en-US" sz="1600">
                            <a:latin typeface="Cambria Math" panose="02040503050406030204" pitchFamily="18" charset="0"/>
                            <a:ea typeface="Times New Roman" panose="02020603050405020304" pitchFamily="18" charset="0"/>
                          </a:rPr>
                          <m:t>𝑘</m:t>
                        </m:r>
                      </m:e>
                      <m:sup>
                        <m:r>
                          <a:rPr lang="en-US" sz="1600">
                            <a:latin typeface="Cambria Math" panose="02040503050406030204" pitchFamily="18" charset="0"/>
                            <a:ea typeface="Times New Roman" panose="02020603050405020304" pitchFamily="18" charset="0"/>
                          </a:rPr>
                          <m:t>𝑡h</m:t>
                        </m:r>
                      </m:sup>
                    </m:sSup>
                    <m:r>
                      <a:rPr lang="en-US" sz="1600">
                        <a:latin typeface="Cambria Math" panose="02040503050406030204" pitchFamily="18" charset="0"/>
                        <a:ea typeface="Times New Roman" panose="02020603050405020304" pitchFamily="18" charset="0"/>
                      </a:rPr>
                      <m:t> </m:t>
                    </m:r>
                  </m:oMath>
                </a14:m>
                <a:r>
                  <a:rPr lang="en-US" sz="1600" dirty="0">
                    <a:latin typeface="+mj-lt"/>
                    <a:ea typeface="Times New Roman" panose="02020603050405020304" pitchFamily="18" charset="0"/>
                  </a:rPr>
                  <a:t>sub-channel and </a:t>
                </a:r>
                <a14:m>
                  <m:oMath xmlns:m="http://schemas.openxmlformats.org/officeDocument/2006/math">
                    <m:r>
                      <a:rPr lang="en-US" sz="1600">
                        <a:latin typeface="Cambria Math" panose="02040503050406030204" pitchFamily="18" charset="0"/>
                        <a:ea typeface="Times New Roman" panose="02020603050405020304" pitchFamily="18" charset="0"/>
                      </a:rPr>
                      <m:t>𝑊</m:t>
                    </m:r>
                    <m:r>
                      <a:rPr lang="en-US" sz="1600">
                        <a:latin typeface="Cambria Math" panose="02040503050406030204" pitchFamily="18" charset="0"/>
                        <a:ea typeface="Times New Roman" panose="02020603050405020304" pitchFamily="18" charset="0"/>
                      </a:rPr>
                      <m:t>(</m:t>
                    </m:r>
                    <m:r>
                      <a:rPr lang="en-US" sz="1600">
                        <a:latin typeface="Cambria Math" panose="02040503050406030204" pitchFamily="18" charset="0"/>
                        <a:ea typeface="Times New Roman" panose="02020603050405020304" pitchFamily="18" charset="0"/>
                      </a:rPr>
                      <m:t>𝑘</m:t>
                    </m:r>
                    <m:r>
                      <a:rPr lang="en-US" sz="1600">
                        <a:latin typeface="Cambria Math" panose="02040503050406030204" pitchFamily="18" charset="0"/>
                        <a:ea typeface="Times New Roman" panose="02020603050405020304" pitchFamily="18" charset="0"/>
                      </a:rPr>
                      <m:t>) </m:t>
                    </m:r>
                  </m:oMath>
                </a14:m>
                <a:r>
                  <a:rPr lang="en-US" sz="1600" dirty="0">
                    <a:latin typeface="+mj-lt"/>
                    <a:ea typeface="Times New Roman" panose="02020603050405020304" pitchFamily="18" charset="0"/>
                  </a:rPr>
                  <a:t>is the AWGN component in frequency domain. </a:t>
                </a:r>
                <a:endParaRPr lang="en-US" sz="1600" dirty="0" smtClean="0">
                  <a:latin typeface="+mj-lt"/>
                  <a:ea typeface="Times New Roman" panose="02020603050405020304" pitchFamily="18" charset="0"/>
                </a:endParaRPr>
              </a:p>
              <a:p>
                <a:pPr algn="just">
                  <a:lnSpc>
                    <a:spcPct val="150000"/>
                  </a:lnSpc>
                  <a:spcBef>
                    <a:spcPts val="1200"/>
                  </a:spcBef>
                </a:pPr>
                <a:r>
                  <a:rPr lang="en-US" sz="1600" b="1" dirty="0" smtClean="0">
                    <a:solidFill>
                      <a:srgbClr val="FF0000"/>
                    </a:solidFill>
                    <a:latin typeface="+mj-lt"/>
                    <a:ea typeface="Times New Roman" panose="02020603050405020304" pitchFamily="18" charset="0"/>
                  </a:rPr>
                  <a:t>The </a:t>
                </a:r>
                <a:r>
                  <a:rPr lang="en-US" sz="1600" b="1" dirty="0">
                    <a:solidFill>
                      <a:srgbClr val="FF0000"/>
                    </a:solidFill>
                    <a:latin typeface="+mj-lt"/>
                    <a:ea typeface="Times New Roman" panose="02020603050405020304" pitchFamily="18" charset="0"/>
                  </a:rPr>
                  <a:t>frequency response of channel is defined as –</a:t>
                </a:r>
                <a:endParaRPr lang="en-IN" sz="1600" b="1" dirty="0">
                  <a:solidFill>
                    <a:srgbClr val="FF0000"/>
                  </a:solidFill>
                  <a:latin typeface="+mj-lt"/>
                  <a:ea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322811" y="4330883"/>
                <a:ext cx="8237913" cy="1315232"/>
              </a:xfrm>
              <a:prstGeom prst="rect">
                <a:avLst/>
              </a:prstGeom>
              <a:blipFill>
                <a:blip r:embed="rId3"/>
                <a:stretch>
                  <a:fillRect l="-444" r="-370" b="-5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2590800" y="5680701"/>
                <a:ext cx="3212674" cy="8714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𝐻</m:t>
                      </m:r>
                      <m:r>
                        <a:rPr lang="en-IN" i="0">
                          <a:latin typeface="Cambria Math" panose="02040503050406030204" pitchFamily="18" charset="0"/>
                        </a:rPr>
                        <m:t>(</m:t>
                      </m:r>
                      <m:r>
                        <a:rPr lang="en-IN" i="1">
                          <a:latin typeface="Cambria Math" panose="02040503050406030204" pitchFamily="18" charset="0"/>
                        </a:rPr>
                        <m:t>𝑘</m:t>
                      </m:r>
                      <m:r>
                        <a:rPr lang="en-IN" i="0">
                          <a:latin typeface="Cambria Math" panose="02040503050406030204" pitchFamily="18" charset="0"/>
                        </a:rPr>
                        <m:t>)=</m:t>
                      </m:r>
                      <m:nary>
                        <m:naryPr>
                          <m:chr m:val="∑"/>
                          <m:limLoc m:val="undOvr"/>
                          <m:grow m:val="on"/>
                          <m:ctrlPr>
                            <a:rPr lang="en-IN" i="1">
                              <a:latin typeface="Cambria Math" panose="02040503050406030204" pitchFamily="18" charset="0"/>
                            </a:rPr>
                          </m:ctrlPr>
                        </m:naryPr>
                        <m:sub>
                          <m:r>
                            <a:rPr lang="en-IN" i="1">
                              <a:latin typeface="Cambria Math" panose="02040503050406030204" pitchFamily="18" charset="0"/>
                            </a:rPr>
                            <m:t>𝑙</m:t>
                          </m:r>
                          <m:r>
                            <a:rPr lang="en-IN" i="0">
                              <a:latin typeface="Cambria Math" panose="02040503050406030204" pitchFamily="18" charset="0"/>
                            </a:rPr>
                            <m:t>=0</m:t>
                          </m:r>
                        </m:sub>
                        <m:sup>
                          <m:r>
                            <a:rPr lang="en-IN" i="1">
                              <a:latin typeface="Cambria Math" panose="02040503050406030204" pitchFamily="18" charset="0"/>
                            </a:rPr>
                            <m:t>𝐿</m:t>
                          </m:r>
                          <m:r>
                            <a:rPr lang="en-IN" i="0">
                              <a:latin typeface="Cambria Math" panose="02040503050406030204" pitchFamily="18" charset="0"/>
                            </a:rPr>
                            <m:t>−1</m:t>
                          </m:r>
                        </m:sup>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i="1">
                                  <a:latin typeface="Cambria Math" panose="02040503050406030204" pitchFamily="18" charset="0"/>
                                </a:rPr>
                                <m:t>𝑙</m:t>
                              </m:r>
                            </m:sub>
                          </m:sSub>
                          <m:d>
                            <m:dPr>
                              <m:ctrlPr>
                                <a:rPr lang="en-IN" i="1">
                                  <a:latin typeface="Cambria Math" panose="02040503050406030204" pitchFamily="18" charset="0"/>
                                </a:rPr>
                              </m:ctrlPr>
                            </m:dPr>
                            <m:e>
                              <m:r>
                                <a:rPr lang="en-IN" i="1">
                                  <a:latin typeface="Cambria Math" panose="02040503050406030204" pitchFamily="18" charset="0"/>
                                </a:rPr>
                                <m:t>𝜏</m:t>
                              </m:r>
                            </m:e>
                          </m:d>
                          <m:r>
                            <a:rPr lang="en-IN" i="0">
                              <a:latin typeface="Cambria Math" panose="02040503050406030204" pitchFamily="18" charset="0"/>
                            </a:rPr>
                            <m:t> </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i="0">
                                  <a:latin typeface="Cambria Math" panose="02040503050406030204" pitchFamily="18" charset="0"/>
                                </a:rPr>
                                <m:t>−</m:t>
                              </m:r>
                              <m:r>
                                <a:rPr lang="en-IN" i="1">
                                  <a:latin typeface="Cambria Math" panose="02040503050406030204" pitchFamily="18" charset="0"/>
                                </a:rPr>
                                <m:t>𝑗</m:t>
                              </m:r>
                              <m:r>
                                <a:rPr lang="en-IN" i="0">
                                  <a:latin typeface="Cambria Math" panose="02040503050406030204" pitchFamily="18" charset="0"/>
                                </a:rPr>
                                <m:t> 2 </m:t>
                              </m:r>
                              <m:r>
                                <a:rPr lang="en-IN" i="1">
                                  <a:latin typeface="Cambria Math" panose="02040503050406030204" pitchFamily="18" charset="0"/>
                                </a:rPr>
                                <m:t>𝜋</m:t>
                              </m:r>
                              <m:r>
                                <a:rPr lang="en-IN" i="0">
                                  <a:latin typeface="Cambria Math" panose="02040503050406030204" pitchFamily="18" charset="0"/>
                                </a:rPr>
                                <m:t> </m:t>
                              </m:r>
                              <m:r>
                                <a:rPr lang="en-IN" i="1">
                                  <a:latin typeface="Cambria Math" panose="02040503050406030204" pitchFamily="18" charset="0"/>
                                </a:rPr>
                                <m:t>𝑘</m:t>
                              </m:r>
                              <m:r>
                                <a:rPr lang="en-IN" i="0">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𝜏</m:t>
                                  </m:r>
                                </m:e>
                                <m:sub>
                                  <m:r>
                                    <a:rPr lang="en-IN" i="1">
                                      <a:latin typeface="Cambria Math" panose="02040503050406030204" pitchFamily="18" charset="0"/>
                                    </a:rPr>
                                    <m:t>𝑙</m:t>
                                  </m:r>
                                </m:sub>
                              </m:sSub>
                              <m:f>
                                <m:fPr>
                                  <m:type m:val="lin"/>
                                  <m:ctrlPr>
                                    <a:rPr lang="en-IN" i="1">
                                      <a:latin typeface="Cambria Math" panose="02040503050406030204" pitchFamily="18" charset="0"/>
                                    </a:rPr>
                                  </m:ctrlPr>
                                </m:fPr>
                                <m:num>
                                  <m:r>
                                    <a:rPr lang="en-IN" i="0">
                                      <a:latin typeface="Cambria Math" panose="02040503050406030204" pitchFamily="18" charset="0"/>
                                    </a:rPr>
                                    <m:t> </m:t>
                                  </m:r>
                                </m:num>
                                <m:den>
                                  <m:r>
                                    <a:rPr lang="en-IN" i="0">
                                      <a:latin typeface="Cambria Math" panose="02040503050406030204" pitchFamily="18" charset="0"/>
                                    </a:rPr>
                                    <m:t> </m:t>
                                  </m:r>
                                </m:den>
                              </m:f>
                              <m:r>
                                <a:rPr lang="en-IN" i="1">
                                  <a:latin typeface="Cambria Math" panose="02040503050406030204" pitchFamily="18" charset="0"/>
                                </a:rPr>
                                <m:t>𝑁</m:t>
                              </m:r>
                            </m:sup>
                          </m:sSup>
                        </m:e>
                      </m:nary>
                    </m:oMath>
                  </m:oMathPara>
                </a14:m>
                <a:endParaRPr lang="en-IN" dirty="0"/>
              </a:p>
            </p:txBody>
          </p:sp>
        </mc:Choice>
        <mc:Fallback xmlns="">
          <p:sp>
            <p:nvSpPr>
              <p:cNvPr id="8" name="Rectangle 7"/>
              <p:cNvSpPr>
                <a:spLocks noRot="1" noChangeAspect="1" noMove="1" noResize="1" noEditPoints="1" noAdjustHandles="1" noChangeArrowheads="1" noChangeShapeType="1" noTextEdit="1"/>
              </p:cNvSpPr>
              <p:nvPr/>
            </p:nvSpPr>
            <p:spPr>
              <a:xfrm>
                <a:off x="2590800" y="5680701"/>
                <a:ext cx="3212674" cy="871457"/>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970398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304800" y="762000"/>
                <a:ext cx="8229600" cy="1508105"/>
              </a:xfrm>
              <a:prstGeom prst="rect">
                <a:avLst/>
              </a:prstGeom>
            </p:spPr>
            <p:txBody>
              <a:bodyPr wrap="square">
                <a:spAutoFit/>
              </a:bodyPr>
              <a:lstStyle/>
              <a:p>
                <a:pPr marL="285750" indent="-285750" algn="just">
                  <a:buFont typeface="Arial" panose="020B0604020202020204" pitchFamily="34" charset="0"/>
                  <a:buChar char="•"/>
                </a:pPr>
                <a:r>
                  <a:rPr lang="en-US" dirty="0"/>
                  <a:t>It is clearly </a:t>
                </a:r>
                <a:r>
                  <a:rPr lang="en-US" dirty="0" smtClean="0"/>
                  <a:t>visible that </a:t>
                </a:r>
                <a:r>
                  <a:rPr lang="en-US" dirty="0"/>
                  <a:t>the complex data symbol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 </m:t>
                    </m:r>
                  </m:oMath>
                </a14:m>
                <a:r>
                  <a:rPr lang="en-US" dirty="0"/>
                  <a:t>can be correctly recovered by a single complex multiplication of factor</a:t>
                </a:r>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oMath>
                </a14:m>
                <a:r>
                  <a:rPr lang="en-US" dirty="0"/>
                  <a:t>, </a:t>
                </a:r>
                <a:endParaRPr lang="en-US" dirty="0" smtClean="0"/>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where</a:t>
                </a:r>
                <a14:m>
                  <m:oMath xmlns:m="http://schemas.openxmlformats.org/officeDocument/2006/math">
                    <m:r>
                      <a:rPr lang="en-US" i="1">
                        <a:latin typeface="Cambria Math" panose="02040503050406030204" pitchFamily="18" charset="0"/>
                      </a:rPr>
                      <m:t> </m:t>
                    </m:r>
                    <m:r>
                      <a:rPr lang="en-US" i="1">
                        <a:latin typeface="Cambria Math" panose="02040503050406030204" pitchFamily="18" charset="0"/>
                      </a:rPr>
                      <m:t>𝐺</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 </m:t>
                    </m:r>
                  </m:oMath>
                </a14:m>
                <a:r>
                  <a:rPr lang="en-US" dirty="0"/>
                  <a:t>is the gain of single tap frequency domain equalizer (FEQ) and is defined as – </a:t>
                </a:r>
                <a:endParaRPr lang="en-IN" sz="2000" dirty="0">
                  <a:effectLst/>
                </a:endParaRPr>
              </a:p>
            </p:txBody>
          </p:sp>
        </mc:Choice>
        <mc:Fallback xmlns="">
          <p:sp>
            <p:nvSpPr>
              <p:cNvPr id="2" name="Rectangle 1"/>
              <p:cNvSpPr>
                <a:spLocks noRot="1" noChangeAspect="1" noMove="1" noResize="1" noEditPoints="1" noAdjustHandles="1" noChangeArrowheads="1" noChangeShapeType="1" noTextEdit="1"/>
              </p:cNvSpPr>
              <p:nvPr/>
            </p:nvSpPr>
            <p:spPr>
              <a:xfrm>
                <a:off x="304800" y="762000"/>
                <a:ext cx="8229600" cy="1508105"/>
              </a:xfrm>
              <a:prstGeom prst="rect">
                <a:avLst/>
              </a:prstGeom>
              <a:blipFill>
                <a:blip r:embed="rId2"/>
                <a:stretch>
                  <a:fillRect l="-444" t="-2024" r="-593" b="-5668"/>
                </a:stretch>
              </a:blipFill>
            </p:spPr>
            <p:txBody>
              <a:bodyPr/>
              <a:lstStyle/>
              <a:p>
                <a:r>
                  <a:rPr lang="en-IN">
                    <a:noFill/>
                  </a:rPr>
                  <a:t> </a:t>
                </a:r>
              </a:p>
            </p:txBody>
          </p:sp>
        </mc:Fallback>
      </mc:AlternateContent>
      <p:sp>
        <p:nvSpPr>
          <p:cNvPr id="13314" name="Title 1"/>
          <p:cNvSpPr>
            <a:spLocks noGrp="1"/>
          </p:cNvSpPr>
          <p:nvPr>
            <p:ph type="title"/>
          </p:nvPr>
        </p:nvSpPr>
        <p:spPr>
          <a:xfrm>
            <a:off x="1524000" y="0"/>
            <a:ext cx="6172200" cy="457200"/>
          </a:xfrm>
        </p:spPr>
        <p:txBody>
          <a:bodyPr/>
          <a:lstStyle/>
          <a:p>
            <a:r>
              <a:rPr lang="en-US" altLang="en-US" sz="2200" b="1" dirty="0" smtClean="0">
                <a:solidFill>
                  <a:srgbClr val="FF0000"/>
                </a:solidFill>
              </a:rPr>
              <a:t>Receiver Model</a:t>
            </a:r>
          </a:p>
        </p:txBody>
      </p:sp>
      <mc:AlternateContent xmlns:mc="http://schemas.openxmlformats.org/markup-compatibility/2006" xmlns:a14="http://schemas.microsoft.com/office/drawing/2010/main">
        <mc:Choice Requires="a14">
          <p:sp>
            <p:nvSpPr>
              <p:cNvPr id="4" name="Rectangle 3"/>
              <p:cNvSpPr/>
              <p:nvPr/>
            </p:nvSpPr>
            <p:spPr>
              <a:xfrm>
                <a:off x="1981200" y="2359461"/>
                <a:ext cx="4572000" cy="430887"/>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𝐺</m:t>
                      </m:r>
                      <m:r>
                        <a:rPr lang="en-US" sz="2200" i="1">
                          <a:latin typeface="Cambria Math" panose="02040503050406030204" pitchFamily="18" charset="0"/>
                        </a:rPr>
                        <m:t>(</m:t>
                      </m:r>
                      <m:r>
                        <a:rPr lang="en-US" sz="2200" i="1">
                          <a:latin typeface="Cambria Math" panose="02040503050406030204" pitchFamily="18" charset="0"/>
                        </a:rPr>
                        <m:t>𝑘</m:t>
                      </m:r>
                      <m:r>
                        <a:rPr lang="en-US" sz="2200" i="1">
                          <a:latin typeface="Cambria Math" panose="02040503050406030204" pitchFamily="18" charset="0"/>
                        </a:rPr>
                        <m:t>)=</m:t>
                      </m:r>
                      <m:f>
                        <m:fPr>
                          <m:type m:val="lin"/>
                          <m:ctrlPr>
                            <a:rPr lang="en-IN" sz="2200" i="1">
                              <a:latin typeface="Cambria Math" panose="02040503050406030204" pitchFamily="18" charset="0"/>
                            </a:rPr>
                          </m:ctrlPr>
                        </m:fPr>
                        <m:num>
                          <m:r>
                            <a:rPr lang="en-US" sz="2200" i="1">
                              <a:latin typeface="Cambria Math" panose="02040503050406030204" pitchFamily="18" charset="0"/>
                            </a:rPr>
                            <m:t>1 </m:t>
                          </m:r>
                        </m:num>
                        <m:den>
                          <m:r>
                            <a:rPr lang="en-US" sz="2200" i="1">
                              <a:latin typeface="Cambria Math" panose="02040503050406030204" pitchFamily="18" charset="0"/>
                            </a:rPr>
                            <m:t> </m:t>
                          </m:r>
                          <m:r>
                            <a:rPr lang="en-US" sz="2200" i="1">
                              <a:latin typeface="Cambria Math" panose="02040503050406030204" pitchFamily="18" charset="0"/>
                            </a:rPr>
                            <m:t>𝐻</m:t>
                          </m:r>
                          <m:d>
                            <m:dPr>
                              <m:ctrlPr>
                                <a:rPr lang="en-IN" sz="2200" i="1">
                                  <a:latin typeface="Cambria Math" panose="02040503050406030204" pitchFamily="18" charset="0"/>
                                </a:rPr>
                              </m:ctrlPr>
                            </m:dPr>
                            <m:e>
                              <m:r>
                                <a:rPr lang="en-US" sz="2200" i="1">
                                  <a:latin typeface="Cambria Math" panose="02040503050406030204" pitchFamily="18" charset="0"/>
                                </a:rPr>
                                <m:t>𝑘</m:t>
                              </m:r>
                            </m:e>
                          </m:d>
                        </m:den>
                      </m:f>
                    </m:oMath>
                  </m:oMathPara>
                </a14:m>
                <a:endParaRPr lang="en-IN" sz="2200" dirty="0"/>
              </a:p>
            </p:txBody>
          </p:sp>
        </mc:Choice>
        <mc:Fallback xmlns="">
          <p:sp>
            <p:nvSpPr>
              <p:cNvPr id="4" name="Rectangle 3"/>
              <p:cNvSpPr>
                <a:spLocks noRot="1" noChangeAspect="1" noMove="1" noResize="1" noEditPoints="1" noAdjustHandles="1" noChangeArrowheads="1" noChangeShapeType="1" noTextEdit="1"/>
              </p:cNvSpPr>
              <p:nvPr/>
            </p:nvSpPr>
            <p:spPr>
              <a:xfrm>
                <a:off x="1981200" y="2359461"/>
                <a:ext cx="4572000" cy="430887"/>
              </a:xfrm>
              <a:prstGeom prst="rect">
                <a:avLst/>
              </a:prstGeom>
              <a:blipFill>
                <a:blip r:embed="rId3"/>
                <a:stretch>
                  <a:fillRect t="-118310" b="-187324"/>
                </a:stretch>
              </a:blipFill>
            </p:spPr>
            <p:txBody>
              <a:bodyPr/>
              <a:lstStyle/>
              <a:p>
                <a:r>
                  <a:rPr lang="en-IN">
                    <a:noFill/>
                  </a:rPr>
                  <a:t> </a:t>
                </a:r>
              </a:p>
            </p:txBody>
          </p:sp>
        </mc:Fallback>
      </mc:AlternateContent>
    </p:spTree>
    <p:extLst>
      <p:ext uri="{BB962C8B-B14F-4D97-AF65-F5344CB8AC3E}">
        <p14:creationId xmlns:p14="http://schemas.microsoft.com/office/powerpoint/2010/main" val="12718805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600200"/>
            <a:ext cx="8610600" cy="3048000"/>
          </a:xfrm>
        </p:spPr>
        <p:txBody>
          <a:bodyPr/>
          <a:lstStyle/>
          <a:p>
            <a:r>
              <a:rPr lang="en-US" altLang="en-US" sz="3600" b="1" dirty="0">
                <a:solidFill>
                  <a:srgbClr val="FF0000"/>
                </a:solidFill>
              </a:rPr>
              <a:t>OFDM Receiver Model</a:t>
            </a:r>
            <a:br>
              <a:rPr lang="en-US" altLang="en-US" sz="3600" b="1" dirty="0">
                <a:solidFill>
                  <a:srgbClr val="FF0000"/>
                </a:solidFill>
              </a:rPr>
            </a:br>
            <a:r>
              <a:rPr lang="en-US" altLang="en-US" sz="3600" b="1" dirty="0">
                <a:solidFill>
                  <a:srgbClr val="FF0000"/>
                </a:solidFill>
              </a:rPr>
              <a:t/>
            </a:r>
            <a:br>
              <a:rPr lang="en-US" altLang="en-US" sz="3600" b="1" dirty="0">
                <a:solidFill>
                  <a:srgbClr val="FF0000"/>
                </a:solidFill>
              </a:rPr>
            </a:br>
            <a:r>
              <a:rPr lang="en-US" altLang="en-US" sz="3600" b="1" dirty="0">
                <a:solidFill>
                  <a:srgbClr val="FF0000"/>
                </a:solidFill>
              </a:rPr>
              <a:t> (</a:t>
            </a:r>
            <a:r>
              <a:rPr lang="en-US" altLang="en-US" sz="2800" b="1" dirty="0">
                <a:solidFill>
                  <a:srgbClr val="FF0000"/>
                </a:solidFill>
              </a:rPr>
              <a:t>Detail Mathematical Explanation of Each Block</a:t>
            </a:r>
            <a:r>
              <a:rPr lang="en-US" altLang="en-US" sz="3600" b="1" dirty="0">
                <a:solidFill>
                  <a:srgbClr val="FF0000"/>
                </a:solidFill>
              </a:rPr>
              <a:t>)</a:t>
            </a:r>
            <a:endParaRPr lang="en-IN" dirty="0"/>
          </a:p>
        </p:txBody>
      </p:sp>
    </p:spTree>
    <p:extLst>
      <p:ext uri="{BB962C8B-B14F-4D97-AF65-F5344CB8AC3E}">
        <p14:creationId xmlns:p14="http://schemas.microsoft.com/office/powerpoint/2010/main" val="4252896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47700" y="66270"/>
            <a:ext cx="7543800" cy="523020"/>
          </a:xfrm>
        </p:spPr>
        <p:txBody>
          <a:bodyPr/>
          <a:lstStyle/>
          <a:p>
            <a:r>
              <a:rPr lang="en-US" altLang="en-US" sz="2200" b="1" dirty="0" smtClean="0">
                <a:solidFill>
                  <a:srgbClr val="FF0000"/>
                </a:solidFill>
              </a:rPr>
              <a:t>Receiver Model </a:t>
            </a:r>
            <a:r>
              <a:rPr lang="en-US" altLang="en-US" sz="1400" b="1" dirty="0" smtClean="0">
                <a:solidFill>
                  <a:srgbClr val="FF0000"/>
                </a:solidFill>
              </a:rPr>
              <a:t>(</a:t>
            </a:r>
            <a:r>
              <a:rPr lang="en-US" altLang="en-US" sz="1400" b="1" dirty="0">
                <a:solidFill>
                  <a:srgbClr val="FF0000"/>
                </a:solidFill>
              </a:rPr>
              <a:t>Detail Mathematical Explanation of Each </a:t>
            </a:r>
            <a:r>
              <a:rPr lang="en-US" altLang="en-US" sz="1400" b="1" dirty="0" smtClean="0">
                <a:solidFill>
                  <a:srgbClr val="FF0000"/>
                </a:solidFill>
              </a:rPr>
              <a:t>Block)</a:t>
            </a:r>
          </a:p>
        </p:txBody>
      </p:sp>
      <p:sp>
        <p:nvSpPr>
          <p:cNvPr id="3" name="Rectangle 2"/>
          <p:cNvSpPr/>
          <p:nvPr/>
        </p:nvSpPr>
        <p:spPr>
          <a:xfrm>
            <a:off x="228600" y="685800"/>
            <a:ext cx="8382000" cy="1938992"/>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ea typeface="Times New Roman" panose="02020603050405020304" pitchFamily="18" charset="0"/>
              </a:rPr>
              <a:t>First consider the case when there is no timing error (i.e. timing offset δ = 0). </a:t>
            </a:r>
            <a:endParaRPr lang="en-US" sz="2000" dirty="0" smtClean="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endParaRPr lang="en-US" sz="2000" dirty="0">
              <a:latin typeface="Times New Roman" panose="02020603050405020304" pitchFamily="18" charset="0"/>
              <a:ea typeface="Times New Roman" panose="02020603050405020304" pitchFamily="18" charset="0"/>
            </a:endParaRPr>
          </a:p>
          <a:p>
            <a:pPr marL="342900" indent="-342900" algn="just">
              <a:buFont typeface="Arial" panose="020B0604020202020204" pitchFamily="34" charset="0"/>
              <a:buChar char="•"/>
            </a:pPr>
            <a:r>
              <a:rPr lang="en-US" sz="2000" dirty="0" smtClean="0">
                <a:latin typeface="Times New Roman" panose="02020603050405020304" pitchFamily="18" charset="0"/>
                <a:ea typeface="Times New Roman" panose="02020603050405020304" pitchFamily="18" charset="0"/>
              </a:rPr>
              <a:t>This </a:t>
            </a:r>
            <a:r>
              <a:rPr lang="en-US" sz="2000" dirty="0">
                <a:latin typeface="Times New Roman" panose="02020603050405020304" pitchFamily="18" charset="0"/>
                <a:ea typeface="Times New Roman" panose="02020603050405020304" pitchFamily="18" charset="0"/>
              </a:rPr>
              <a:t>is the case when the estimated starting point of OFDM symbol coincides with the exact timing, preserving the orthogonality among sub-carriers, therefore the OFDM symbol can be perfectly recovered without any type of interference.</a:t>
            </a:r>
            <a:endParaRPr lang="en-IN" sz="2000" dirty="0"/>
          </a:p>
        </p:txBody>
      </p:sp>
      <p:sp>
        <p:nvSpPr>
          <p:cNvPr id="5" name="Rectangle 4"/>
          <p:cNvSpPr/>
          <p:nvPr/>
        </p:nvSpPr>
        <p:spPr>
          <a:xfrm>
            <a:off x="254924" y="2574160"/>
            <a:ext cx="8382000" cy="1015663"/>
          </a:xfrm>
          <a:prstGeom prst="rect">
            <a:avLst/>
          </a:prstGeom>
        </p:spPr>
        <p:txBody>
          <a:bodyPr wrap="square">
            <a:spAutoFit/>
          </a:bodyPr>
          <a:lstStyle/>
          <a:p>
            <a:pPr marL="285750" indent="-285750" algn="just">
              <a:lnSpc>
                <a:spcPct val="150000"/>
              </a:lnSpc>
              <a:spcBef>
                <a:spcPts val="600"/>
              </a:spcBef>
              <a:spcAft>
                <a:spcPts val="0"/>
              </a:spcAft>
              <a:buFont typeface="Arial" panose="020B0604020202020204" pitchFamily="34" charset="0"/>
              <a:buChar char="•"/>
              <a:tabLst>
                <a:tab pos="895350" algn="l"/>
              </a:tabLst>
            </a:pPr>
            <a:r>
              <a:rPr lang="en-US" sz="2000" dirty="0" smtClean="0">
                <a:latin typeface="Times New Roman" panose="02020603050405020304" pitchFamily="18" charset="0"/>
                <a:ea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received sampled signal, after removing the cyclic prefix during the time of one complete OFDM symbol, can be expressed in the form of a vector as –</a:t>
            </a:r>
            <a:endParaRPr lang="en-IN" sz="2000" dirty="0">
              <a:effectLst/>
              <a:latin typeface="Cambria Math"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Rectangle 5"/>
              <p:cNvSpPr/>
              <p:nvPr/>
            </p:nvSpPr>
            <p:spPr>
              <a:xfrm>
                <a:off x="2483114" y="3704143"/>
                <a:ext cx="410157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𝑟</m:t>
                          </m:r>
                        </m:e>
                        <m:sub>
                          <m:r>
                            <a:rPr lang="en-IN" sz="2000" i="1">
                              <a:latin typeface="Cambria Math" panose="02040503050406030204" pitchFamily="18" charset="0"/>
                            </a:rPr>
                            <m:t>𝑖</m:t>
                          </m:r>
                        </m:sub>
                      </m:sSub>
                      <m:r>
                        <a:rPr lang="en-IN" sz="2000" i="0">
                          <a:latin typeface="Cambria Math" panose="02040503050406030204" pitchFamily="18" charset="0"/>
                        </a:rPr>
                        <m:t>=</m:t>
                      </m:r>
                      <m:d>
                        <m:dPr>
                          <m:begChr m:val="{"/>
                          <m:endChr m:val="}"/>
                          <m:ctrlPr>
                            <a:rPr lang="en-IN" sz="2000" i="1">
                              <a:latin typeface="Cambria Math" panose="02040503050406030204" pitchFamily="18" charset="0"/>
                            </a:rPr>
                          </m:ctrlPr>
                        </m:dPr>
                        <m:e>
                          <m:d>
                            <m:dPr>
                              <m:begChr m:val=""/>
                              <m:ctrlPr>
                                <a:rPr lang="en-IN" sz="2000" i="1">
                                  <a:latin typeface="Cambria Math" panose="02040503050406030204" pitchFamily="18" charset="0"/>
                                </a:rPr>
                              </m:ctrlPr>
                            </m:dPr>
                            <m:e>
                              <m:r>
                                <a:rPr lang="en-IN" sz="2000" i="1">
                                  <a:latin typeface="Cambria Math" panose="02040503050406030204" pitchFamily="18" charset="0"/>
                                </a:rPr>
                                <m:t>𝑟</m:t>
                              </m:r>
                              <m:d>
                                <m:dPr>
                                  <m:ctrlPr>
                                    <a:rPr lang="en-IN" sz="2000" i="1">
                                      <a:latin typeface="Cambria Math" panose="02040503050406030204" pitchFamily="18" charset="0"/>
                                    </a:rPr>
                                  </m:ctrlPr>
                                </m:dPr>
                                <m:e>
                                  <m:r>
                                    <a:rPr lang="en-IN" sz="2000" i="1">
                                      <a:latin typeface="Cambria Math" panose="02040503050406030204" pitchFamily="18" charset="0"/>
                                    </a:rPr>
                                    <m:t>𝑖</m:t>
                                  </m:r>
                                  <m:r>
                                    <a:rPr lang="en-IN" sz="2000" i="0">
                                      <a:latin typeface="Cambria Math" panose="02040503050406030204" pitchFamily="18" charset="0"/>
                                    </a:rPr>
                                    <m:t>,0</m:t>
                                  </m:r>
                                </m:e>
                              </m:d>
                              <m:r>
                                <a:rPr lang="en-IN" sz="2000" i="0">
                                  <a:latin typeface="Cambria Math" panose="02040503050406030204" pitchFamily="18" charset="0"/>
                                </a:rPr>
                                <m:t>,</m:t>
                              </m:r>
                              <m:r>
                                <a:rPr lang="en-IN" sz="2000" i="1">
                                  <a:latin typeface="Cambria Math" panose="02040503050406030204" pitchFamily="18" charset="0"/>
                                </a:rPr>
                                <m:t>𝑟</m:t>
                              </m:r>
                              <m:d>
                                <m:dPr>
                                  <m:ctrlPr>
                                    <a:rPr lang="en-IN" sz="2000" i="1">
                                      <a:latin typeface="Cambria Math" panose="02040503050406030204" pitchFamily="18" charset="0"/>
                                    </a:rPr>
                                  </m:ctrlPr>
                                </m:dPr>
                                <m:e>
                                  <m:r>
                                    <a:rPr lang="en-IN" sz="2000" i="1">
                                      <a:latin typeface="Cambria Math" panose="02040503050406030204" pitchFamily="18" charset="0"/>
                                    </a:rPr>
                                    <m:t>𝑖</m:t>
                                  </m:r>
                                  <m:r>
                                    <a:rPr lang="en-IN" sz="2000" i="0">
                                      <a:latin typeface="Cambria Math" panose="02040503050406030204" pitchFamily="18" charset="0"/>
                                    </a:rPr>
                                    <m:t>,1</m:t>
                                  </m:r>
                                </m:e>
                              </m:d>
                              <m:r>
                                <a:rPr lang="en-IN" sz="2000" i="0">
                                  <a:latin typeface="Cambria Math" panose="02040503050406030204" pitchFamily="18" charset="0"/>
                                </a:rPr>
                                <m:t>,…,</m:t>
                              </m:r>
                              <m:r>
                                <a:rPr lang="en-IN" sz="2000" i="1">
                                  <a:latin typeface="Cambria Math" panose="02040503050406030204" pitchFamily="18" charset="0"/>
                                </a:rPr>
                                <m:t>𝑟</m:t>
                              </m:r>
                              <m:r>
                                <a:rPr lang="en-IN" sz="2000" i="0">
                                  <a:latin typeface="Cambria Math" panose="02040503050406030204" pitchFamily="18" charset="0"/>
                                </a:rPr>
                                <m:t>(</m:t>
                              </m:r>
                              <m:r>
                                <a:rPr lang="en-IN" sz="2000" i="1">
                                  <a:latin typeface="Cambria Math" panose="02040503050406030204" pitchFamily="18" charset="0"/>
                                </a:rPr>
                                <m:t>𝑖</m:t>
                              </m:r>
                              <m:r>
                                <a:rPr lang="en-IN" sz="2000" i="0">
                                  <a:latin typeface="Cambria Math" panose="02040503050406030204" pitchFamily="18" charset="0"/>
                                </a:rPr>
                                <m:t>,</m:t>
                              </m:r>
                              <m:r>
                                <a:rPr lang="en-IN" sz="2000" i="1">
                                  <a:latin typeface="Cambria Math" panose="02040503050406030204" pitchFamily="18" charset="0"/>
                                </a:rPr>
                                <m:t>𝑁</m:t>
                              </m:r>
                              <m:r>
                                <a:rPr lang="en-IN" sz="2000" i="0">
                                  <a:latin typeface="Cambria Math" panose="02040503050406030204" pitchFamily="18" charset="0"/>
                                </a:rPr>
                                <m:t>−1</m:t>
                              </m:r>
                            </m:e>
                          </m:d>
                        </m:e>
                      </m:d>
                      <m:r>
                        <a:rPr lang="en-IN" sz="2000" i="0">
                          <a:latin typeface="Cambria Math" panose="02040503050406030204" pitchFamily="18" charset="0"/>
                        </a:rPr>
                        <m:t> ,</m:t>
                      </m:r>
                    </m:oMath>
                  </m:oMathPara>
                </a14:m>
                <a:endParaRPr lang="en-IN" sz="2000" dirty="0"/>
              </a:p>
            </p:txBody>
          </p:sp>
        </mc:Choice>
        <mc:Fallback xmlns="">
          <p:sp>
            <p:nvSpPr>
              <p:cNvPr id="6" name="Rectangle 5"/>
              <p:cNvSpPr>
                <a:spLocks noRot="1" noChangeAspect="1" noMove="1" noResize="1" noEditPoints="1" noAdjustHandles="1" noChangeArrowheads="1" noChangeShapeType="1" noTextEdit="1"/>
              </p:cNvSpPr>
              <p:nvPr/>
            </p:nvSpPr>
            <p:spPr>
              <a:xfrm>
                <a:off x="2483114" y="3704143"/>
                <a:ext cx="4101572" cy="400110"/>
              </a:xfrm>
              <a:prstGeom prst="rect">
                <a:avLst/>
              </a:prstGeom>
              <a:blipFill>
                <a:blip r:embed="rId2"/>
                <a:stretch>
                  <a:fillRect t="-124615" r="-8767" b="-1969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609600" y="4218573"/>
                <a:ext cx="8027324" cy="955583"/>
              </a:xfrm>
              <a:prstGeom prst="rect">
                <a:avLst/>
              </a:prstGeom>
            </p:spPr>
            <p:txBody>
              <a:bodyPr wrap="square">
                <a:spAutoFit/>
              </a:bodyPr>
              <a:lstStyle/>
              <a:p>
                <a:pPr algn="just">
                  <a:lnSpc>
                    <a:spcPct val="150000"/>
                  </a:lnSpc>
                  <a:spcBef>
                    <a:spcPts val="600"/>
                  </a:spcBef>
                  <a:spcAft>
                    <a:spcPts val="0"/>
                  </a:spcAft>
                </a:pPr>
                <a:r>
                  <a:rPr lang="en-US" spc="-5" dirty="0">
                    <a:latin typeface="Times New Roman" panose="02020603050405020304" pitchFamily="18" charset="0"/>
                    <a:ea typeface="Times New Roman" panose="02020603050405020304" pitchFamily="18" charset="0"/>
                    <a:cs typeface="Times New Roman" panose="02020603050405020304" pitchFamily="18" charset="0"/>
                  </a:rPr>
                  <a:t>where, </a:t>
                </a:r>
                <a14:m>
                  <m:oMath xmlns:m="http://schemas.openxmlformats.org/officeDocument/2006/math">
                    <m:sSub>
                      <m:sSubPr>
                        <m:ctrlPr>
                          <a:rPr lang="en-IN" sz="1800" i="1" spc="-5">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𝑟</m:t>
                        </m:r>
                      </m:e>
                      <m:sub>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represents the current vector for FFT operation </a:t>
                </a:r>
                <a:r>
                  <a:rPr lang="en-US" sz="1800" spc="-5" dirty="0" smtClean="0">
                    <a:effectLst/>
                    <a:latin typeface="Times New Roman" panose="02020603050405020304" pitchFamily="18" charset="0"/>
                    <a:ea typeface="Times New Roman" panose="02020603050405020304" pitchFamily="18" charset="0"/>
                    <a:cs typeface="Times New Roman" panose="02020603050405020304" pitchFamily="18" charset="0"/>
                  </a:rPr>
                  <a:t>and</a:t>
                </a:r>
              </a:p>
              <a:p>
                <a:pPr algn="just">
                  <a:lnSpc>
                    <a:spcPct val="150000"/>
                  </a:lnSpc>
                  <a:spcBef>
                    <a:spcPts val="600"/>
                  </a:spcBef>
                  <a:spcAft>
                    <a:spcPts val="0"/>
                  </a:spcAft>
                </a:pPr>
                <a:r>
                  <a:rPr lang="en-US" sz="1800" spc="-5" dirty="0" smtClean="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𝑟</m:t>
                    </m:r>
                    <m:d>
                      <m:dPr>
                        <m:ctrlPr>
                          <a:rPr lang="en-IN" sz="1800" i="1" spc="-5">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is the</a:t>
                </a:r>
                <a14:m>
                  <m:oMath xmlns:m="http://schemas.openxmlformats.org/officeDocument/2006/math">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sz="1800" i="1" spc="-5">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𝑛</m:t>
                        </m:r>
                      </m:e>
                      <m:sup>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𝑡h</m:t>
                        </m:r>
                      </m:sup>
                    </m:sSup>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sample of</a:t>
                </a:r>
                <a14:m>
                  <m:oMath xmlns:m="http://schemas.openxmlformats.org/officeDocument/2006/math">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sz="1800" i="1" spc="-5">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𝑖</m:t>
                        </m:r>
                      </m:e>
                      <m:sup>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𝑡h</m:t>
                        </m:r>
                      </m:sup>
                    </m:sSup>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OFDM symbol which can be expressed as –</a:t>
                </a:r>
                <a:endParaRPr lang="en-IN" sz="2000" dirty="0">
                  <a:effectLst/>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609600" y="4218573"/>
                <a:ext cx="8027324" cy="955583"/>
              </a:xfrm>
              <a:prstGeom prst="rect">
                <a:avLst/>
              </a:prstGeom>
              <a:blipFill>
                <a:blip r:embed="rId3"/>
                <a:stretch>
                  <a:fillRect l="-607" b="-955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762000" y="5367177"/>
                <a:ext cx="4202048" cy="8714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𝑟</m:t>
                      </m:r>
                      <m:d>
                        <m:dPr>
                          <m:ctrlPr>
                            <a:rPr lang="en-IN" i="1">
                              <a:latin typeface="Cambria Math" panose="02040503050406030204" pitchFamily="18" charset="0"/>
                            </a:rPr>
                          </m:ctrlPr>
                        </m:dPr>
                        <m:e>
                          <m:r>
                            <a:rPr lang="en-IN" i="1">
                              <a:latin typeface="Cambria Math" panose="02040503050406030204" pitchFamily="18" charset="0"/>
                            </a:rPr>
                            <m:t>𝑖</m:t>
                          </m:r>
                          <m:r>
                            <a:rPr lang="en-IN" i="0">
                              <a:latin typeface="Cambria Math" panose="02040503050406030204" pitchFamily="18" charset="0"/>
                            </a:rPr>
                            <m:t>,</m:t>
                          </m:r>
                          <m:r>
                            <a:rPr lang="en-IN" i="1">
                              <a:latin typeface="Cambria Math" panose="02040503050406030204" pitchFamily="18" charset="0"/>
                            </a:rPr>
                            <m:t>𝑛</m:t>
                          </m:r>
                        </m:e>
                      </m:d>
                      <m:r>
                        <a:rPr lang="en-IN" i="0">
                          <a:latin typeface="Cambria Math" panose="02040503050406030204" pitchFamily="18" charset="0"/>
                        </a:rPr>
                        <m:t>= </m:t>
                      </m:r>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𝑙</m:t>
                          </m:r>
                          <m:r>
                            <a:rPr lang="en-IN" i="0">
                              <a:latin typeface="Cambria Math" panose="02040503050406030204" pitchFamily="18" charset="0"/>
                            </a:rPr>
                            <m:t>=0</m:t>
                          </m:r>
                        </m:sub>
                        <m:sup>
                          <m:r>
                            <a:rPr lang="en-IN" i="1">
                              <a:latin typeface="Cambria Math" panose="02040503050406030204" pitchFamily="18" charset="0"/>
                            </a:rPr>
                            <m:t>𝐿</m:t>
                          </m:r>
                          <m:r>
                            <a:rPr lang="en-IN" i="0">
                              <a:latin typeface="Cambria Math" panose="02040503050406030204" pitchFamily="18" charset="0"/>
                            </a:rPr>
                            <m:t>−1</m:t>
                          </m:r>
                        </m:sup>
                        <m:e>
                          <m:d>
                            <m:dPr>
                              <m:begChr m:val=""/>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i="1">
                                      <a:latin typeface="Cambria Math" panose="02040503050406030204" pitchFamily="18" charset="0"/>
                                    </a:rPr>
                                    <m:t>𝑙</m:t>
                                  </m:r>
                                </m:sub>
                              </m:sSub>
                              <m:d>
                                <m:dPr>
                                  <m:ctrlPr>
                                    <a:rPr lang="en-IN" i="1">
                                      <a:latin typeface="Cambria Math" panose="02040503050406030204" pitchFamily="18" charset="0"/>
                                    </a:rPr>
                                  </m:ctrlPr>
                                </m:dPr>
                                <m:e>
                                  <m:r>
                                    <a:rPr lang="en-IN" i="1">
                                      <a:latin typeface="Cambria Math" panose="02040503050406030204" pitchFamily="18" charset="0"/>
                                    </a:rPr>
                                    <m:t>𝜏</m:t>
                                  </m:r>
                                </m:e>
                              </m:d>
                              <m:r>
                                <a:rPr lang="en-IN" i="0">
                                  <a:latin typeface="Cambria Math" panose="02040503050406030204" pitchFamily="18" charset="0"/>
                                </a:rPr>
                                <m:t> </m:t>
                              </m:r>
                              <m:r>
                                <a:rPr lang="en-IN" i="1">
                                  <a:latin typeface="Cambria Math" panose="02040503050406030204" pitchFamily="18" charset="0"/>
                                </a:rPr>
                                <m:t>𝑥</m:t>
                              </m:r>
                              <m:d>
                                <m:dPr>
                                  <m:ctrlPr>
                                    <a:rPr lang="en-IN" i="1">
                                      <a:latin typeface="Cambria Math" panose="02040503050406030204" pitchFamily="18" charset="0"/>
                                    </a:rPr>
                                  </m:ctrlPr>
                                </m:dPr>
                                <m:e>
                                  <m:r>
                                    <a:rPr lang="en-IN" i="1">
                                      <a:latin typeface="Cambria Math" panose="02040503050406030204" pitchFamily="18" charset="0"/>
                                    </a:rPr>
                                    <m:t>𝑖</m:t>
                                  </m:r>
                                  <m:r>
                                    <a:rPr lang="en-IN" i="0">
                                      <a:latin typeface="Cambria Math" panose="02040503050406030204" pitchFamily="18" charset="0"/>
                                    </a:rPr>
                                    <m:t>,</m:t>
                                  </m:r>
                                  <m:r>
                                    <a:rPr lang="en-IN" i="1">
                                      <a:latin typeface="Cambria Math" panose="02040503050406030204" pitchFamily="18" charset="0"/>
                                    </a:rPr>
                                    <m:t>𝑛</m:t>
                                  </m:r>
                                  <m:r>
                                    <a:rPr lang="en-IN" i="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𝜏</m:t>
                                      </m:r>
                                    </m:e>
                                    <m:sub>
                                      <m:r>
                                        <a:rPr lang="en-IN" i="1">
                                          <a:latin typeface="Cambria Math" panose="02040503050406030204" pitchFamily="18" charset="0"/>
                                        </a:rPr>
                                        <m:t>𝑙</m:t>
                                      </m:r>
                                    </m:sub>
                                  </m:sSub>
                                </m:e>
                              </m:d>
                              <m:r>
                                <a:rPr lang="en-IN" i="0">
                                  <a:latin typeface="Cambria Math" panose="02040503050406030204" pitchFamily="18" charset="0"/>
                                </a:rPr>
                                <m:t>+</m:t>
                              </m:r>
                              <m:r>
                                <a:rPr lang="en-IN" i="1">
                                  <a:latin typeface="Cambria Math" panose="02040503050406030204" pitchFamily="18" charset="0"/>
                                </a:rPr>
                                <m:t>𝑤</m:t>
                              </m:r>
                              <m:r>
                                <a:rPr lang="en-IN" i="0">
                                  <a:latin typeface="Cambria Math" panose="02040503050406030204" pitchFamily="18" charset="0"/>
                                </a:rPr>
                                <m:t>(</m:t>
                              </m:r>
                              <m:r>
                                <a:rPr lang="en-IN" i="1">
                                  <a:latin typeface="Cambria Math" panose="02040503050406030204" pitchFamily="18" charset="0"/>
                                </a:rPr>
                                <m:t>𝑖</m:t>
                              </m:r>
                              <m:r>
                                <a:rPr lang="en-IN" i="0">
                                  <a:latin typeface="Cambria Math" panose="02040503050406030204" pitchFamily="18" charset="0"/>
                                </a:rPr>
                                <m:t>,</m:t>
                              </m:r>
                              <m:r>
                                <a:rPr lang="en-IN" i="1">
                                  <a:latin typeface="Cambria Math" panose="02040503050406030204" pitchFamily="18" charset="0"/>
                                </a:rPr>
                                <m:t>𝑛</m:t>
                              </m:r>
                            </m:e>
                          </m:d>
                        </m:e>
                      </m:nary>
                      <m:r>
                        <a:rPr lang="en-IN" i="0">
                          <a:latin typeface="Cambria Math" panose="02040503050406030204" pitchFamily="18" charset="0"/>
                        </a:rPr>
                        <m:t>,</m:t>
                      </m:r>
                    </m:oMath>
                  </m:oMathPara>
                </a14:m>
                <a:endParaRPr lang="en-IN" dirty="0"/>
              </a:p>
            </p:txBody>
          </p:sp>
        </mc:Choice>
        <mc:Fallback xmlns="">
          <p:sp>
            <p:nvSpPr>
              <p:cNvPr id="8" name="Rectangle 7"/>
              <p:cNvSpPr>
                <a:spLocks noRot="1" noChangeAspect="1" noMove="1" noResize="1" noEditPoints="1" noAdjustHandles="1" noChangeArrowheads="1" noChangeShapeType="1" noTextEdit="1"/>
              </p:cNvSpPr>
              <p:nvPr/>
            </p:nvSpPr>
            <p:spPr>
              <a:xfrm>
                <a:off x="762000" y="5367177"/>
                <a:ext cx="4202048" cy="87145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038600" y="6108866"/>
                <a:ext cx="414696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 </m:t>
                      </m:r>
                      <m:r>
                        <a:rPr lang="en-IN" i="1">
                          <a:latin typeface="Cambria Math" panose="02040503050406030204" pitchFamily="18" charset="0"/>
                        </a:rPr>
                        <m:t>𝑓𝑜𝑟</m:t>
                      </m:r>
                      <m:r>
                        <a:rPr lang="en-IN" i="0">
                          <a:latin typeface="Cambria Math" panose="02040503050406030204" pitchFamily="18" charset="0"/>
                        </a:rPr>
                        <m:t>    </m:t>
                      </m:r>
                      <m:r>
                        <a:rPr lang="en-IN" i="1">
                          <a:latin typeface="Cambria Math" panose="02040503050406030204" pitchFamily="18" charset="0"/>
                        </a:rPr>
                        <m:t>𝑛</m:t>
                      </m:r>
                      <m:r>
                        <a:rPr lang="en-IN" i="0">
                          <a:latin typeface="Cambria Math" panose="02040503050406030204" pitchFamily="18" charset="0"/>
                        </a:rPr>
                        <m:t>=−</m:t>
                      </m:r>
                      <m:r>
                        <a:rPr lang="en-IN" i="1">
                          <a:latin typeface="Cambria Math" panose="02040503050406030204" pitchFamily="18" charset="0"/>
                        </a:rPr>
                        <m:t>𝐺</m:t>
                      </m:r>
                      <m:r>
                        <a:rPr lang="en-IN" i="0">
                          <a:latin typeface="Cambria Math" panose="02040503050406030204" pitchFamily="18" charset="0"/>
                        </a:rPr>
                        <m:t>,−</m:t>
                      </m:r>
                      <m:r>
                        <a:rPr lang="en-IN" i="1">
                          <a:latin typeface="Cambria Math" panose="02040503050406030204" pitchFamily="18" charset="0"/>
                        </a:rPr>
                        <m:t>𝐺</m:t>
                      </m:r>
                      <m:r>
                        <a:rPr lang="en-IN" i="0">
                          <a:latin typeface="Cambria Math" panose="02040503050406030204" pitchFamily="18" charset="0"/>
                        </a:rPr>
                        <m:t>+1,…, 0, 1,…, </m:t>
                      </m:r>
                      <m:r>
                        <a:rPr lang="en-IN" i="1">
                          <a:latin typeface="Cambria Math" panose="02040503050406030204" pitchFamily="18" charset="0"/>
                        </a:rPr>
                        <m:t>𝑁</m:t>
                      </m:r>
                      <m:r>
                        <a:rPr lang="en-IN" i="0">
                          <a:latin typeface="Cambria Math" panose="02040503050406030204" pitchFamily="18" charset="0"/>
                        </a:rPr>
                        <m:t>−1</m:t>
                      </m:r>
                    </m:oMath>
                  </m:oMathPara>
                </a14:m>
                <a:endParaRPr lang="en-IN" dirty="0"/>
              </a:p>
            </p:txBody>
          </p:sp>
        </mc:Choice>
        <mc:Fallback xmlns="">
          <p:sp>
            <p:nvSpPr>
              <p:cNvPr id="9" name="Rectangle 8"/>
              <p:cNvSpPr>
                <a:spLocks noRot="1" noChangeAspect="1" noMove="1" noResize="1" noEditPoints="1" noAdjustHandles="1" noChangeArrowheads="1" noChangeShapeType="1" noTextEdit="1"/>
              </p:cNvSpPr>
              <p:nvPr/>
            </p:nvSpPr>
            <p:spPr>
              <a:xfrm>
                <a:off x="4038600" y="6108866"/>
                <a:ext cx="4146969" cy="369332"/>
              </a:xfrm>
              <a:prstGeom prst="rect">
                <a:avLst/>
              </a:prstGeom>
              <a:blipFill>
                <a:blip r:embed="rId5"/>
                <a:stretch>
                  <a:fillRect b="-14754"/>
                </a:stretch>
              </a:blipFill>
            </p:spPr>
            <p:txBody>
              <a:bodyPr/>
              <a:lstStyle/>
              <a:p>
                <a:r>
                  <a:rPr lang="en-IN">
                    <a:noFill/>
                  </a:rPr>
                  <a:t> </a:t>
                </a:r>
              </a:p>
            </p:txBody>
          </p:sp>
        </mc:Fallback>
      </mc:AlternateContent>
    </p:spTree>
    <p:extLst>
      <p:ext uri="{BB962C8B-B14F-4D97-AF65-F5344CB8AC3E}">
        <p14:creationId xmlns:p14="http://schemas.microsoft.com/office/powerpoint/2010/main" val="38150079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449185" y="49244"/>
            <a:ext cx="6821241" cy="489734"/>
          </a:xfrm>
        </p:spPr>
        <p:txBody>
          <a:bodyPr/>
          <a:lstStyle/>
          <a:p>
            <a:r>
              <a:rPr lang="en-US" altLang="en-US" sz="2200" b="1" dirty="0">
                <a:solidFill>
                  <a:srgbClr val="FF0000"/>
                </a:solidFill>
              </a:rPr>
              <a:t>Receiver Model </a:t>
            </a:r>
            <a:r>
              <a:rPr lang="en-US" altLang="en-US" sz="1400" b="1" dirty="0">
                <a:solidFill>
                  <a:srgbClr val="FF0000"/>
                </a:solidFill>
              </a:rPr>
              <a:t>(Detail Mathematical Explanation of Each Block)</a:t>
            </a:r>
            <a:endParaRPr lang="en-US" altLang="en-US" sz="1400" b="1" dirty="0" smtClean="0">
              <a:solidFill>
                <a:srgbClr val="FF0000"/>
              </a:solidFill>
            </a:endParaRPr>
          </a:p>
        </p:txBody>
      </p:sp>
      <mc:AlternateContent xmlns:mc="http://schemas.openxmlformats.org/markup-compatibility/2006" xmlns:a14="http://schemas.microsoft.com/office/drawing/2010/main">
        <mc:Choice Requires="a14">
          <p:sp>
            <p:nvSpPr>
              <p:cNvPr id="8" name="Rectangle 7"/>
              <p:cNvSpPr/>
              <p:nvPr/>
            </p:nvSpPr>
            <p:spPr>
              <a:xfrm>
                <a:off x="152400" y="457200"/>
                <a:ext cx="4202048" cy="8714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𝑟</m:t>
                      </m:r>
                      <m:d>
                        <m:dPr>
                          <m:ctrlPr>
                            <a:rPr lang="en-IN" i="1">
                              <a:latin typeface="Cambria Math" panose="02040503050406030204" pitchFamily="18" charset="0"/>
                            </a:rPr>
                          </m:ctrlPr>
                        </m:dPr>
                        <m:e>
                          <m:r>
                            <a:rPr lang="en-IN" i="1">
                              <a:latin typeface="Cambria Math" panose="02040503050406030204" pitchFamily="18" charset="0"/>
                            </a:rPr>
                            <m:t>𝑖</m:t>
                          </m:r>
                          <m:r>
                            <a:rPr lang="en-IN" i="0">
                              <a:latin typeface="Cambria Math" panose="02040503050406030204" pitchFamily="18" charset="0"/>
                            </a:rPr>
                            <m:t>,</m:t>
                          </m:r>
                          <m:r>
                            <a:rPr lang="en-IN" i="1">
                              <a:latin typeface="Cambria Math" panose="02040503050406030204" pitchFamily="18" charset="0"/>
                            </a:rPr>
                            <m:t>𝑛</m:t>
                          </m:r>
                        </m:e>
                      </m:d>
                      <m:r>
                        <a:rPr lang="en-IN" i="0">
                          <a:latin typeface="Cambria Math" panose="02040503050406030204" pitchFamily="18" charset="0"/>
                        </a:rPr>
                        <m:t>= </m:t>
                      </m:r>
                      <m:nary>
                        <m:naryPr>
                          <m:chr m:val="∑"/>
                          <m:limLoc m:val="undOvr"/>
                          <m:ctrlPr>
                            <a:rPr lang="en-IN" i="1">
                              <a:latin typeface="Cambria Math" panose="02040503050406030204" pitchFamily="18" charset="0"/>
                            </a:rPr>
                          </m:ctrlPr>
                        </m:naryPr>
                        <m:sub>
                          <m:r>
                            <a:rPr lang="en-IN" i="1">
                              <a:latin typeface="Cambria Math" panose="02040503050406030204" pitchFamily="18" charset="0"/>
                            </a:rPr>
                            <m:t>𝑙</m:t>
                          </m:r>
                          <m:r>
                            <a:rPr lang="en-IN" i="0">
                              <a:latin typeface="Cambria Math" panose="02040503050406030204" pitchFamily="18" charset="0"/>
                            </a:rPr>
                            <m:t>=0</m:t>
                          </m:r>
                        </m:sub>
                        <m:sup>
                          <m:r>
                            <a:rPr lang="en-IN" i="1">
                              <a:latin typeface="Cambria Math" panose="02040503050406030204" pitchFamily="18" charset="0"/>
                            </a:rPr>
                            <m:t>𝐿</m:t>
                          </m:r>
                          <m:r>
                            <a:rPr lang="en-IN" i="0">
                              <a:latin typeface="Cambria Math" panose="02040503050406030204" pitchFamily="18" charset="0"/>
                            </a:rPr>
                            <m:t>−1</m:t>
                          </m:r>
                        </m:sup>
                        <m:e>
                          <m:d>
                            <m:dPr>
                              <m:begChr m:val=""/>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h</m:t>
                                  </m:r>
                                </m:e>
                                <m:sub>
                                  <m:r>
                                    <a:rPr lang="en-IN" i="1">
                                      <a:latin typeface="Cambria Math" panose="02040503050406030204" pitchFamily="18" charset="0"/>
                                    </a:rPr>
                                    <m:t>𝑙</m:t>
                                  </m:r>
                                </m:sub>
                              </m:sSub>
                              <m:d>
                                <m:dPr>
                                  <m:ctrlPr>
                                    <a:rPr lang="en-IN" i="1">
                                      <a:latin typeface="Cambria Math" panose="02040503050406030204" pitchFamily="18" charset="0"/>
                                    </a:rPr>
                                  </m:ctrlPr>
                                </m:dPr>
                                <m:e>
                                  <m:r>
                                    <a:rPr lang="en-IN" i="1">
                                      <a:latin typeface="Cambria Math" panose="02040503050406030204" pitchFamily="18" charset="0"/>
                                    </a:rPr>
                                    <m:t>𝜏</m:t>
                                  </m:r>
                                </m:e>
                              </m:d>
                              <m:r>
                                <a:rPr lang="en-IN" i="0">
                                  <a:latin typeface="Cambria Math" panose="02040503050406030204" pitchFamily="18" charset="0"/>
                                </a:rPr>
                                <m:t> </m:t>
                              </m:r>
                              <m:r>
                                <a:rPr lang="en-IN" i="1">
                                  <a:latin typeface="Cambria Math" panose="02040503050406030204" pitchFamily="18" charset="0"/>
                                </a:rPr>
                                <m:t>𝑥</m:t>
                              </m:r>
                              <m:d>
                                <m:dPr>
                                  <m:ctrlPr>
                                    <a:rPr lang="en-IN" i="1">
                                      <a:latin typeface="Cambria Math" panose="02040503050406030204" pitchFamily="18" charset="0"/>
                                    </a:rPr>
                                  </m:ctrlPr>
                                </m:dPr>
                                <m:e>
                                  <m:r>
                                    <a:rPr lang="en-IN" i="1">
                                      <a:latin typeface="Cambria Math" panose="02040503050406030204" pitchFamily="18" charset="0"/>
                                    </a:rPr>
                                    <m:t>𝑖</m:t>
                                  </m:r>
                                  <m:r>
                                    <a:rPr lang="en-IN" i="0">
                                      <a:latin typeface="Cambria Math" panose="02040503050406030204" pitchFamily="18" charset="0"/>
                                    </a:rPr>
                                    <m:t>,</m:t>
                                  </m:r>
                                  <m:r>
                                    <a:rPr lang="en-IN" i="1">
                                      <a:latin typeface="Cambria Math" panose="02040503050406030204" pitchFamily="18" charset="0"/>
                                    </a:rPr>
                                    <m:t>𝑛</m:t>
                                  </m:r>
                                  <m:r>
                                    <a:rPr lang="en-IN" i="0">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𝜏</m:t>
                                      </m:r>
                                    </m:e>
                                    <m:sub>
                                      <m:r>
                                        <a:rPr lang="en-IN" i="1">
                                          <a:latin typeface="Cambria Math" panose="02040503050406030204" pitchFamily="18" charset="0"/>
                                        </a:rPr>
                                        <m:t>𝑙</m:t>
                                      </m:r>
                                    </m:sub>
                                  </m:sSub>
                                </m:e>
                              </m:d>
                              <m:r>
                                <a:rPr lang="en-IN" i="0">
                                  <a:latin typeface="Cambria Math" panose="02040503050406030204" pitchFamily="18" charset="0"/>
                                </a:rPr>
                                <m:t>+</m:t>
                              </m:r>
                              <m:r>
                                <a:rPr lang="en-IN" i="1">
                                  <a:latin typeface="Cambria Math" panose="02040503050406030204" pitchFamily="18" charset="0"/>
                                </a:rPr>
                                <m:t>𝑤</m:t>
                              </m:r>
                              <m:r>
                                <a:rPr lang="en-IN" i="0">
                                  <a:latin typeface="Cambria Math" panose="02040503050406030204" pitchFamily="18" charset="0"/>
                                </a:rPr>
                                <m:t>(</m:t>
                              </m:r>
                              <m:r>
                                <a:rPr lang="en-IN" i="1">
                                  <a:latin typeface="Cambria Math" panose="02040503050406030204" pitchFamily="18" charset="0"/>
                                </a:rPr>
                                <m:t>𝑖</m:t>
                              </m:r>
                              <m:r>
                                <a:rPr lang="en-IN" i="0">
                                  <a:latin typeface="Cambria Math" panose="02040503050406030204" pitchFamily="18" charset="0"/>
                                </a:rPr>
                                <m:t>,</m:t>
                              </m:r>
                              <m:r>
                                <a:rPr lang="en-IN" i="1">
                                  <a:latin typeface="Cambria Math" panose="02040503050406030204" pitchFamily="18" charset="0"/>
                                </a:rPr>
                                <m:t>𝑛</m:t>
                              </m:r>
                            </m:e>
                          </m:d>
                        </m:e>
                      </m:nary>
                      <m:r>
                        <a:rPr lang="en-IN" i="0">
                          <a:latin typeface="Cambria Math" panose="02040503050406030204" pitchFamily="18" charset="0"/>
                        </a:rPr>
                        <m:t>,</m:t>
                      </m:r>
                    </m:oMath>
                  </m:oMathPara>
                </a14:m>
                <a:endParaRPr lang="en-IN" dirty="0"/>
              </a:p>
            </p:txBody>
          </p:sp>
        </mc:Choice>
        <mc:Fallback xmlns="">
          <p:sp>
            <p:nvSpPr>
              <p:cNvPr id="8" name="Rectangle 7"/>
              <p:cNvSpPr>
                <a:spLocks noRot="1" noChangeAspect="1" noMove="1" noResize="1" noEditPoints="1" noAdjustHandles="1" noChangeArrowheads="1" noChangeShapeType="1" noTextEdit="1"/>
              </p:cNvSpPr>
              <p:nvPr/>
            </p:nvSpPr>
            <p:spPr>
              <a:xfrm>
                <a:off x="152400" y="457200"/>
                <a:ext cx="4202048" cy="871457"/>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724400" y="686095"/>
                <a:ext cx="414696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 </m:t>
                      </m:r>
                      <m:r>
                        <a:rPr lang="en-IN" i="1">
                          <a:latin typeface="Cambria Math" panose="02040503050406030204" pitchFamily="18" charset="0"/>
                        </a:rPr>
                        <m:t>𝑓𝑜𝑟</m:t>
                      </m:r>
                      <m:r>
                        <a:rPr lang="en-IN" i="0">
                          <a:latin typeface="Cambria Math" panose="02040503050406030204" pitchFamily="18" charset="0"/>
                        </a:rPr>
                        <m:t>    </m:t>
                      </m:r>
                      <m:r>
                        <a:rPr lang="en-IN" i="1">
                          <a:latin typeface="Cambria Math" panose="02040503050406030204" pitchFamily="18" charset="0"/>
                        </a:rPr>
                        <m:t>𝑛</m:t>
                      </m:r>
                      <m:r>
                        <a:rPr lang="en-IN" i="0">
                          <a:latin typeface="Cambria Math" panose="02040503050406030204" pitchFamily="18" charset="0"/>
                        </a:rPr>
                        <m:t>=−</m:t>
                      </m:r>
                      <m:r>
                        <a:rPr lang="en-IN" i="1">
                          <a:latin typeface="Cambria Math" panose="02040503050406030204" pitchFamily="18" charset="0"/>
                        </a:rPr>
                        <m:t>𝐺</m:t>
                      </m:r>
                      <m:r>
                        <a:rPr lang="en-IN" i="0">
                          <a:latin typeface="Cambria Math" panose="02040503050406030204" pitchFamily="18" charset="0"/>
                        </a:rPr>
                        <m:t>,−</m:t>
                      </m:r>
                      <m:r>
                        <a:rPr lang="en-IN" i="1">
                          <a:latin typeface="Cambria Math" panose="02040503050406030204" pitchFamily="18" charset="0"/>
                        </a:rPr>
                        <m:t>𝐺</m:t>
                      </m:r>
                      <m:r>
                        <a:rPr lang="en-IN" i="0">
                          <a:latin typeface="Cambria Math" panose="02040503050406030204" pitchFamily="18" charset="0"/>
                        </a:rPr>
                        <m:t>+1,…, 0, 1,…, </m:t>
                      </m:r>
                      <m:r>
                        <a:rPr lang="en-IN" i="1">
                          <a:latin typeface="Cambria Math" panose="02040503050406030204" pitchFamily="18" charset="0"/>
                        </a:rPr>
                        <m:t>𝑁</m:t>
                      </m:r>
                      <m:r>
                        <a:rPr lang="en-IN" i="0">
                          <a:latin typeface="Cambria Math" panose="02040503050406030204" pitchFamily="18" charset="0"/>
                        </a:rPr>
                        <m:t>−1</m:t>
                      </m:r>
                    </m:oMath>
                  </m:oMathPara>
                </a14:m>
                <a:endParaRPr lang="en-IN" dirty="0"/>
              </a:p>
            </p:txBody>
          </p:sp>
        </mc:Choice>
        <mc:Fallback xmlns="">
          <p:sp>
            <p:nvSpPr>
              <p:cNvPr id="9" name="Rectangle 8"/>
              <p:cNvSpPr>
                <a:spLocks noRot="1" noChangeAspect="1" noMove="1" noResize="1" noEditPoints="1" noAdjustHandles="1" noChangeArrowheads="1" noChangeShapeType="1" noTextEdit="1"/>
              </p:cNvSpPr>
              <p:nvPr/>
            </p:nvSpPr>
            <p:spPr>
              <a:xfrm>
                <a:off x="4724400" y="686095"/>
                <a:ext cx="4146969" cy="369332"/>
              </a:xfrm>
              <a:prstGeom prst="rect">
                <a:avLst/>
              </a:prstGeom>
              <a:blipFill>
                <a:blip r:embed="rId3"/>
                <a:stretch>
                  <a:fillRect b="-15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0" y="1427227"/>
                <a:ext cx="8714813" cy="928267"/>
              </a:xfrm>
              <a:prstGeom prst="rect">
                <a:avLst/>
              </a:prstGeom>
            </p:spPr>
            <p:txBody>
              <a:bodyPr wrap="square">
                <a:spAutoFit/>
              </a:bodyPr>
              <a:lstStyle/>
              <a:p>
                <a:pPr algn="just"/>
                <a:r>
                  <a:rPr lang="en-US" spc="-5" dirty="0">
                    <a:latin typeface="Times New Roman" panose="02020603050405020304" pitchFamily="18" charset="0"/>
                    <a:ea typeface="Times New Roman" panose="02020603050405020304" pitchFamily="18" charset="0"/>
                  </a:rPr>
                  <a:t>where,</a:t>
                </a:r>
                <a14:m>
                  <m:oMath xmlns:m="http://schemas.openxmlformats.org/officeDocument/2006/math">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𝑥</m:t>
                    </m:r>
                    <m:d>
                      <m:dPr>
                        <m:ctrlPr>
                          <a:rPr lang="en-IN" sz="1800" i="1" spc="-5">
                            <a:effectLst/>
                            <a:latin typeface="Cambria Math" panose="02040503050406030204" pitchFamily="18" charset="0"/>
                          </a:rPr>
                        </m:ctrlPr>
                      </m:dPr>
                      <m:e>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spc="-5" dirty="0">
                    <a:effectLst/>
                    <a:latin typeface="Times New Roman" panose="02020603050405020304" pitchFamily="18" charset="0"/>
                    <a:ea typeface="Times New Roman" panose="02020603050405020304" pitchFamily="18" charset="0"/>
                  </a:rPr>
                  <a:t>is the transmitted OFDM signal, </a:t>
                </a:r>
                <a14:m>
                  <m:oMath xmlns:m="http://schemas.openxmlformats.org/officeDocument/2006/math">
                    <m:sSub>
                      <m:sSubPr>
                        <m:ctrlPr>
                          <a:rPr lang="en-IN" sz="1800" i="1" spc="-5">
                            <a:effectLst/>
                            <a:latin typeface="Cambria Math" panose="02040503050406030204" pitchFamily="18" charset="0"/>
                          </a:rPr>
                        </m:ctrlPr>
                      </m:sSubPr>
                      <m:e>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h</m:t>
                        </m:r>
                      </m:e>
                      <m:sub>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𝑙</m:t>
                        </m:r>
                      </m:sub>
                    </m:sSub>
                    <m:d>
                      <m:dPr>
                        <m:ctrlPr>
                          <a:rPr lang="en-IN" sz="1800" i="1" spc="-5">
                            <a:effectLst/>
                            <a:latin typeface="Cambria Math" panose="02040503050406030204" pitchFamily="18" charset="0"/>
                          </a:rPr>
                        </m:ctrlPr>
                      </m:dPr>
                      <m:e>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𝑛</m:t>
                        </m:r>
                      </m:e>
                    </m:d>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spc="-5" dirty="0">
                    <a:effectLst/>
                    <a:latin typeface="Times New Roman" panose="02020603050405020304" pitchFamily="18" charset="0"/>
                    <a:ea typeface="Times New Roman" panose="02020603050405020304" pitchFamily="18" charset="0"/>
                  </a:rPr>
                  <a:t>is the impulse response of multipath fading channel, </a:t>
                </a:r>
                <a14:m>
                  <m:oMath xmlns:m="http://schemas.openxmlformats.org/officeDocument/2006/math">
                    <m:sSub>
                      <m:sSubPr>
                        <m:ctrlPr>
                          <a:rPr lang="en-IN" sz="1800" i="1" spc="-5">
                            <a:effectLst/>
                            <a:latin typeface="Cambria Math" panose="02040503050406030204" pitchFamily="18" charset="0"/>
                          </a:rPr>
                        </m:ctrlPr>
                      </m:sSubPr>
                      <m:e>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𝑙</m:t>
                        </m:r>
                      </m:sub>
                    </m:sSub>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spc="-5" dirty="0">
                    <a:effectLst/>
                    <a:latin typeface="Times New Roman" panose="02020603050405020304" pitchFamily="18" charset="0"/>
                    <a:ea typeface="Times New Roman" panose="02020603050405020304" pitchFamily="18" charset="0"/>
                  </a:rPr>
                  <a:t>is the path delay of </a:t>
                </a:r>
                <a14:m>
                  <m:oMath xmlns:m="http://schemas.openxmlformats.org/officeDocument/2006/math">
                    <m:sSup>
                      <m:sSupPr>
                        <m:ctrlPr>
                          <a:rPr lang="en-IN" sz="1800" i="1" spc="-5">
                            <a:effectLst/>
                            <a:latin typeface="Cambria Math" panose="02040503050406030204" pitchFamily="18" charset="0"/>
                          </a:rPr>
                        </m:ctrlPr>
                      </m:sSupPr>
                      <m:e>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𝑙</m:t>
                        </m:r>
                      </m:e>
                      <m:sup>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𝑡h</m:t>
                        </m:r>
                      </m:sup>
                    </m:sSup>
                    <m:r>
                      <a:rPr lang="en-US" sz="1800" i="1" spc="-5">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spc="-5" dirty="0">
                    <a:effectLst/>
                    <a:latin typeface="Times New Roman" panose="02020603050405020304" pitchFamily="18" charset="0"/>
                    <a:ea typeface="Times New Roman" panose="02020603050405020304" pitchFamily="18" charset="0"/>
                  </a:rPr>
                  <a:t>path, and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𝑤</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i</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800" dirty="0">
                    <a:effectLst/>
                    <a:latin typeface="Times New Roman" panose="02020603050405020304" pitchFamily="18" charset="0"/>
                    <a:ea typeface="Times New Roman" panose="02020603050405020304" pitchFamily="18" charset="0"/>
                  </a:rPr>
                  <a:t> is a zero-mean, complex value Gaussian noise process with variance </a:t>
                </a:r>
                <a14:m>
                  <m:oMath xmlns:m="http://schemas.openxmlformats.org/officeDocument/2006/math">
                    <m:sSubSup>
                      <m:sSubSupPr>
                        <m:ctrlPr>
                          <a:rPr lang="en-IN" sz="1800" i="1">
                            <a:effectLst/>
                            <a:latin typeface="Cambria Math" panose="02040503050406030204" pitchFamily="18" charset="0"/>
                          </a:rPr>
                        </m:ctrlPr>
                      </m:sSub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𝜎</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𝑤</m:t>
                        </m:r>
                      </m:sub>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b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800" dirty="0">
                    <a:effectLst/>
                    <a:latin typeface="Times New Roman" panose="02020603050405020304" pitchFamily="18" charset="0"/>
                    <a:ea typeface="Times New Roman" panose="02020603050405020304" pitchFamily="18" charset="0"/>
                  </a:rPr>
                  <a:t>. </a:t>
                </a:r>
                <a:endParaRPr lang="en-IN" dirty="0"/>
              </a:p>
            </p:txBody>
          </p:sp>
        </mc:Choice>
        <mc:Fallback xmlns="">
          <p:sp>
            <p:nvSpPr>
              <p:cNvPr id="2" name="Rectangle 1"/>
              <p:cNvSpPr>
                <a:spLocks noRot="1" noChangeAspect="1" noMove="1" noResize="1" noEditPoints="1" noAdjustHandles="1" noChangeArrowheads="1" noChangeShapeType="1" noTextEdit="1"/>
              </p:cNvSpPr>
              <p:nvPr/>
            </p:nvSpPr>
            <p:spPr>
              <a:xfrm>
                <a:off x="0" y="1427227"/>
                <a:ext cx="8714813" cy="928267"/>
              </a:xfrm>
              <a:prstGeom prst="rect">
                <a:avLst/>
              </a:prstGeom>
              <a:blipFill>
                <a:blip r:embed="rId4"/>
                <a:stretch>
                  <a:fillRect l="-559" t="-3289" r="-490" b="-9868"/>
                </a:stretch>
              </a:blipFill>
            </p:spPr>
            <p:txBody>
              <a:bodyPr/>
              <a:lstStyle/>
              <a:p>
                <a:r>
                  <a:rPr lang="en-IN">
                    <a:noFill/>
                  </a:rPr>
                  <a:t> </a:t>
                </a:r>
              </a:p>
            </p:txBody>
          </p:sp>
        </mc:Fallback>
      </mc:AlternateContent>
      <p:sp>
        <p:nvSpPr>
          <p:cNvPr id="4" name="Rectangle 3"/>
          <p:cNvSpPr/>
          <p:nvPr/>
        </p:nvSpPr>
        <p:spPr>
          <a:xfrm>
            <a:off x="34636" y="2376782"/>
            <a:ext cx="3562194" cy="457754"/>
          </a:xfrm>
          <a:prstGeom prst="rect">
            <a:avLst/>
          </a:prstGeom>
        </p:spPr>
        <p:txBody>
          <a:bodyPr wrap="none">
            <a:spAutoFit/>
          </a:bodyPr>
          <a:lstStyle/>
          <a:p>
            <a:pPr algn="just">
              <a:lnSpc>
                <a:spcPct val="150000"/>
              </a:lnSpc>
              <a:spcBef>
                <a:spcPts val="1200"/>
              </a:spcBef>
            </a:pPr>
            <a:r>
              <a:rPr lang="en-US" spc="-5" dirty="0">
                <a:solidFill>
                  <a:srgbClr val="FF0000"/>
                </a:solidFill>
                <a:latin typeface="Times New Roman" panose="02020603050405020304" pitchFamily="18" charset="0"/>
              </a:rPr>
              <a:t>The output of FFT can be written as-</a:t>
            </a:r>
            <a:endParaRPr lang="en-IN" dirty="0">
              <a:solidFill>
                <a:srgbClr val="FF0000"/>
              </a:solidFill>
              <a:effectLst/>
            </a:endParaRPr>
          </a:p>
        </p:txBody>
      </p:sp>
      <mc:AlternateContent xmlns:mc="http://schemas.openxmlformats.org/markup-compatibility/2006" xmlns:a14="http://schemas.microsoft.com/office/drawing/2010/main">
        <mc:Choice Requires="a14">
          <p:sp>
            <p:nvSpPr>
              <p:cNvPr id="10" name="Rectangle 9"/>
              <p:cNvSpPr/>
              <p:nvPr/>
            </p:nvSpPr>
            <p:spPr>
              <a:xfrm>
                <a:off x="3624539" y="2260656"/>
                <a:ext cx="4645887" cy="8714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b="1" i="1">
                          <a:latin typeface="Cambria Math" panose="02040503050406030204" pitchFamily="18" charset="0"/>
                        </a:rPr>
                        <m:t>𝒀</m:t>
                      </m:r>
                      <m:d>
                        <m:dPr>
                          <m:ctrlPr>
                            <a:rPr lang="en-IN" b="1" i="1">
                              <a:latin typeface="Cambria Math" panose="02040503050406030204" pitchFamily="18" charset="0"/>
                            </a:rPr>
                          </m:ctrlPr>
                        </m:dPr>
                        <m:e>
                          <m:r>
                            <a:rPr lang="en-IN" b="1" i="1">
                              <a:latin typeface="Cambria Math" panose="02040503050406030204" pitchFamily="18" charset="0"/>
                            </a:rPr>
                            <m:t>𝒊</m:t>
                          </m:r>
                          <m:r>
                            <a:rPr lang="en-IN" b="1" i="0">
                              <a:latin typeface="Cambria Math" panose="02040503050406030204" pitchFamily="18" charset="0"/>
                            </a:rPr>
                            <m:t>,</m:t>
                          </m:r>
                          <m:r>
                            <a:rPr lang="en-IN" b="1" i="1">
                              <a:latin typeface="Cambria Math" panose="02040503050406030204" pitchFamily="18" charset="0"/>
                            </a:rPr>
                            <m:t>𝒑</m:t>
                          </m:r>
                        </m:e>
                      </m:d>
                      <m:r>
                        <a:rPr lang="en-IN" b="1" i="0">
                          <a:latin typeface="Cambria Math" panose="02040503050406030204" pitchFamily="18" charset="0"/>
                        </a:rPr>
                        <m:t> =  </m:t>
                      </m:r>
                      <m:nary>
                        <m:naryPr>
                          <m:chr m:val="∑"/>
                          <m:limLoc m:val="undOvr"/>
                          <m:ctrlPr>
                            <a:rPr lang="en-IN" b="1" i="1">
                              <a:latin typeface="Cambria Math" panose="02040503050406030204" pitchFamily="18" charset="0"/>
                            </a:rPr>
                          </m:ctrlPr>
                        </m:naryPr>
                        <m:sub>
                          <m:r>
                            <a:rPr lang="en-IN" b="1" i="1">
                              <a:latin typeface="Cambria Math" panose="02040503050406030204" pitchFamily="18" charset="0"/>
                            </a:rPr>
                            <m:t>𝒏</m:t>
                          </m:r>
                          <m:r>
                            <a:rPr lang="en-IN" b="1" i="0">
                              <a:latin typeface="Cambria Math" panose="02040503050406030204" pitchFamily="18" charset="0"/>
                            </a:rPr>
                            <m:t>=</m:t>
                          </m:r>
                          <m:r>
                            <a:rPr lang="en-IN" b="1" i="0">
                              <a:latin typeface="Cambria Math" panose="02040503050406030204" pitchFamily="18" charset="0"/>
                            </a:rPr>
                            <m:t>𝟎</m:t>
                          </m:r>
                        </m:sub>
                        <m:sup>
                          <m:r>
                            <a:rPr lang="en-IN" b="1" i="1">
                              <a:latin typeface="Cambria Math" panose="02040503050406030204" pitchFamily="18" charset="0"/>
                            </a:rPr>
                            <m:t>𝑵</m:t>
                          </m:r>
                          <m:r>
                            <a:rPr lang="en-IN" b="1" i="0">
                              <a:latin typeface="Cambria Math" panose="02040503050406030204" pitchFamily="18" charset="0"/>
                            </a:rPr>
                            <m:t>−</m:t>
                          </m:r>
                          <m:r>
                            <a:rPr lang="en-IN" b="1" i="0">
                              <a:latin typeface="Cambria Math" panose="02040503050406030204" pitchFamily="18" charset="0"/>
                            </a:rPr>
                            <m:t>𝟏</m:t>
                          </m:r>
                        </m:sup>
                        <m:e>
                          <m:r>
                            <a:rPr lang="en-IN" b="1" i="0">
                              <a:latin typeface="Cambria Math" panose="02040503050406030204" pitchFamily="18" charset="0"/>
                            </a:rPr>
                            <m:t>  </m:t>
                          </m:r>
                          <m:r>
                            <a:rPr lang="en-IN" b="1" i="1">
                              <a:latin typeface="Cambria Math" panose="02040503050406030204" pitchFamily="18" charset="0"/>
                            </a:rPr>
                            <m:t>𝒓</m:t>
                          </m:r>
                          <m:d>
                            <m:dPr>
                              <m:ctrlPr>
                                <a:rPr lang="en-IN" b="1" i="1">
                                  <a:latin typeface="Cambria Math" panose="02040503050406030204" pitchFamily="18" charset="0"/>
                                </a:rPr>
                              </m:ctrlPr>
                            </m:dPr>
                            <m:e>
                              <m:r>
                                <a:rPr lang="en-IN" b="1" i="1">
                                  <a:latin typeface="Cambria Math" panose="02040503050406030204" pitchFamily="18" charset="0"/>
                                </a:rPr>
                                <m:t>𝒊</m:t>
                              </m:r>
                              <m:r>
                                <a:rPr lang="en-IN" b="1" i="0">
                                  <a:latin typeface="Cambria Math" panose="02040503050406030204" pitchFamily="18" charset="0"/>
                                </a:rPr>
                                <m:t>,</m:t>
                              </m:r>
                              <m:r>
                                <a:rPr lang="en-IN" b="1" i="1">
                                  <a:latin typeface="Cambria Math" panose="02040503050406030204" pitchFamily="18" charset="0"/>
                                </a:rPr>
                                <m:t>𝒏</m:t>
                              </m:r>
                            </m:e>
                          </m:d>
                          <m:sSup>
                            <m:sSupPr>
                              <m:ctrlPr>
                                <a:rPr lang="en-IN" b="1" i="1">
                                  <a:latin typeface="Cambria Math" panose="02040503050406030204" pitchFamily="18" charset="0"/>
                                </a:rPr>
                              </m:ctrlPr>
                            </m:sSupPr>
                            <m:e>
                              <m:r>
                                <a:rPr lang="en-IN" b="1" i="0">
                                  <a:latin typeface="Cambria Math" panose="02040503050406030204" pitchFamily="18" charset="0"/>
                                </a:rPr>
                                <m:t>  </m:t>
                              </m:r>
                              <m:r>
                                <a:rPr lang="en-IN" b="1" i="1">
                                  <a:latin typeface="Cambria Math" panose="02040503050406030204" pitchFamily="18" charset="0"/>
                                </a:rPr>
                                <m:t>𝒆</m:t>
                              </m:r>
                            </m:e>
                            <m:sup>
                              <m:r>
                                <a:rPr lang="en-IN" b="1" i="0">
                                  <a:latin typeface="Cambria Math" panose="02040503050406030204" pitchFamily="18" charset="0"/>
                                </a:rPr>
                                <m:t> </m:t>
                              </m:r>
                              <m:d>
                                <m:dPr>
                                  <m:ctrlPr>
                                    <a:rPr lang="en-IN" b="1" i="1">
                                      <a:latin typeface="Cambria Math" panose="02040503050406030204" pitchFamily="18" charset="0"/>
                                    </a:rPr>
                                  </m:ctrlPr>
                                </m:dPr>
                                <m:e>
                                  <m:r>
                                    <a:rPr lang="en-IN" b="1" i="0">
                                      <a:latin typeface="Cambria Math" panose="02040503050406030204" pitchFamily="18" charset="0"/>
                                    </a:rPr>
                                    <m:t>–</m:t>
                                  </m:r>
                                  <m:r>
                                    <a:rPr lang="en-IN" b="1" i="1">
                                      <a:latin typeface="Cambria Math" panose="02040503050406030204" pitchFamily="18" charset="0"/>
                                    </a:rPr>
                                    <m:t>𝒋</m:t>
                                  </m:r>
                                  <m:r>
                                    <a:rPr lang="en-IN" b="1" i="0">
                                      <a:latin typeface="Cambria Math" panose="02040503050406030204" pitchFamily="18" charset="0"/>
                                    </a:rPr>
                                    <m:t> </m:t>
                                  </m:r>
                                  <m:r>
                                    <a:rPr lang="en-IN" b="1" i="0">
                                      <a:latin typeface="Cambria Math" panose="02040503050406030204" pitchFamily="18" charset="0"/>
                                    </a:rPr>
                                    <m:t>𝟐</m:t>
                                  </m:r>
                                  <m:r>
                                    <a:rPr lang="en-IN" b="1" i="0">
                                      <a:latin typeface="Cambria Math" panose="02040503050406030204" pitchFamily="18" charset="0"/>
                                    </a:rPr>
                                    <m:t> </m:t>
                                  </m:r>
                                  <m:r>
                                    <a:rPr lang="en-IN" b="1" i="1">
                                      <a:latin typeface="Cambria Math" panose="02040503050406030204" pitchFamily="18" charset="0"/>
                                    </a:rPr>
                                    <m:t>𝝅</m:t>
                                  </m:r>
                                  <m:r>
                                    <a:rPr lang="en-IN" b="1" i="0">
                                      <a:latin typeface="Cambria Math" panose="02040503050406030204" pitchFamily="18" charset="0"/>
                                    </a:rPr>
                                    <m:t> </m:t>
                                  </m:r>
                                  <m:r>
                                    <a:rPr lang="en-IN" b="1" i="1">
                                      <a:latin typeface="Cambria Math" panose="02040503050406030204" pitchFamily="18" charset="0"/>
                                    </a:rPr>
                                    <m:t>𝒑</m:t>
                                  </m:r>
                                  <m:r>
                                    <a:rPr lang="en-IN" b="1" i="0">
                                      <a:latin typeface="Cambria Math" panose="02040503050406030204" pitchFamily="18" charset="0"/>
                                    </a:rPr>
                                    <m:t> </m:t>
                                  </m:r>
                                  <m:f>
                                    <m:fPr>
                                      <m:type m:val="lin"/>
                                      <m:ctrlPr>
                                        <a:rPr lang="en-IN" b="1" i="1">
                                          <a:latin typeface="Cambria Math" panose="02040503050406030204" pitchFamily="18" charset="0"/>
                                        </a:rPr>
                                      </m:ctrlPr>
                                    </m:fPr>
                                    <m:num>
                                      <m:r>
                                        <a:rPr lang="en-IN" b="1" i="1">
                                          <a:latin typeface="Cambria Math" panose="02040503050406030204" pitchFamily="18" charset="0"/>
                                        </a:rPr>
                                        <m:t>𝒏</m:t>
                                      </m:r>
                                    </m:num>
                                    <m:den>
                                      <m:r>
                                        <a:rPr lang="en-IN" b="1" i="1">
                                          <a:latin typeface="Cambria Math" panose="02040503050406030204" pitchFamily="18" charset="0"/>
                                        </a:rPr>
                                        <m:t>𝑵</m:t>
                                      </m:r>
                                    </m:den>
                                  </m:f>
                                </m:e>
                              </m:d>
                            </m:sup>
                          </m:sSup>
                          <m:r>
                            <a:rPr lang="en-IN" b="1" i="0">
                              <a:latin typeface="Cambria Math" panose="02040503050406030204" pitchFamily="18" charset="0"/>
                            </a:rPr>
                            <m:t> ,                </m:t>
                          </m:r>
                        </m:e>
                      </m:nary>
                    </m:oMath>
                  </m:oMathPara>
                </a14:m>
                <a:endParaRPr lang="en-IN" b="1" dirty="0"/>
              </a:p>
            </p:txBody>
          </p:sp>
        </mc:Choice>
        <mc:Fallback xmlns="">
          <p:sp>
            <p:nvSpPr>
              <p:cNvPr id="10" name="Rectangle 9"/>
              <p:cNvSpPr>
                <a:spLocks noRot="1" noChangeAspect="1" noMove="1" noResize="1" noEditPoints="1" noAdjustHandles="1" noChangeArrowheads="1" noChangeShapeType="1" noTextEdit="1"/>
              </p:cNvSpPr>
              <p:nvPr/>
            </p:nvSpPr>
            <p:spPr>
              <a:xfrm>
                <a:off x="3624539" y="2260656"/>
                <a:ext cx="4645887" cy="87145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6343278" y="2956189"/>
                <a:ext cx="25562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𝑓𝑜𝑟</m:t>
                      </m:r>
                      <m:r>
                        <a:rPr lang="en-IN" i="0">
                          <a:latin typeface="Cambria Math" panose="02040503050406030204" pitchFamily="18" charset="0"/>
                        </a:rPr>
                        <m:t>    </m:t>
                      </m:r>
                      <m:r>
                        <a:rPr lang="en-IN" i="1">
                          <a:latin typeface="Cambria Math" panose="02040503050406030204" pitchFamily="18" charset="0"/>
                        </a:rPr>
                        <m:t>𝑝</m:t>
                      </m:r>
                      <m:r>
                        <a:rPr lang="en-IN" i="0">
                          <a:latin typeface="Cambria Math" panose="02040503050406030204" pitchFamily="18" charset="0"/>
                        </a:rPr>
                        <m:t>=0, 1,…, </m:t>
                      </m:r>
                      <m:r>
                        <a:rPr lang="en-IN" i="1">
                          <a:latin typeface="Cambria Math" panose="02040503050406030204" pitchFamily="18" charset="0"/>
                        </a:rPr>
                        <m:t>𝑁</m:t>
                      </m:r>
                      <m:r>
                        <a:rPr lang="en-IN" i="0">
                          <a:latin typeface="Cambria Math" panose="02040503050406030204" pitchFamily="18" charset="0"/>
                        </a:rPr>
                        <m:t>−1</m:t>
                      </m:r>
                    </m:oMath>
                  </m:oMathPara>
                </a14:m>
                <a:endParaRPr lang="en-IN" dirty="0"/>
              </a:p>
            </p:txBody>
          </p:sp>
        </mc:Choice>
        <mc:Fallback xmlns="">
          <p:sp>
            <p:nvSpPr>
              <p:cNvPr id="11" name="Rectangle 10"/>
              <p:cNvSpPr>
                <a:spLocks noRot="1" noChangeAspect="1" noMove="1" noResize="1" noEditPoints="1" noAdjustHandles="1" noChangeArrowheads="1" noChangeShapeType="1" noTextEdit="1"/>
              </p:cNvSpPr>
              <p:nvPr/>
            </p:nvSpPr>
            <p:spPr>
              <a:xfrm>
                <a:off x="6343278" y="2956189"/>
                <a:ext cx="2556213" cy="369332"/>
              </a:xfrm>
              <a:prstGeom prst="rect">
                <a:avLst/>
              </a:prstGeom>
              <a:blipFill>
                <a:blip r:embed="rId6"/>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34636" y="2999940"/>
                <a:ext cx="3790653" cy="457754"/>
              </a:xfrm>
              <a:prstGeom prst="rect">
                <a:avLst/>
              </a:prstGeom>
            </p:spPr>
            <p:txBody>
              <a:bodyPr wrap="none">
                <a:spAutoFit/>
              </a:bodyPr>
              <a:lstStyle/>
              <a:p>
                <a:pPr algn="just">
                  <a:lnSpc>
                    <a:spcPct val="150000"/>
                  </a:lnSpc>
                  <a:spcAft>
                    <a:spcPts val="0"/>
                  </a:spcAft>
                </a:pPr>
                <a:r>
                  <a:rPr lang="en-US"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After substituting</a:t>
                </a:r>
                <a14:m>
                  <m:oMath xmlns:m="http://schemas.openxmlformats.org/officeDocument/2006/math">
                    <m:r>
                      <a:rPr lang="en-US" sz="1800" i="1">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𝑟</m:t>
                    </m:r>
                    <m:d>
                      <m:dPr>
                        <m:ctrlPr>
                          <a:rPr lang="en-IN"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𝑛</m:t>
                        </m:r>
                      </m:e>
                    </m:d>
                  </m:oMath>
                </a14:m>
                <a:r>
                  <a:rPr lang="en-US" sz="1800" spc="-5"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it becomes –</a:t>
                </a:r>
                <a:endParaRPr lang="en-IN" sz="2000" dirty="0">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34636" y="2999940"/>
                <a:ext cx="3790653" cy="457754"/>
              </a:xfrm>
              <a:prstGeom prst="rect">
                <a:avLst/>
              </a:prstGeom>
              <a:blipFill>
                <a:blip r:embed="rId7"/>
                <a:stretch>
                  <a:fillRect l="-1447" r="-322" b="-21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1815733" y="3606226"/>
                <a:ext cx="7162800" cy="98405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b="1" i="1" smtClean="0">
                          <a:solidFill>
                            <a:srgbClr val="00B050"/>
                          </a:solidFill>
                          <a:latin typeface="Cambria Math" panose="02040503050406030204" pitchFamily="18" charset="0"/>
                        </a:rPr>
                        <m:t>𝒀</m:t>
                      </m:r>
                      <m:d>
                        <m:dPr>
                          <m:ctrlPr>
                            <a:rPr lang="en-IN" b="1" i="1">
                              <a:solidFill>
                                <a:srgbClr val="00B050"/>
                              </a:solidFill>
                              <a:latin typeface="Cambria Math" panose="02040503050406030204" pitchFamily="18" charset="0"/>
                            </a:rPr>
                          </m:ctrlPr>
                        </m:dPr>
                        <m:e>
                          <m:r>
                            <a:rPr lang="en-IN" b="1" i="1">
                              <a:solidFill>
                                <a:srgbClr val="00B050"/>
                              </a:solidFill>
                              <a:latin typeface="Cambria Math" panose="02040503050406030204" pitchFamily="18" charset="0"/>
                            </a:rPr>
                            <m:t>𝒊</m:t>
                          </m:r>
                          <m:r>
                            <a:rPr lang="en-IN" b="1" i="0">
                              <a:solidFill>
                                <a:srgbClr val="00B050"/>
                              </a:solidFill>
                              <a:latin typeface="Cambria Math" panose="02040503050406030204" pitchFamily="18" charset="0"/>
                            </a:rPr>
                            <m:t>,</m:t>
                          </m:r>
                          <m:r>
                            <a:rPr lang="en-IN" b="1" i="1">
                              <a:solidFill>
                                <a:srgbClr val="00B050"/>
                              </a:solidFill>
                              <a:latin typeface="Cambria Math" panose="02040503050406030204" pitchFamily="18" charset="0"/>
                            </a:rPr>
                            <m:t>𝒑</m:t>
                          </m:r>
                        </m:e>
                      </m:d>
                      <m:r>
                        <a:rPr lang="en-IN" b="1" i="0">
                          <a:solidFill>
                            <a:srgbClr val="00B050"/>
                          </a:solidFill>
                          <a:latin typeface="Cambria Math" panose="02040503050406030204" pitchFamily="18" charset="0"/>
                        </a:rPr>
                        <m:t>=</m:t>
                      </m:r>
                      <m:nary>
                        <m:naryPr>
                          <m:chr m:val="∑"/>
                          <m:limLoc m:val="undOvr"/>
                          <m:ctrlPr>
                            <a:rPr lang="en-IN" b="1" i="1">
                              <a:solidFill>
                                <a:srgbClr val="00B050"/>
                              </a:solidFill>
                              <a:latin typeface="Cambria Math" panose="02040503050406030204" pitchFamily="18" charset="0"/>
                            </a:rPr>
                          </m:ctrlPr>
                        </m:naryPr>
                        <m:sub>
                          <m:r>
                            <a:rPr lang="en-IN" b="1" i="1">
                              <a:solidFill>
                                <a:srgbClr val="00B050"/>
                              </a:solidFill>
                              <a:latin typeface="Cambria Math" panose="02040503050406030204" pitchFamily="18" charset="0"/>
                            </a:rPr>
                            <m:t>𝒏</m:t>
                          </m:r>
                          <m:r>
                            <a:rPr lang="en-IN" b="1" i="0">
                              <a:solidFill>
                                <a:srgbClr val="00B050"/>
                              </a:solidFill>
                              <a:latin typeface="Cambria Math" panose="02040503050406030204" pitchFamily="18" charset="0"/>
                            </a:rPr>
                            <m:t>=</m:t>
                          </m:r>
                          <m:r>
                            <a:rPr lang="en-IN" b="1" i="0">
                              <a:solidFill>
                                <a:srgbClr val="00B050"/>
                              </a:solidFill>
                              <a:latin typeface="Cambria Math" panose="02040503050406030204" pitchFamily="18" charset="0"/>
                            </a:rPr>
                            <m:t>𝟎</m:t>
                          </m:r>
                        </m:sub>
                        <m:sup>
                          <m:r>
                            <a:rPr lang="en-IN" b="1" i="1">
                              <a:solidFill>
                                <a:srgbClr val="00B050"/>
                              </a:solidFill>
                              <a:latin typeface="Cambria Math" panose="02040503050406030204" pitchFamily="18" charset="0"/>
                            </a:rPr>
                            <m:t>𝑵</m:t>
                          </m:r>
                          <m:r>
                            <a:rPr lang="en-IN" b="1" i="0">
                              <a:solidFill>
                                <a:srgbClr val="00B050"/>
                              </a:solidFill>
                              <a:latin typeface="Cambria Math" panose="02040503050406030204" pitchFamily="18" charset="0"/>
                            </a:rPr>
                            <m:t>−</m:t>
                          </m:r>
                          <m:r>
                            <a:rPr lang="en-IN" b="1" i="0">
                              <a:solidFill>
                                <a:srgbClr val="00B050"/>
                              </a:solidFill>
                              <a:latin typeface="Cambria Math" panose="02040503050406030204" pitchFamily="18" charset="0"/>
                            </a:rPr>
                            <m:t>𝟏</m:t>
                          </m:r>
                        </m:sup>
                        <m:e>
                          <m:r>
                            <a:rPr lang="en-IN" b="1" i="0">
                              <a:solidFill>
                                <a:srgbClr val="00B050"/>
                              </a:solidFill>
                              <a:latin typeface="Cambria Math" panose="02040503050406030204" pitchFamily="18" charset="0"/>
                            </a:rPr>
                            <m:t> </m:t>
                          </m:r>
                          <m:d>
                            <m:dPr>
                              <m:begChr m:val="{"/>
                              <m:endChr m:val="}"/>
                              <m:ctrlPr>
                                <a:rPr lang="en-IN" b="1" i="1">
                                  <a:solidFill>
                                    <a:srgbClr val="00B050"/>
                                  </a:solidFill>
                                  <a:latin typeface="Cambria Math" panose="02040503050406030204" pitchFamily="18" charset="0"/>
                                </a:rPr>
                              </m:ctrlPr>
                            </m:dPr>
                            <m:e>
                              <m:d>
                                <m:dPr>
                                  <m:begChr m:val=""/>
                                  <m:ctrlPr>
                                    <a:rPr lang="en-IN" b="1" i="1">
                                      <a:solidFill>
                                        <a:srgbClr val="00B050"/>
                                      </a:solidFill>
                                      <a:latin typeface="Cambria Math" panose="02040503050406030204" pitchFamily="18" charset="0"/>
                                    </a:rPr>
                                  </m:ctrlPr>
                                </m:dPr>
                                <m:e>
                                  <m:nary>
                                    <m:naryPr>
                                      <m:chr m:val="∑"/>
                                      <m:limLoc m:val="undOvr"/>
                                      <m:grow m:val="on"/>
                                      <m:ctrlPr>
                                        <a:rPr lang="en-IN" b="1" i="1">
                                          <a:solidFill>
                                            <a:srgbClr val="00B050"/>
                                          </a:solidFill>
                                          <a:latin typeface="Cambria Math" panose="02040503050406030204" pitchFamily="18" charset="0"/>
                                        </a:rPr>
                                      </m:ctrlPr>
                                    </m:naryPr>
                                    <m:sub>
                                      <m:r>
                                        <a:rPr lang="en-IN" b="1" i="1">
                                          <a:solidFill>
                                            <a:srgbClr val="00B050"/>
                                          </a:solidFill>
                                          <a:latin typeface="Cambria Math" panose="02040503050406030204" pitchFamily="18" charset="0"/>
                                        </a:rPr>
                                        <m:t>𝒍</m:t>
                                      </m:r>
                                      <m:r>
                                        <a:rPr lang="en-IN" b="1" i="0">
                                          <a:solidFill>
                                            <a:srgbClr val="00B050"/>
                                          </a:solidFill>
                                          <a:latin typeface="Cambria Math" panose="02040503050406030204" pitchFamily="18" charset="0"/>
                                        </a:rPr>
                                        <m:t>=</m:t>
                                      </m:r>
                                      <m:r>
                                        <a:rPr lang="en-IN" b="1" i="0">
                                          <a:solidFill>
                                            <a:srgbClr val="00B050"/>
                                          </a:solidFill>
                                          <a:latin typeface="Cambria Math" panose="02040503050406030204" pitchFamily="18" charset="0"/>
                                        </a:rPr>
                                        <m:t>𝟎</m:t>
                                      </m:r>
                                    </m:sub>
                                    <m:sup>
                                      <m:r>
                                        <a:rPr lang="en-IN" b="1" i="1">
                                          <a:solidFill>
                                            <a:srgbClr val="00B050"/>
                                          </a:solidFill>
                                          <a:latin typeface="Cambria Math" panose="02040503050406030204" pitchFamily="18" charset="0"/>
                                        </a:rPr>
                                        <m:t>𝑳</m:t>
                                      </m:r>
                                      <m:r>
                                        <a:rPr lang="en-IN" b="1" i="0">
                                          <a:solidFill>
                                            <a:srgbClr val="00B050"/>
                                          </a:solidFill>
                                          <a:latin typeface="Cambria Math" panose="02040503050406030204" pitchFamily="18" charset="0"/>
                                        </a:rPr>
                                        <m:t>−</m:t>
                                      </m:r>
                                      <m:r>
                                        <a:rPr lang="en-IN" b="1" i="0">
                                          <a:solidFill>
                                            <a:srgbClr val="00B050"/>
                                          </a:solidFill>
                                          <a:latin typeface="Cambria Math" panose="02040503050406030204" pitchFamily="18" charset="0"/>
                                        </a:rPr>
                                        <m:t>𝟏</m:t>
                                      </m:r>
                                    </m:sup>
                                    <m:e>
                                      <m:d>
                                        <m:dPr>
                                          <m:begChr m:val=""/>
                                          <m:ctrlPr>
                                            <a:rPr lang="en-IN" b="1" i="1">
                                              <a:solidFill>
                                                <a:srgbClr val="00B050"/>
                                              </a:solidFill>
                                              <a:latin typeface="Cambria Math" panose="02040503050406030204" pitchFamily="18" charset="0"/>
                                            </a:rPr>
                                          </m:ctrlPr>
                                        </m:dPr>
                                        <m:e>
                                          <m:sSub>
                                            <m:sSubPr>
                                              <m:ctrlPr>
                                                <a:rPr lang="en-IN" b="1" i="1">
                                                  <a:solidFill>
                                                    <a:srgbClr val="00B050"/>
                                                  </a:solidFill>
                                                  <a:latin typeface="Cambria Math" panose="02040503050406030204" pitchFamily="18" charset="0"/>
                                                </a:rPr>
                                              </m:ctrlPr>
                                            </m:sSubPr>
                                            <m:e>
                                              <m:r>
                                                <a:rPr lang="en-IN" b="1" i="1">
                                                  <a:solidFill>
                                                    <a:srgbClr val="00B050"/>
                                                  </a:solidFill>
                                                  <a:latin typeface="Cambria Math" panose="02040503050406030204" pitchFamily="18" charset="0"/>
                                                </a:rPr>
                                                <m:t>𝒉</m:t>
                                              </m:r>
                                            </m:e>
                                            <m:sub>
                                              <m:r>
                                                <a:rPr lang="en-IN" b="1" i="1">
                                                  <a:solidFill>
                                                    <a:srgbClr val="00B050"/>
                                                  </a:solidFill>
                                                  <a:latin typeface="Cambria Math" panose="02040503050406030204" pitchFamily="18" charset="0"/>
                                                </a:rPr>
                                                <m:t>𝒍</m:t>
                                              </m:r>
                                            </m:sub>
                                          </m:sSub>
                                          <m:d>
                                            <m:dPr>
                                              <m:ctrlPr>
                                                <a:rPr lang="en-IN" b="1" i="1">
                                                  <a:solidFill>
                                                    <a:srgbClr val="00B050"/>
                                                  </a:solidFill>
                                                  <a:latin typeface="Cambria Math" panose="02040503050406030204" pitchFamily="18" charset="0"/>
                                                </a:rPr>
                                              </m:ctrlPr>
                                            </m:dPr>
                                            <m:e>
                                              <m:r>
                                                <a:rPr lang="en-IN" b="1" i="1">
                                                  <a:solidFill>
                                                    <a:srgbClr val="00B050"/>
                                                  </a:solidFill>
                                                  <a:latin typeface="Cambria Math" panose="02040503050406030204" pitchFamily="18" charset="0"/>
                                                </a:rPr>
                                                <m:t>𝝉</m:t>
                                              </m:r>
                                            </m:e>
                                          </m:d>
                                          <m:r>
                                            <a:rPr lang="en-IN" b="1" i="0">
                                              <a:solidFill>
                                                <a:srgbClr val="00B050"/>
                                              </a:solidFill>
                                              <a:latin typeface="Cambria Math" panose="02040503050406030204" pitchFamily="18" charset="0"/>
                                            </a:rPr>
                                            <m:t> </m:t>
                                          </m:r>
                                          <m:r>
                                            <a:rPr lang="en-IN" b="1" i="1">
                                              <a:solidFill>
                                                <a:srgbClr val="00B050"/>
                                              </a:solidFill>
                                              <a:latin typeface="Cambria Math" panose="02040503050406030204" pitchFamily="18" charset="0"/>
                                            </a:rPr>
                                            <m:t>𝒙</m:t>
                                          </m:r>
                                          <m:r>
                                            <a:rPr lang="en-IN" b="1" i="0">
                                              <a:solidFill>
                                                <a:srgbClr val="00B050"/>
                                              </a:solidFill>
                                              <a:latin typeface="Cambria Math" panose="02040503050406030204" pitchFamily="18" charset="0"/>
                                            </a:rPr>
                                            <m:t>(</m:t>
                                          </m:r>
                                          <m:r>
                                            <a:rPr lang="en-IN" b="1" i="1">
                                              <a:solidFill>
                                                <a:srgbClr val="00B050"/>
                                              </a:solidFill>
                                              <a:latin typeface="Cambria Math" panose="02040503050406030204" pitchFamily="18" charset="0"/>
                                            </a:rPr>
                                            <m:t>𝒊</m:t>
                                          </m:r>
                                          <m:r>
                                            <a:rPr lang="en-IN" b="1" i="0">
                                              <a:solidFill>
                                                <a:srgbClr val="00B050"/>
                                              </a:solidFill>
                                              <a:latin typeface="Cambria Math" panose="02040503050406030204" pitchFamily="18" charset="0"/>
                                            </a:rPr>
                                            <m:t>, </m:t>
                                          </m:r>
                                          <m:r>
                                            <a:rPr lang="en-IN" b="1" i="1">
                                              <a:solidFill>
                                                <a:srgbClr val="00B050"/>
                                              </a:solidFill>
                                              <a:latin typeface="Cambria Math" panose="02040503050406030204" pitchFamily="18" charset="0"/>
                                            </a:rPr>
                                            <m:t>𝒏</m:t>
                                          </m:r>
                                          <m:r>
                                            <a:rPr lang="en-IN" b="1" i="0">
                                              <a:solidFill>
                                                <a:srgbClr val="00B050"/>
                                              </a:solidFill>
                                              <a:latin typeface="Cambria Math" panose="02040503050406030204" pitchFamily="18" charset="0"/>
                                            </a:rPr>
                                            <m:t>−</m:t>
                                          </m:r>
                                          <m:sSub>
                                            <m:sSubPr>
                                              <m:ctrlPr>
                                                <a:rPr lang="en-IN" b="1" i="1">
                                                  <a:solidFill>
                                                    <a:srgbClr val="00B050"/>
                                                  </a:solidFill>
                                                  <a:latin typeface="Cambria Math" panose="02040503050406030204" pitchFamily="18" charset="0"/>
                                                </a:rPr>
                                              </m:ctrlPr>
                                            </m:sSubPr>
                                            <m:e>
                                              <m:r>
                                                <a:rPr lang="en-IN" b="1" i="1">
                                                  <a:solidFill>
                                                    <a:srgbClr val="00B050"/>
                                                  </a:solidFill>
                                                  <a:latin typeface="Cambria Math" panose="02040503050406030204" pitchFamily="18" charset="0"/>
                                                </a:rPr>
                                                <m:t>𝝉</m:t>
                                              </m:r>
                                            </m:e>
                                            <m:sub>
                                              <m:r>
                                                <a:rPr lang="en-IN" b="1" i="1">
                                                  <a:solidFill>
                                                    <a:srgbClr val="00B050"/>
                                                  </a:solidFill>
                                                  <a:latin typeface="Cambria Math" panose="02040503050406030204" pitchFamily="18" charset="0"/>
                                                </a:rPr>
                                                <m:t>𝒍</m:t>
                                              </m:r>
                                            </m:sub>
                                          </m:sSub>
                                        </m:e>
                                      </m:d>
                                    </m:e>
                                  </m:nary>
                                  <m:r>
                                    <a:rPr lang="en-IN" b="1" i="0">
                                      <a:solidFill>
                                        <a:srgbClr val="00B050"/>
                                      </a:solidFill>
                                      <a:latin typeface="Cambria Math" panose="02040503050406030204" pitchFamily="18" charset="0"/>
                                    </a:rPr>
                                    <m:t>+</m:t>
                                  </m:r>
                                  <m:r>
                                    <a:rPr lang="en-IN" b="1" i="1">
                                      <a:solidFill>
                                        <a:srgbClr val="00B050"/>
                                      </a:solidFill>
                                      <a:latin typeface="Cambria Math" panose="02040503050406030204" pitchFamily="18" charset="0"/>
                                    </a:rPr>
                                    <m:t>𝒘</m:t>
                                  </m:r>
                                  <m:r>
                                    <a:rPr lang="en-IN" b="1" i="0">
                                      <a:solidFill>
                                        <a:srgbClr val="00B050"/>
                                      </a:solidFill>
                                      <a:latin typeface="Cambria Math" panose="02040503050406030204" pitchFamily="18" charset="0"/>
                                    </a:rPr>
                                    <m:t>(</m:t>
                                  </m:r>
                                  <m:r>
                                    <a:rPr lang="en-IN" b="1" i="1">
                                      <a:solidFill>
                                        <a:srgbClr val="00B050"/>
                                      </a:solidFill>
                                      <a:latin typeface="Cambria Math" panose="02040503050406030204" pitchFamily="18" charset="0"/>
                                    </a:rPr>
                                    <m:t>𝒊</m:t>
                                  </m:r>
                                  <m:r>
                                    <a:rPr lang="en-IN" b="1" i="0">
                                      <a:solidFill>
                                        <a:srgbClr val="00B050"/>
                                      </a:solidFill>
                                      <a:latin typeface="Cambria Math" panose="02040503050406030204" pitchFamily="18" charset="0"/>
                                    </a:rPr>
                                    <m:t>,</m:t>
                                  </m:r>
                                  <m:r>
                                    <a:rPr lang="en-IN" b="1" i="1">
                                      <a:solidFill>
                                        <a:srgbClr val="00B050"/>
                                      </a:solidFill>
                                      <a:latin typeface="Cambria Math" panose="02040503050406030204" pitchFamily="18" charset="0"/>
                                    </a:rPr>
                                    <m:t>𝒏</m:t>
                                  </m:r>
                                </m:e>
                              </m:d>
                            </m:e>
                          </m:d>
                          <m:sSup>
                            <m:sSupPr>
                              <m:ctrlPr>
                                <a:rPr lang="en-IN" b="1" i="1">
                                  <a:solidFill>
                                    <a:srgbClr val="00B050"/>
                                  </a:solidFill>
                                  <a:latin typeface="Cambria Math" panose="02040503050406030204" pitchFamily="18" charset="0"/>
                                </a:rPr>
                              </m:ctrlPr>
                            </m:sSupPr>
                            <m:e>
                              <m:r>
                                <a:rPr lang="en-IN" b="1" i="0">
                                  <a:solidFill>
                                    <a:srgbClr val="00B050"/>
                                  </a:solidFill>
                                  <a:latin typeface="Cambria Math" panose="02040503050406030204" pitchFamily="18" charset="0"/>
                                </a:rPr>
                                <m:t>  </m:t>
                              </m:r>
                              <m:r>
                                <a:rPr lang="en-IN" b="1" i="1">
                                  <a:solidFill>
                                    <a:srgbClr val="00B050"/>
                                  </a:solidFill>
                                  <a:latin typeface="Cambria Math" panose="02040503050406030204" pitchFamily="18" charset="0"/>
                                </a:rPr>
                                <m:t>𝒆</m:t>
                              </m:r>
                            </m:e>
                            <m:sup>
                              <m:r>
                                <a:rPr lang="en-IN" b="1" i="0">
                                  <a:solidFill>
                                    <a:srgbClr val="00B050"/>
                                  </a:solidFill>
                                  <a:latin typeface="Cambria Math" panose="02040503050406030204" pitchFamily="18" charset="0"/>
                                </a:rPr>
                                <m:t> </m:t>
                              </m:r>
                              <m:d>
                                <m:dPr>
                                  <m:ctrlPr>
                                    <a:rPr lang="en-IN" b="1" i="1">
                                      <a:solidFill>
                                        <a:srgbClr val="00B050"/>
                                      </a:solidFill>
                                      <a:latin typeface="Cambria Math" panose="02040503050406030204" pitchFamily="18" charset="0"/>
                                    </a:rPr>
                                  </m:ctrlPr>
                                </m:dPr>
                                <m:e>
                                  <m:r>
                                    <a:rPr lang="en-IN" b="1" i="0">
                                      <a:solidFill>
                                        <a:srgbClr val="00B050"/>
                                      </a:solidFill>
                                      <a:latin typeface="Cambria Math" panose="02040503050406030204" pitchFamily="18" charset="0"/>
                                    </a:rPr>
                                    <m:t>−</m:t>
                                  </m:r>
                                  <m:r>
                                    <a:rPr lang="en-IN" b="1" i="1">
                                      <a:solidFill>
                                        <a:srgbClr val="00B050"/>
                                      </a:solidFill>
                                      <a:latin typeface="Cambria Math" panose="02040503050406030204" pitchFamily="18" charset="0"/>
                                    </a:rPr>
                                    <m:t>𝒋</m:t>
                                  </m:r>
                                  <m:r>
                                    <a:rPr lang="en-IN" b="1" i="0">
                                      <a:solidFill>
                                        <a:srgbClr val="00B050"/>
                                      </a:solidFill>
                                      <a:latin typeface="Cambria Math" panose="02040503050406030204" pitchFamily="18" charset="0"/>
                                    </a:rPr>
                                    <m:t> </m:t>
                                  </m:r>
                                  <m:r>
                                    <a:rPr lang="en-IN" b="1" i="0">
                                      <a:solidFill>
                                        <a:srgbClr val="00B050"/>
                                      </a:solidFill>
                                      <a:latin typeface="Cambria Math" panose="02040503050406030204" pitchFamily="18" charset="0"/>
                                    </a:rPr>
                                    <m:t>𝟐</m:t>
                                  </m:r>
                                  <m:r>
                                    <a:rPr lang="en-IN" b="1" i="0">
                                      <a:solidFill>
                                        <a:srgbClr val="00B050"/>
                                      </a:solidFill>
                                      <a:latin typeface="Cambria Math" panose="02040503050406030204" pitchFamily="18" charset="0"/>
                                    </a:rPr>
                                    <m:t> </m:t>
                                  </m:r>
                                  <m:r>
                                    <a:rPr lang="en-IN" b="1" i="1">
                                      <a:solidFill>
                                        <a:srgbClr val="00B050"/>
                                      </a:solidFill>
                                      <a:latin typeface="Cambria Math" panose="02040503050406030204" pitchFamily="18" charset="0"/>
                                    </a:rPr>
                                    <m:t>𝝅</m:t>
                                  </m:r>
                                  <m:r>
                                    <a:rPr lang="en-IN" b="1" i="0">
                                      <a:solidFill>
                                        <a:srgbClr val="00B050"/>
                                      </a:solidFill>
                                      <a:latin typeface="Cambria Math" panose="02040503050406030204" pitchFamily="18" charset="0"/>
                                    </a:rPr>
                                    <m:t> </m:t>
                                  </m:r>
                                  <m:r>
                                    <a:rPr lang="en-IN" b="1" i="1">
                                      <a:solidFill>
                                        <a:srgbClr val="00B050"/>
                                      </a:solidFill>
                                      <a:latin typeface="Cambria Math" panose="02040503050406030204" pitchFamily="18" charset="0"/>
                                    </a:rPr>
                                    <m:t>𝒑</m:t>
                                  </m:r>
                                  <m:r>
                                    <a:rPr lang="en-IN" b="1" i="0">
                                      <a:solidFill>
                                        <a:srgbClr val="00B050"/>
                                      </a:solidFill>
                                      <a:latin typeface="Cambria Math" panose="02040503050406030204" pitchFamily="18" charset="0"/>
                                    </a:rPr>
                                    <m:t> </m:t>
                                  </m:r>
                                  <m:f>
                                    <m:fPr>
                                      <m:type m:val="lin"/>
                                      <m:ctrlPr>
                                        <a:rPr lang="en-IN" b="1" i="1">
                                          <a:solidFill>
                                            <a:srgbClr val="00B050"/>
                                          </a:solidFill>
                                          <a:latin typeface="Cambria Math" panose="02040503050406030204" pitchFamily="18" charset="0"/>
                                        </a:rPr>
                                      </m:ctrlPr>
                                    </m:fPr>
                                    <m:num>
                                      <m:r>
                                        <a:rPr lang="en-IN" b="1" i="1">
                                          <a:solidFill>
                                            <a:srgbClr val="00B050"/>
                                          </a:solidFill>
                                          <a:latin typeface="Cambria Math" panose="02040503050406030204" pitchFamily="18" charset="0"/>
                                        </a:rPr>
                                        <m:t>𝒏</m:t>
                                      </m:r>
                                    </m:num>
                                    <m:den>
                                      <m:r>
                                        <a:rPr lang="en-IN" b="1" i="1">
                                          <a:solidFill>
                                            <a:srgbClr val="00B050"/>
                                          </a:solidFill>
                                          <a:latin typeface="Cambria Math" panose="02040503050406030204" pitchFamily="18" charset="0"/>
                                        </a:rPr>
                                        <m:t>𝑵</m:t>
                                      </m:r>
                                    </m:den>
                                  </m:f>
                                </m:e>
                              </m:d>
                            </m:sup>
                          </m:sSup>
                          <m:r>
                            <a:rPr lang="en-IN" b="1" i="0">
                              <a:solidFill>
                                <a:srgbClr val="00B050"/>
                              </a:solidFill>
                              <a:latin typeface="Cambria Math" panose="02040503050406030204" pitchFamily="18" charset="0"/>
                            </a:rPr>
                            <m:t> ,</m:t>
                          </m:r>
                        </m:e>
                      </m:nary>
                    </m:oMath>
                  </m:oMathPara>
                </a14:m>
                <a:endParaRPr lang="en-IN" b="1" dirty="0">
                  <a:solidFill>
                    <a:srgbClr val="00B05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1815733" y="3606226"/>
                <a:ext cx="7162800" cy="984052"/>
              </a:xfrm>
              <a:prstGeom prst="rect">
                <a:avLst/>
              </a:prstGeom>
              <a:blipFill>
                <a:blip r:embed="rId8"/>
                <a:stretch>
                  <a:fillRect/>
                </a:stretch>
              </a:blipFill>
            </p:spPr>
            <p:txBody>
              <a:bodyPr/>
              <a:lstStyle/>
              <a:p>
                <a:r>
                  <a:rPr lang="en-IN">
                    <a:noFill/>
                  </a:rPr>
                  <a:t> </a:t>
                </a:r>
              </a:p>
            </p:txBody>
          </p:sp>
        </mc:Fallback>
      </mc:AlternateContent>
      <p:sp>
        <p:nvSpPr>
          <p:cNvPr id="14" name="Rectangle 13"/>
          <p:cNvSpPr/>
          <p:nvPr/>
        </p:nvSpPr>
        <p:spPr>
          <a:xfrm>
            <a:off x="34636" y="4453831"/>
            <a:ext cx="3417154" cy="496931"/>
          </a:xfrm>
          <a:prstGeom prst="rect">
            <a:avLst/>
          </a:prstGeom>
        </p:spPr>
        <p:txBody>
          <a:bodyPr wrap="none">
            <a:spAutoFit/>
          </a:bodyPr>
          <a:lstStyle/>
          <a:p>
            <a:pPr algn="just">
              <a:lnSpc>
                <a:spcPct val="150000"/>
              </a:lnSpc>
              <a:spcBef>
                <a:spcPts val="600"/>
              </a:spcBef>
              <a:spcAft>
                <a:spcPts val="0"/>
              </a:spcAft>
              <a:tabLst>
                <a:tab pos="2457450" algn="l"/>
              </a:tabLst>
            </a:pPr>
            <a:r>
              <a:rPr lang="en-US"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After separating the AWGN term –</a:t>
            </a:r>
            <a:endParaRPr lang="en-IN" sz="2000" dirty="0">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Rectangle 14"/>
              <p:cNvSpPr/>
              <p:nvPr/>
            </p:nvSpPr>
            <p:spPr>
              <a:xfrm>
                <a:off x="-100434" y="5257800"/>
                <a:ext cx="9271438" cy="113255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b="1" smtClean="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𝒀</m:t>
                      </m:r>
                      <m:d>
                        <m:dPr>
                          <m:ctrlPr>
                            <a:rPr lang="en-IN" b="1" i="1">
                              <a:solidFill>
                                <a:srgbClr val="00B0F0"/>
                              </a:solidFill>
                              <a:latin typeface="Cambria Math" panose="02040503050406030204" pitchFamily="18" charset="0"/>
                            </a:rPr>
                          </m:ctrlPr>
                        </m:dPr>
                        <m:e>
                          <m:r>
                            <a:rPr lang="en-IN" b="1" i="1">
                              <a:solidFill>
                                <a:srgbClr val="00B0F0"/>
                              </a:solidFill>
                              <a:latin typeface="Cambria Math" panose="02040503050406030204" pitchFamily="18" charset="0"/>
                            </a:rPr>
                            <m:t>𝒊</m:t>
                          </m:r>
                          <m:r>
                            <a:rPr lang="en-IN" b="1" i="0">
                              <a:solidFill>
                                <a:srgbClr val="00B0F0"/>
                              </a:solidFill>
                              <a:latin typeface="Cambria Math" panose="02040503050406030204" pitchFamily="18" charset="0"/>
                            </a:rPr>
                            <m:t>,</m:t>
                          </m:r>
                          <m:r>
                            <a:rPr lang="en-IN" b="1" i="1">
                              <a:solidFill>
                                <a:srgbClr val="00B0F0"/>
                              </a:solidFill>
                              <a:latin typeface="Cambria Math" panose="02040503050406030204" pitchFamily="18" charset="0"/>
                            </a:rPr>
                            <m:t>𝒑</m:t>
                          </m:r>
                        </m:e>
                      </m:d>
                      <m:r>
                        <a:rPr lang="en-IN" b="1" i="0">
                          <a:solidFill>
                            <a:srgbClr val="00B0F0"/>
                          </a:solidFill>
                          <a:latin typeface="Cambria Math" panose="02040503050406030204" pitchFamily="18" charset="0"/>
                        </a:rPr>
                        <m:t>= </m:t>
                      </m:r>
                      <m:nary>
                        <m:naryPr>
                          <m:chr m:val="∑"/>
                          <m:limLoc m:val="undOvr"/>
                          <m:ctrlPr>
                            <a:rPr lang="en-IN" b="1" i="1">
                              <a:solidFill>
                                <a:srgbClr val="00B0F0"/>
                              </a:solidFill>
                              <a:latin typeface="Cambria Math" panose="02040503050406030204" pitchFamily="18" charset="0"/>
                            </a:rPr>
                          </m:ctrlPr>
                        </m:naryPr>
                        <m:sub>
                          <m:r>
                            <a:rPr lang="en-IN" b="1" i="1">
                              <a:solidFill>
                                <a:srgbClr val="00B0F0"/>
                              </a:solidFill>
                              <a:latin typeface="Cambria Math" panose="02040503050406030204" pitchFamily="18" charset="0"/>
                            </a:rPr>
                            <m:t>𝒏</m:t>
                          </m:r>
                          <m:r>
                            <a:rPr lang="en-IN" b="1" i="0">
                              <a:solidFill>
                                <a:srgbClr val="00B0F0"/>
                              </a:solidFill>
                              <a:latin typeface="Cambria Math" panose="02040503050406030204" pitchFamily="18" charset="0"/>
                            </a:rPr>
                            <m:t>=</m:t>
                          </m:r>
                          <m:r>
                            <a:rPr lang="en-IN" b="1" i="0">
                              <a:solidFill>
                                <a:srgbClr val="00B0F0"/>
                              </a:solidFill>
                              <a:latin typeface="Cambria Math" panose="02040503050406030204" pitchFamily="18" charset="0"/>
                            </a:rPr>
                            <m:t>𝟎</m:t>
                          </m:r>
                        </m:sub>
                        <m:sup>
                          <m:r>
                            <a:rPr lang="en-IN" b="1" i="1">
                              <a:solidFill>
                                <a:srgbClr val="00B0F0"/>
                              </a:solidFill>
                              <a:latin typeface="Cambria Math" panose="02040503050406030204" pitchFamily="18" charset="0"/>
                            </a:rPr>
                            <m:t>𝑵</m:t>
                          </m:r>
                          <m:r>
                            <a:rPr lang="en-IN" b="1" i="0">
                              <a:solidFill>
                                <a:srgbClr val="00B0F0"/>
                              </a:solidFill>
                              <a:latin typeface="Cambria Math" panose="02040503050406030204" pitchFamily="18" charset="0"/>
                            </a:rPr>
                            <m:t>−</m:t>
                          </m:r>
                          <m:r>
                            <a:rPr lang="en-IN" b="1" i="0">
                              <a:solidFill>
                                <a:srgbClr val="00B0F0"/>
                              </a:solidFill>
                              <a:latin typeface="Cambria Math" panose="02040503050406030204" pitchFamily="18" charset="0"/>
                            </a:rPr>
                            <m:t>𝟏</m:t>
                          </m:r>
                        </m:sup>
                        <m:e>
                          <m:r>
                            <a:rPr lang="en-IN" b="1" i="0">
                              <a:solidFill>
                                <a:srgbClr val="00B0F0"/>
                              </a:solidFill>
                              <a:latin typeface="Cambria Math" panose="02040503050406030204" pitchFamily="18" charset="0"/>
                            </a:rPr>
                            <m:t>       </m:t>
                          </m:r>
                          <m:nary>
                            <m:naryPr>
                              <m:chr m:val="∑"/>
                              <m:limLoc m:val="undOvr"/>
                              <m:ctrlPr>
                                <a:rPr lang="en-IN" b="1" i="1">
                                  <a:solidFill>
                                    <a:srgbClr val="00B0F0"/>
                                  </a:solidFill>
                                  <a:latin typeface="Cambria Math" panose="02040503050406030204" pitchFamily="18" charset="0"/>
                                </a:rPr>
                              </m:ctrlPr>
                            </m:naryPr>
                            <m:sub>
                              <m:r>
                                <a:rPr lang="en-IN" b="1" i="1">
                                  <a:solidFill>
                                    <a:srgbClr val="00B0F0"/>
                                  </a:solidFill>
                                  <a:latin typeface="Cambria Math" panose="02040503050406030204" pitchFamily="18" charset="0"/>
                                </a:rPr>
                                <m:t>𝒍</m:t>
                              </m:r>
                              <m:r>
                                <a:rPr lang="en-IN" b="1" i="0">
                                  <a:solidFill>
                                    <a:srgbClr val="00B0F0"/>
                                  </a:solidFill>
                                  <a:latin typeface="Cambria Math" panose="02040503050406030204" pitchFamily="18" charset="0"/>
                                </a:rPr>
                                <m:t>=</m:t>
                              </m:r>
                              <m:r>
                                <a:rPr lang="en-IN" b="1" i="0">
                                  <a:solidFill>
                                    <a:srgbClr val="00B0F0"/>
                                  </a:solidFill>
                                  <a:latin typeface="Cambria Math" panose="02040503050406030204" pitchFamily="18" charset="0"/>
                                </a:rPr>
                                <m:t>𝟎</m:t>
                              </m:r>
                            </m:sub>
                            <m:sup>
                              <m:r>
                                <a:rPr lang="en-IN" b="1" i="1">
                                  <a:solidFill>
                                    <a:srgbClr val="00B0F0"/>
                                  </a:solidFill>
                                  <a:latin typeface="Cambria Math" panose="02040503050406030204" pitchFamily="18" charset="0"/>
                                </a:rPr>
                                <m:t>𝑳</m:t>
                              </m:r>
                              <m:r>
                                <a:rPr lang="en-IN" b="1" i="0">
                                  <a:solidFill>
                                    <a:srgbClr val="00B0F0"/>
                                  </a:solidFill>
                                  <a:latin typeface="Cambria Math" panose="02040503050406030204" pitchFamily="18" charset="0"/>
                                </a:rPr>
                                <m:t>−</m:t>
                              </m:r>
                              <m:r>
                                <a:rPr lang="en-IN" b="1" i="0">
                                  <a:solidFill>
                                    <a:srgbClr val="00B0F0"/>
                                  </a:solidFill>
                                  <a:latin typeface="Cambria Math" panose="02040503050406030204" pitchFamily="18" charset="0"/>
                                </a:rPr>
                                <m:t>𝟏</m:t>
                              </m:r>
                            </m:sup>
                            <m:e>
                              <m:sSub>
                                <m:sSubPr>
                                  <m:ctrlPr>
                                    <a:rPr lang="en-IN" b="1" i="1">
                                      <a:solidFill>
                                        <a:srgbClr val="00B0F0"/>
                                      </a:solidFill>
                                      <a:latin typeface="Cambria Math" panose="02040503050406030204" pitchFamily="18" charset="0"/>
                                    </a:rPr>
                                  </m:ctrlPr>
                                </m:sSubPr>
                                <m:e>
                                  <m:r>
                                    <a:rPr lang="en-IN" b="1" i="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𝒉</m:t>
                                  </m:r>
                                </m:e>
                                <m:sub>
                                  <m:r>
                                    <a:rPr lang="en-IN" b="1" i="1">
                                      <a:solidFill>
                                        <a:srgbClr val="00B0F0"/>
                                      </a:solidFill>
                                      <a:latin typeface="Cambria Math" panose="02040503050406030204" pitchFamily="18" charset="0"/>
                                    </a:rPr>
                                    <m:t>𝒍</m:t>
                                  </m:r>
                                </m:sub>
                              </m:sSub>
                              <m:d>
                                <m:dPr>
                                  <m:ctrlPr>
                                    <a:rPr lang="en-IN" b="1" i="1">
                                      <a:solidFill>
                                        <a:srgbClr val="00B0F0"/>
                                      </a:solidFill>
                                      <a:latin typeface="Cambria Math" panose="02040503050406030204" pitchFamily="18" charset="0"/>
                                    </a:rPr>
                                  </m:ctrlPr>
                                </m:dPr>
                                <m:e>
                                  <m:r>
                                    <a:rPr lang="en-IN" b="1" i="1">
                                      <a:solidFill>
                                        <a:srgbClr val="00B0F0"/>
                                      </a:solidFill>
                                      <a:latin typeface="Cambria Math" panose="02040503050406030204" pitchFamily="18" charset="0"/>
                                    </a:rPr>
                                    <m:t>𝝉</m:t>
                                  </m:r>
                                </m:e>
                              </m:d>
                              <m:r>
                                <a:rPr lang="en-IN" b="1" i="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𝒙</m:t>
                              </m:r>
                              <m:d>
                                <m:dPr>
                                  <m:ctrlPr>
                                    <a:rPr lang="en-IN" b="1" i="1">
                                      <a:solidFill>
                                        <a:srgbClr val="00B0F0"/>
                                      </a:solidFill>
                                      <a:latin typeface="Cambria Math" panose="02040503050406030204" pitchFamily="18" charset="0"/>
                                    </a:rPr>
                                  </m:ctrlPr>
                                </m:dPr>
                                <m:e>
                                  <m:r>
                                    <a:rPr lang="en-IN" b="1" i="1">
                                      <a:solidFill>
                                        <a:srgbClr val="00B0F0"/>
                                      </a:solidFill>
                                      <a:latin typeface="Cambria Math" panose="02040503050406030204" pitchFamily="18" charset="0"/>
                                    </a:rPr>
                                    <m:t>𝒊</m:t>
                                  </m:r>
                                  <m:r>
                                    <a:rPr lang="en-IN" b="1" i="0">
                                      <a:solidFill>
                                        <a:srgbClr val="00B0F0"/>
                                      </a:solidFill>
                                      <a:latin typeface="Cambria Math" panose="02040503050406030204" pitchFamily="18" charset="0"/>
                                    </a:rPr>
                                    <m:t>,</m:t>
                                  </m:r>
                                  <m:r>
                                    <a:rPr lang="en-IN" b="1" i="1">
                                      <a:solidFill>
                                        <a:srgbClr val="00B0F0"/>
                                      </a:solidFill>
                                      <a:latin typeface="Cambria Math" panose="02040503050406030204" pitchFamily="18" charset="0"/>
                                    </a:rPr>
                                    <m:t>𝒏</m:t>
                                  </m:r>
                                  <m:r>
                                    <a:rPr lang="en-IN" b="1" i="0">
                                      <a:solidFill>
                                        <a:srgbClr val="00B0F0"/>
                                      </a:solidFill>
                                      <a:latin typeface="Cambria Math" panose="02040503050406030204" pitchFamily="18" charset="0"/>
                                    </a:rPr>
                                    <m:t>−</m:t>
                                  </m:r>
                                  <m:sSub>
                                    <m:sSubPr>
                                      <m:ctrlPr>
                                        <a:rPr lang="en-IN" b="1" i="1">
                                          <a:solidFill>
                                            <a:srgbClr val="00B0F0"/>
                                          </a:solidFill>
                                          <a:latin typeface="Cambria Math" panose="02040503050406030204" pitchFamily="18" charset="0"/>
                                        </a:rPr>
                                      </m:ctrlPr>
                                    </m:sSubPr>
                                    <m:e>
                                      <m:r>
                                        <a:rPr lang="en-IN" b="1" i="1">
                                          <a:solidFill>
                                            <a:srgbClr val="00B0F0"/>
                                          </a:solidFill>
                                          <a:latin typeface="Cambria Math" panose="02040503050406030204" pitchFamily="18" charset="0"/>
                                        </a:rPr>
                                        <m:t>𝝉</m:t>
                                      </m:r>
                                    </m:e>
                                    <m:sub>
                                      <m:r>
                                        <a:rPr lang="en-IN" b="1" i="1">
                                          <a:solidFill>
                                            <a:srgbClr val="00B0F0"/>
                                          </a:solidFill>
                                          <a:latin typeface="Cambria Math" panose="02040503050406030204" pitchFamily="18" charset="0"/>
                                        </a:rPr>
                                        <m:t>𝒍</m:t>
                                      </m:r>
                                    </m:sub>
                                  </m:sSub>
                                </m:e>
                              </m:d>
                              <m:r>
                                <a:rPr lang="en-IN" b="1" i="0">
                                  <a:solidFill>
                                    <a:srgbClr val="00B0F0"/>
                                  </a:solidFill>
                                  <a:latin typeface="Cambria Math" panose="02040503050406030204" pitchFamily="18" charset="0"/>
                                </a:rPr>
                                <m:t> </m:t>
                              </m:r>
                              <m:sSup>
                                <m:sSupPr>
                                  <m:ctrlPr>
                                    <a:rPr lang="en-IN" b="1" i="1">
                                      <a:solidFill>
                                        <a:srgbClr val="00B0F0"/>
                                      </a:solidFill>
                                      <a:latin typeface="Cambria Math" panose="02040503050406030204" pitchFamily="18" charset="0"/>
                                    </a:rPr>
                                  </m:ctrlPr>
                                </m:sSupPr>
                                <m:e>
                                  <m:r>
                                    <a:rPr lang="en-IN" b="1" i="1">
                                      <a:solidFill>
                                        <a:srgbClr val="00B0F0"/>
                                      </a:solidFill>
                                      <a:latin typeface="Cambria Math" panose="02040503050406030204" pitchFamily="18" charset="0"/>
                                    </a:rPr>
                                    <m:t>𝒆</m:t>
                                  </m:r>
                                </m:e>
                                <m:sup>
                                  <m:r>
                                    <a:rPr lang="en-IN" b="1" i="0">
                                      <a:solidFill>
                                        <a:srgbClr val="00B0F0"/>
                                      </a:solidFill>
                                      <a:latin typeface="Cambria Math" panose="02040503050406030204" pitchFamily="18" charset="0"/>
                                    </a:rPr>
                                    <m:t>—</m:t>
                                  </m:r>
                                  <m:d>
                                    <m:dPr>
                                      <m:ctrlPr>
                                        <a:rPr lang="en-IN" b="1" i="1">
                                          <a:solidFill>
                                            <a:srgbClr val="00B0F0"/>
                                          </a:solidFill>
                                          <a:latin typeface="Cambria Math" panose="02040503050406030204" pitchFamily="18" charset="0"/>
                                        </a:rPr>
                                      </m:ctrlPr>
                                    </m:dPr>
                                    <m:e>
                                      <m:f>
                                        <m:fPr>
                                          <m:ctrlPr>
                                            <a:rPr lang="en-IN" b="1" i="1">
                                              <a:solidFill>
                                                <a:srgbClr val="00B0F0"/>
                                              </a:solidFill>
                                              <a:latin typeface="Cambria Math" panose="02040503050406030204" pitchFamily="18" charset="0"/>
                                            </a:rPr>
                                          </m:ctrlPr>
                                        </m:fPr>
                                        <m:num>
                                          <m:r>
                                            <a:rPr lang="en-IN" b="1" i="1">
                                              <a:solidFill>
                                                <a:srgbClr val="00B0F0"/>
                                              </a:solidFill>
                                              <a:latin typeface="Cambria Math" panose="02040503050406030204" pitchFamily="18" charset="0"/>
                                            </a:rPr>
                                            <m:t>𝒋</m:t>
                                          </m:r>
                                          <m:r>
                                            <a:rPr lang="en-IN" b="1" i="0">
                                              <a:solidFill>
                                                <a:srgbClr val="00B0F0"/>
                                              </a:solidFill>
                                              <a:latin typeface="Cambria Math" panose="02040503050406030204" pitchFamily="18" charset="0"/>
                                            </a:rPr>
                                            <m:t> </m:t>
                                          </m:r>
                                          <m:r>
                                            <a:rPr lang="en-IN" b="1" i="0">
                                              <a:solidFill>
                                                <a:srgbClr val="00B0F0"/>
                                              </a:solidFill>
                                              <a:latin typeface="Cambria Math" panose="02040503050406030204" pitchFamily="18" charset="0"/>
                                            </a:rPr>
                                            <m:t>𝟐</m:t>
                                          </m:r>
                                          <m:r>
                                            <a:rPr lang="en-IN" b="1" i="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𝝅</m:t>
                                          </m:r>
                                          <m:r>
                                            <a:rPr lang="en-IN" b="1" i="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𝒑</m:t>
                                          </m:r>
                                          <m:r>
                                            <a:rPr lang="en-IN" b="1" i="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𝒏</m:t>
                                          </m:r>
                                        </m:num>
                                        <m:den>
                                          <m:r>
                                            <a:rPr lang="en-IN" b="1" i="1">
                                              <a:solidFill>
                                                <a:srgbClr val="00B0F0"/>
                                              </a:solidFill>
                                              <a:latin typeface="Cambria Math" panose="02040503050406030204" pitchFamily="18" charset="0"/>
                                            </a:rPr>
                                            <m:t>𝑵</m:t>
                                          </m:r>
                                        </m:den>
                                      </m:f>
                                    </m:e>
                                  </m:d>
                                </m:sup>
                              </m:sSup>
                            </m:e>
                          </m:nary>
                        </m:e>
                      </m:nary>
                      <m:r>
                        <a:rPr lang="en-IN" b="1" i="0">
                          <a:solidFill>
                            <a:srgbClr val="00B0F0"/>
                          </a:solidFill>
                          <a:latin typeface="Cambria Math" panose="02040503050406030204" pitchFamily="18" charset="0"/>
                        </a:rPr>
                        <m:t>  +    </m:t>
                      </m:r>
                      <m:limLow>
                        <m:limLowPr>
                          <m:ctrlPr>
                            <a:rPr lang="en-IN" b="1" i="1">
                              <a:solidFill>
                                <a:srgbClr val="00B0F0"/>
                              </a:solidFill>
                              <a:latin typeface="Cambria Math" panose="02040503050406030204" pitchFamily="18" charset="0"/>
                            </a:rPr>
                          </m:ctrlPr>
                        </m:limLowPr>
                        <m:e>
                          <m:groupChr>
                            <m:groupChrPr>
                              <m:chr m:val="⏟"/>
                              <m:ctrlPr>
                                <a:rPr lang="en-IN" b="1" i="1">
                                  <a:solidFill>
                                    <a:srgbClr val="00B0F0"/>
                                  </a:solidFill>
                                  <a:latin typeface="Cambria Math" panose="02040503050406030204" pitchFamily="18" charset="0"/>
                                </a:rPr>
                              </m:ctrlPr>
                            </m:groupChrPr>
                            <m:e>
                              <m:nary>
                                <m:naryPr>
                                  <m:chr m:val="∑"/>
                                  <m:limLoc m:val="undOvr"/>
                                  <m:ctrlPr>
                                    <a:rPr lang="en-IN" b="1" i="1">
                                      <a:solidFill>
                                        <a:srgbClr val="00B0F0"/>
                                      </a:solidFill>
                                      <a:latin typeface="Cambria Math" panose="02040503050406030204" pitchFamily="18" charset="0"/>
                                    </a:rPr>
                                  </m:ctrlPr>
                                </m:naryPr>
                                <m:sub>
                                  <m:r>
                                    <a:rPr lang="en-IN" b="1" i="1">
                                      <a:solidFill>
                                        <a:srgbClr val="00B0F0"/>
                                      </a:solidFill>
                                      <a:latin typeface="Cambria Math" panose="02040503050406030204" pitchFamily="18" charset="0"/>
                                    </a:rPr>
                                    <m:t>𝒏</m:t>
                                  </m:r>
                                  <m:r>
                                    <a:rPr lang="en-IN" b="1" i="0">
                                      <a:solidFill>
                                        <a:srgbClr val="00B0F0"/>
                                      </a:solidFill>
                                      <a:latin typeface="Cambria Math" panose="02040503050406030204" pitchFamily="18" charset="0"/>
                                    </a:rPr>
                                    <m:t>=</m:t>
                                  </m:r>
                                  <m:r>
                                    <a:rPr lang="en-IN" b="1" i="0">
                                      <a:solidFill>
                                        <a:srgbClr val="00B0F0"/>
                                      </a:solidFill>
                                      <a:latin typeface="Cambria Math" panose="02040503050406030204" pitchFamily="18" charset="0"/>
                                    </a:rPr>
                                    <m:t>𝟎</m:t>
                                  </m:r>
                                </m:sub>
                                <m:sup>
                                  <m:r>
                                    <a:rPr lang="en-IN" b="1" i="1">
                                      <a:solidFill>
                                        <a:srgbClr val="00B0F0"/>
                                      </a:solidFill>
                                      <a:latin typeface="Cambria Math" panose="02040503050406030204" pitchFamily="18" charset="0"/>
                                    </a:rPr>
                                    <m:t>𝑵</m:t>
                                  </m:r>
                                  <m:r>
                                    <a:rPr lang="en-IN" b="1" i="0">
                                      <a:solidFill>
                                        <a:srgbClr val="00B0F0"/>
                                      </a:solidFill>
                                      <a:latin typeface="Cambria Math" panose="02040503050406030204" pitchFamily="18" charset="0"/>
                                    </a:rPr>
                                    <m:t>−</m:t>
                                  </m:r>
                                  <m:r>
                                    <a:rPr lang="en-IN" b="1" i="0">
                                      <a:solidFill>
                                        <a:srgbClr val="00B0F0"/>
                                      </a:solidFill>
                                      <a:latin typeface="Cambria Math" panose="02040503050406030204" pitchFamily="18" charset="0"/>
                                    </a:rPr>
                                    <m:t>𝟏</m:t>
                                  </m:r>
                                </m:sup>
                                <m:e>
                                  <m:r>
                                    <a:rPr lang="en-IN" b="1" i="1">
                                      <a:solidFill>
                                        <a:srgbClr val="00B0F0"/>
                                      </a:solidFill>
                                      <a:latin typeface="Cambria Math" panose="02040503050406030204" pitchFamily="18" charset="0"/>
                                    </a:rPr>
                                    <m:t>𝒘</m:t>
                                  </m:r>
                                  <m:d>
                                    <m:dPr>
                                      <m:ctrlPr>
                                        <a:rPr lang="en-IN" b="1" i="1">
                                          <a:solidFill>
                                            <a:srgbClr val="00B0F0"/>
                                          </a:solidFill>
                                          <a:latin typeface="Cambria Math" panose="02040503050406030204" pitchFamily="18" charset="0"/>
                                        </a:rPr>
                                      </m:ctrlPr>
                                    </m:dPr>
                                    <m:e>
                                      <m:r>
                                        <a:rPr lang="en-IN" b="1" i="1">
                                          <a:solidFill>
                                            <a:srgbClr val="00B0F0"/>
                                          </a:solidFill>
                                          <a:latin typeface="Cambria Math" panose="02040503050406030204" pitchFamily="18" charset="0"/>
                                        </a:rPr>
                                        <m:t>𝒊</m:t>
                                      </m:r>
                                      <m:r>
                                        <a:rPr lang="en-IN" b="1" i="0">
                                          <a:solidFill>
                                            <a:srgbClr val="00B0F0"/>
                                          </a:solidFill>
                                          <a:latin typeface="Cambria Math" panose="02040503050406030204" pitchFamily="18" charset="0"/>
                                        </a:rPr>
                                        <m:t>,</m:t>
                                      </m:r>
                                      <m:r>
                                        <a:rPr lang="en-IN" b="1" i="1">
                                          <a:solidFill>
                                            <a:srgbClr val="00B0F0"/>
                                          </a:solidFill>
                                          <a:latin typeface="Cambria Math" panose="02040503050406030204" pitchFamily="18" charset="0"/>
                                        </a:rPr>
                                        <m:t>𝒏</m:t>
                                      </m:r>
                                    </m:e>
                                  </m:d>
                                  <m:r>
                                    <a:rPr lang="en-IN" b="1" i="0">
                                      <a:solidFill>
                                        <a:srgbClr val="00B0F0"/>
                                      </a:solidFill>
                                      <a:latin typeface="Cambria Math" panose="02040503050406030204" pitchFamily="18" charset="0"/>
                                    </a:rPr>
                                    <m:t> </m:t>
                                  </m:r>
                                  <m:sSup>
                                    <m:sSupPr>
                                      <m:ctrlPr>
                                        <a:rPr lang="en-IN" b="1" i="1">
                                          <a:solidFill>
                                            <a:srgbClr val="00B0F0"/>
                                          </a:solidFill>
                                          <a:latin typeface="Cambria Math" panose="02040503050406030204" pitchFamily="18" charset="0"/>
                                        </a:rPr>
                                      </m:ctrlPr>
                                    </m:sSupPr>
                                    <m:e>
                                      <m:r>
                                        <a:rPr lang="en-IN" b="1" i="1">
                                          <a:solidFill>
                                            <a:srgbClr val="00B0F0"/>
                                          </a:solidFill>
                                          <a:latin typeface="Cambria Math" panose="02040503050406030204" pitchFamily="18" charset="0"/>
                                        </a:rPr>
                                        <m:t>𝒆</m:t>
                                      </m:r>
                                    </m:e>
                                    <m:sup>
                                      <m:r>
                                        <a:rPr lang="en-IN" b="1" i="0">
                                          <a:solidFill>
                                            <a:srgbClr val="00B0F0"/>
                                          </a:solidFill>
                                          <a:latin typeface="Cambria Math" panose="02040503050406030204" pitchFamily="18" charset="0"/>
                                        </a:rPr>
                                        <m:t>—</m:t>
                                      </m:r>
                                      <m:d>
                                        <m:dPr>
                                          <m:ctrlPr>
                                            <a:rPr lang="en-IN" b="1" i="1">
                                              <a:solidFill>
                                                <a:srgbClr val="00B0F0"/>
                                              </a:solidFill>
                                              <a:latin typeface="Cambria Math" panose="02040503050406030204" pitchFamily="18" charset="0"/>
                                            </a:rPr>
                                          </m:ctrlPr>
                                        </m:dPr>
                                        <m:e>
                                          <m:f>
                                            <m:fPr>
                                              <m:ctrlPr>
                                                <a:rPr lang="en-IN" b="1" i="1">
                                                  <a:solidFill>
                                                    <a:srgbClr val="00B0F0"/>
                                                  </a:solidFill>
                                                  <a:latin typeface="Cambria Math" panose="02040503050406030204" pitchFamily="18" charset="0"/>
                                                </a:rPr>
                                              </m:ctrlPr>
                                            </m:fPr>
                                            <m:num>
                                              <m:r>
                                                <a:rPr lang="en-IN" b="1" i="1">
                                                  <a:solidFill>
                                                    <a:srgbClr val="00B0F0"/>
                                                  </a:solidFill>
                                                  <a:latin typeface="Cambria Math" panose="02040503050406030204" pitchFamily="18" charset="0"/>
                                                </a:rPr>
                                                <m:t>𝒋</m:t>
                                              </m:r>
                                              <m:r>
                                                <a:rPr lang="en-IN" b="1" i="0">
                                                  <a:solidFill>
                                                    <a:srgbClr val="00B0F0"/>
                                                  </a:solidFill>
                                                  <a:latin typeface="Cambria Math" panose="02040503050406030204" pitchFamily="18" charset="0"/>
                                                </a:rPr>
                                                <m:t> </m:t>
                                              </m:r>
                                              <m:r>
                                                <a:rPr lang="en-IN" b="1" i="0">
                                                  <a:solidFill>
                                                    <a:srgbClr val="00B0F0"/>
                                                  </a:solidFill>
                                                  <a:latin typeface="Cambria Math" panose="02040503050406030204" pitchFamily="18" charset="0"/>
                                                </a:rPr>
                                                <m:t>𝟐</m:t>
                                              </m:r>
                                              <m:r>
                                                <a:rPr lang="en-IN" b="1" i="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𝝅</m:t>
                                              </m:r>
                                              <m:r>
                                                <a:rPr lang="en-IN" b="1" i="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𝒑</m:t>
                                              </m:r>
                                              <m:r>
                                                <a:rPr lang="en-IN" b="1" i="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𝒏</m:t>
                                              </m:r>
                                            </m:num>
                                            <m:den>
                                              <m:r>
                                                <a:rPr lang="en-IN" b="1" i="1">
                                                  <a:solidFill>
                                                    <a:srgbClr val="00B0F0"/>
                                                  </a:solidFill>
                                                  <a:latin typeface="Cambria Math" panose="02040503050406030204" pitchFamily="18" charset="0"/>
                                                </a:rPr>
                                                <m:t>𝑵</m:t>
                                              </m:r>
                                            </m:den>
                                          </m:f>
                                        </m:e>
                                      </m:d>
                                    </m:sup>
                                  </m:sSup>
                                </m:e>
                              </m:nary>
                            </m:e>
                          </m:groupChr>
                          <m:r>
                            <a:rPr lang="en-IN" b="1" i="0">
                              <a:solidFill>
                                <a:srgbClr val="00B0F0"/>
                              </a:solidFill>
                              <a:latin typeface="Cambria Math" panose="02040503050406030204" pitchFamily="18" charset="0"/>
                            </a:rPr>
                            <m:t>,</m:t>
                          </m:r>
                        </m:e>
                        <m:lim>
                          <m:r>
                            <a:rPr lang="en-IN" b="1" i="1">
                              <a:solidFill>
                                <a:srgbClr val="00B0F0"/>
                              </a:solidFill>
                              <a:latin typeface="Cambria Math" panose="02040503050406030204" pitchFamily="18" charset="0"/>
                            </a:rPr>
                            <m:t>𝑾</m:t>
                          </m:r>
                          <m:d>
                            <m:dPr>
                              <m:ctrlPr>
                                <a:rPr lang="en-IN" b="1" i="1">
                                  <a:solidFill>
                                    <a:srgbClr val="00B0F0"/>
                                  </a:solidFill>
                                  <a:latin typeface="Cambria Math" panose="02040503050406030204" pitchFamily="18" charset="0"/>
                                </a:rPr>
                              </m:ctrlPr>
                            </m:dPr>
                            <m:e>
                              <m:r>
                                <a:rPr lang="en-IN" b="1" i="1">
                                  <a:solidFill>
                                    <a:srgbClr val="00B0F0"/>
                                  </a:solidFill>
                                  <a:latin typeface="Cambria Math" panose="02040503050406030204" pitchFamily="18" charset="0"/>
                                </a:rPr>
                                <m:t>𝒊</m:t>
                              </m:r>
                              <m:r>
                                <a:rPr lang="en-IN" b="1" i="0">
                                  <a:solidFill>
                                    <a:srgbClr val="00B0F0"/>
                                  </a:solidFill>
                                  <a:latin typeface="Cambria Math" panose="02040503050406030204" pitchFamily="18" charset="0"/>
                                </a:rPr>
                                <m:t>,  </m:t>
                              </m:r>
                              <m:r>
                                <a:rPr lang="en-IN" b="1" i="1">
                                  <a:solidFill>
                                    <a:srgbClr val="00B0F0"/>
                                  </a:solidFill>
                                  <a:latin typeface="Cambria Math" panose="02040503050406030204" pitchFamily="18" charset="0"/>
                                </a:rPr>
                                <m:t>𝒑</m:t>
                              </m:r>
                            </m:e>
                          </m:d>
                        </m:lim>
                      </m:limLow>
                      <m:r>
                        <a:rPr lang="en-IN" b="1" i="0">
                          <a:solidFill>
                            <a:srgbClr val="00B0F0"/>
                          </a:solidFill>
                          <a:latin typeface="Cambria Math" panose="02040503050406030204" pitchFamily="18" charset="0"/>
                        </a:rPr>
                        <m:t> </m:t>
                      </m:r>
                    </m:oMath>
                  </m:oMathPara>
                </a14:m>
                <a:endParaRPr lang="en-IN" b="1" dirty="0">
                  <a:solidFill>
                    <a:srgbClr val="00B0F0"/>
                  </a:solidFill>
                </a:endParaRPr>
              </a:p>
            </p:txBody>
          </p:sp>
        </mc:Choice>
        <mc:Fallback xmlns="">
          <p:sp>
            <p:nvSpPr>
              <p:cNvPr id="15" name="Rectangle 14"/>
              <p:cNvSpPr>
                <a:spLocks noRot="1" noChangeAspect="1" noMove="1" noResize="1" noEditPoints="1" noAdjustHandles="1" noChangeArrowheads="1" noChangeShapeType="1" noTextEdit="1"/>
              </p:cNvSpPr>
              <p:nvPr/>
            </p:nvSpPr>
            <p:spPr>
              <a:xfrm>
                <a:off x="-100434" y="5257800"/>
                <a:ext cx="9271438" cy="1132554"/>
              </a:xfrm>
              <a:prstGeom prst="rect">
                <a:avLst/>
              </a:prstGeom>
              <a:blipFill>
                <a:blip r:embed="rId9"/>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691890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p:cNvSpPr/>
              <p:nvPr/>
            </p:nvSpPr>
            <p:spPr>
              <a:xfrm>
                <a:off x="75573" y="152400"/>
                <a:ext cx="3342966" cy="369332"/>
              </a:xfrm>
              <a:prstGeom prst="rect">
                <a:avLst/>
              </a:prstGeom>
            </p:spPr>
            <p:txBody>
              <a:bodyPr wrap="none">
                <a:spAutoFit/>
              </a:bodyPr>
              <a:lstStyle/>
              <a:p>
                <a:r>
                  <a:rPr lang="en-US" spc="-5" dirty="0" smtClean="0">
                    <a:solidFill>
                      <a:srgbClr val="FF0000"/>
                    </a:solidFill>
                    <a:latin typeface="Times New Roman" panose="02020603050405020304" pitchFamily="18" charset="0"/>
                    <a:ea typeface="Times New Roman" panose="02020603050405020304" pitchFamily="18" charset="0"/>
                  </a:rPr>
                  <a:t>Now, put the value of</a:t>
                </a:r>
                <a14:m>
                  <m:oMath xmlns:m="http://schemas.openxmlformats.org/officeDocument/2006/math">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𝑥</m:t>
                    </m:r>
                    <m:d>
                      <m:dPr>
                        <m:ctrlPr>
                          <a:rPr lang="en-IN" sz="1800" i="1" spc="-5">
                            <a:solidFill>
                              <a:srgbClr val="FF0000"/>
                            </a:solidFill>
                            <a:effectLst/>
                            <a:latin typeface="Cambria Math" panose="02040503050406030204" pitchFamily="18" charset="0"/>
                          </a:rPr>
                        </m:ctrlPr>
                      </m:dPr>
                      <m:e>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𝑛</m:t>
                        </m:r>
                        <m:r>
                          <a:rPr lang="en-US" sz="1800" i="1" spc="-5">
                            <a:solidFill>
                              <a:srgbClr val="FF0000"/>
                            </a:solidFill>
                            <a:effectLst/>
                            <a:latin typeface="Cambria Math" panose="02040503050406030204" pitchFamily="18" charset="0"/>
                            <a:ea typeface="Times New Roman" panose="02020603050405020304" pitchFamily="18" charset="0"/>
                          </a:rPr>
                          <m:t>−</m:t>
                        </m:r>
                        <m:sSub>
                          <m:sSubPr>
                            <m:ctrlPr>
                              <a:rPr lang="en-IN" sz="1800" i="1" spc="-5">
                                <a:solidFill>
                                  <a:srgbClr val="FF0000"/>
                                </a:solidFill>
                                <a:effectLst/>
                                <a:latin typeface="Cambria Math" panose="02040503050406030204" pitchFamily="18" charset="0"/>
                              </a:rPr>
                            </m:ctrlPr>
                          </m:sSubPr>
                          <m:e>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n-US" sz="1800" i="1" spc="-5">
                                <a:solidFill>
                                  <a:srgbClr val="FF0000"/>
                                </a:solidFill>
                                <a:effectLst/>
                                <a:latin typeface="Cambria Math" panose="02040503050406030204" pitchFamily="18" charset="0"/>
                                <a:ea typeface="Times New Roman" panose="02020603050405020304" pitchFamily="18" charset="0"/>
                                <a:cs typeface="Times New Roman" panose="02020603050405020304" pitchFamily="18" charset="0"/>
                              </a:rPr>
                              <m:t>𝑙</m:t>
                            </m:r>
                          </m:sub>
                        </m:sSub>
                      </m:e>
                    </m:d>
                  </m:oMath>
                </a14:m>
                <a:endParaRPr lang="en-IN" dirty="0">
                  <a:solidFill>
                    <a:srgbClr val="FF000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75573" y="152400"/>
                <a:ext cx="3342966" cy="369332"/>
              </a:xfrm>
              <a:prstGeom prst="rect">
                <a:avLst/>
              </a:prstGeom>
              <a:blipFill>
                <a:blip r:embed="rId2"/>
                <a:stretch>
                  <a:fillRect l="-1457"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4668" y="685800"/>
                <a:ext cx="8561404" cy="9766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i="1" smtClean="0">
                          <a:solidFill>
                            <a:srgbClr val="00B050"/>
                          </a:solidFill>
                          <a:latin typeface="Cambria Math" panose="02040503050406030204" pitchFamily="18" charset="0"/>
                        </a:rPr>
                        <m:t>𝑌</m:t>
                      </m:r>
                      <m:d>
                        <m:dPr>
                          <m:ctrlPr>
                            <a:rPr lang="en-IN" i="1">
                              <a:solidFill>
                                <a:srgbClr val="00B050"/>
                              </a:solidFill>
                              <a:latin typeface="Cambria Math" panose="02040503050406030204" pitchFamily="18" charset="0"/>
                            </a:rPr>
                          </m:ctrlPr>
                        </m:dPr>
                        <m:e>
                          <m:r>
                            <a:rPr lang="en-IN" i="1">
                              <a:solidFill>
                                <a:srgbClr val="00B050"/>
                              </a:solidFill>
                              <a:latin typeface="Cambria Math" panose="02040503050406030204" pitchFamily="18" charset="0"/>
                            </a:rPr>
                            <m:t>𝑖</m:t>
                          </m:r>
                          <m:r>
                            <a:rPr lang="en-IN" i="0">
                              <a:solidFill>
                                <a:srgbClr val="00B050"/>
                              </a:solidFill>
                              <a:latin typeface="Cambria Math" panose="02040503050406030204" pitchFamily="18" charset="0"/>
                            </a:rPr>
                            <m:t>,</m:t>
                          </m:r>
                          <m:r>
                            <a:rPr lang="en-IN" i="1">
                              <a:solidFill>
                                <a:srgbClr val="00B050"/>
                              </a:solidFill>
                              <a:latin typeface="Cambria Math" panose="02040503050406030204" pitchFamily="18" charset="0"/>
                            </a:rPr>
                            <m:t>𝑝</m:t>
                          </m:r>
                        </m:e>
                      </m:d>
                      <m:r>
                        <a:rPr lang="en-IN" i="0">
                          <a:solidFill>
                            <a:srgbClr val="00B050"/>
                          </a:solidFill>
                          <a:latin typeface="Cambria Math" panose="02040503050406030204" pitchFamily="18" charset="0"/>
                        </a:rPr>
                        <m:t>=   </m:t>
                      </m:r>
                      <m:nary>
                        <m:naryPr>
                          <m:chr m:val="∑"/>
                          <m:limLoc m:val="undOvr"/>
                          <m:ctrlPr>
                            <a:rPr lang="en-IN" i="1">
                              <a:solidFill>
                                <a:srgbClr val="00B050"/>
                              </a:solidFill>
                              <a:latin typeface="Cambria Math" panose="02040503050406030204" pitchFamily="18" charset="0"/>
                            </a:rPr>
                          </m:ctrlPr>
                        </m:naryPr>
                        <m:sub>
                          <m:r>
                            <a:rPr lang="en-IN" i="1">
                              <a:solidFill>
                                <a:srgbClr val="00B050"/>
                              </a:solidFill>
                              <a:latin typeface="Cambria Math" panose="02040503050406030204" pitchFamily="18" charset="0"/>
                            </a:rPr>
                            <m:t>𝑛</m:t>
                          </m:r>
                          <m:r>
                            <a:rPr lang="en-IN" i="0">
                              <a:solidFill>
                                <a:srgbClr val="00B050"/>
                              </a:solidFill>
                              <a:latin typeface="Cambria Math" panose="02040503050406030204" pitchFamily="18" charset="0"/>
                            </a:rPr>
                            <m:t>=0</m:t>
                          </m:r>
                        </m:sub>
                        <m:sup>
                          <m:r>
                            <a:rPr lang="en-IN" i="1">
                              <a:solidFill>
                                <a:srgbClr val="00B050"/>
                              </a:solidFill>
                              <a:latin typeface="Cambria Math" panose="02040503050406030204" pitchFamily="18" charset="0"/>
                            </a:rPr>
                            <m:t>𝑁</m:t>
                          </m:r>
                          <m:r>
                            <a:rPr lang="en-IN" i="0">
                              <a:solidFill>
                                <a:srgbClr val="00B050"/>
                              </a:solidFill>
                              <a:latin typeface="Cambria Math" panose="02040503050406030204" pitchFamily="18" charset="0"/>
                            </a:rPr>
                            <m:t>−1</m:t>
                          </m:r>
                        </m:sup>
                        <m:e>
                          <m:r>
                            <a:rPr lang="en-IN" i="0">
                              <a:solidFill>
                                <a:srgbClr val="00B050"/>
                              </a:solidFill>
                              <a:latin typeface="Cambria Math" panose="02040503050406030204" pitchFamily="18" charset="0"/>
                            </a:rPr>
                            <m:t>   </m:t>
                          </m:r>
                          <m:nary>
                            <m:naryPr>
                              <m:chr m:val="∑"/>
                              <m:limLoc m:val="undOvr"/>
                              <m:ctrlPr>
                                <a:rPr lang="en-IN" i="1">
                                  <a:solidFill>
                                    <a:srgbClr val="00B050"/>
                                  </a:solidFill>
                                  <a:latin typeface="Cambria Math" panose="02040503050406030204" pitchFamily="18" charset="0"/>
                                </a:rPr>
                              </m:ctrlPr>
                            </m:naryPr>
                            <m:sub>
                              <m:r>
                                <a:rPr lang="en-IN" i="1">
                                  <a:solidFill>
                                    <a:srgbClr val="00B050"/>
                                  </a:solidFill>
                                  <a:latin typeface="Cambria Math" panose="02040503050406030204" pitchFamily="18" charset="0"/>
                                </a:rPr>
                                <m:t>𝑙</m:t>
                              </m:r>
                              <m:r>
                                <a:rPr lang="en-IN" i="0">
                                  <a:solidFill>
                                    <a:srgbClr val="00B050"/>
                                  </a:solidFill>
                                  <a:latin typeface="Cambria Math" panose="02040503050406030204" pitchFamily="18" charset="0"/>
                                </a:rPr>
                                <m:t>=0</m:t>
                              </m:r>
                            </m:sub>
                            <m:sup>
                              <m:r>
                                <a:rPr lang="en-IN" i="1">
                                  <a:solidFill>
                                    <a:srgbClr val="00B050"/>
                                  </a:solidFill>
                                  <a:latin typeface="Cambria Math" panose="02040503050406030204" pitchFamily="18" charset="0"/>
                                </a:rPr>
                                <m:t>𝐿</m:t>
                              </m:r>
                              <m:r>
                                <a:rPr lang="en-IN" i="0">
                                  <a:solidFill>
                                    <a:srgbClr val="00B050"/>
                                  </a:solidFill>
                                  <a:latin typeface="Cambria Math" panose="02040503050406030204" pitchFamily="18" charset="0"/>
                                </a:rPr>
                                <m:t>−1</m:t>
                              </m:r>
                            </m:sup>
                            <m:e>
                              <m:r>
                                <a:rPr lang="en-IN" i="0">
                                  <a:solidFill>
                                    <a:srgbClr val="00B050"/>
                                  </a:solidFill>
                                  <a:latin typeface="Cambria Math" panose="02040503050406030204" pitchFamily="18" charset="0"/>
                                </a:rPr>
                                <m:t>  </m:t>
                              </m:r>
                              <m:sSub>
                                <m:sSubPr>
                                  <m:ctrlPr>
                                    <a:rPr lang="en-IN" i="1">
                                      <a:solidFill>
                                        <a:srgbClr val="00B050"/>
                                      </a:solidFill>
                                      <a:latin typeface="Cambria Math" panose="02040503050406030204" pitchFamily="18" charset="0"/>
                                    </a:rPr>
                                  </m:ctrlPr>
                                </m:sSubPr>
                                <m:e>
                                  <m:r>
                                    <a:rPr lang="en-IN" i="0">
                                      <a:solidFill>
                                        <a:srgbClr val="00B050"/>
                                      </a:solidFill>
                                      <a:latin typeface="Cambria Math" panose="02040503050406030204" pitchFamily="18" charset="0"/>
                                    </a:rPr>
                                    <m:t> </m:t>
                                  </m:r>
                                  <m:r>
                                    <a:rPr lang="en-IN" i="1">
                                      <a:solidFill>
                                        <a:srgbClr val="00B050"/>
                                      </a:solidFill>
                                      <a:latin typeface="Cambria Math" panose="02040503050406030204" pitchFamily="18" charset="0"/>
                                    </a:rPr>
                                    <m:t>h</m:t>
                                  </m:r>
                                </m:e>
                                <m:sub>
                                  <m:r>
                                    <a:rPr lang="en-IN" i="1">
                                      <a:solidFill>
                                        <a:srgbClr val="00B050"/>
                                      </a:solidFill>
                                      <a:latin typeface="Cambria Math" panose="02040503050406030204" pitchFamily="18" charset="0"/>
                                    </a:rPr>
                                    <m:t>𝑙</m:t>
                                  </m:r>
                                </m:sub>
                              </m:sSub>
                              <m:d>
                                <m:dPr>
                                  <m:ctrlPr>
                                    <a:rPr lang="en-IN" i="1">
                                      <a:solidFill>
                                        <a:srgbClr val="00B050"/>
                                      </a:solidFill>
                                      <a:latin typeface="Cambria Math" panose="02040503050406030204" pitchFamily="18" charset="0"/>
                                    </a:rPr>
                                  </m:ctrlPr>
                                </m:dPr>
                                <m:e>
                                  <m:r>
                                    <a:rPr lang="en-IN" i="1">
                                      <a:solidFill>
                                        <a:srgbClr val="00B050"/>
                                      </a:solidFill>
                                      <a:latin typeface="Cambria Math" panose="02040503050406030204" pitchFamily="18" charset="0"/>
                                    </a:rPr>
                                    <m:t>𝜏</m:t>
                                  </m:r>
                                </m:e>
                              </m:d>
                              <m:r>
                                <a:rPr lang="en-IN" i="0">
                                  <a:solidFill>
                                    <a:srgbClr val="00B050"/>
                                  </a:solidFill>
                                  <a:latin typeface="Cambria Math" panose="02040503050406030204" pitchFamily="18" charset="0"/>
                                </a:rPr>
                                <m:t>   </m:t>
                              </m:r>
                              <m:d>
                                <m:dPr>
                                  <m:begChr m:val="{"/>
                                  <m:endChr m:val="}"/>
                                  <m:ctrlPr>
                                    <a:rPr lang="en-IN" i="1">
                                      <a:solidFill>
                                        <a:srgbClr val="00B050"/>
                                      </a:solidFill>
                                      <a:latin typeface="Cambria Math" panose="02040503050406030204" pitchFamily="18" charset="0"/>
                                    </a:rPr>
                                  </m:ctrlPr>
                                </m:dPr>
                                <m:e>
                                  <m:f>
                                    <m:fPr>
                                      <m:ctrlPr>
                                        <a:rPr lang="en-IN" i="1">
                                          <a:solidFill>
                                            <a:srgbClr val="00B050"/>
                                          </a:solidFill>
                                          <a:latin typeface="Cambria Math" panose="02040503050406030204" pitchFamily="18" charset="0"/>
                                        </a:rPr>
                                      </m:ctrlPr>
                                    </m:fPr>
                                    <m:num>
                                      <m:r>
                                        <a:rPr lang="en-IN" i="0">
                                          <a:solidFill>
                                            <a:srgbClr val="00B050"/>
                                          </a:solidFill>
                                          <a:latin typeface="Cambria Math" panose="02040503050406030204" pitchFamily="18" charset="0"/>
                                        </a:rPr>
                                        <m:t>1</m:t>
                                      </m:r>
                                    </m:num>
                                    <m:den>
                                      <m:r>
                                        <a:rPr lang="en-IN" i="1">
                                          <a:solidFill>
                                            <a:srgbClr val="00B050"/>
                                          </a:solidFill>
                                          <a:latin typeface="Cambria Math" panose="02040503050406030204" pitchFamily="18" charset="0"/>
                                        </a:rPr>
                                        <m:t>𝑁</m:t>
                                      </m:r>
                                    </m:den>
                                  </m:f>
                                  <m:r>
                                    <a:rPr lang="en-IN" i="0">
                                      <a:solidFill>
                                        <a:srgbClr val="00B050"/>
                                      </a:solidFill>
                                      <a:latin typeface="Cambria Math" panose="02040503050406030204" pitchFamily="18" charset="0"/>
                                    </a:rPr>
                                    <m:t>   </m:t>
                                  </m:r>
                                  <m:nary>
                                    <m:naryPr>
                                      <m:chr m:val="∑"/>
                                      <m:limLoc m:val="undOvr"/>
                                      <m:ctrlPr>
                                        <a:rPr lang="en-IN" i="1">
                                          <a:solidFill>
                                            <a:srgbClr val="00B050"/>
                                          </a:solidFill>
                                          <a:latin typeface="Cambria Math" panose="02040503050406030204" pitchFamily="18" charset="0"/>
                                        </a:rPr>
                                      </m:ctrlPr>
                                    </m:naryPr>
                                    <m:sub>
                                      <m:r>
                                        <a:rPr lang="en-IN" i="1">
                                          <a:solidFill>
                                            <a:srgbClr val="00B050"/>
                                          </a:solidFill>
                                          <a:latin typeface="Cambria Math" panose="02040503050406030204" pitchFamily="18" charset="0"/>
                                        </a:rPr>
                                        <m:t>𝑘</m:t>
                                      </m:r>
                                      <m:r>
                                        <a:rPr lang="en-IN" i="0">
                                          <a:solidFill>
                                            <a:srgbClr val="00B050"/>
                                          </a:solidFill>
                                          <a:latin typeface="Cambria Math" panose="02040503050406030204" pitchFamily="18" charset="0"/>
                                        </a:rPr>
                                        <m:t>=0</m:t>
                                      </m:r>
                                    </m:sub>
                                    <m:sup>
                                      <m:r>
                                        <a:rPr lang="en-IN" i="1">
                                          <a:solidFill>
                                            <a:srgbClr val="00B050"/>
                                          </a:solidFill>
                                          <a:latin typeface="Cambria Math" panose="02040503050406030204" pitchFamily="18" charset="0"/>
                                        </a:rPr>
                                        <m:t>𝑁</m:t>
                                      </m:r>
                                      <m:r>
                                        <a:rPr lang="en-IN" i="0">
                                          <a:solidFill>
                                            <a:srgbClr val="00B050"/>
                                          </a:solidFill>
                                          <a:latin typeface="Cambria Math" panose="02040503050406030204" pitchFamily="18" charset="0"/>
                                        </a:rPr>
                                        <m:t>−1</m:t>
                                      </m:r>
                                    </m:sup>
                                    <m:e>
                                      <m:r>
                                        <a:rPr lang="en-IN" i="0">
                                          <a:solidFill>
                                            <a:srgbClr val="00B050"/>
                                          </a:solidFill>
                                          <a:latin typeface="Cambria Math" panose="02040503050406030204" pitchFamily="18" charset="0"/>
                                        </a:rPr>
                                        <m:t>  </m:t>
                                      </m:r>
                                      <m:r>
                                        <a:rPr lang="en-IN" i="1">
                                          <a:solidFill>
                                            <a:srgbClr val="00B050"/>
                                          </a:solidFill>
                                          <a:latin typeface="Cambria Math" panose="02040503050406030204" pitchFamily="18" charset="0"/>
                                        </a:rPr>
                                        <m:t>𝑋</m:t>
                                      </m:r>
                                      <m:d>
                                        <m:dPr>
                                          <m:ctrlPr>
                                            <a:rPr lang="en-IN" i="1">
                                              <a:solidFill>
                                                <a:srgbClr val="00B050"/>
                                              </a:solidFill>
                                              <a:latin typeface="Cambria Math" panose="02040503050406030204" pitchFamily="18" charset="0"/>
                                            </a:rPr>
                                          </m:ctrlPr>
                                        </m:dPr>
                                        <m:e>
                                          <m:r>
                                            <a:rPr lang="en-IN" i="1">
                                              <a:solidFill>
                                                <a:srgbClr val="00B050"/>
                                              </a:solidFill>
                                              <a:latin typeface="Cambria Math" panose="02040503050406030204" pitchFamily="18" charset="0"/>
                                            </a:rPr>
                                            <m:t>𝑖</m:t>
                                          </m:r>
                                          <m:r>
                                            <a:rPr lang="en-IN" i="0">
                                              <a:solidFill>
                                                <a:srgbClr val="00B050"/>
                                              </a:solidFill>
                                              <a:latin typeface="Cambria Math" panose="02040503050406030204" pitchFamily="18" charset="0"/>
                                            </a:rPr>
                                            <m:t>,</m:t>
                                          </m:r>
                                          <m:r>
                                            <a:rPr lang="en-IN" i="1">
                                              <a:solidFill>
                                                <a:srgbClr val="00B050"/>
                                              </a:solidFill>
                                              <a:latin typeface="Cambria Math" panose="02040503050406030204" pitchFamily="18" charset="0"/>
                                            </a:rPr>
                                            <m:t>𝑘</m:t>
                                          </m:r>
                                        </m:e>
                                      </m:d>
                                      <m:r>
                                        <a:rPr lang="en-IN" i="0">
                                          <a:solidFill>
                                            <a:srgbClr val="00B050"/>
                                          </a:solidFill>
                                          <a:latin typeface="Cambria Math" panose="02040503050406030204" pitchFamily="18" charset="0"/>
                                        </a:rPr>
                                        <m:t>   </m:t>
                                      </m:r>
                                      <m:sSup>
                                        <m:sSupPr>
                                          <m:ctrlPr>
                                            <a:rPr lang="en-IN" i="1">
                                              <a:solidFill>
                                                <a:srgbClr val="00B050"/>
                                              </a:solidFill>
                                              <a:latin typeface="Cambria Math" panose="02040503050406030204" pitchFamily="18" charset="0"/>
                                            </a:rPr>
                                          </m:ctrlPr>
                                        </m:sSupPr>
                                        <m:e>
                                          <m:r>
                                            <a:rPr lang="en-IN" i="1">
                                              <a:solidFill>
                                                <a:srgbClr val="00B050"/>
                                              </a:solidFill>
                                              <a:latin typeface="Cambria Math" panose="02040503050406030204" pitchFamily="18" charset="0"/>
                                            </a:rPr>
                                            <m:t>𝑒</m:t>
                                          </m:r>
                                        </m:e>
                                        <m:sup>
                                          <m:f>
                                            <m:fPr>
                                              <m:ctrlPr>
                                                <a:rPr lang="en-IN" i="1">
                                                  <a:solidFill>
                                                    <a:srgbClr val="00B050"/>
                                                  </a:solidFill>
                                                  <a:latin typeface="Cambria Math" panose="02040503050406030204" pitchFamily="18" charset="0"/>
                                                </a:rPr>
                                              </m:ctrlPr>
                                            </m:fPr>
                                            <m:num>
                                              <m:d>
                                                <m:dPr>
                                                  <m:begChr m:val=""/>
                                                  <m:ctrlPr>
                                                    <a:rPr lang="en-IN" i="1">
                                                      <a:solidFill>
                                                        <a:srgbClr val="00B050"/>
                                                      </a:solidFill>
                                                      <a:latin typeface="Cambria Math" panose="02040503050406030204" pitchFamily="18" charset="0"/>
                                                    </a:rPr>
                                                  </m:ctrlPr>
                                                </m:dPr>
                                                <m:e>
                                                  <m:r>
                                                    <a:rPr lang="en-IN" i="1">
                                                      <a:solidFill>
                                                        <a:srgbClr val="00B050"/>
                                                      </a:solidFill>
                                                      <a:latin typeface="Cambria Math" panose="02040503050406030204" pitchFamily="18" charset="0"/>
                                                    </a:rPr>
                                                    <m:t>𝑗</m:t>
                                                  </m:r>
                                                  <m:r>
                                                    <a:rPr lang="en-IN" i="0">
                                                      <a:solidFill>
                                                        <a:srgbClr val="00B050"/>
                                                      </a:solidFill>
                                                      <a:latin typeface="Cambria Math" panose="02040503050406030204" pitchFamily="18" charset="0"/>
                                                    </a:rPr>
                                                    <m:t> 2 </m:t>
                                                  </m:r>
                                                  <m:r>
                                                    <a:rPr lang="en-IN" i="1">
                                                      <a:solidFill>
                                                        <a:srgbClr val="00B050"/>
                                                      </a:solidFill>
                                                      <a:latin typeface="Cambria Math" panose="02040503050406030204" pitchFamily="18" charset="0"/>
                                                    </a:rPr>
                                                    <m:t>𝜋</m:t>
                                                  </m:r>
                                                  <m:r>
                                                    <a:rPr lang="en-IN" i="0">
                                                      <a:solidFill>
                                                        <a:srgbClr val="00B050"/>
                                                      </a:solidFill>
                                                      <a:latin typeface="Cambria Math" panose="02040503050406030204" pitchFamily="18" charset="0"/>
                                                    </a:rPr>
                                                    <m:t> </m:t>
                                                  </m:r>
                                                  <m:r>
                                                    <a:rPr lang="en-IN" i="1">
                                                      <a:solidFill>
                                                        <a:srgbClr val="00B050"/>
                                                      </a:solidFill>
                                                      <a:latin typeface="Cambria Math" panose="02040503050406030204" pitchFamily="18" charset="0"/>
                                                    </a:rPr>
                                                    <m:t>𝑘</m:t>
                                                  </m:r>
                                                  <m:r>
                                                    <a:rPr lang="en-IN" i="0">
                                                      <a:solidFill>
                                                        <a:srgbClr val="00B050"/>
                                                      </a:solidFill>
                                                      <a:latin typeface="Cambria Math" panose="02040503050406030204" pitchFamily="18" charset="0"/>
                                                    </a:rPr>
                                                    <m:t> ( </m:t>
                                                  </m:r>
                                                  <m:r>
                                                    <a:rPr lang="en-IN" i="1">
                                                      <a:solidFill>
                                                        <a:srgbClr val="00B050"/>
                                                      </a:solidFill>
                                                      <a:latin typeface="Cambria Math" panose="02040503050406030204" pitchFamily="18" charset="0"/>
                                                    </a:rPr>
                                                    <m:t>𝑛</m:t>
                                                  </m:r>
                                                  <m:r>
                                                    <a:rPr lang="en-IN" i="0">
                                                      <a:solidFill>
                                                        <a:srgbClr val="00B050"/>
                                                      </a:solidFill>
                                                      <a:latin typeface="Cambria Math" panose="02040503050406030204" pitchFamily="18" charset="0"/>
                                                    </a:rPr>
                                                    <m:t>−</m:t>
                                                  </m:r>
                                                  <m:sSub>
                                                    <m:sSubPr>
                                                      <m:ctrlPr>
                                                        <a:rPr lang="en-IN" i="1">
                                                          <a:solidFill>
                                                            <a:srgbClr val="00B050"/>
                                                          </a:solidFill>
                                                          <a:latin typeface="Cambria Math" panose="02040503050406030204" pitchFamily="18" charset="0"/>
                                                        </a:rPr>
                                                      </m:ctrlPr>
                                                    </m:sSubPr>
                                                    <m:e>
                                                      <m:r>
                                                        <a:rPr lang="en-IN" i="1">
                                                          <a:solidFill>
                                                            <a:srgbClr val="00B050"/>
                                                          </a:solidFill>
                                                          <a:latin typeface="Cambria Math" panose="02040503050406030204" pitchFamily="18" charset="0"/>
                                                        </a:rPr>
                                                        <m:t>𝜏</m:t>
                                                      </m:r>
                                                    </m:e>
                                                    <m:sub>
                                                      <m:r>
                                                        <a:rPr lang="en-IN" i="1">
                                                          <a:solidFill>
                                                            <a:srgbClr val="00B050"/>
                                                          </a:solidFill>
                                                          <a:latin typeface="Cambria Math" panose="02040503050406030204" pitchFamily="18" charset="0"/>
                                                        </a:rPr>
                                                        <m:t>𝑙</m:t>
                                                      </m:r>
                                                    </m:sub>
                                                  </m:sSub>
                                                </m:e>
                                              </m:d>
                                            </m:num>
                                            <m:den>
                                              <m:r>
                                                <a:rPr lang="en-IN" i="1">
                                                  <a:solidFill>
                                                    <a:srgbClr val="00B050"/>
                                                  </a:solidFill>
                                                  <a:latin typeface="Cambria Math" panose="02040503050406030204" pitchFamily="18" charset="0"/>
                                                </a:rPr>
                                                <m:t>𝑁</m:t>
                                              </m:r>
                                            </m:den>
                                          </m:f>
                                        </m:sup>
                                      </m:sSup>
                                      <m:r>
                                        <a:rPr lang="en-IN" i="0">
                                          <a:solidFill>
                                            <a:srgbClr val="00B050"/>
                                          </a:solidFill>
                                          <a:latin typeface="Cambria Math" panose="02040503050406030204" pitchFamily="18" charset="0"/>
                                        </a:rPr>
                                        <m:t> </m:t>
                                      </m:r>
                                    </m:e>
                                  </m:nary>
                                </m:e>
                              </m:d>
                              <m:r>
                                <a:rPr lang="en-IN" i="0">
                                  <a:solidFill>
                                    <a:srgbClr val="00B050"/>
                                  </a:solidFill>
                                  <a:latin typeface="Cambria Math" panose="02040503050406030204" pitchFamily="18" charset="0"/>
                                </a:rPr>
                                <m:t>  </m:t>
                              </m:r>
                              <m:sSup>
                                <m:sSupPr>
                                  <m:ctrlPr>
                                    <a:rPr lang="en-IN" i="1">
                                      <a:solidFill>
                                        <a:srgbClr val="00B050"/>
                                      </a:solidFill>
                                      <a:latin typeface="Cambria Math" panose="02040503050406030204" pitchFamily="18" charset="0"/>
                                    </a:rPr>
                                  </m:ctrlPr>
                                </m:sSupPr>
                                <m:e>
                                  <m:r>
                                    <a:rPr lang="en-IN" i="1">
                                      <a:solidFill>
                                        <a:srgbClr val="00B050"/>
                                      </a:solidFill>
                                      <a:latin typeface="Cambria Math" panose="02040503050406030204" pitchFamily="18" charset="0"/>
                                    </a:rPr>
                                    <m:t>𝑒</m:t>
                                  </m:r>
                                </m:e>
                                <m:sup>
                                  <m:r>
                                    <a:rPr lang="en-IN" i="0">
                                      <a:solidFill>
                                        <a:srgbClr val="00B050"/>
                                      </a:solidFill>
                                      <a:latin typeface="Cambria Math" panose="02040503050406030204" pitchFamily="18" charset="0"/>
                                    </a:rPr>
                                    <m:t>—</m:t>
                                  </m:r>
                                  <m:d>
                                    <m:dPr>
                                      <m:ctrlPr>
                                        <a:rPr lang="en-IN" i="1">
                                          <a:solidFill>
                                            <a:srgbClr val="00B050"/>
                                          </a:solidFill>
                                          <a:latin typeface="Cambria Math" panose="02040503050406030204" pitchFamily="18" charset="0"/>
                                        </a:rPr>
                                      </m:ctrlPr>
                                    </m:dPr>
                                    <m:e>
                                      <m:f>
                                        <m:fPr>
                                          <m:ctrlPr>
                                            <a:rPr lang="en-IN" i="1">
                                              <a:solidFill>
                                                <a:srgbClr val="00B050"/>
                                              </a:solidFill>
                                              <a:latin typeface="Cambria Math" panose="02040503050406030204" pitchFamily="18" charset="0"/>
                                            </a:rPr>
                                          </m:ctrlPr>
                                        </m:fPr>
                                        <m:num>
                                          <m:r>
                                            <a:rPr lang="en-IN" i="1">
                                              <a:solidFill>
                                                <a:srgbClr val="00B050"/>
                                              </a:solidFill>
                                              <a:latin typeface="Cambria Math" panose="02040503050406030204" pitchFamily="18" charset="0"/>
                                            </a:rPr>
                                            <m:t>𝑗</m:t>
                                          </m:r>
                                          <m:r>
                                            <a:rPr lang="en-IN" i="0">
                                              <a:solidFill>
                                                <a:srgbClr val="00B050"/>
                                              </a:solidFill>
                                              <a:latin typeface="Cambria Math" panose="02040503050406030204" pitchFamily="18" charset="0"/>
                                            </a:rPr>
                                            <m:t> 2 </m:t>
                                          </m:r>
                                          <m:r>
                                            <a:rPr lang="en-IN" i="1">
                                              <a:solidFill>
                                                <a:srgbClr val="00B050"/>
                                              </a:solidFill>
                                              <a:latin typeface="Cambria Math" panose="02040503050406030204" pitchFamily="18" charset="0"/>
                                            </a:rPr>
                                            <m:t>𝜋</m:t>
                                          </m:r>
                                          <m:r>
                                            <a:rPr lang="en-IN" i="0">
                                              <a:solidFill>
                                                <a:srgbClr val="00B050"/>
                                              </a:solidFill>
                                              <a:latin typeface="Cambria Math" panose="02040503050406030204" pitchFamily="18" charset="0"/>
                                            </a:rPr>
                                            <m:t> </m:t>
                                          </m:r>
                                          <m:r>
                                            <a:rPr lang="en-IN" i="1">
                                              <a:solidFill>
                                                <a:srgbClr val="00B050"/>
                                              </a:solidFill>
                                              <a:latin typeface="Cambria Math" panose="02040503050406030204" pitchFamily="18" charset="0"/>
                                            </a:rPr>
                                            <m:t>𝑝</m:t>
                                          </m:r>
                                          <m:r>
                                            <a:rPr lang="en-IN" i="0">
                                              <a:solidFill>
                                                <a:srgbClr val="00B050"/>
                                              </a:solidFill>
                                              <a:latin typeface="Cambria Math" panose="02040503050406030204" pitchFamily="18" charset="0"/>
                                            </a:rPr>
                                            <m:t> </m:t>
                                          </m:r>
                                          <m:r>
                                            <a:rPr lang="en-IN" i="1">
                                              <a:solidFill>
                                                <a:srgbClr val="00B050"/>
                                              </a:solidFill>
                                              <a:latin typeface="Cambria Math" panose="02040503050406030204" pitchFamily="18" charset="0"/>
                                            </a:rPr>
                                            <m:t>𝑛</m:t>
                                          </m:r>
                                        </m:num>
                                        <m:den>
                                          <m:r>
                                            <a:rPr lang="en-IN" i="1">
                                              <a:solidFill>
                                                <a:srgbClr val="00B050"/>
                                              </a:solidFill>
                                              <a:latin typeface="Cambria Math" panose="02040503050406030204" pitchFamily="18" charset="0"/>
                                            </a:rPr>
                                            <m:t>𝑁</m:t>
                                          </m:r>
                                        </m:den>
                                      </m:f>
                                    </m:e>
                                  </m:d>
                                </m:sup>
                              </m:sSup>
                            </m:e>
                          </m:nary>
                        </m:e>
                      </m:nary>
                      <m:r>
                        <a:rPr lang="en-IN" i="0">
                          <a:solidFill>
                            <a:srgbClr val="00B050"/>
                          </a:solidFill>
                          <a:latin typeface="Cambria Math" panose="02040503050406030204" pitchFamily="18" charset="0"/>
                        </a:rPr>
                        <m:t>+ </m:t>
                      </m:r>
                      <m:r>
                        <a:rPr lang="en-IN" i="1">
                          <a:solidFill>
                            <a:srgbClr val="00B050"/>
                          </a:solidFill>
                          <a:latin typeface="Cambria Math" panose="02040503050406030204" pitchFamily="18" charset="0"/>
                        </a:rPr>
                        <m:t>𝑊</m:t>
                      </m:r>
                      <m:d>
                        <m:dPr>
                          <m:ctrlPr>
                            <a:rPr lang="en-IN" i="1">
                              <a:solidFill>
                                <a:srgbClr val="00B050"/>
                              </a:solidFill>
                              <a:latin typeface="Cambria Math" panose="02040503050406030204" pitchFamily="18" charset="0"/>
                            </a:rPr>
                          </m:ctrlPr>
                        </m:dPr>
                        <m:e>
                          <m:r>
                            <a:rPr lang="en-IN" i="1">
                              <a:solidFill>
                                <a:srgbClr val="00B050"/>
                              </a:solidFill>
                              <a:latin typeface="Cambria Math" panose="02040503050406030204" pitchFamily="18" charset="0"/>
                            </a:rPr>
                            <m:t>𝑖</m:t>
                          </m:r>
                          <m:r>
                            <a:rPr lang="en-IN" i="0">
                              <a:solidFill>
                                <a:srgbClr val="00B050"/>
                              </a:solidFill>
                              <a:latin typeface="Cambria Math" panose="02040503050406030204" pitchFamily="18" charset="0"/>
                            </a:rPr>
                            <m:t>, </m:t>
                          </m:r>
                          <m:r>
                            <a:rPr lang="en-IN" i="1">
                              <a:solidFill>
                                <a:srgbClr val="00B050"/>
                              </a:solidFill>
                              <a:latin typeface="Cambria Math" panose="02040503050406030204" pitchFamily="18" charset="0"/>
                            </a:rPr>
                            <m:t>𝑝</m:t>
                          </m:r>
                        </m:e>
                      </m:d>
                      <m:r>
                        <a:rPr lang="en-IN" i="0">
                          <a:solidFill>
                            <a:srgbClr val="00B050"/>
                          </a:solidFill>
                          <a:latin typeface="Cambria Math" panose="02040503050406030204" pitchFamily="18" charset="0"/>
                        </a:rPr>
                        <m:t>,</m:t>
                      </m:r>
                    </m:oMath>
                  </m:oMathPara>
                </a14:m>
                <a:endParaRPr lang="en-IN" dirty="0">
                  <a:solidFill>
                    <a:srgbClr val="00B05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104668" y="685800"/>
                <a:ext cx="8561404" cy="976614"/>
              </a:xfrm>
              <a:prstGeom prst="rect">
                <a:avLst/>
              </a:prstGeom>
              <a:blipFill>
                <a:blip r:embed="rId3"/>
                <a:stretch>
                  <a:fillRect/>
                </a:stretch>
              </a:blipFill>
            </p:spPr>
            <p:txBody>
              <a:bodyPr/>
              <a:lstStyle/>
              <a:p>
                <a:r>
                  <a:rPr lang="en-IN">
                    <a:noFill/>
                  </a:rPr>
                  <a:t> </a:t>
                </a:r>
              </a:p>
            </p:txBody>
          </p:sp>
        </mc:Fallback>
      </mc:AlternateContent>
      <p:sp>
        <p:nvSpPr>
          <p:cNvPr id="7" name="Rectangle 6"/>
          <p:cNvSpPr/>
          <p:nvPr/>
        </p:nvSpPr>
        <p:spPr>
          <a:xfrm>
            <a:off x="75572" y="1825097"/>
            <a:ext cx="8590499" cy="369332"/>
          </a:xfrm>
          <a:prstGeom prst="rect">
            <a:avLst/>
          </a:prstGeom>
        </p:spPr>
        <p:txBody>
          <a:bodyPr wrap="square">
            <a:spAutoFit/>
          </a:bodyPr>
          <a:lstStyle/>
          <a:p>
            <a:r>
              <a:rPr lang="en-US" spc="-5" dirty="0">
                <a:solidFill>
                  <a:srgbClr val="FF0000"/>
                </a:solidFill>
                <a:latin typeface="Times New Roman" panose="02020603050405020304" pitchFamily="18" charset="0"/>
                <a:ea typeface="Times New Roman" panose="02020603050405020304" pitchFamily="18" charset="0"/>
              </a:rPr>
              <a:t>After interchanging the summation, </a:t>
            </a:r>
            <a:r>
              <a:rPr lang="en-US" spc="-5" dirty="0" smtClean="0">
                <a:solidFill>
                  <a:srgbClr val="FF0000"/>
                </a:solidFill>
                <a:latin typeface="Times New Roman" panose="02020603050405020304" pitchFamily="18" charset="0"/>
                <a:ea typeface="Times New Roman" panose="02020603050405020304" pitchFamily="18" charset="0"/>
              </a:rPr>
              <a:t>it can </a:t>
            </a:r>
            <a:r>
              <a:rPr lang="en-US" spc="-5" dirty="0">
                <a:solidFill>
                  <a:srgbClr val="FF0000"/>
                </a:solidFill>
                <a:latin typeface="Times New Roman" panose="02020603050405020304" pitchFamily="18" charset="0"/>
                <a:ea typeface="Times New Roman" panose="02020603050405020304" pitchFamily="18" charset="0"/>
              </a:rPr>
              <a:t>be expressed as </a:t>
            </a:r>
            <a:r>
              <a:rPr lang="en-US" spc="-5" dirty="0">
                <a:latin typeface="Times New Roman" panose="02020603050405020304" pitchFamily="18" charset="0"/>
                <a:ea typeface="Times New Roman" panose="02020603050405020304" pitchFamily="18" charset="0"/>
              </a:rPr>
              <a:t>-</a:t>
            </a:r>
            <a:endParaRPr lang="en-IN" dirty="0"/>
          </a:p>
        </p:txBody>
      </p:sp>
      <mc:AlternateContent xmlns:mc="http://schemas.openxmlformats.org/markup-compatibility/2006" xmlns:a14="http://schemas.microsoft.com/office/drawing/2010/main">
        <mc:Choice Requires="a14">
          <p:sp>
            <p:nvSpPr>
              <p:cNvPr id="16" name="Rectangle 15"/>
              <p:cNvSpPr/>
              <p:nvPr/>
            </p:nvSpPr>
            <p:spPr>
              <a:xfrm>
                <a:off x="-874915" y="2057549"/>
                <a:ext cx="10820400" cy="1816459"/>
              </a:xfrm>
              <a:prstGeom prst="rect">
                <a:avLst/>
              </a:prstGeom>
            </p:spPr>
            <p:txBody>
              <a:bodyPr wrap="square">
                <a:spAutoFit/>
              </a:bodyPr>
              <a:lstStyle/>
              <a:p>
                <a:pPr algn="just">
                  <a:lnSpc>
                    <a:spcPct val="150000"/>
                  </a:lnSpc>
                  <a:spcBef>
                    <a:spcPts val="600"/>
                  </a:spcBef>
                  <a:spcAft>
                    <a:spcPts val="0"/>
                  </a:spcAft>
                </a:pPr>
                <a14:m>
                  <m:oMathPara xmlns:m="http://schemas.openxmlformats.org/officeDocument/2006/math">
                    <m:oMathParaPr>
                      <m:jc m:val="centerGroup"/>
                    </m:oMathParaPr>
                    <m:oMath xmlns:m="http://schemas.openxmlformats.org/officeDocument/2006/math">
                      <m:r>
                        <a:rPr lang="en-US" b="1" i="1" smtClean="0">
                          <a:solidFill>
                            <a:srgbClr val="00B0F0"/>
                          </a:solidFill>
                          <a:latin typeface="Cambria Math" panose="02040503050406030204" pitchFamily="18" charset="0"/>
                          <a:ea typeface="Times New Roman" panose="02020603050405020304" pitchFamily="18" charset="0"/>
                          <a:cs typeface="Times New Roman" panose="02020603050405020304" pitchFamily="18" charset="0"/>
                        </a:rPr>
                        <m:t> </m:t>
                      </m:r>
                      <m:r>
                        <a:rPr lang="en-US" b="1" i="1" smtClean="0">
                          <a:solidFill>
                            <a:srgbClr val="00B0F0"/>
                          </a:solidFill>
                          <a:latin typeface="Cambria Math" panose="02040503050406030204" pitchFamily="18" charset="0"/>
                          <a:ea typeface="Times New Roman" panose="02020603050405020304" pitchFamily="18" charset="0"/>
                          <a:cs typeface="Times New Roman" panose="02020603050405020304" pitchFamily="18" charset="0"/>
                        </a:rPr>
                        <m:t>𝒀</m:t>
                      </m:r>
                      <m:d>
                        <m:d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𝒊</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𝒑</m:t>
                          </m:r>
                        </m:e>
                      </m:d>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𝟏</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nary>
                        <m:naryPr>
                          <m:chr m:val="∑"/>
                          <m:limLoc m:val="undOv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𝟎</m:t>
                          </m:r>
                        </m:sub>
                        <m:sup>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𝟏</m:t>
                          </m:r>
                        </m:sup>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𝑿</m:t>
                          </m:r>
                          <m:d>
                            <m:d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𝒊</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e>
                          </m:d>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limLow>
                            <m:limLow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limLowPr>
                            <m:e>
                              <m:groupChr>
                                <m:groupChrPr>
                                  <m:chr m:val="⏟"/>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groupChrPr>
                                <m:e>
                                  <m:d>
                                    <m:dPr>
                                      <m:begChr m:val="{"/>
                                      <m:endChr m:val="}"/>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nary>
                                        <m:naryPr>
                                          <m:chr m:val="∑"/>
                                          <m:limLoc m:val="undOv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𝒍</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𝟎</m:t>
                                          </m:r>
                                        </m:sub>
                                        <m:sup>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𝑳</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𝟏</m:t>
                                          </m:r>
                                        </m:sup>
                                        <m:e>
                                          <m:sSub>
                                            <m:sSub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𝒉</m:t>
                                              </m:r>
                                            </m:e>
                                            <m:sub>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𝒍</m:t>
                                              </m:r>
                                            </m:sub>
                                          </m:sSub>
                                          <m:d>
                                            <m:d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𝝉</m:t>
                                              </m:r>
                                            </m:e>
                                          </m:d>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𝒆</m:t>
                                              </m:r>
                                            </m:e>
                                            <m:sup>
                                              <m:f>
                                                <m:f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𝒋</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𝝅</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𝝉</m:t>
                                                      </m:r>
                                                    </m:e>
                                                    <m:sub>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𝒍</m:t>
                                                      </m:r>
                                                    </m:sub>
                                                  </m:sSub>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num>
                                                <m:den>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den>
                                              </m:f>
                                            </m:sup>
                                          </m:sSup>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e>
                                      </m:nary>
                                    </m:e>
                                  </m:d>
                                </m:e>
                              </m:groupChr>
                            </m:e>
                            <m:lim>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𝑯</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lim>
                          </m:limLow>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e>
                      </m:nary>
                      <m:nary>
                        <m:naryPr>
                          <m:chr m:val="∑"/>
                          <m:limLoc m:val="undOv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𝒏</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𝟎</m:t>
                          </m:r>
                        </m:sub>
                        <m:sup>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𝟏</m:t>
                          </m:r>
                        </m:sup>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𝟏</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  </m:t>
                          </m:r>
                          <m:sSup>
                            <m:sSup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𝒆</m:t>
                              </m:r>
                            </m:e>
                            <m:sup>
                              <m:f>
                                <m:f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𝒋</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𝝅</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𝒏</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𝒑</m:t>
                                      </m:r>
                                    </m:e>
                                  </m:d>
                                </m:num>
                                <m:den>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den>
                              </m:f>
                            </m:sup>
                          </m:sSup>
                          <m:r>
                            <a:rPr lang="en-US"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e>
                      </m:nary>
                      <m:r>
                        <a:rPr lang="en-US" b="1" i="1">
                          <a:solidFill>
                            <a:srgbClr val="00B0F0"/>
                          </a:solidFill>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latin typeface="Cambria Math" panose="02040503050406030204" pitchFamily="18" charset="0"/>
                          <a:ea typeface="Times New Roman" panose="02020603050405020304" pitchFamily="18" charset="0"/>
                          <a:cs typeface="Times New Roman" panose="02020603050405020304" pitchFamily="18" charset="0"/>
                        </a:rPr>
                        <m:t>𝑾</m:t>
                      </m:r>
                      <m:d>
                        <m:dPr>
                          <m:ctrlPr>
                            <a:rPr lang="en-IN" b="1" i="1">
                              <a:solidFill>
                                <a:srgbClr val="00B0F0"/>
                              </a:solidFill>
                              <a:latin typeface="Cambria Math" panose="02040503050406030204" pitchFamily="18" charset="0"/>
                            </a:rPr>
                          </m:ctrlPr>
                        </m:dPr>
                        <m:e>
                          <m:r>
                            <a:rPr lang="en-US" b="1" i="1">
                              <a:solidFill>
                                <a:srgbClr val="00B0F0"/>
                              </a:solidFill>
                              <a:latin typeface="Cambria Math" panose="02040503050406030204" pitchFamily="18" charset="0"/>
                              <a:ea typeface="Times New Roman" panose="02020603050405020304" pitchFamily="18" charset="0"/>
                              <a:cs typeface="Times New Roman" panose="02020603050405020304" pitchFamily="18" charset="0"/>
                            </a:rPr>
                            <m:t>𝒊</m:t>
                          </m:r>
                          <m:r>
                            <a:rPr lang="en-US" b="1" i="1">
                              <a:solidFill>
                                <a:srgbClr val="00B0F0"/>
                              </a:solidFill>
                              <a:latin typeface="Cambria Math" panose="02040503050406030204" pitchFamily="18" charset="0"/>
                              <a:ea typeface="Times New Roman" panose="02020603050405020304" pitchFamily="18" charset="0"/>
                              <a:cs typeface="Times New Roman" panose="02020603050405020304" pitchFamily="18" charset="0"/>
                            </a:rPr>
                            <m:t>, </m:t>
                          </m:r>
                          <m:r>
                            <a:rPr lang="en-US" b="1" i="1">
                              <a:solidFill>
                                <a:srgbClr val="00B0F0"/>
                              </a:solidFill>
                              <a:latin typeface="Cambria Math" panose="02040503050406030204" pitchFamily="18" charset="0"/>
                              <a:ea typeface="Times New Roman" panose="02020603050405020304" pitchFamily="18" charset="0"/>
                              <a:cs typeface="Times New Roman" panose="02020603050405020304" pitchFamily="18" charset="0"/>
                            </a:rPr>
                            <m:t>𝒑</m:t>
                          </m:r>
                        </m:e>
                      </m:d>
                    </m:oMath>
                  </m:oMathPara>
                </a14:m>
                <a:endParaRPr lang="en-IN" b="1" dirty="0">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6" name="Rectangle 15"/>
              <p:cNvSpPr>
                <a:spLocks noRot="1" noChangeAspect="1" noMove="1" noResize="1" noEditPoints="1" noAdjustHandles="1" noChangeArrowheads="1" noChangeShapeType="1" noTextEdit="1"/>
              </p:cNvSpPr>
              <p:nvPr/>
            </p:nvSpPr>
            <p:spPr>
              <a:xfrm>
                <a:off x="-874915" y="2057549"/>
                <a:ext cx="10820400" cy="1816459"/>
              </a:xfrm>
              <a:prstGeom prst="rect">
                <a:avLst/>
              </a:prstGeom>
              <a:blipFill>
                <a:blip r:embed="rId4"/>
                <a:stretch>
                  <a:fillRect/>
                </a:stretch>
              </a:blipFill>
            </p:spPr>
            <p:txBody>
              <a:bodyPr/>
              <a:lstStyle/>
              <a:p>
                <a:r>
                  <a:rPr lang="en-IN">
                    <a:noFill/>
                  </a:rPr>
                  <a:t> </a:t>
                </a:r>
              </a:p>
            </p:txBody>
          </p:sp>
        </mc:Fallback>
      </mc:AlternateContent>
      <p:sp>
        <p:nvSpPr>
          <p:cNvPr id="17" name="Rectangle 16"/>
          <p:cNvSpPr/>
          <p:nvPr/>
        </p:nvSpPr>
        <p:spPr>
          <a:xfrm>
            <a:off x="110210" y="3899811"/>
            <a:ext cx="1851789" cy="369332"/>
          </a:xfrm>
          <a:prstGeom prst="rect">
            <a:avLst/>
          </a:prstGeom>
        </p:spPr>
        <p:txBody>
          <a:bodyPr wrap="none">
            <a:spAutoFit/>
          </a:bodyPr>
          <a:lstStyle/>
          <a:p>
            <a:r>
              <a:rPr lang="en-US" dirty="0">
                <a:solidFill>
                  <a:srgbClr val="FF0000"/>
                </a:solidFill>
                <a:latin typeface="Times New Roman" panose="02020603050405020304" pitchFamily="18" charset="0"/>
                <a:ea typeface="Times New Roman" panose="02020603050405020304" pitchFamily="18" charset="0"/>
              </a:rPr>
              <a:t>After rearranging </a:t>
            </a:r>
            <a:endParaRPr lang="en-IN" dirty="0">
              <a:solidFill>
                <a:srgbClr val="FF0000"/>
              </a:solidFill>
            </a:endParaRPr>
          </a:p>
        </p:txBody>
      </p:sp>
      <mc:AlternateContent xmlns:mc="http://schemas.openxmlformats.org/markup-compatibility/2006" xmlns:a14="http://schemas.microsoft.com/office/drawing/2010/main">
        <mc:Choice Requires="a14">
          <p:sp>
            <p:nvSpPr>
              <p:cNvPr id="18" name="Rectangle 17"/>
              <p:cNvSpPr/>
              <p:nvPr/>
            </p:nvSpPr>
            <p:spPr>
              <a:xfrm>
                <a:off x="149682" y="4572000"/>
                <a:ext cx="8534400" cy="11313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b="1" smtClean="0">
                          <a:latin typeface="Cambria Math" panose="02040503050406030204" pitchFamily="18" charset="0"/>
                        </a:rPr>
                        <m:t> </m:t>
                      </m:r>
                      <m:r>
                        <a:rPr lang="en-IN" b="1" i="1">
                          <a:latin typeface="Cambria Math" panose="02040503050406030204" pitchFamily="18" charset="0"/>
                        </a:rPr>
                        <m:t>𝒀</m:t>
                      </m:r>
                      <m:d>
                        <m:dPr>
                          <m:ctrlPr>
                            <a:rPr lang="en-IN" b="1" i="1">
                              <a:latin typeface="Cambria Math" panose="02040503050406030204" pitchFamily="18" charset="0"/>
                            </a:rPr>
                          </m:ctrlPr>
                        </m:dPr>
                        <m:e>
                          <m:r>
                            <a:rPr lang="en-IN" b="1" i="1">
                              <a:latin typeface="Cambria Math" panose="02040503050406030204" pitchFamily="18" charset="0"/>
                            </a:rPr>
                            <m:t>𝒊</m:t>
                          </m:r>
                          <m:r>
                            <a:rPr lang="en-IN" b="1" i="0">
                              <a:latin typeface="Cambria Math" panose="02040503050406030204" pitchFamily="18" charset="0"/>
                            </a:rPr>
                            <m:t>,</m:t>
                          </m:r>
                          <m:r>
                            <a:rPr lang="en-IN" b="1" i="1">
                              <a:latin typeface="Cambria Math" panose="02040503050406030204" pitchFamily="18" charset="0"/>
                            </a:rPr>
                            <m:t>𝒑</m:t>
                          </m:r>
                        </m:e>
                      </m:d>
                      <m:r>
                        <a:rPr lang="en-IN" b="1" i="0">
                          <a:latin typeface="Cambria Math" panose="02040503050406030204" pitchFamily="18" charset="0"/>
                        </a:rPr>
                        <m:t>=</m:t>
                      </m:r>
                      <m:r>
                        <a:rPr lang="en-IN" b="1" i="1">
                          <a:latin typeface="Cambria Math" panose="02040503050406030204" pitchFamily="18" charset="0"/>
                        </a:rPr>
                        <m:t>𝑿</m:t>
                      </m:r>
                      <m:d>
                        <m:dPr>
                          <m:ctrlPr>
                            <a:rPr lang="en-IN" b="1" i="1">
                              <a:latin typeface="Cambria Math" panose="02040503050406030204" pitchFamily="18" charset="0"/>
                            </a:rPr>
                          </m:ctrlPr>
                        </m:dPr>
                        <m:e>
                          <m:r>
                            <a:rPr lang="en-IN" b="1" i="1">
                              <a:latin typeface="Cambria Math" panose="02040503050406030204" pitchFamily="18" charset="0"/>
                            </a:rPr>
                            <m:t>𝒊</m:t>
                          </m:r>
                          <m:r>
                            <a:rPr lang="en-IN" b="1" i="0">
                              <a:latin typeface="Cambria Math" panose="02040503050406030204" pitchFamily="18" charset="0"/>
                            </a:rPr>
                            <m:t>,</m:t>
                          </m:r>
                          <m:r>
                            <a:rPr lang="en-IN" b="1" i="1">
                              <a:latin typeface="Cambria Math" panose="02040503050406030204" pitchFamily="18" charset="0"/>
                            </a:rPr>
                            <m:t>𝒑</m:t>
                          </m:r>
                        </m:e>
                      </m:d>
                      <m:r>
                        <a:rPr lang="en-IN" b="1" i="0">
                          <a:latin typeface="Cambria Math" panose="02040503050406030204" pitchFamily="18" charset="0"/>
                        </a:rPr>
                        <m:t> </m:t>
                      </m:r>
                      <m:r>
                        <a:rPr lang="en-IN" b="1" i="1">
                          <a:latin typeface="Cambria Math" panose="02040503050406030204" pitchFamily="18" charset="0"/>
                        </a:rPr>
                        <m:t>𝑯</m:t>
                      </m:r>
                      <m:d>
                        <m:dPr>
                          <m:ctrlPr>
                            <a:rPr lang="en-IN" b="1" i="1">
                              <a:latin typeface="Cambria Math" panose="02040503050406030204" pitchFamily="18" charset="0"/>
                            </a:rPr>
                          </m:ctrlPr>
                        </m:dPr>
                        <m:e>
                          <m:r>
                            <a:rPr lang="en-IN" b="1" i="1">
                              <a:latin typeface="Cambria Math" panose="02040503050406030204" pitchFamily="18" charset="0"/>
                            </a:rPr>
                            <m:t>𝒑</m:t>
                          </m:r>
                        </m:e>
                      </m:d>
                      <m:r>
                        <a:rPr lang="en-IN" b="1" i="0">
                          <a:latin typeface="Cambria Math" panose="02040503050406030204" pitchFamily="18" charset="0"/>
                        </a:rPr>
                        <m:t> +</m:t>
                      </m:r>
                      <m:limLow>
                        <m:limLowPr>
                          <m:ctrlPr>
                            <a:rPr lang="en-IN" b="1" i="1">
                              <a:latin typeface="Cambria Math" panose="02040503050406030204" pitchFamily="18" charset="0"/>
                            </a:rPr>
                          </m:ctrlPr>
                        </m:limLowPr>
                        <m:e>
                          <m:r>
                            <a:rPr lang="en-IN" b="1" i="0">
                              <a:latin typeface="Cambria Math" panose="02040503050406030204" pitchFamily="18" charset="0"/>
                            </a:rPr>
                            <m:t>   </m:t>
                          </m:r>
                          <m:groupChr>
                            <m:groupChrPr>
                              <m:chr m:val="⏟"/>
                              <m:ctrlPr>
                                <a:rPr lang="en-IN" b="1" i="1">
                                  <a:latin typeface="Cambria Math" panose="02040503050406030204" pitchFamily="18" charset="0"/>
                                </a:rPr>
                              </m:ctrlPr>
                            </m:groupChrPr>
                            <m:e>
                              <m:d>
                                <m:dPr>
                                  <m:ctrlPr>
                                    <a:rPr lang="en-IN" b="1" i="1">
                                      <a:latin typeface="Cambria Math" panose="02040503050406030204" pitchFamily="18" charset="0"/>
                                    </a:rPr>
                                  </m:ctrlPr>
                                </m:dPr>
                                <m:e>
                                  <m:f>
                                    <m:fPr>
                                      <m:ctrlPr>
                                        <a:rPr lang="en-IN" b="1" i="1">
                                          <a:latin typeface="Cambria Math" panose="02040503050406030204" pitchFamily="18" charset="0"/>
                                        </a:rPr>
                                      </m:ctrlPr>
                                    </m:fPr>
                                    <m:num>
                                      <m:r>
                                        <a:rPr lang="en-IN" b="1" i="0">
                                          <a:latin typeface="Cambria Math" panose="02040503050406030204" pitchFamily="18" charset="0"/>
                                        </a:rPr>
                                        <m:t>𝟏</m:t>
                                      </m:r>
                                    </m:num>
                                    <m:den>
                                      <m:r>
                                        <a:rPr lang="en-IN" b="1" i="1">
                                          <a:latin typeface="Cambria Math" panose="02040503050406030204" pitchFamily="18" charset="0"/>
                                        </a:rPr>
                                        <m:t>𝑵</m:t>
                                      </m:r>
                                    </m:den>
                                  </m:f>
                                </m:e>
                              </m:d>
                              <m:nary>
                                <m:naryPr>
                                  <m:chr m:val="∑"/>
                                  <m:limLoc m:val="undOvr"/>
                                  <m:ctrlPr>
                                    <a:rPr lang="en-IN" b="1" i="1">
                                      <a:latin typeface="Cambria Math" panose="02040503050406030204" pitchFamily="18" charset="0"/>
                                    </a:rPr>
                                  </m:ctrlPr>
                                </m:naryPr>
                                <m:sub>
                                  <m:r>
                                    <a:rPr lang="en-IN" b="1" i="1">
                                      <a:latin typeface="Cambria Math" panose="02040503050406030204" pitchFamily="18" charset="0"/>
                                    </a:rPr>
                                    <m:t>𝒌</m:t>
                                  </m:r>
                                  <m:r>
                                    <a:rPr lang="en-IN" b="1" i="0">
                                      <a:latin typeface="Cambria Math" panose="02040503050406030204" pitchFamily="18" charset="0"/>
                                    </a:rPr>
                                    <m:t>=</m:t>
                                  </m:r>
                                  <m:r>
                                    <a:rPr lang="en-IN" b="1" i="0">
                                      <a:latin typeface="Cambria Math" panose="02040503050406030204" pitchFamily="18" charset="0"/>
                                    </a:rPr>
                                    <m:t>𝟎</m:t>
                                  </m:r>
                                  <m:r>
                                    <a:rPr lang="en-IN" b="1" i="0">
                                      <a:latin typeface="Cambria Math" panose="02040503050406030204" pitchFamily="18" charset="0"/>
                                    </a:rPr>
                                    <m:t>,   </m:t>
                                  </m:r>
                                  <m:r>
                                    <a:rPr lang="en-IN" b="1" i="1">
                                      <a:latin typeface="Cambria Math" panose="02040503050406030204" pitchFamily="18" charset="0"/>
                                    </a:rPr>
                                    <m:t>𝒌</m:t>
                                  </m:r>
                                  <m:r>
                                    <a:rPr lang="en-IN" b="1" i="0">
                                      <a:latin typeface="Cambria Math" panose="02040503050406030204" pitchFamily="18" charset="0"/>
                                    </a:rPr>
                                    <m:t>≠</m:t>
                                  </m:r>
                                  <m:r>
                                    <a:rPr lang="en-IN" b="1" i="1">
                                      <a:latin typeface="Cambria Math" panose="02040503050406030204" pitchFamily="18" charset="0"/>
                                    </a:rPr>
                                    <m:t>𝒑</m:t>
                                  </m:r>
                                </m:sub>
                                <m:sup>
                                  <m:r>
                                    <a:rPr lang="en-IN" b="1" i="1">
                                      <a:latin typeface="Cambria Math" panose="02040503050406030204" pitchFamily="18" charset="0"/>
                                    </a:rPr>
                                    <m:t>𝑵</m:t>
                                  </m:r>
                                  <m:r>
                                    <a:rPr lang="en-IN" b="1" i="0">
                                      <a:latin typeface="Cambria Math" panose="02040503050406030204" pitchFamily="18" charset="0"/>
                                    </a:rPr>
                                    <m:t>−</m:t>
                                  </m:r>
                                  <m:r>
                                    <a:rPr lang="en-IN" b="1" i="0">
                                      <a:latin typeface="Cambria Math" panose="02040503050406030204" pitchFamily="18" charset="0"/>
                                    </a:rPr>
                                    <m:t>𝟏</m:t>
                                  </m:r>
                                </m:sup>
                                <m:e>
                                  <m:r>
                                    <a:rPr lang="en-IN" b="1" i="1">
                                      <a:latin typeface="Cambria Math" panose="02040503050406030204" pitchFamily="18" charset="0"/>
                                    </a:rPr>
                                    <m:t>𝑿</m:t>
                                  </m:r>
                                  <m:d>
                                    <m:dPr>
                                      <m:ctrlPr>
                                        <a:rPr lang="en-IN" b="1" i="1">
                                          <a:latin typeface="Cambria Math" panose="02040503050406030204" pitchFamily="18" charset="0"/>
                                        </a:rPr>
                                      </m:ctrlPr>
                                    </m:dPr>
                                    <m:e>
                                      <m:r>
                                        <a:rPr lang="en-IN" b="1" i="1">
                                          <a:latin typeface="Cambria Math" panose="02040503050406030204" pitchFamily="18" charset="0"/>
                                        </a:rPr>
                                        <m:t>𝒊</m:t>
                                      </m:r>
                                      <m:r>
                                        <a:rPr lang="en-IN" b="1" i="0">
                                          <a:latin typeface="Cambria Math" panose="02040503050406030204" pitchFamily="18" charset="0"/>
                                        </a:rPr>
                                        <m:t>,</m:t>
                                      </m:r>
                                      <m:r>
                                        <a:rPr lang="en-IN" b="1" i="1">
                                          <a:latin typeface="Cambria Math" panose="02040503050406030204" pitchFamily="18" charset="0"/>
                                        </a:rPr>
                                        <m:t>𝒌</m:t>
                                      </m:r>
                                    </m:e>
                                  </m:d>
                                  <m:r>
                                    <a:rPr lang="en-IN" b="1" i="0">
                                      <a:latin typeface="Cambria Math" panose="02040503050406030204" pitchFamily="18" charset="0"/>
                                    </a:rPr>
                                    <m:t> </m:t>
                                  </m:r>
                                  <m:r>
                                    <a:rPr lang="en-IN" b="1" i="1">
                                      <a:latin typeface="Cambria Math" panose="02040503050406030204" pitchFamily="18" charset="0"/>
                                    </a:rPr>
                                    <m:t>𝑯</m:t>
                                  </m:r>
                                  <m:d>
                                    <m:dPr>
                                      <m:ctrlPr>
                                        <a:rPr lang="en-IN" b="1" i="1">
                                          <a:latin typeface="Cambria Math" panose="02040503050406030204" pitchFamily="18" charset="0"/>
                                        </a:rPr>
                                      </m:ctrlPr>
                                    </m:dPr>
                                    <m:e>
                                      <m:r>
                                        <a:rPr lang="en-IN" b="1" i="1">
                                          <a:latin typeface="Cambria Math" panose="02040503050406030204" pitchFamily="18" charset="0"/>
                                        </a:rPr>
                                        <m:t>𝒌</m:t>
                                      </m:r>
                                    </m:e>
                                  </m:d>
                                  <m:nary>
                                    <m:naryPr>
                                      <m:chr m:val="∑"/>
                                      <m:limLoc m:val="undOvr"/>
                                      <m:ctrlPr>
                                        <a:rPr lang="en-IN" b="1" i="1">
                                          <a:latin typeface="Cambria Math" panose="02040503050406030204" pitchFamily="18" charset="0"/>
                                        </a:rPr>
                                      </m:ctrlPr>
                                    </m:naryPr>
                                    <m:sub>
                                      <m:r>
                                        <a:rPr lang="en-IN" b="1" i="1">
                                          <a:latin typeface="Cambria Math" panose="02040503050406030204" pitchFamily="18" charset="0"/>
                                        </a:rPr>
                                        <m:t>𝒏</m:t>
                                      </m:r>
                                      <m:r>
                                        <a:rPr lang="en-IN" b="1" i="0">
                                          <a:latin typeface="Cambria Math" panose="02040503050406030204" pitchFamily="18" charset="0"/>
                                        </a:rPr>
                                        <m:t>=</m:t>
                                      </m:r>
                                      <m:r>
                                        <a:rPr lang="en-IN" b="1" i="0">
                                          <a:latin typeface="Cambria Math" panose="02040503050406030204" pitchFamily="18" charset="0"/>
                                        </a:rPr>
                                        <m:t>𝟎</m:t>
                                      </m:r>
                                    </m:sub>
                                    <m:sup>
                                      <m:r>
                                        <a:rPr lang="en-IN" b="1" i="1">
                                          <a:latin typeface="Cambria Math" panose="02040503050406030204" pitchFamily="18" charset="0"/>
                                        </a:rPr>
                                        <m:t>𝑵</m:t>
                                      </m:r>
                                      <m:r>
                                        <a:rPr lang="en-IN" b="1" i="0">
                                          <a:latin typeface="Cambria Math" panose="02040503050406030204" pitchFamily="18" charset="0"/>
                                        </a:rPr>
                                        <m:t>−</m:t>
                                      </m:r>
                                      <m:r>
                                        <a:rPr lang="en-IN" b="1" i="0">
                                          <a:latin typeface="Cambria Math" panose="02040503050406030204" pitchFamily="18" charset="0"/>
                                        </a:rPr>
                                        <m:t>𝟏</m:t>
                                      </m:r>
                                    </m:sup>
                                    <m:e>
                                      <m:r>
                                        <a:rPr lang="en-IN" b="1" i="0">
                                          <a:latin typeface="Cambria Math" panose="02040503050406030204" pitchFamily="18" charset="0"/>
                                        </a:rPr>
                                        <m:t>𝟏</m:t>
                                      </m:r>
                                      <m:r>
                                        <a:rPr lang="en-IN" b="1" i="0">
                                          <a:latin typeface="Cambria Math" panose="02040503050406030204" pitchFamily="18" charset="0"/>
                                        </a:rPr>
                                        <m:t>× </m:t>
                                      </m:r>
                                      <m:sSup>
                                        <m:sSupPr>
                                          <m:ctrlPr>
                                            <a:rPr lang="en-IN" b="1" i="1">
                                              <a:latin typeface="Cambria Math" panose="02040503050406030204" pitchFamily="18" charset="0"/>
                                            </a:rPr>
                                          </m:ctrlPr>
                                        </m:sSupPr>
                                        <m:e>
                                          <m:r>
                                            <a:rPr lang="en-IN" b="1" i="1">
                                              <a:latin typeface="Cambria Math" panose="02040503050406030204" pitchFamily="18" charset="0"/>
                                            </a:rPr>
                                            <m:t>𝒆</m:t>
                                          </m:r>
                                        </m:e>
                                        <m:sup>
                                          <m:f>
                                            <m:fPr>
                                              <m:ctrlPr>
                                                <a:rPr lang="en-IN" b="1" i="1">
                                                  <a:latin typeface="Cambria Math" panose="02040503050406030204" pitchFamily="18" charset="0"/>
                                                </a:rPr>
                                              </m:ctrlPr>
                                            </m:fPr>
                                            <m:num>
                                              <m:r>
                                                <a:rPr lang="en-IN" b="1" i="1">
                                                  <a:latin typeface="Cambria Math" panose="02040503050406030204" pitchFamily="18" charset="0"/>
                                                </a:rPr>
                                                <m:t>𝒋</m:t>
                                              </m:r>
                                              <m:r>
                                                <a:rPr lang="en-IN" b="1" i="0">
                                                  <a:latin typeface="Cambria Math" panose="02040503050406030204" pitchFamily="18" charset="0"/>
                                                </a:rPr>
                                                <m:t> </m:t>
                                              </m:r>
                                              <m:r>
                                                <a:rPr lang="en-IN" b="1" i="0">
                                                  <a:latin typeface="Cambria Math" panose="02040503050406030204" pitchFamily="18" charset="0"/>
                                                </a:rPr>
                                                <m:t>𝟐</m:t>
                                              </m:r>
                                              <m:r>
                                                <a:rPr lang="en-IN" b="1" i="0">
                                                  <a:latin typeface="Cambria Math" panose="02040503050406030204" pitchFamily="18" charset="0"/>
                                                </a:rPr>
                                                <m:t> </m:t>
                                              </m:r>
                                              <m:r>
                                                <a:rPr lang="en-IN" b="1" i="1">
                                                  <a:latin typeface="Cambria Math" panose="02040503050406030204" pitchFamily="18" charset="0"/>
                                                </a:rPr>
                                                <m:t>𝝅</m:t>
                                              </m:r>
                                              <m:r>
                                                <a:rPr lang="en-IN" b="1" i="0">
                                                  <a:latin typeface="Cambria Math" panose="02040503050406030204" pitchFamily="18" charset="0"/>
                                                </a:rPr>
                                                <m:t>  </m:t>
                                              </m:r>
                                              <m:r>
                                                <a:rPr lang="en-IN" b="1" i="1">
                                                  <a:latin typeface="Cambria Math" panose="02040503050406030204" pitchFamily="18" charset="0"/>
                                                </a:rPr>
                                                <m:t>𝒏</m:t>
                                              </m:r>
                                              <m:r>
                                                <a:rPr lang="en-IN" b="1" i="0">
                                                  <a:latin typeface="Cambria Math" panose="02040503050406030204" pitchFamily="18" charset="0"/>
                                                </a:rPr>
                                                <m:t> </m:t>
                                              </m:r>
                                              <m:d>
                                                <m:dPr>
                                                  <m:ctrlPr>
                                                    <a:rPr lang="en-IN" b="1" i="1">
                                                      <a:latin typeface="Cambria Math" panose="02040503050406030204" pitchFamily="18" charset="0"/>
                                                    </a:rPr>
                                                  </m:ctrlPr>
                                                </m:dPr>
                                                <m:e>
                                                  <m:r>
                                                    <a:rPr lang="en-IN" b="1" i="1">
                                                      <a:latin typeface="Cambria Math" panose="02040503050406030204" pitchFamily="18" charset="0"/>
                                                    </a:rPr>
                                                    <m:t>𝒌</m:t>
                                                  </m:r>
                                                  <m:r>
                                                    <a:rPr lang="en-IN" b="1" i="0">
                                                      <a:latin typeface="Cambria Math" panose="02040503050406030204" pitchFamily="18" charset="0"/>
                                                    </a:rPr>
                                                    <m:t>−</m:t>
                                                  </m:r>
                                                  <m:r>
                                                    <a:rPr lang="en-IN" b="1" i="1">
                                                      <a:latin typeface="Cambria Math" panose="02040503050406030204" pitchFamily="18" charset="0"/>
                                                    </a:rPr>
                                                    <m:t>𝒑</m:t>
                                                  </m:r>
                                                </m:e>
                                              </m:d>
                                            </m:num>
                                            <m:den>
                                              <m:r>
                                                <a:rPr lang="en-IN" b="1" i="1">
                                                  <a:latin typeface="Cambria Math" panose="02040503050406030204" pitchFamily="18" charset="0"/>
                                                </a:rPr>
                                                <m:t>𝑵</m:t>
                                              </m:r>
                                            </m:den>
                                          </m:f>
                                        </m:sup>
                                      </m:sSup>
                                      <m:r>
                                        <a:rPr lang="en-IN" b="1" i="0">
                                          <a:latin typeface="Cambria Math" panose="02040503050406030204" pitchFamily="18" charset="0"/>
                                        </a:rPr>
                                        <m:t> </m:t>
                                      </m:r>
                                    </m:e>
                                  </m:nary>
                                  <m:r>
                                    <a:rPr lang="en-IN" b="1" i="0">
                                      <a:latin typeface="Cambria Math" panose="02040503050406030204" pitchFamily="18" charset="0"/>
                                    </a:rPr>
                                    <m:t>   </m:t>
                                  </m:r>
                                </m:e>
                              </m:nary>
                            </m:e>
                          </m:groupChr>
                        </m:e>
                        <m:lim>
                          <m:r>
                            <a:rPr lang="en-IN" b="1" i="0">
                              <a:latin typeface="Cambria Math" panose="02040503050406030204" pitchFamily="18" charset="0"/>
                            </a:rPr>
                            <m:t>𝟎</m:t>
                          </m:r>
                        </m:lim>
                      </m:limLow>
                      <m:r>
                        <a:rPr lang="en-US" b="1" i="1" smtClean="0">
                          <a:latin typeface="Cambria Math" panose="02040503050406030204" pitchFamily="18" charset="0"/>
                        </a:rPr>
                        <m:t>+</m:t>
                      </m:r>
                      <m:r>
                        <a:rPr lang="en-US" b="1" i="1" smtClean="0">
                          <a:latin typeface="Cambria Math" panose="02040503050406030204" pitchFamily="18" charset="0"/>
                        </a:rPr>
                        <m:t>𝑾</m:t>
                      </m:r>
                      <m:r>
                        <a:rPr lang="en-US" b="1" i="1" smtClean="0">
                          <a:latin typeface="Cambria Math" panose="02040503050406030204" pitchFamily="18" charset="0"/>
                        </a:rPr>
                        <m:t>(</m:t>
                      </m:r>
                      <m:r>
                        <a:rPr lang="en-US" b="1" i="1" smtClean="0">
                          <a:latin typeface="Cambria Math" panose="02040503050406030204" pitchFamily="18" charset="0"/>
                        </a:rPr>
                        <m:t>𝒊</m:t>
                      </m:r>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oMath>
                  </m:oMathPara>
                </a14:m>
                <a:endParaRPr lang="en-IN" b="1" dirty="0"/>
              </a:p>
            </p:txBody>
          </p:sp>
        </mc:Choice>
        <mc:Fallback xmlns="">
          <p:sp>
            <p:nvSpPr>
              <p:cNvPr id="18" name="Rectangle 17"/>
              <p:cNvSpPr>
                <a:spLocks noRot="1" noChangeAspect="1" noMove="1" noResize="1" noEditPoints="1" noAdjustHandles="1" noChangeArrowheads="1" noChangeShapeType="1" noTextEdit="1"/>
              </p:cNvSpPr>
              <p:nvPr/>
            </p:nvSpPr>
            <p:spPr>
              <a:xfrm>
                <a:off x="149682" y="4572000"/>
                <a:ext cx="8534400" cy="113133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104668" y="6185883"/>
                <a:ext cx="8156118"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IN" sz="2200" b="1" smtClean="0">
                          <a:solidFill>
                            <a:srgbClr val="FF0000"/>
                          </a:solidFill>
                          <a:latin typeface="Cambria Math" panose="02040503050406030204" pitchFamily="18" charset="0"/>
                        </a:rPr>
                        <m:t> </m:t>
                      </m:r>
                      <m:r>
                        <a:rPr lang="en-IN" sz="2200" b="1" i="1">
                          <a:solidFill>
                            <a:srgbClr val="FF0000"/>
                          </a:solidFill>
                          <a:latin typeface="Cambria Math" panose="02040503050406030204" pitchFamily="18" charset="0"/>
                        </a:rPr>
                        <m:t>𝒀</m:t>
                      </m:r>
                      <m:d>
                        <m:dPr>
                          <m:ctrlPr>
                            <a:rPr lang="en-IN" sz="2200" b="1" i="1">
                              <a:solidFill>
                                <a:srgbClr val="FF0000"/>
                              </a:solidFill>
                              <a:latin typeface="Cambria Math" panose="02040503050406030204" pitchFamily="18" charset="0"/>
                            </a:rPr>
                          </m:ctrlPr>
                        </m:dPr>
                        <m:e>
                          <m:r>
                            <a:rPr lang="en-IN" sz="2200" b="1" i="1">
                              <a:solidFill>
                                <a:srgbClr val="FF0000"/>
                              </a:solidFill>
                              <a:latin typeface="Cambria Math" panose="02040503050406030204" pitchFamily="18" charset="0"/>
                            </a:rPr>
                            <m:t>𝒊</m:t>
                          </m:r>
                          <m:r>
                            <a:rPr lang="en-IN" sz="2200" b="1" i="0">
                              <a:solidFill>
                                <a:srgbClr val="FF0000"/>
                              </a:solidFill>
                              <a:latin typeface="Cambria Math" panose="02040503050406030204" pitchFamily="18" charset="0"/>
                            </a:rPr>
                            <m:t>,</m:t>
                          </m:r>
                          <m:r>
                            <a:rPr lang="en-IN" sz="2200" b="1" i="1">
                              <a:solidFill>
                                <a:srgbClr val="FF0000"/>
                              </a:solidFill>
                              <a:latin typeface="Cambria Math" panose="02040503050406030204" pitchFamily="18" charset="0"/>
                            </a:rPr>
                            <m:t>𝒑</m:t>
                          </m:r>
                        </m:e>
                      </m:d>
                      <m:r>
                        <a:rPr lang="en-IN" sz="2200" b="1" i="0">
                          <a:solidFill>
                            <a:srgbClr val="FF0000"/>
                          </a:solidFill>
                          <a:latin typeface="Cambria Math" panose="02040503050406030204" pitchFamily="18" charset="0"/>
                        </a:rPr>
                        <m:t>=</m:t>
                      </m:r>
                      <m:r>
                        <a:rPr lang="en-IN" sz="2200" b="1" i="1">
                          <a:solidFill>
                            <a:srgbClr val="FF0000"/>
                          </a:solidFill>
                          <a:latin typeface="Cambria Math" panose="02040503050406030204" pitchFamily="18" charset="0"/>
                        </a:rPr>
                        <m:t>𝑯</m:t>
                      </m:r>
                      <m:d>
                        <m:dPr>
                          <m:ctrlPr>
                            <a:rPr lang="en-IN" sz="2200" b="1" i="1">
                              <a:solidFill>
                                <a:srgbClr val="FF0000"/>
                              </a:solidFill>
                              <a:latin typeface="Cambria Math" panose="02040503050406030204" pitchFamily="18" charset="0"/>
                            </a:rPr>
                          </m:ctrlPr>
                        </m:dPr>
                        <m:e>
                          <m:r>
                            <a:rPr lang="en-IN" sz="2200" b="1" i="1">
                              <a:solidFill>
                                <a:srgbClr val="FF0000"/>
                              </a:solidFill>
                              <a:latin typeface="Cambria Math" panose="02040503050406030204" pitchFamily="18" charset="0"/>
                            </a:rPr>
                            <m:t>𝒑</m:t>
                          </m:r>
                        </m:e>
                      </m:d>
                      <m:r>
                        <a:rPr lang="en-IN" sz="2200" b="1" i="0">
                          <a:solidFill>
                            <a:srgbClr val="FF0000"/>
                          </a:solidFill>
                          <a:latin typeface="Cambria Math" panose="02040503050406030204" pitchFamily="18" charset="0"/>
                        </a:rPr>
                        <m:t> </m:t>
                      </m:r>
                      <m:r>
                        <a:rPr lang="en-IN" sz="2200" b="1" i="1">
                          <a:solidFill>
                            <a:srgbClr val="FF0000"/>
                          </a:solidFill>
                          <a:latin typeface="Cambria Math" panose="02040503050406030204" pitchFamily="18" charset="0"/>
                        </a:rPr>
                        <m:t>𝑿</m:t>
                      </m:r>
                      <m:d>
                        <m:dPr>
                          <m:ctrlPr>
                            <a:rPr lang="en-IN" sz="2200" b="1" i="1">
                              <a:solidFill>
                                <a:srgbClr val="FF0000"/>
                              </a:solidFill>
                              <a:latin typeface="Cambria Math" panose="02040503050406030204" pitchFamily="18" charset="0"/>
                            </a:rPr>
                          </m:ctrlPr>
                        </m:dPr>
                        <m:e>
                          <m:r>
                            <a:rPr lang="en-IN" sz="2200" b="1" i="1">
                              <a:solidFill>
                                <a:srgbClr val="FF0000"/>
                              </a:solidFill>
                              <a:latin typeface="Cambria Math" panose="02040503050406030204" pitchFamily="18" charset="0"/>
                            </a:rPr>
                            <m:t>𝒊</m:t>
                          </m:r>
                          <m:r>
                            <a:rPr lang="en-IN" sz="2200" b="1" i="0">
                              <a:solidFill>
                                <a:srgbClr val="FF0000"/>
                              </a:solidFill>
                              <a:latin typeface="Cambria Math" panose="02040503050406030204" pitchFamily="18" charset="0"/>
                            </a:rPr>
                            <m:t>,</m:t>
                          </m:r>
                          <m:r>
                            <a:rPr lang="en-IN" sz="2200" b="1" i="1">
                              <a:solidFill>
                                <a:srgbClr val="FF0000"/>
                              </a:solidFill>
                              <a:latin typeface="Cambria Math" panose="02040503050406030204" pitchFamily="18" charset="0"/>
                            </a:rPr>
                            <m:t>𝒑</m:t>
                          </m:r>
                        </m:e>
                      </m:d>
                      <m:r>
                        <a:rPr lang="en-IN" sz="2200" b="1" i="0">
                          <a:solidFill>
                            <a:srgbClr val="FF0000"/>
                          </a:solidFill>
                          <a:latin typeface="Cambria Math" panose="02040503050406030204" pitchFamily="18" charset="0"/>
                        </a:rPr>
                        <m:t> +  </m:t>
                      </m:r>
                      <m:r>
                        <a:rPr lang="en-IN" sz="2200" b="1" i="1">
                          <a:solidFill>
                            <a:srgbClr val="FF0000"/>
                          </a:solidFill>
                          <a:latin typeface="Cambria Math" panose="02040503050406030204" pitchFamily="18" charset="0"/>
                        </a:rPr>
                        <m:t>𝑾</m:t>
                      </m:r>
                      <m:d>
                        <m:dPr>
                          <m:ctrlPr>
                            <a:rPr lang="en-IN" sz="2200" b="1" i="1">
                              <a:solidFill>
                                <a:srgbClr val="FF0000"/>
                              </a:solidFill>
                              <a:latin typeface="Cambria Math" panose="02040503050406030204" pitchFamily="18" charset="0"/>
                            </a:rPr>
                          </m:ctrlPr>
                        </m:dPr>
                        <m:e>
                          <m:r>
                            <a:rPr lang="en-IN" sz="2200" b="1" i="1">
                              <a:solidFill>
                                <a:srgbClr val="FF0000"/>
                              </a:solidFill>
                              <a:latin typeface="Cambria Math" panose="02040503050406030204" pitchFamily="18" charset="0"/>
                            </a:rPr>
                            <m:t>𝒊</m:t>
                          </m:r>
                          <m:r>
                            <a:rPr lang="en-IN" sz="2200" b="1" i="0">
                              <a:solidFill>
                                <a:srgbClr val="FF0000"/>
                              </a:solidFill>
                              <a:latin typeface="Cambria Math" panose="02040503050406030204" pitchFamily="18" charset="0"/>
                            </a:rPr>
                            <m:t>,</m:t>
                          </m:r>
                          <m:r>
                            <a:rPr lang="en-IN" sz="2200" b="1" i="1">
                              <a:solidFill>
                                <a:srgbClr val="FF0000"/>
                              </a:solidFill>
                              <a:latin typeface="Cambria Math" panose="02040503050406030204" pitchFamily="18" charset="0"/>
                            </a:rPr>
                            <m:t>𝒑</m:t>
                          </m:r>
                        </m:e>
                      </m:d>
                      <m:r>
                        <a:rPr lang="en-IN" sz="2200" b="1" i="0">
                          <a:solidFill>
                            <a:srgbClr val="FF0000"/>
                          </a:solidFill>
                          <a:latin typeface="Cambria Math" panose="02040503050406030204" pitchFamily="18" charset="0"/>
                        </a:rPr>
                        <m:t>,     </m:t>
                      </m:r>
                      <m:r>
                        <a:rPr lang="en-IN" sz="2200" b="1" i="1">
                          <a:solidFill>
                            <a:srgbClr val="FF0000"/>
                          </a:solidFill>
                          <a:latin typeface="Cambria Math" panose="02040503050406030204" pitchFamily="18" charset="0"/>
                        </a:rPr>
                        <m:t>𝒇𝒐𝒓</m:t>
                      </m:r>
                      <m:r>
                        <a:rPr lang="en-IN" sz="2200" b="1" i="0">
                          <a:solidFill>
                            <a:srgbClr val="FF0000"/>
                          </a:solidFill>
                          <a:latin typeface="Cambria Math" panose="02040503050406030204" pitchFamily="18" charset="0"/>
                        </a:rPr>
                        <m:t>    </m:t>
                      </m:r>
                      <m:r>
                        <a:rPr lang="en-IN" sz="2200" b="1" i="1">
                          <a:solidFill>
                            <a:srgbClr val="FF0000"/>
                          </a:solidFill>
                          <a:latin typeface="Cambria Math" panose="02040503050406030204" pitchFamily="18" charset="0"/>
                        </a:rPr>
                        <m:t>𝒑</m:t>
                      </m:r>
                      <m:r>
                        <a:rPr lang="en-IN" sz="2200" b="1" i="0">
                          <a:solidFill>
                            <a:srgbClr val="FF0000"/>
                          </a:solidFill>
                          <a:latin typeface="Cambria Math" panose="02040503050406030204" pitchFamily="18" charset="0"/>
                        </a:rPr>
                        <m:t>=</m:t>
                      </m:r>
                      <m:r>
                        <a:rPr lang="en-IN" sz="2200" b="1" i="0">
                          <a:solidFill>
                            <a:srgbClr val="FF0000"/>
                          </a:solidFill>
                          <a:latin typeface="Cambria Math" panose="02040503050406030204" pitchFamily="18" charset="0"/>
                        </a:rPr>
                        <m:t>𝟎</m:t>
                      </m:r>
                      <m:r>
                        <a:rPr lang="en-IN" sz="2200" b="1" i="0">
                          <a:solidFill>
                            <a:srgbClr val="FF0000"/>
                          </a:solidFill>
                          <a:latin typeface="Cambria Math" panose="02040503050406030204" pitchFamily="18" charset="0"/>
                        </a:rPr>
                        <m:t>, </m:t>
                      </m:r>
                      <m:r>
                        <a:rPr lang="en-IN" sz="2200" b="1" i="0">
                          <a:solidFill>
                            <a:srgbClr val="FF0000"/>
                          </a:solidFill>
                          <a:latin typeface="Cambria Math" panose="02040503050406030204" pitchFamily="18" charset="0"/>
                        </a:rPr>
                        <m:t>𝟏</m:t>
                      </m:r>
                      <m:r>
                        <a:rPr lang="en-IN" sz="2200" b="1" i="0">
                          <a:solidFill>
                            <a:srgbClr val="FF0000"/>
                          </a:solidFill>
                          <a:latin typeface="Cambria Math" panose="02040503050406030204" pitchFamily="18" charset="0"/>
                        </a:rPr>
                        <m:t>,…, </m:t>
                      </m:r>
                      <m:r>
                        <a:rPr lang="en-IN" sz="2200" b="1" i="1">
                          <a:solidFill>
                            <a:srgbClr val="FF0000"/>
                          </a:solidFill>
                          <a:latin typeface="Cambria Math" panose="02040503050406030204" pitchFamily="18" charset="0"/>
                        </a:rPr>
                        <m:t>𝑵</m:t>
                      </m:r>
                      <m:r>
                        <a:rPr lang="en-IN" sz="2200" b="1" i="0">
                          <a:solidFill>
                            <a:srgbClr val="FF0000"/>
                          </a:solidFill>
                          <a:latin typeface="Cambria Math" panose="02040503050406030204" pitchFamily="18" charset="0"/>
                        </a:rPr>
                        <m:t>−</m:t>
                      </m:r>
                      <m:r>
                        <a:rPr lang="en-IN" sz="2200" b="1" i="0">
                          <a:solidFill>
                            <a:srgbClr val="FF0000"/>
                          </a:solidFill>
                          <a:latin typeface="Cambria Math" panose="02040503050406030204" pitchFamily="18" charset="0"/>
                        </a:rPr>
                        <m:t>𝟏</m:t>
                      </m:r>
                    </m:oMath>
                  </m:oMathPara>
                </a14:m>
                <a:endParaRPr lang="en-IN" sz="2200" b="1" dirty="0">
                  <a:solidFill>
                    <a:srgbClr val="FF0000"/>
                  </a:solidFill>
                </a:endParaRPr>
              </a:p>
            </p:txBody>
          </p:sp>
        </mc:Choice>
        <mc:Fallback xmlns="">
          <p:sp>
            <p:nvSpPr>
              <p:cNvPr id="19" name="Rectangle 18"/>
              <p:cNvSpPr>
                <a:spLocks noRot="1" noChangeAspect="1" noMove="1" noResize="1" noEditPoints="1" noAdjustHandles="1" noChangeArrowheads="1" noChangeShapeType="1" noTextEdit="1"/>
              </p:cNvSpPr>
              <p:nvPr/>
            </p:nvSpPr>
            <p:spPr>
              <a:xfrm>
                <a:off x="104668" y="6185883"/>
                <a:ext cx="8156118" cy="430887"/>
              </a:xfrm>
              <a:prstGeom prst="rect">
                <a:avLst/>
              </a:prstGeom>
              <a:blipFill>
                <a:blip r:embed="rId6"/>
                <a:stretch>
                  <a:fillRect b="-20000"/>
                </a:stretch>
              </a:blipFill>
            </p:spPr>
            <p:txBody>
              <a:bodyPr/>
              <a:lstStyle/>
              <a:p>
                <a:r>
                  <a:rPr lang="en-IN">
                    <a:noFill/>
                  </a:rPr>
                  <a:t> </a:t>
                </a:r>
              </a:p>
            </p:txBody>
          </p:sp>
        </mc:Fallback>
      </mc:AlternateContent>
      <p:sp>
        <p:nvSpPr>
          <p:cNvPr id="20" name="Rectangle 19"/>
          <p:cNvSpPr/>
          <p:nvPr/>
        </p:nvSpPr>
        <p:spPr>
          <a:xfrm>
            <a:off x="115137" y="5562600"/>
            <a:ext cx="4837863" cy="553998"/>
          </a:xfrm>
          <a:prstGeom prst="rect">
            <a:avLst/>
          </a:prstGeom>
        </p:spPr>
        <p:txBody>
          <a:bodyPr wrap="none">
            <a:spAutoFit/>
          </a:bodyPr>
          <a:lstStyle/>
          <a:p>
            <a:pPr algn="just">
              <a:lnSpc>
                <a:spcPct val="150000"/>
              </a:lnSpc>
              <a:spcAft>
                <a:spcPts val="0"/>
              </a:spcAft>
            </a:pPr>
            <a:r>
              <a:rPr lang="en-US"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Finally the output of FFT can be expressed as –</a:t>
            </a:r>
            <a:endParaRPr lang="en-IN" sz="2000" b="1" dirty="0">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18237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533400" y="381000"/>
                <a:ext cx="8001000" cy="4216732"/>
              </a:xfrm>
              <a:prstGeom prst="rect">
                <a:avLst/>
              </a:prstGeom>
            </p:spPr>
            <p:txBody>
              <a:bodyPr wrap="square">
                <a:spAutoFit/>
              </a:bodyPr>
              <a:lstStyle/>
              <a:p>
                <a:pPr algn="just">
                  <a:lnSpc>
                    <a:spcPct val="150000"/>
                  </a:lnSpc>
                  <a:spcAft>
                    <a:spcPts val="0"/>
                  </a:spcAft>
                </a:pPr>
                <a:r>
                  <a:rPr lang="en-US" sz="2200" b="1" dirty="0" smtClean="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With the help of following identity –</a:t>
                </a:r>
                <a:endParaRPr lang="en-IN" sz="2200" b="1" dirty="0">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lnSpc>
                    <a:spcPct val="150000"/>
                  </a:lnSpc>
                  <a:spcAft>
                    <a:spcPts val="0"/>
                  </a:spcAft>
                </a:pPr>
                <a:r>
                  <a:rPr lang="en-US" sz="2200" b="1" dirty="0">
                    <a:solidFill>
                      <a:srgbClr val="00B0F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200" b="1" dirty="0">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lgn="just">
                  <a:lnSpc>
                    <a:spcPct val="150000"/>
                  </a:lnSpc>
                  <a:spcBef>
                    <a:spcPts val="600"/>
                  </a:spcBef>
                  <a:spcAft>
                    <a:spcPts val="0"/>
                  </a:spcAft>
                </a:pPr>
                <a14:m>
                  <m:oMathPara xmlns:m="http://schemas.openxmlformats.org/officeDocument/2006/math">
                    <m:oMathParaPr>
                      <m:jc m:val="centerGroup"/>
                    </m:oMathParaPr>
                    <m:oMath xmlns:m="http://schemas.openxmlformats.org/officeDocument/2006/math">
                      <m:nary>
                        <m:naryPr>
                          <m:chr m:val="∑"/>
                          <m:limLoc m:val="undOv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naryPr>
                        <m:sub>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𝒏</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𝟎</m:t>
                          </m:r>
                        </m:sub>
                        <m:sup>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𝟏</m:t>
                          </m:r>
                        </m:sup>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𝒆</m:t>
                              </m:r>
                            </m:e>
                            <m:sup>
                              <m:f>
                                <m:f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𝒋</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𝝅</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𝒏</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𝒑</m:t>
                                      </m:r>
                                    </m:e>
                                  </m:d>
                                </m:num>
                                <m:den>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den>
                              </m:f>
                            </m:sup>
                          </m:sSup>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e>
                      </m:nary>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      </m:t>
                      </m:r>
                      <m:sSup>
                        <m:sSup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𝒆</m:t>
                          </m:r>
                        </m:e>
                        <m:sup>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𝒋</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𝝅</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𝒏</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𝒑</m:t>
                              </m:r>
                            </m:e>
                          </m:d>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𝟏</m:t>
                                  </m:r>
                                </m:e>
                              </m:d>
                            </m:num>
                            <m:den>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den>
                          </m:f>
                        </m:sup>
                      </m:sSup>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𝑺𝒊𝒏</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𝝅</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𝒑</m:t>
                                  </m:r>
                                </m:e>
                              </m:d>
                            </m:e>
                          </m:d>
                        </m:num>
                        <m:den>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𝑺𝒊𝒏</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d>
                            <m:d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𝝅</m:t>
                              </m:r>
                              <m:f>
                                <m:fPr>
                                  <m:ctrlPr>
                                    <a:rPr lang="en-IN"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𝒑</m:t>
                                  </m:r>
                                </m:num>
                                <m:den>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den>
                              </m:f>
                            </m:e>
                          </m:d>
                        </m:den>
                      </m:f>
                    </m:oMath>
                  </m:oMathPara>
                </a14:m>
                <a:endParaRPr lang="en-IN" sz="2200" b="1" dirty="0">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US" sz="2200" b="1" i="1" dirty="0" smtClean="0">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endParaRPr>
              </a:p>
              <a:p>
                <a:r>
                  <a:rPr lang="en-US" sz="2200" b="1" dirty="0" smtClean="0">
                    <a:solidFill>
                      <a:srgbClr val="00B0F0"/>
                    </a:solidFill>
                    <a:effectLst/>
                    <a:ea typeface="Times New Roman" panose="02020603050405020304" pitchFamily="18" charset="0"/>
                    <a:cs typeface="Times New Roman" panose="02020603050405020304" pitchFamily="18" charset="0"/>
                  </a:rPr>
                  <a:t>			</a:t>
                </a:r>
                <a14:m>
                  <m:oMath xmlns:m="http://schemas.openxmlformats.org/officeDocument/2006/math">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     </m:t>
                    </m:r>
                    <m:d>
                      <m:dPr>
                        <m:begChr m:val="{"/>
                        <m:endChr m:val=""/>
                        <m:ctrlPr>
                          <a:rPr lang="en-IN" sz="2200" b="1" i="1">
                            <a:solidFill>
                              <a:srgbClr val="00B0F0"/>
                            </a:solidFill>
                            <a:effectLst/>
                            <a:latin typeface="Cambria Math" panose="02040503050406030204" pitchFamily="18" charset="0"/>
                          </a:rPr>
                        </m:ctrlPr>
                      </m:dPr>
                      <m:e>
                        <m:eqArr>
                          <m:eqArrPr>
                            <m:ctrlPr>
                              <a:rPr lang="en-IN" sz="2200" b="1" i="1">
                                <a:solidFill>
                                  <a:srgbClr val="00B0F0"/>
                                </a:solidFill>
                                <a:effectLst/>
                                <a:latin typeface="Cambria Math" panose="02040503050406030204" pitchFamily="18" charset="0"/>
                              </a:rPr>
                            </m:ctrlPr>
                          </m:eqArrPr>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𝑵</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𝒇𝒐𝒓</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𝒑</m:t>
                            </m:r>
                          </m:e>
                          <m:e/>
                          <m:e>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𝒇𝒐𝒓</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𝒌</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200" b="1"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𝒑</m:t>
                            </m:r>
                          </m:e>
                        </m:eqArr>
                      </m:e>
                    </m:d>
                  </m:oMath>
                </a14:m>
                <a:r>
                  <a:rPr lang="en-US" sz="2200" b="1" dirty="0">
                    <a:solidFill>
                      <a:srgbClr val="00B0F0"/>
                    </a:solidFill>
                    <a:effectLst/>
                    <a:latin typeface="Times New Roman" panose="02020603050405020304" pitchFamily="18" charset="0"/>
                    <a:ea typeface="Times New Roman" panose="02020603050405020304" pitchFamily="18" charset="0"/>
                  </a:rPr>
                  <a:t>   	</a:t>
                </a:r>
                <a:endParaRPr lang="en-IN" sz="2200" b="1" dirty="0">
                  <a:solidFill>
                    <a:srgbClr val="00B0F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533400" y="381000"/>
                <a:ext cx="8001000" cy="4216732"/>
              </a:xfrm>
              <a:prstGeom prst="rect">
                <a:avLst/>
              </a:prstGeom>
              <a:blipFill>
                <a:blip r:embed="rId2"/>
                <a:stretch>
                  <a:fillRect l="-991"/>
                </a:stretch>
              </a:blipFill>
            </p:spPr>
            <p:txBody>
              <a:bodyPr/>
              <a:lstStyle/>
              <a:p>
                <a:r>
                  <a:rPr lang="en-IN">
                    <a:noFill/>
                  </a:rPr>
                  <a:t> </a:t>
                </a:r>
              </a:p>
            </p:txBody>
          </p:sp>
        </mc:Fallback>
      </mc:AlternateContent>
    </p:spTree>
    <p:extLst>
      <p:ext uri="{BB962C8B-B14F-4D97-AF65-F5344CB8AC3E}">
        <p14:creationId xmlns:p14="http://schemas.microsoft.com/office/powerpoint/2010/main" val="35876340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485900" y="971550"/>
            <a:ext cx="6172200" cy="250825"/>
          </a:xfrm>
        </p:spPr>
        <p:txBody>
          <a:bodyPr/>
          <a:lstStyle/>
          <a:p>
            <a:r>
              <a:rPr lang="en-US" altLang="en-US" sz="1800" smtClean="0"/>
              <a:t>Key Parameters of Different Standards based on OFDM</a:t>
            </a:r>
            <a:endParaRPr lang="en-IN" altLang="en-US" sz="1800" smtClean="0"/>
          </a:p>
        </p:txBody>
      </p:sp>
      <p:sp>
        <p:nvSpPr>
          <p:cNvPr id="19459" name="Rectangle 3"/>
          <p:cNvSpPr>
            <a:spLocks noChangeArrowheads="1"/>
          </p:cNvSpPr>
          <p:nvPr/>
        </p:nvSpPr>
        <p:spPr bwMode="auto">
          <a:xfrm>
            <a:off x="3360738" y="1638300"/>
            <a:ext cx="2586037"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3200">
                <a:solidFill>
                  <a:schemeClr val="tx1"/>
                </a:solidFill>
                <a:latin typeface="Arial" panose="020B0604020202020204" pitchFamily="34" charset="0"/>
              </a:defRPr>
            </a:lvl1pPr>
            <a:lvl2pPr marL="742950" indent="-285750" algn="l" eaLnBrk="0" hangingPunct="0">
              <a:spcBef>
                <a:spcPct val="20000"/>
              </a:spcBef>
              <a:buChar char="–"/>
              <a:defRPr sz="2800">
                <a:solidFill>
                  <a:schemeClr val="tx1"/>
                </a:solidFill>
                <a:latin typeface="Arial" panose="020B0604020202020204" pitchFamily="34" charset="0"/>
              </a:defRPr>
            </a:lvl2pPr>
            <a:lvl3pPr marL="1143000" indent="-228600" algn="l" eaLnBrk="0" hangingPunct="0">
              <a:spcBef>
                <a:spcPct val="20000"/>
              </a:spcBef>
              <a:buChar char="•"/>
              <a:defRPr sz="2400">
                <a:solidFill>
                  <a:schemeClr val="tx1"/>
                </a:solidFill>
                <a:latin typeface="Arial" panose="020B0604020202020204" pitchFamily="34" charset="0"/>
              </a:defRPr>
            </a:lvl3pPr>
            <a:lvl4pPr marL="1600200" indent="-228600" algn="l" eaLnBrk="0" hangingPunct="0">
              <a:spcBef>
                <a:spcPct val="20000"/>
              </a:spcBef>
              <a:buChar char="–"/>
              <a:defRPr sz="2000">
                <a:solidFill>
                  <a:schemeClr val="tx1"/>
                </a:solidFill>
                <a:latin typeface="Arial" panose="020B0604020202020204" pitchFamily="34" charset="0"/>
              </a:defRPr>
            </a:lvl4pPr>
            <a:lvl5pPr marL="2057400" indent="-228600" algn="l"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defRPr/>
            </a:pPr>
            <a:r>
              <a:rPr lang="en-US" altLang="en-US" sz="1350" i="1"/>
              <a:t>IEEE 802.11 and HIPERLAN/2</a:t>
            </a:r>
            <a:r>
              <a:rPr lang="en-US" altLang="en-US" sz="1350"/>
              <a:t> </a:t>
            </a:r>
            <a:endParaRPr lang="en-IN" altLang="en-US" sz="1350"/>
          </a:p>
        </p:txBody>
      </p:sp>
      <p:graphicFrame>
        <p:nvGraphicFramePr>
          <p:cNvPr id="5" name="Table 4"/>
          <p:cNvGraphicFramePr>
            <a:graphicFrameLocks noGrp="1"/>
          </p:cNvGraphicFramePr>
          <p:nvPr>
            <p:extLst>
              <p:ext uri="{D42A27DB-BD31-4B8C-83A1-F6EECF244321}">
                <p14:modId xmlns:p14="http://schemas.microsoft.com/office/powerpoint/2010/main" val="2971928127"/>
              </p:ext>
            </p:extLst>
          </p:nvPr>
        </p:nvGraphicFramePr>
        <p:xfrm>
          <a:off x="1752600" y="2057400"/>
          <a:ext cx="6248400" cy="3637786"/>
        </p:xfrm>
        <a:graphic>
          <a:graphicData uri="http://schemas.openxmlformats.org/drawingml/2006/table">
            <a:tbl>
              <a:tblPr firstRow="1" firstCol="1" bandRow="1">
                <a:tableStyleId>{5C22544A-7EE6-4342-B048-85BDC9FD1C3A}</a:tableStyleId>
              </a:tblPr>
              <a:tblGrid>
                <a:gridCol w="3126845">
                  <a:extLst>
                    <a:ext uri="{9D8B030D-6E8A-4147-A177-3AD203B41FA5}">
                      <a16:colId xmlns:a16="http://schemas.microsoft.com/office/drawing/2014/main" val="20000"/>
                    </a:ext>
                  </a:extLst>
                </a:gridCol>
                <a:gridCol w="3121555">
                  <a:extLst>
                    <a:ext uri="{9D8B030D-6E8A-4147-A177-3AD203B41FA5}">
                      <a16:colId xmlns:a16="http://schemas.microsoft.com/office/drawing/2014/main" val="20001"/>
                    </a:ext>
                  </a:extLst>
                </a:gridCol>
              </a:tblGrid>
              <a:tr h="327945">
                <a:tc>
                  <a:txBody>
                    <a:bodyPr/>
                    <a:lstStyle/>
                    <a:p>
                      <a:pPr algn="ctr">
                        <a:lnSpc>
                          <a:spcPct val="150000"/>
                        </a:lnSpc>
                        <a:spcAft>
                          <a:spcPts val="0"/>
                        </a:spcAft>
                      </a:pPr>
                      <a:r>
                        <a:rPr lang="en-US" sz="1400" dirty="0">
                          <a:solidFill>
                            <a:schemeClr val="tx1"/>
                          </a:solidFill>
                          <a:effectLst/>
                        </a:rPr>
                        <a:t>Parameters</a:t>
                      </a:r>
                      <a:endParaRPr lang="en-IN" sz="1400" dirty="0">
                        <a:solidFill>
                          <a:schemeClr val="tx1"/>
                        </a:solidFill>
                        <a:effectLst/>
                        <a:latin typeface="Cambria Math"/>
                        <a:ea typeface="Times New Roman"/>
                        <a:cs typeface="Times New Roman"/>
                      </a:endParaRPr>
                    </a:p>
                  </a:txBody>
                  <a:tcPr marL="51435" marR="51435" marT="0" marB="0" anchor="ctr"/>
                </a:tc>
                <a:tc>
                  <a:txBody>
                    <a:bodyPr/>
                    <a:lstStyle/>
                    <a:p>
                      <a:pPr algn="ctr">
                        <a:lnSpc>
                          <a:spcPct val="150000"/>
                        </a:lnSpc>
                        <a:spcAft>
                          <a:spcPts val="0"/>
                        </a:spcAft>
                      </a:pPr>
                      <a:r>
                        <a:rPr lang="en-US" sz="1400">
                          <a:solidFill>
                            <a:schemeClr val="tx1"/>
                          </a:solidFill>
                          <a:effectLst/>
                        </a:rPr>
                        <a:t>Specification</a:t>
                      </a:r>
                      <a:endParaRPr lang="en-IN" sz="1400">
                        <a:solidFill>
                          <a:schemeClr val="tx1"/>
                        </a:solidFill>
                        <a:effectLst/>
                        <a:latin typeface="Cambria Math"/>
                        <a:ea typeface="Times New Roman"/>
                        <a:cs typeface="Times New Roman"/>
                      </a:endParaRPr>
                    </a:p>
                  </a:txBody>
                  <a:tcPr marL="51435" marR="51435" marT="0" marB="0"/>
                </a:tc>
                <a:extLst>
                  <a:ext uri="{0D108BD9-81ED-4DB2-BD59-A6C34878D82A}">
                    <a16:rowId xmlns:a16="http://schemas.microsoft.com/office/drawing/2014/main" val="10000"/>
                  </a:ext>
                </a:extLst>
              </a:tr>
              <a:tr h="327945">
                <a:tc>
                  <a:txBody>
                    <a:bodyPr/>
                    <a:lstStyle/>
                    <a:p>
                      <a:pPr algn="ctr">
                        <a:lnSpc>
                          <a:spcPct val="150000"/>
                        </a:lnSpc>
                        <a:spcAft>
                          <a:spcPts val="0"/>
                        </a:spcAft>
                      </a:pPr>
                      <a:r>
                        <a:rPr lang="en-US" sz="1400" dirty="0">
                          <a:solidFill>
                            <a:srgbClr val="FF0000"/>
                          </a:solidFill>
                          <a:effectLst/>
                        </a:rPr>
                        <a:t>Data rate</a:t>
                      </a:r>
                      <a:endParaRPr lang="en-IN" sz="1400" dirty="0">
                        <a:solidFill>
                          <a:srgbClr val="FF0000"/>
                        </a:solidFill>
                        <a:effectLst/>
                        <a:latin typeface="Cambria Math"/>
                        <a:ea typeface="Times New Roman"/>
                        <a:cs typeface="Times New Roman"/>
                      </a:endParaRPr>
                    </a:p>
                  </a:txBody>
                  <a:tcPr marL="51435" marR="51435" marT="0" marB="0"/>
                </a:tc>
                <a:tc>
                  <a:txBody>
                    <a:bodyPr/>
                    <a:lstStyle/>
                    <a:p>
                      <a:pPr algn="ctr">
                        <a:lnSpc>
                          <a:spcPct val="150000"/>
                        </a:lnSpc>
                        <a:spcAft>
                          <a:spcPts val="0"/>
                        </a:spcAft>
                      </a:pPr>
                      <a:r>
                        <a:rPr lang="en-US" sz="1400" b="1" dirty="0">
                          <a:solidFill>
                            <a:schemeClr val="tx1"/>
                          </a:solidFill>
                          <a:effectLst/>
                        </a:rPr>
                        <a:t>6, 9, 12, 18, 24, 36, 48, and 54 Mbps</a:t>
                      </a:r>
                      <a:endParaRPr lang="en-IN" sz="1400" b="1" dirty="0">
                        <a:solidFill>
                          <a:schemeClr val="tx1"/>
                        </a:solidFill>
                        <a:effectLst/>
                        <a:latin typeface="Cambria Math"/>
                        <a:ea typeface="Times New Roman"/>
                        <a:cs typeface="Times New Roman"/>
                      </a:endParaRPr>
                    </a:p>
                  </a:txBody>
                  <a:tcPr marL="51435" marR="51435" marT="0" marB="0"/>
                </a:tc>
                <a:extLst>
                  <a:ext uri="{0D108BD9-81ED-4DB2-BD59-A6C34878D82A}">
                    <a16:rowId xmlns:a16="http://schemas.microsoft.com/office/drawing/2014/main" val="10001"/>
                  </a:ext>
                </a:extLst>
              </a:tr>
              <a:tr h="327945">
                <a:tc>
                  <a:txBody>
                    <a:bodyPr/>
                    <a:lstStyle/>
                    <a:p>
                      <a:pPr algn="ctr">
                        <a:lnSpc>
                          <a:spcPct val="150000"/>
                        </a:lnSpc>
                        <a:spcAft>
                          <a:spcPts val="0"/>
                        </a:spcAft>
                      </a:pPr>
                      <a:r>
                        <a:rPr lang="en-US" sz="1400" dirty="0">
                          <a:solidFill>
                            <a:schemeClr val="tx1"/>
                          </a:solidFill>
                          <a:effectLst/>
                        </a:rPr>
                        <a:t>Modulation</a:t>
                      </a:r>
                      <a:endParaRPr lang="en-IN" sz="1400" dirty="0">
                        <a:solidFill>
                          <a:schemeClr val="tx1"/>
                        </a:solidFill>
                        <a:effectLst/>
                        <a:latin typeface="Cambria Math"/>
                        <a:ea typeface="Times New Roman"/>
                        <a:cs typeface="Times New Roman"/>
                      </a:endParaRPr>
                    </a:p>
                  </a:txBody>
                  <a:tcPr marL="51435" marR="51435" marT="0" marB="0"/>
                </a:tc>
                <a:tc>
                  <a:txBody>
                    <a:bodyPr/>
                    <a:lstStyle/>
                    <a:p>
                      <a:pPr algn="ctr">
                        <a:lnSpc>
                          <a:spcPct val="150000"/>
                        </a:lnSpc>
                        <a:spcAft>
                          <a:spcPts val="0"/>
                        </a:spcAft>
                      </a:pPr>
                      <a:r>
                        <a:rPr lang="en-US" sz="1400" b="1" dirty="0">
                          <a:solidFill>
                            <a:schemeClr val="tx1"/>
                          </a:solidFill>
                          <a:effectLst/>
                        </a:rPr>
                        <a:t>BPSK, QPSK, 16-QAM, 64-QAM</a:t>
                      </a:r>
                      <a:endParaRPr lang="en-IN" sz="1400" b="1" dirty="0">
                        <a:solidFill>
                          <a:schemeClr val="tx1"/>
                        </a:solidFill>
                        <a:effectLst/>
                        <a:latin typeface="Cambria Math"/>
                        <a:ea typeface="Times New Roman"/>
                        <a:cs typeface="Times New Roman"/>
                      </a:endParaRPr>
                    </a:p>
                  </a:txBody>
                  <a:tcPr marL="51435" marR="51435" marT="0" marB="0"/>
                </a:tc>
                <a:extLst>
                  <a:ext uri="{0D108BD9-81ED-4DB2-BD59-A6C34878D82A}">
                    <a16:rowId xmlns:a16="http://schemas.microsoft.com/office/drawing/2014/main" val="10002"/>
                  </a:ext>
                </a:extLst>
              </a:tr>
              <a:tr h="374146">
                <a:tc>
                  <a:txBody>
                    <a:bodyPr/>
                    <a:lstStyle/>
                    <a:p>
                      <a:pPr algn="ctr">
                        <a:lnSpc>
                          <a:spcPct val="150000"/>
                        </a:lnSpc>
                        <a:spcAft>
                          <a:spcPts val="0"/>
                        </a:spcAft>
                      </a:pPr>
                      <a:r>
                        <a:rPr lang="en-US" sz="1400" dirty="0">
                          <a:solidFill>
                            <a:srgbClr val="FF0000"/>
                          </a:solidFill>
                          <a:effectLst/>
                        </a:rPr>
                        <a:t>Coding rate</a:t>
                      </a:r>
                      <a:endParaRPr lang="en-IN" sz="1400" dirty="0">
                        <a:solidFill>
                          <a:srgbClr val="FF0000"/>
                        </a:solidFill>
                        <a:effectLst/>
                        <a:latin typeface="Cambria Math"/>
                        <a:ea typeface="Times New Roman"/>
                        <a:cs typeface="Times New Roman"/>
                      </a:endParaRPr>
                    </a:p>
                  </a:txBody>
                  <a:tcPr marL="51435" marR="51435" marT="0" marB="0"/>
                </a:tc>
                <a:tc>
                  <a:txBody>
                    <a:bodyPr/>
                    <a:lstStyle/>
                    <a:p>
                      <a:endParaRPr lang="en-US" sz="1400"/>
                    </a:p>
                  </a:txBody>
                  <a:tcPr marL="51435" marR="51435" marT="0" marB="0">
                    <a:blipFill rotWithShape="1">
                      <a:blip r:embed="rId2"/>
                      <a:stretch>
                        <a:fillRect l="-100000" t="-263415" b="-536585"/>
                      </a:stretch>
                    </a:blipFill>
                  </a:tcPr>
                </a:tc>
                <a:extLst>
                  <a:ext uri="{0D108BD9-81ED-4DB2-BD59-A6C34878D82A}">
                    <a16:rowId xmlns:a16="http://schemas.microsoft.com/office/drawing/2014/main" val="10003"/>
                  </a:ext>
                </a:extLst>
              </a:tr>
              <a:tr h="374146">
                <a:tc>
                  <a:txBody>
                    <a:bodyPr/>
                    <a:lstStyle/>
                    <a:p>
                      <a:pPr algn="ctr">
                        <a:lnSpc>
                          <a:spcPct val="150000"/>
                        </a:lnSpc>
                        <a:spcAft>
                          <a:spcPts val="0"/>
                        </a:spcAft>
                      </a:pPr>
                      <a:r>
                        <a:rPr lang="en-US" sz="1400" dirty="0">
                          <a:solidFill>
                            <a:schemeClr val="tx1"/>
                          </a:solidFill>
                          <a:effectLst/>
                        </a:rPr>
                        <a:t>Total number of sub-carriers (Pilot + Data)</a:t>
                      </a:r>
                      <a:endParaRPr lang="en-IN" sz="1400" dirty="0">
                        <a:solidFill>
                          <a:schemeClr val="tx1"/>
                        </a:solidFill>
                        <a:effectLst/>
                        <a:latin typeface="Cambria Math"/>
                        <a:ea typeface="Times New Roman"/>
                        <a:cs typeface="Times New Roman"/>
                      </a:endParaRPr>
                    </a:p>
                  </a:txBody>
                  <a:tcPr marL="51435" marR="51435" marT="0" marB="0"/>
                </a:tc>
                <a:tc>
                  <a:txBody>
                    <a:bodyPr/>
                    <a:lstStyle/>
                    <a:p>
                      <a:endParaRPr lang="en-US" sz="1400"/>
                    </a:p>
                  </a:txBody>
                  <a:tcPr marL="51435" marR="51435" marT="0" marB="0">
                    <a:blipFill rotWithShape="1">
                      <a:blip r:embed="rId2"/>
                      <a:stretch>
                        <a:fillRect l="-100000" t="-363415" b="-436585"/>
                      </a:stretch>
                    </a:blipFill>
                  </a:tcPr>
                </a:tc>
                <a:extLst>
                  <a:ext uri="{0D108BD9-81ED-4DB2-BD59-A6C34878D82A}">
                    <a16:rowId xmlns:a16="http://schemas.microsoft.com/office/drawing/2014/main" val="10004"/>
                  </a:ext>
                </a:extLst>
              </a:tr>
              <a:tr h="327945">
                <a:tc>
                  <a:txBody>
                    <a:bodyPr/>
                    <a:lstStyle/>
                    <a:p>
                      <a:pPr algn="ctr">
                        <a:lnSpc>
                          <a:spcPct val="150000"/>
                        </a:lnSpc>
                        <a:spcAft>
                          <a:spcPts val="0"/>
                        </a:spcAft>
                      </a:pPr>
                      <a:r>
                        <a:rPr lang="en-US" sz="1400" dirty="0">
                          <a:solidFill>
                            <a:srgbClr val="FF0000"/>
                          </a:solidFill>
                          <a:effectLst/>
                        </a:rPr>
                        <a:t>Number of Pilot sub-carriers</a:t>
                      </a:r>
                      <a:endParaRPr lang="en-IN" sz="1400" dirty="0">
                        <a:solidFill>
                          <a:srgbClr val="FF0000"/>
                        </a:solidFill>
                        <a:effectLst/>
                        <a:latin typeface="Cambria Math"/>
                        <a:ea typeface="Times New Roman"/>
                        <a:cs typeface="Times New Roman"/>
                      </a:endParaRPr>
                    </a:p>
                  </a:txBody>
                  <a:tcPr marL="51435" marR="51435" marT="0" marB="0"/>
                </a:tc>
                <a:tc>
                  <a:txBody>
                    <a:bodyPr/>
                    <a:lstStyle/>
                    <a:p>
                      <a:pPr algn="ctr">
                        <a:lnSpc>
                          <a:spcPct val="150000"/>
                        </a:lnSpc>
                        <a:spcAft>
                          <a:spcPts val="0"/>
                        </a:spcAft>
                      </a:pPr>
                      <a:r>
                        <a:rPr lang="en-US" sz="1400" b="1" dirty="0">
                          <a:solidFill>
                            <a:schemeClr val="tx1"/>
                          </a:solidFill>
                          <a:effectLst/>
                        </a:rPr>
                        <a:t>4</a:t>
                      </a:r>
                      <a:endParaRPr lang="en-IN" sz="1400" b="1" dirty="0">
                        <a:solidFill>
                          <a:schemeClr val="tx1"/>
                        </a:solidFill>
                        <a:effectLst/>
                        <a:latin typeface="Cambria Math"/>
                        <a:ea typeface="Times New Roman"/>
                        <a:cs typeface="Times New Roman"/>
                      </a:endParaRPr>
                    </a:p>
                  </a:txBody>
                  <a:tcPr marL="51435" marR="51435" marT="0" marB="0"/>
                </a:tc>
                <a:extLst>
                  <a:ext uri="{0D108BD9-81ED-4DB2-BD59-A6C34878D82A}">
                    <a16:rowId xmlns:a16="http://schemas.microsoft.com/office/drawing/2014/main" val="10005"/>
                  </a:ext>
                </a:extLst>
              </a:tr>
              <a:tr h="327945">
                <a:tc>
                  <a:txBody>
                    <a:bodyPr/>
                    <a:lstStyle/>
                    <a:p>
                      <a:pPr algn="ctr">
                        <a:lnSpc>
                          <a:spcPct val="150000"/>
                        </a:lnSpc>
                        <a:spcAft>
                          <a:spcPts val="0"/>
                        </a:spcAft>
                      </a:pPr>
                      <a:r>
                        <a:rPr lang="en-US" sz="1400" dirty="0">
                          <a:solidFill>
                            <a:schemeClr val="tx1"/>
                          </a:solidFill>
                          <a:effectLst/>
                        </a:rPr>
                        <a:t>OFDM Symbol Duration</a:t>
                      </a:r>
                      <a:endParaRPr lang="en-IN" sz="1400" dirty="0">
                        <a:solidFill>
                          <a:schemeClr val="tx1"/>
                        </a:solidFill>
                        <a:effectLst/>
                        <a:latin typeface="Cambria Math"/>
                        <a:ea typeface="Times New Roman"/>
                        <a:cs typeface="Times New Roman"/>
                      </a:endParaRPr>
                    </a:p>
                  </a:txBody>
                  <a:tcPr marL="51435" marR="51435" marT="0" marB="0"/>
                </a:tc>
                <a:tc>
                  <a:txBody>
                    <a:bodyPr/>
                    <a:lstStyle/>
                    <a:p>
                      <a:pPr algn="ctr">
                        <a:lnSpc>
                          <a:spcPct val="150000"/>
                        </a:lnSpc>
                        <a:spcAft>
                          <a:spcPts val="0"/>
                        </a:spcAft>
                      </a:pPr>
                      <a:r>
                        <a:rPr lang="en-US" sz="1400" b="1" dirty="0">
                          <a:solidFill>
                            <a:schemeClr val="tx1"/>
                          </a:solidFill>
                          <a:effectLst/>
                        </a:rPr>
                        <a:t>4 µs</a:t>
                      </a:r>
                      <a:endParaRPr lang="en-IN" sz="1400" b="1" dirty="0">
                        <a:solidFill>
                          <a:schemeClr val="tx1"/>
                        </a:solidFill>
                        <a:effectLst/>
                        <a:latin typeface="Cambria Math"/>
                        <a:ea typeface="Times New Roman"/>
                        <a:cs typeface="Times New Roman"/>
                      </a:endParaRPr>
                    </a:p>
                  </a:txBody>
                  <a:tcPr marL="51435" marR="51435" marT="0" marB="0"/>
                </a:tc>
                <a:extLst>
                  <a:ext uri="{0D108BD9-81ED-4DB2-BD59-A6C34878D82A}">
                    <a16:rowId xmlns:a16="http://schemas.microsoft.com/office/drawing/2014/main" val="10006"/>
                  </a:ext>
                </a:extLst>
              </a:tr>
              <a:tr h="327945">
                <a:tc>
                  <a:txBody>
                    <a:bodyPr/>
                    <a:lstStyle/>
                    <a:p>
                      <a:pPr algn="ctr">
                        <a:lnSpc>
                          <a:spcPct val="150000"/>
                        </a:lnSpc>
                        <a:spcAft>
                          <a:spcPts val="0"/>
                        </a:spcAft>
                      </a:pPr>
                      <a:r>
                        <a:rPr lang="en-US" sz="1400" dirty="0">
                          <a:solidFill>
                            <a:srgbClr val="FF0000"/>
                          </a:solidFill>
                          <a:effectLst/>
                        </a:rPr>
                        <a:t>Guard Interval</a:t>
                      </a:r>
                      <a:endParaRPr lang="en-IN" sz="1400" dirty="0">
                        <a:solidFill>
                          <a:srgbClr val="FF0000"/>
                        </a:solidFill>
                        <a:effectLst/>
                        <a:latin typeface="Cambria Math"/>
                        <a:ea typeface="Times New Roman"/>
                        <a:cs typeface="Times New Roman"/>
                      </a:endParaRPr>
                    </a:p>
                  </a:txBody>
                  <a:tcPr marL="51435" marR="51435" marT="0" marB="0"/>
                </a:tc>
                <a:tc>
                  <a:txBody>
                    <a:bodyPr/>
                    <a:lstStyle/>
                    <a:p>
                      <a:pPr algn="ctr">
                        <a:lnSpc>
                          <a:spcPct val="150000"/>
                        </a:lnSpc>
                        <a:spcAft>
                          <a:spcPts val="0"/>
                        </a:spcAft>
                      </a:pPr>
                      <a:r>
                        <a:rPr lang="en-US" sz="1400" b="1" dirty="0">
                          <a:solidFill>
                            <a:schemeClr val="tx1"/>
                          </a:solidFill>
                          <a:effectLst/>
                        </a:rPr>
                        <a:t>800 ns</a:t>
                      </a:r>
                      <a:endParaRPr lang="en-IN" sz="1400" b="1" dirty="0">
                        <a:solidFill>
                          <a:schemeClr val="tx1"/>
                        </a:solidFill>
                        <a:effectLst/>
                        <a:latin typeface="Cambria Math"/>
                        <a:ea typeface="Times New Roman"/>
                        <a:cs typeface="Times New Roman"/>
                      </a:endParaRPr>
                    </a:p>
                  </a:txBody>
                  <a:tcPr marL="51435" marR="51435" marT="0" marB="0"/>
                </a:tc>
                <a:extLst>
                  <a:ext uri="{0D108BD9-81ED-4DB2-BD59-A6C34878D82A}">
                    <a16:rowId xmlns:a16="http://schemas.microsoft.com/office/drawing/2014/main" val="10007"/>
                  </a:ext>
                </a:extLst>
              </a:tr>
              <a:tr h="327945">
                <a:tc>
                  <a:txBody>
                    <a:bodyPr/>
                    <a:lstStyle/>
                    <a:p>
                      <a:pPr algn="ctr">
                        <a:lnSpc>
                          <a:spcPct val="150000"/>
                        </a:lnSpc>
                        <a:spcAft>
                          <a:spcPts val="0"/>
                        </a:spcAft>
                      </a:pPr>
                      <a:r>
                        <a:rPr lang="en-US" sz="1400" dirty="0">
                          <a:solidFill>
                            <a:schemeClr val="tx1"/>
                          </a:solidFill>
                          <a:effectLst/>
                        </a:rPr>
                        <a:t>Sub-carrier spacing</a:t>
                      </a:r>
                      <a:endParaRPr lang="en-IN" sz="1400" dirty="0">
                        <a:solidFill>
                          <a:schemeClr val="tx1"/>
                        </a:solidFill>
                        <a:effectLst/>
                        <a:latin typeface="Cambria Math"/>
                        <a:ea typeface="Times New Roman"/>
                        <a:cs typeface="Times New Roman"/>
                      </a:endParaRPr>
                    </a:p>
                  </a:txBody>
                  <a:tcPr marL="51435" marR="51435" marT="0" marB="0"/>
                </a:tc>
                <a:tc>
                  <a:txBody>
                    <a:bodyPr/>
                    <a:lstStyle/>
                    <a:p>
                      <a:pPr algn="ctr">
                        <a:lnSpc>
                          <a:spcPct val="150000"/>
                        </a:lnSpc>
                        <a:spcAft>
                          <a:spcPts val="0"/>
                        </a:spcAft>
                      </a:pPr>
                      <a:r>
                        <a:rPr lang="en-US" sz="1400" b="1" dirty="0">
                          <a:solidFill>
                            <a:schemeClr val="tx1"/>
                          </a:solidFill>
                          <a:effectLst/>
                        </a:rPr>
                        <a:t>312.5 KHz</a:t>
                      </a:r>
                      <a:endParaRPr lang="en-IN" sz="1400" b="1" dirty="0">
                        <a:solidFill>
                          <a:schemeClr val="tx1"/>
                        </a:solidFill>
                        <a:effectLst/>
                        <a:latin typeface="Cambria Math"/>
                        <a:ea typeface="Times New Roman"/>
                        <a:cs typeface="Times New Roman"/>
                      </a:endParaRPr>
                    </a:p>
                  </a:txBody>
                  <a:tcPr marL="51435" marR="51435" marT="0" marB="0"/>
                </a:tc>
                <a:extLst>
                  <a:ext uri="{0D108BD9-81ED-4DB2-BD59-A6C34878D82A}">
                    <a16:rowId xmlns:a16="http://schemas.microsoft.com/office/drawing/2014/main" val="10008"/>
                  </a:ext>
                </a:extLst>
              </a:tr>
              <a:tr h="327945">
                <a:tc>
                  <a:txBody>
                    <a:bodyPr/>
                    <a:lstStyle/>
                    <a:p>
                      <a:pPr algn="ctr">
                        <a:lnSpc>
                          <a:spcPct val="150000"/>
                        </a:lnSpc>
                        <a:spcAft>
                          <a:spcPts val="0"/>
                        </a:spcAft>
                      </a:pPr>
                      <a:r>
                        <a:rPr lang="en-US" sz="1400" dirty="0">
                          <a:solidFill>
                            <a:srgbClr val="FF0000"/>
                          </a:solidFill>
                          <a:effectLst/>
                        </a:rPr>
                        <a:t>Channel Spacing</a:t>
                      </a:r>
                      <a:endParaRPr lang="en-IN" sz="1400" dirty="0">
                        <a:solidFill>
                          <a:srgbClr val="FF0000"/>
                        </a:solidFill>
                        <a:effectLst/>
                        <a:latin typeface="Cambria Math"/>
                        <a:ea typeface="Times New Roman"/>
                        <a:cs typeface="Times New Roman"/>
                      </a:endParaRPr>
                    </a:p>
                  </a:txBody>
                  <a:tcPr marL="51435" marR="51435" marT="0" marB="0"/>
                </a:tc>
                <a:tc>
                  <a:txBody>
                    <a:bodyPr/>
                    <a:lstStyle/>
                    <a:p>
                      <a:pPr algn="ctr">
                        <a:lnSpc>
                          <a:spcPct val="150000"/>
                        </a:lnSpc>
                        <a:spcAft>
                          <a:spcPts val="0"/>
                        </a:spcAft>
                      </a:pPr>
                      <a:r>
                        <a:rPr lang="en-US" sz="1400" b="1" dirty="0">
                          <a:solidFill>
                            <a:schemeClr val="tx1"/>
                          </a:solidFill>
                          <a:effectLst/>
                        </a:rPr>
                        <a:t>20 MHz</a:t>
                      </a:r>
                      <a:endParaRPr lang="en-IN" sz="1400" b="1" dirty="0">
                        <a:solidFill>
                          <a:schemeClr val="tx1"/>
                        </a:solidFill>
                        <a:effectLst/>
                        <a:latin typeface="Cambria Math"/>
                        <a:ea typeface="Times New Roman"/>
                        <a:cs typeface="Times New Roman"/>
                      </a:endParaRPr>
                    </a:p>
                  </a:txBody>
                  <a:tcPr marL="51435" marR="51435" marT="0" marB="0"/>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2259</TotalTime>
  <Words>1138</Words>
  <Application>Microsoft Office PowerPoint</Application>
  <PresentationFormat>On-screen Show (4:3)</PresentationFormat>
  <Paragraphs>188</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Cambria</vt:lpstr>
      <vt:lpstr>Cambria Math</vt:lpstr>
      <vt:lpstr>Times New Roman</vt:lpstr>
      <vt:lpstr>Default Design</vt:lpstr>
      <vt:lpstr>5G WIRELESS COMMUNICATION  (UEC 719) </vt:lpstr>
      <vt:lpstr>PowerPoint Presentation</vt:lpstr>
      <vt:lpstr>PowerPoint Presentation</vt:lpstr>
      <vt:lpstr>OFDM System Model  [S. Hara and R. Prasad (2003)]</vt:lpstr>
      <vt:lpstr>OFDM Signal Generation</vt:lpstr>
      <vt:lpstr>OFDM Signal Generation</vt:lpstr>
      <vt:lpstr>OFDM Signal Generation</vt:lpstr>
      <vt:lpstr>Cyclic Prefix  or  Guard Band Insertion </vt:lpstr>
      <vt:lpstr>Cyclic Prefix or Guard Band Insertion </vt:lpstr>
      <vt:lpstr>PowerPoint Presentation</vt:lpstr>
      <vt:lpstr>Cyclic Prefix or Guard Band Insertion </vt:lpstr>
      <vt:lpstr>Why Cyclic Prefix ?</vt:lpstr>
      <vt:lpstr>Receiver Model</vt:lpstr>
      <vt:lpstr>Receiver Model</vt:lpstr>
      <vt:lpstr>Receiver Model</vt:lpstr>
      <vt:lpstr>Receiver Model</vt:lpstr>
      <vt:lpstr>OFDM Receiver Model   (Detail Mathematical Explanation of Each Block)</vt:lpstr>
      <vt:lpstr>Receiver Model (Detail Mathematical Explanation of Each Block)</vt:lpstr>
      <vt:lpstr>Receiver Model (Detail Mathematical Explanation of Each Block)</vt:lpstr>
      <vt:lpstr>PowerPoint Presentation</vt:lpstr>
      <vt:lpstr>PowerPoint Presentation</vt:lpstr>
      <vt:lpstr>Key Parameters of Different Standards based on OFDM</vt:lpstr>
    </vt:vector>
  </TitlesOfParts>
  <Company>jiet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Area of Research</dc:title>
  <dc:creator>hemdutt.joshi</dc:creator>
  <cp:lastModifiedBy>ti</cp:lastModifiedBy>
  <cp:revision>303</cp:revision>
  <dcterms:created xsi:type="dcterms:W3CDTF">2007-08-08T07:13:51Z</dcterms:created>
  <dcterms:modified xsi:type="dcterms:W3CDTF">2025-09-02T11:24:16Z</dcterms:modified>
</cp:coreProperties>
</file>
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2B9FD-7A3A-4F52-94B3-37DC4BFA9E43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8CF80-47A0-423D-A8AB-1A780FD25B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4A270-2F49-4B1E-A45D-1461A0F316F0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F7AE3-DD49-49C3-82BC-A14D7E0C3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smtClean="0">
                <a:solidFill>
                  <a:srgbClr val="C00000"/>
                </a:solidFill>
              </a:rPr>
              <a:t>MODULE -V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600200" y="3352800"/>
            <a:ext cx="6400800" cy="1600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Radio Propagation: Small-Scale Fading and Multipath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6764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Introduction to fading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 smtClean="0">
                <a:solidFill>
                  <a:schemeClr val="bg1"/>
                </a:solidFill>
              </a:rPr>
              <a:t>MRC Impulse Response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2400" y="838200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b="1" dirty="0" smtClean="0"/>
              <a:t> Mobile radio channel (MRC) may be </a:t>
            </a:r>
            <a:r>
              <a:rPr lang="en-US" altLang="zh-TW" sz="2400" b="1" dirty="0" err="1" smtClean="0"/>
              <a:t>modelled</a:t>
            </a:r>
            <a:r>
              <a:rPr lang="en-US" altLang="zh-TW" sz="2400" b="1" dirty="0" smtClean="0"/>
              <a:t> as </a:t>
            </a:r>
            <a:r>
              <a:rPr lang="en-US" altLang="zh-TW" sz="2400" b="1" dirty="0" smtClean="0"/>
              <a:t>a linear filter with a time varying </a:t>
            </a:r>
            <a:r>
              <a:rPr lang="en-US" altLang="zh-TW" sz="2400" b="1" dirty="0" smtClean="0"/>
              <a:t>impulse response  </a:t>
            </a:r>
            <a:endParaRPr lang="en-US" altLang="zh-TW" sz="2400" b="1" dirty="0" smtClean="0"/>
          </a:p>
          <a:p>
            <a:pPr marL="4572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b="1" dirty="0" smtClean="0"/>
              <a:t>Vector summation of random amplitudes &amp; phases of multipath signals results in a "filter" </a:t>
            </a:r>
          </a:p>
          <a:p>
            <a:pPr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b="1" dirty="0" smtClean="0"/>
              <a:t>That is to say, the MRC takes an original signal and in the process of sending the signal produces a modified signal at the receiver. </a:t>
            </a:r>
          </a:p>
          <a:p>
            <a:pPr marL="4572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838200"/>
            <a:ext cx="8077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Time variation due to mobile motion → time delay of multipath signals varies with location of Rx </a:t>
            </a:r>
          </a:p>
          <a:p>
            <a:pPr marL="1028700" lvl="2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Can be thought as a "location varying" filter.</a:t>
            </a:r>
          </a:p>
          <a:p>
            <a:pPr marL="1028700" lvl="2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As mobile moves with time, the location changes with time; hence, time-varying characteristics. </a:t>
            </a:r>
          </a:p>
          <a:p>
            <a:pPr marL="571500" indent="-5715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The MRC has a fundamental bandwidth </a:t>
            </a:r>
          </a:p>
          <a:p>
            <a:pPr marL="571500" indent="-571500" algn="just">
              <a:lnSpc>
                <a:spcPct val="150000"/>
              </a:lnSpc>
            </a:pPr>
            <a:r>
              <a:rPr lang="en-US" altLang="zh-TW" sz="2400" dirty="0"/>
              <a:t>	</a:t>
            </a:r>
            <a:r>
              <a:rPr lang="en-US" altLang="zh-TW" sz="2400" dirty="0" smtClean="0"/>
              <a:t>	limitation → model as a band pass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 smtClean="0">
                <a:solidFill>
                  <a:schemeClr val="bg1"/>
                </a:solidFill>
              </a:rPr>
              <a:t>MRC Impulse Response Model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762000"/>
            <a:ext cx="838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Linear filter theory </a:t>
            </a:r>
            <a:r>
              <a:rPr lang="en-US" altLang="zh-TW" sz="2400" i="1" dirty="0" smtClean="0"/>
              <a:t>y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= x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⊗ </a:t>
            </a:r>
            <a:r>
              <a:rPr lang="en-US" altLang="zh-TW" sz="2400" i="1" dirty="0" smtClean="0"/>
              <a:t>h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or 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TW" sz="2400" i="1" dirty="0"/>
              <a:t>	</a:t>
            </a:r>
            <a:r>
              <a:rPr lang="en-US" altLang="zh-TW" sz="2400" i="1" dirty="0" smtClean="0"/>
              <a:t>		Y </a:t>
            </a:r>
            <a:r>
              <a:rPr lang="en-US" altLang="zh-TW" sz="2400" dirty="0" smtClean="0"/>
              <a:t>( </a:t>
            </a:r>
            <a:r>
              <a:rPr lang="en-US" altLang="zh-TW" sz="2400" i="1" dirty="0" smtClean="0"/>
              <a:t>f 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= X</a:t>
            </a:r>
            <a:r>
              <a:rPr lang="en-US" altLang="zh-TW" sz="2400" dirty="0" smtClean="0"/>
              <a:t>( </a:t>
            </a:r>
            <a:r>
              <a:rPr lang="en-US" altLang="zh-TW" sz="2400" i="1" dirty="0" smtClean="0"/>
              <a:t>f 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⋅</a:t>
            </a:r>
            <a:r>
              <a:rPr lang="en-US" altLang="zh-TW" sz="2400" i="1" dirty="0" smtClean="0"/>
              <a:t>H </a:t>
            </a:r>
            <a:r>
              <a:rPr lang="en-US" altLang="zh-TW" sz="2400" dirty="0" smtClean="0"/>
              <a:t>( </a:t>
            </a:r>
            <a:r>
              <a:rPr lang="en-US" altLang="zh-TW" sz="2400" i="1" dirty="0" smtClean="0"/>
              <a:t>f 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How is an unknown </a:t>
            </a:r>
            <a:r>
              <a:rPr lang="en-US" altLang="zh-TW" sz="2400" i="1" dirty="0" smtClean="0"/>
              <a:t>h(t) </a:t>
            </a:r>
            <a:r>
              <a:rPr lang="en-US" altLang="zh-TW" sz="2400" dirty="0" smtClean="0"/>
              <a:t>determined? 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let </a:t>
            </a:r>
            <a:r>
              <a:rPr lang="en-US" altLang="zh-TW" sz="2400" i="1" dirty="0" smtClean="0"/>
              <a:t>x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= </a:t>
            </a:r>
            <a:r>
              <a:rPr lang="en-US" altLang="zh-TW" sz="2400" dirty="0" smtClean="0"/>
              <a:t>δ(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 </a:t>
            </a:r>
            <a:r>
              <a:rPr lang="en-US" altLang="zh-TW" sz="2400" dirty="0" smtClean="0"/>
              <a:t>→ use a delta or impulse input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i="1" dirty="0" smtClean="0"/>
              <a:t>y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= h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t</a:t>
            </a:r>
            <a:r>
              <a:rPr lang="en-US" altLang="zh-TW" sz="2400" dirty="0" smtClean="0"/>
              <a:t>)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→ impulse response function 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Impulse response for standard filter theory is the same regardless of when it is measured → time invariant!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4876800"/>
            <a:ext cx="40322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5" name="Picture 4" descr="TMP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09800"/>
            <a:ext cx="7015806" cy="376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5" descr="TMP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762000"/>
            <a:ext cx="7080250" cy="168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8600" y="685800"/>
            <a:ext cx="876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How is the impulse response of an MRC determined? 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“channel sounding” → like radar 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transmit short time duration pulse (not exactly an impulse, but with wide BW) and record multipath echoes @ Rx 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352800"/>
            <a:ext cx="7129463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685800"/>
            <a:ext cx="7391400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short duration </a:t>
            </a:r>
            <a:r>
              <a:rPr lang="en-US" altLang="zh-TW" sz="2200" dirty="0" err="1" smtClean="0"/>
              <a:t>Tx</a:t>
            </a:r>
            <a:r>
              <a:rPr lang="en-US" altLang="zh-TW" sz="2200" dirty="0" smtClean="0"/>
              <a:t> pulse ≈ unit impulse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define </a:t>
            </a:r>
            <a:r>
              <a:rPr lang="en-US" altLang="zh-TW" sz="2200" i="1" dirty="0" smtClean="0"/>
              <a:t>excess delay bin </a:t>
            </a:r>
            <a:r>
              <a:rPr lang="en-US" altLang="zh-TW" sz="2200" dirty="0" smtClean="0"/>
              <a:t>as</a:t>
            </a:r>
            <a:endParaRPr lang="en-US" altLang="zh-TW" sz="2200" i="1" dirty="0" smtClean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amplitude and delay time of multipath returns change as mobile moves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Fig. 5.4, pg. 184 → MRC is time </a:t>
            </a:r>
            <a:r>
              <a:rPr lang="en-US" altLang="zh-TW" sz="2200" b="1" dirty="0" smtClean="0"/>
              <a:t>variant</a:t>
            </a:r>
            <a:endParaRPr lang="en-US" altLang="zh-TW" sz="2200" dirty="0" smtClean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4114800" y="1371600"/>
          <a:ext cx="1079500" cy="381000"/>
        </p:xfrm>
        <a:graphic>
          <a:graphicData uri="http://schemas.openxmlformats.org/presentationml/2006/ole">
            <p:oleObj spid="_x0000_s1026" name="Equation" r:id="rId3" imgW="469800" imgH="228600" progId="">
              <p:embed/>
            </p:oleObj>
          </a:graphicData>
        </a:graphic>
      </p:graphicFrame>
      <p:pic>
        <p:nvPicPr>
          <p:cNvPr id="16" name="Picture 4" descr="TMP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3352800"/>
            <a:ext cx="5902325" cy="32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1000" y="762000"/>
            <a:ext cx="8229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 smtClean="0"/>
              <a:t>model multipath returns as a sum of unit impulses </a:t>
            </a:r>
          </a:p>
          <a:p>
            <a:endParaRPr lang="en-US" altLang="zh-TW" sz="2200" dirty="0" smtClean="0"/>
          </a:p>
          <a:p>
            <a:endParaRPr lang="en-US" altLang="zh-TW" sz="2200" dirty="0" smtClean="0"/>
          </a:p>
          <a:p>
            <a:endParaRPr lang="en-US" altLang="zh-TW" sz="2200" dirty="0"/>
          </a:p>
          <a:p>
            <a:endParaRPr lang="en-US" altLang="zh-TW" sz="2200" dirty="0" smtClean="0"/>
          </a:p>
          <a:p>
            <a:endParaRPr lang="en-US" altLang="zh-TW" sz="2200" dirty="0" smtClean="0"/>
          </a:p>
          <a:p>
            <a:pPr marL="1200150" lvl="1" indent="-285750">
              <a:buFont typeface="Arial" pitchFamily="34" charset="0"/>
              <a:buChar char="•"/>
            </a:pPr>
            <a:r>
              <a:rPr lang="en-US" altLang="zh-TW" sz="2200" i="1" dirty="0" err="1" smtClean="0"/>
              <a:t>a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∠ θ</a:t>
            </a:r>
            <a:r>
              <a:rPr lang="en-US" altLang="zh-TW" sz="2200" baseline="-25000" dirty="0" smtClean="0"/>
              <a:t> 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= amplitude &amp; phase of each multipath signal </a:t>
            </a:r>
          </a:p>
          <a:p>
            <a:pPr marL="1200150" lvl="1" indent="-285750">
              <a:buFont typeface="Arial" pitchFamily="34" charset="0"/>
              <a:buChar char="•"/>
            </a:pPr>
            <a:r>
              <a:rPr lang="en-US" altLang="zh-TW" sz="2200" i="1" dirty="0" smtClean="0"/>
              <a:t>N </a:t>
            </a:r>
            <a:r>
              <a:rPr lang="en-US" altLang="zh-TW" sz="2200" dirty="0" smtClean="0"/>
              <a:t>= # of multipath components </a:t>
            </a:r>
          </a:p>
          <a:p>
            <a:pPr marL="1200150" lvl="1" indent="-285750">
              <a:buFont typeface="Arial" pitchFamily="34" charset="0"/>
              <a:buChar char="•"/>
            </a:pPr>
            <a:r>
              <a:rPr lang="en-US" altLang="zh-TW" sz="2200" i="1" dirty="0" err="1" smtClean="0"/>
              <a:t>a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is relatively constant over an local area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altLang="zh-TW" sz="2200" dirty="0" smtClean="0"/>
              <a:t>But θ </a:t>
            </a:r>
            <a:r>
              <a:rPr lang="en-US" altLang="zh-TW" sz="2200" i="1" baseline="-25000" dirty="0" err="1" smtClean="0"/>
              <a:t>i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will change significantly because of different path lengths (direct distance plus reflected distance) at different locations. 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056437" cy="105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38400" y="0"/>
            <a:ext cx="5252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3200" dirty="0">
                <a:solidFill>
                  <a:prstClr val="white"/>
                </a:solidFill>
              </a:rPr>
              <a:t>MRC Impulse Response Model</a:t>
            </a:r>
            <a:endParaRPr lang="en-US" sz="3200" b="1" dirty="0">
              <a:solidFill>
                <a:prstClr val="white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539750" y="981075"/>
            <a:ext cx="7993063" cy="54006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useful frequency span of the model 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received power delay profile in a local area: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Assume the channel impulse response is time invariant, or WSS</a:t>
            </a: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2700338" y="3644900"/>
          <a:ext cx="2520950" cy="693738"/>
        </p:xfrm>
        <a:graphic>
          <a:graphicData uri="http://schemas.openxmlformats.org/presentationml/2006/ole">
            <p:oleObj spid="_x0000_s2050" name="Equation" r:id="rId3" imgW="1104840" imgH="304560" progId="">
              <p:embed/>
            </p:oleObj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3059113" y="1700213"/>
          <a:ext cx="1296987" cy="587375"/>
        </p:xfrm>
        <a:graphic>
          <a:graphicData uri="http://schemas.openxmlformats.org/presentationml/2006/ole">
            <p:oleObj spid="_x0000_s2051" name="Equation" r:id="rId4" imgW="393480" imgH="1774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21817&quot;&gt;&lt;/object&gt;&lt;object type=&quot;2&quot; unique_id=&quot;21818&quot;&gt;&lt;object type=&quot;3&quot; unique_id=&quot;21819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21820&quot;&gt;&lt;property id=&quot;20148&quot; value=&quot;5&quot;/&gt;&lt;property id=&quot;20300&quot; value=&quot;Slide 2&quot;/&gt;&lt;property id=&quot;20307&quot; value=&quot;258&quot;/&gt;&lt;/object&gt;&lt;object type=&quot;3&quot; unique_id=&quot;21821&quot;&gt;&lt;property id=&quot;20148&quot; value=&quot;5&quot;/&gt;&lt;property id=&quot;20300&quot; value=&quot;Slide 3&quot;/&gt;&lt;property id=&quot;20307&quot; value=&quot;259&quot;/&gt;&lt;/object&gt;&lt;object type=&quot;3&quot; unique_id=&quot;21822&quot;&gt;&lt;property id=&quot;20148&quot; value=&quot;5&quot;/&gt;&lt;property id=&quot;20300&quot; value=&quot;Slide 4&quot;/&gt;&lt;property id=&quot;20307&quot; value=&quot;260&quot;/&gt;&lt;/object&gt;&lt;object type=&quot;3&quot; unique_id=&quot;21823&quot;&gt;&lt;property id=&quot;20148&quot; value=&quot;5&quot;/&gt;&lt;property id=&quot;20300&quot; value=&quot;Slide 5&quot;/&gt;&lt;property id=&quot;20307&quot; value=&quot;261&quot;/&gt;&lt;/object&gt;&lt;object type=&quot;3&quot; unique_id=&quot;21824&quot;&gt;&lt;property id=&quot;20148&quot; value=&quot;5&quot;/&gt;&lt;property id=&quot;20300&quot; value=&quot;Slide 6&quot;/&gt;&lt;property id=&quot;20307&quot; value=&quot;262&quot;/&gt;&lt;/object&gt;&lt;object type=&quot;3&quot; unique_id=&quot;21825&quot;&gt;&lt;property id=&quot;20148&quot; value=&quot;5&quot;/&gt;&lt;property id=&quot;20300&quot; value=&quot;Slide 7&quot;/&gt;&lt;property id=&quot;20307&quot; value=&quot;263&quot;/&gt;&lt;/object&gt;&lt;object type=&quot;3&quot; unique_id=&quot;21826&quot;&gt;&lt;property id=&quot;20148&quot; value=&quot;5&quot;/&gt;&lt;property id=&quot;20300&quot; value=&quot;Slide 8&quot;/&gt;&lt;property id=&quot;20307&quot; value=&quot;264&quot;/&gt;&lt;/object&gt;&lt;object type=&quot;3&quot; unique_id=&quot;21827&quot;&gt;&lt;property id=&quot;20148&quot; value=&quot;5&quot;/&gt;&lt;property id=&quot;20300&quot; value=&quot;Slide 9&quot;/&gt;&lt;property id=&quot;20307&quot; value=&quot;265&quot;/&gt;&lt;/object&gt;&lt;object type=&quot;3&quot; unique_id=&quot;21828&quot;&gt;&lt;property id=&quot;20148&quot; value=&quot;5&quot;/&gt;&lt;property id=&quot;20300&quot; value=&quot;Slide 10&quot;/&gt;&lt;property id=&quot;20307&quot; value=&quot;266&quot;/&gt;&lt;/object&gt;&lt;object type=&quot;3&quot; unique_id=&quot;21829&quot;&gt;&lt;property id=&quot;20148&quot; value=&quot;5&quot;/&gt;&lt;property id=&quot;20300&quot; value=&quot;Slide 11&quot;/&gt;&lt;property id=&quot;20307&quot; value=&quot;267&quot;/&gt;&lt;/object&gt;&lt;object type=&quot;3&quot; unique_id=&quot;22214&quot;&gt;&lt;property id=&quot;20148&quot; value=&quot;5&quot;/&gt;&lt;property id=&quot;20300&quot; value=&quot;Slide 12&quot;/&gt;&lt;property id=&quot;20307&quot; value=&quot;26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383</Words>
  <Application>Microsoft Office PowerPoint</Application>
  <PresentationFormat>On-screen Show (4:3)</PresentationFormat>
  <Paragraphs>70</Paragraphs>
  <Slides>12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Equation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 </dc:title>
  <dc:creator>Surbhi Sharma</dc:creator>
  <cp:lastModifiedBy>Surbhi Sharma</cp:lastModifiedBy>
  <cp:revision>7</cp:revision>
  <dcterms:created xsi:type="dcterms:W3CDTF">2020-09-23T16:58:32Z</dcterms:created>
  <dcterms:modified xsi:type="dcterms:W3CDTF">2020-09-24T10:28:55Z</dcterms:modified>
</cp:coreProperties>
</file>
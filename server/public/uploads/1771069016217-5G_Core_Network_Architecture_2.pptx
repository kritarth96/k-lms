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475" r:id="rId2"/>
    <p:sldId id="476" r:id="rId3"/>
    <p:sldId id="485" r:id="rId4"/>
    <p:sldId id="493" r:id="rId5"/>
    <p:sldId id="494" r:id="rId6"/>
    <p:sldId id="495" r:id="rId7"/>
    <p:sldId id="496" r:id="rId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D3B2"/>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6" d="100"/>
          <a:sy n="46" d="100"/>
        </p:scale>
        <p:origin x="874"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5ECA2C06-48EA-444B-B9BC-9DB7AAF658DE}" type="slidenum">
              <a:rPr lang="en-US" altLang="en-US"/>
              <a:pPr/>
              <a:t>‹#›</a:t>
            </a:fld>
            <a:endParaRPr lang="en-US" altLang="en-US"/>
          </a:p>
        </p:txBody>
      </p:sp>
    </p:spTree>
    <p:extLst>
      <p:ext uri="{BB962C8B-B14F-4D97-AF65-F5344CB8AC3E}">
        <p14:creationId xmlns:p14="http://schemas.microsoft.com/office/powerpoint/2010/main" val="3811059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6C1B88AE-A3C3-4D8D-9F8A-519F4C44DA0F}"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9E616A62-86D7-437F-94CD-618077AE3B6F}" type="slidenum">
              <a:rPr lang="en-US" altLang="en-US"/>
              <a:pPr/>
              <a:t>‹#›</a:t>
            </a:fld>
            <a:endParaRPr lang="en-US" altLang="en-US"/>
          </a:p>
        </p:txBody>
      </p:sp>
    </p:spTree>
    <p:extLst>
      <p:ext uri="{BB962C8B-B14F-4D97-AF65-F5344CB8AC3E}">
        <p14:creationId xmlns:p14="http://schemas.microsoft.com/office/powerpoint/2010/main" val="3739194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1930E37C-F364-4050-AAD7-C22EEAF077E7}"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B7FCB056-FB42-45E8-8E76-4D14E449FAF4}" type="slidenum">
              <a:rPr lang="en-US" altLang="en-US"/>
              <a:pPr/>
              <a:t>‹#›</a:t>
            </a:fld>
            <a:endParaRPr lang="en-US" altLang="en-US"/>
          </a:p>
        </p:txBody>
      </p:sp>
    </p:spTree>
    <p:extLst>
      <p:ext uri="{BB962C8B-B14F-4D97-AF65-F5344CB8AC3E}">
        <p14:creationId xmlns:p14="http://schemas.microsoft.com/office/powerpoint/2010/main" val="2115650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2230CFC-E9C9-483B-8829-AE6C01B14053}"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79DB0094-847B-40FE-8075-AE7E1A86F6A1}" type="slidenum">
              <a:rPr lang="en-US" altLang="en-US"/>
              <a:pPr/>
              <a:t>‹#›</a:t>
            </a:fld>
            <a:endParaRPr lang="en-US" altLang="en-US"/>
          </a:p>
        </p:txBody>
      </p:sp>
    </p:spTree>
    <p:extLst>
      <p:ext uri="{BB962C8B-B14F-4D97-AF65-F5344CB8AC3E}">
        <p14:creationId xmlns:p14="http://schemas.microsoft.com/office/powerpoint/2010/main" val="2984733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19A3F39A-5137-4B5F-ADB4-573C3237F1D6}" type="datetime1">
              <a:rPr lang="en-US"/>
              <a:pPr>
                <a:defRPr/>
              </a:pPr>
              <a:t>12/4/2024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8FF267B8-7F74-423C-B4D2-FEA9FCA2EF1C}" type="slidenum">
              <a:rPr lang="en-US" altLang="en-US"/>
              <a:pPr/>
              <a:t>‹#›</a:t>
            </a:fld>
            <a:endParaRPr lang="en-US" altLang="en-US"/>
          </a:p>
        </p:txBody>
      </p:sp>
    </p:spTree>
    <p:extLst>
      <p:ext uri="{BB962C8B-B14F-4D97-AF65-F5344CB8AC3E}">
        <p14:creationId xmlns:p14="http://schemas.microsoft.com/office/powerpoint/2010/main" val="77274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F99D9F2D-822C-444A-B2D8-1DA876E06AF1}" type="datetime1">
              <a:rPr lang="en-US"/>
              <a:pPr>
                <a:defRPr/>
              </a:pPr>
              <a:t>12/4/2024</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9" name="Rectangle 6"/>
          <p:cNvSpPr>
            <a:spLocks noGrp="1" noChangeArrowheads="1"/>
          </p:cNvSpPr>
          <p:nvPr>
            <p:ph type="sldNum" sz="quarter" idx="12"/>
          </p:nvPr>
        </p:nvSpPr>
        <p:spPr>
          <a:ln/>
        </p:spPr>
        <p:txBody>
          <a:bodyPr/>
          <a:lstStyle>
            <a:lvl1pPr>
              <a:defRPr/>
            </a:lvl1pPr>
          </a:lstStyle>
          <a:p>
            <a:fld id="{EAC0B7D7-301D-431B-9398-1CAA57139677}" type="slidenum">
              <a:rPr lang="en-US" altLang="en-US"/>
              <a:pPr/>
              <a:t>‹#›</a:t>
            </a:fld>
            <a:endParaRPr lang="en-US" altLang="en-US"/>
          </a:p>
        </p:txBody>
      </p:sp>
    </p:spTree>
    <p:extLst>
      <p:ext uri="{BB962C8B-B14F-4D97-AF65-F5344CB8AC3E}">
        <p14:creationId xmlns:p14="http://schemas.microsoft.com/office/powerpoint/2010/main" val="327766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4A47F092-CB28-406F-8F4D-A9CB9C6DDF6E}" type="datetime1">
              <a:rPr lang="en-US"/>
              <a:pPr>
                <a:defRPr/>
              </a:pPr>
              <a:t>12/4/2024</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5" name="Rectangle 6"/>
          <p:cNvSpPr>
            <a:spLocks noGrp="1" noChangeArrowheads="1"/>
          </p:cNvSpPr>
          <p:nvPr>
            <p:ph type="sldNum" sz="quarter" idx="12"/>
          </p:nvPr>
        </p:nvSpPr>
        <p:spPr>
          <a:ln/>
        </p:spPr>
        <p:txBody>
          <a:bodyPr/>
          <a:lstStyle>
            <a:lvl1pPr>
              <a:defRPr/>
            </a:lvl1pPr>
          </a:lstStyle>
          <a:p>
            <a:fld id="{1B99854B-65BC-43BE-A440-239932B51D95}" type="slidenum">
              <a:rPr lang="en-US" altLang="en-US"/>
              <a:pPr/>
              <a:t>‹#›</a:t>
            </a:fld>
            <a:endParaRPr lang="en-US" altLang="en-US"/>
          </a:p>
        </p:txBody>
      </p:sp>
    </p:spTree>
    <p:extLst>
      <p:ext uri="{BB962C8B-B14F-4D97-AF65-F5344CB8AC3E}">
        <p14:creationId xmlns:p14="http://schemas.microsoft.com/office/powerpoint/2010/main" val="1237025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9007E84-0DE2-4EBA-A409-4F43CD132524}" type="datetime1">
              <a:rPr lang="en-US"/>
              <a:pPr>
                <a:defRPr/>
              </a:pPr>
              <a:t>12/4/2024</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4" name="Rectangle 6"/>
          <p:cNvSpPr>
            <a:spLocks noGrp="1" noChangeArrowheads="1"/>
          </p:cNvSpPr>
          <p:nvPr>
            <p:ph type="sldNum" sz="quarter" idx="12"/>
          </p:nvPr>
        </p:nvSpPr>
        <p:spPr>
          <a:ln/>
        </p:spPr>
        <p:txBody>
          <a:bodyPr/>
          <a:lstStyle>
            <a:lvl1pPr>
              <a:defRPr/>
            </a:lvl1pPr>
          </a:lstStyle>
          <a:p>
            <a:fld id="{F31F4165-8E61-41BD-BC99-D27EFE7336C0}" type="slidenum">
              <a:rPr lang="en-US" altLang="en-US"/>
              <a:pPr/>
              <a:t>‹#›</a:t>
            </a:fld>
            <a:endParaRPr lang="en-US" altLang="en-US"/>
          </a:p>
        </p:txBody>
      </p:sp>
    </p:spTree>
    <p:extLst>
      <p:ext uri="{BB962C8B-B14F-4D97-AF65-F5344CB8AC3E}">
        <p14:creationId xmlns:p14="http://schemas.microsoft.com/office/powerpoint/2010/main" val="2001470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4766733" y="273055"/>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C8E5DB6-A284-4473-8D52-2F93B221A663}" type="datetime1">
              <a:rPr lang="en-US"/>
              <a:pPr>
                <a:defRPr/>
              </a:pPr>
              <a:t>12/4/2024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465AC913-5F39-4B24-BFD0-B77263A5C7A7}" type="slidenum">
              <a:rPr lang="en-US" altLang="en-US"/>
              <a:pPr/>
              <a:t>‹#›</a:t>
            </a:fld>
            <a:endParaRPr lang="en-US" altLang="en-US"/>
          </a:p>
        </p:txBody>
      </p:sp>
    </p:spTree>
    <p:extLst>
      <p:ext uri="{BB962C8B-B14F-4D97-AF65-F5344CB8AC3E}">
        <p14:creationId xmlns:p14="http://schemas.microsoft.com/office/powerpoint/2010/main" val="1173289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922AB68A-FDA8-4C6A-8D84-B7BB18575DE0}" type="datetime1">
              <a:rPr lang="en-US"/>
              <a:pPr>
                <a:defRPr/>
              </a:pPr>
              <a:t>12/4/2024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9E063986-ACC6-45AD-BDD0-5F965E3788AA}" type="slidenum">
              <a:rPr lang="en-US" altLang="en-US"/>
              <a:pPr/>
              <a:t>‹#›</a:t>
            </a:fld>
            <a:endParaRPr lang="en-US" altLang="en-US"/>
          </a:p>
        </p:txBody>
      </p:sp>
    </p:spTree>
    <p:extLst>
      <p:ext uri="{BB962C8B-B14F-4D97-AF65-F5344CB8AC3E}">
        <p14:creationId xmlns:p14="http://schemas.microsoft.com/office/powerpoint/2010/main" val="249145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2AD4280E-22ED-4EE1-B707-2A227E6C5DF4}"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4C7C7317-8101-4973-AC7E-BD1AD42ECD8E}" type="slidenum">
              <a:rPr lang="en-US" altLang="en-US"/>
              <a:pPr/>
              <a:t>‹#›</a:t>
            </a:fld>
            <a:endParaRPr lang="en-US" altLang="en-US"/>
          </a:p>
        </p:txBody>
      </p:sp>
    </p:spTree>
    <p:extLst>
      <p:ext uri="{BB962C8B-B14F-4D97-AF65-F5344CB8AC3E}">
        <p14:creationId xmlns:p14="http://schemas.microsoft.com/office/powerpoint/2010/main" val="2329808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DE5ACD89-3346-458A-A6CB-1C441E96DBEA}"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E98E295A-1F21-45D2-9B8C-DF51B8F8C321}" type="slidenum">
              <a:rPr lang="en-US" altLang="en-US"/>
              <a:pPr/>
              <a:t>‹#›</a:t>
            </a:fld>
            <a:endParaRPr lang="en-US" altLang="en-US"/>
          </a:p>
        </p:txBody>
      </p:sp>
    </p:spTree>
    <p:extLst>
      <p:ext uri="{BB962C8B-B14F-4D97-AF65-F5344CB8AC3E}">
        <p14:creationId xmlns:p14="http://schemas.microsoft.com/office/powerpoint/2010/main" val="2714674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09600" y="1600205"/>
            <a:ext cx="109728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fld id="{6B3C3EC6-FBA6-45B6-B3D5-58AC3D9E5AB4}" type="datetime1">
              <a:rPr lang="en-US"/>
              <a:pPr>
                <a:defRPr/>
              </a:pPr>
              <a:t>12/4/2024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4F6CEE9F-ABAF-4D64-B423-0B2F034D9054}" type="slidenum">
              <a:rPr lang="en-US" altLang="en-US"/>
              <a:pPr/>
              <a:t>‹#›</a:t>
            </a:fld>
            <a:endParaRPr lang="en-US" altLang="en-US"/>
          </a:p>
        </p:txBody>
      </p:sp>
    </p:spTree>
    <p:extLst>
      <p:ext uri="{BB962C8B-B14F-4D97-AF65-F5344CB8AC3E}">
        <p14:creationId xmlns:p14="http://schemas.microsoft.com/office/powerpoint/2010/main" val="2994735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50">
                <a:latin typeface="Arial" charset="0"/>
              </a:defRPr>
            </a:lvl1pPr>
          </a:lstStyle>
          <a:p>
            <a:pPr>
              <a:defRPr/>
            </a:pPr>
            <a:fld id="{97959B4A-5782-4BCA-8A5F-9502DE7283C4}" type="datetime1">
              <a:rPr lang="en-US"/>
              <a:pPr>
                <a:defRPr/>
              </a:pPr>
              <a:t>12/4/2024</a:t>
            </a:fld>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r>
              <a:rPr lang="en-US"/>
              <a:t>Paper No – 50; Session No - 41</a:t>
            </a: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6855D25F-EAF1-44F4-B045-AF33E30AA7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181350" y="1085851"/>
            <a:ext cx="5829300" cy="1103313"/>
          </a:xfrm>
        </p:spPr>
        <p:txBody>
          <a:bodyPr/>
          <a:lstStyle/>
          <a:p>
            <a:r>
              <a:rPr lang="en-US" altLang="en-US" sz="2700" b="1" dirty="0">
                <a:solidFill>
                  <a:srgbClr val="00B0F0"/>
                </a:solidFill>
              </a:rPr>
              <a:t>5G WIRELESS COMMUNICATION </a:t>
            </a:r>
            <a:br>
              <a:rPr lang="en-US" altLang="en-US" sz="2700" b="1" dirty="0">
                <a:solidFill>
                  <a:srgbClr val="00B0F0"/>
                </a:solidFill>
              </a:rPr>
            </a:br>
            <a:r>
              <a:rPr lang="en-US" altLang="en-US" sz="2700" b="1" dirty="0">
                <a:solidFill>
                  <a:srgbClr val="00B0F0"/>
                </a:solidFill>
              </a:rPr>
              <a:t>(UEC 719) </a:t>
            </a:r>
          </a:p>
        </p:txBody>
      </p:sp>
      <p:sp>
        <p:nvSpPr>
          <p:cNvPr id="2051" name="Slide Number Placeholder 14"/>
          <p:cNvSpPr>
            <a:spLocks noGrp="1"/>
          </p:cNvSpPr>
          <p:nvPr>
            <p:ph type="sldNum" sz="quarter" idx="12"/>
          </p:nvPr>
        </p:nvSpPr>
        <p:spPr>
          <a:xfrm>
            <a:off x="7581900" y="5624514"/>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84DA2316-809F-4484-8675-B1A5134D60BD}" type="slidenum">
              <a:rPr lang="en-US" altLang="en-US" sz="1000"/>
              <a:pPr>
                <a:spcBef>
                  <a:spcPct val="0"/>
                </a:spcBef>
                <a:buFontTx/>
                <a:buNone/>
              </a:pPr>
              <a:t>1</a:t>
            </a:fld>
            <a:endParaRPr lang="en-US" altLang="en-US" sz="1000"/>
          </a:p>
        </p:txBody>
      </p:sp>
      <p:sp>
        <p:nvSpPr>
          <p:cNvPr id="3" name="TextBox 2"/>
          <p:cNvSpPr txBox="1"/>
          <p:nvPr/>
        </p:nvSpPr>
        <p:spPr>
          <a:xfrm>
            <a:off x="4344989" y="2935288"/>
            <a:ext cx="3348037" cy="1846262"/>
          </a:xfrm>
          <a:prstGeom prst="rect">
            <a:avLst/>
          </a:prstGeom>
          <a:noFill/>
        </p:spPr>
        <p:txBody>
          <a:bodyPr wrap="none">
            <a:spAutoFit/>
          </a:bodyPr>
          <a:lstStyle/>
          <a:p>
            <a:pPr algn="ctr" eaLnBrk="1" hangingPunct="1">
              <a:defRPr/>
            </a:pPr>
            <a:r>
              <a:rPr lang="en-US" sz="3000" dirty="0">
                <a:solidFill>
                  <a:srgbClr val="FF0000"/>
                </a:solidFill>
                <a:latin typeface="+mj-lt"/>
                <a:ea typeface="+mj-ea"/>
                <a:cs typeface="+mj-cs"/>
              </a:rPr>
              <a:t>Course Instructor  </a:t>
            </a:r>
          </a:p>
          <a:p>
            <a:pPr algn="ctr" eaLnBrk="1" hangingPunct="1">
              <a:defRPr/>
            </a:pPr>
            <a:r>
              <a:rPr lang="en-US" sz="2100" dirty="0">
                <a:latin typeface="+mj-lt"/>
                <a:ea typeface="+mj-ea"/>
                <a:cs typeface="+mj-cs"/>
              </a:rPr>
              <a:t>Dr. Hem </a:t>
            </a:r>
            <a:r>
              <a:rPr lang="en-US" sz="2100" dirty="0" err="1">
                <a:latin typeface="+mj-lt"/>
                <a:ea typeface="+mj-ea"/>
                <a:cs typeface="+mj-cs"/>
              </a:rPr>
              <a:t>Dutt</a:t>
            </a:r>
            <a:r>
              <a:rPr lang="en-US" sz="2100" dirty="0">
                <a:latin typeface="+mj-lt"/>
                <a:ea typeface="+mj-ea"/>
                <a:cs typeface="+mj-cs"/>
              </a:rPr>
              <a:t> Joshi</a:t>
            </a:r>
          </a:p>
          <a:p>
            <a:pPr algn="ctr" eaLnBrk="1" hangingPunct="1">
              <a:defRPr/>
            </a:pPr>
            <a:r>
              <a:rPr lang="en-US" sz="2100" dirty="0">
                <a:latin typeface="+mj-lt"/>
                <a:ea typeface="+mj-ea"/>
                <a:cs typeface="+mj-cs"/>
              </a:rPr>
              <a:t>Dr. </a:t>
            </a:r>
            <a:r>
              <a:rPr lang="en-US" sz="2100" dirty="0" err="1">
                <a:latin typeface="+mj-lt"/>
                <a:ea typeface="+mj-ea"/>
                <a:cs typeface="+mj-cs"/>
              </a:rPr>
              <a:t>Surbhi</a:t>
            </a:r>
            <a:r>
              <a:rPr lang="en-US" sz="2100" dirty="0">
                <a:latin typeface="+mj-lt"/>
                <a:ea typeface="+mj-ea"/>
                <a:cs typeface="+mj-cs"/>
              </a:rPr>
              <a:t> Sharma</a:t>
            </a:r>
          </a:p>
          <a:p>
            <a:pPr algn="ctr" eaLnBrk="1" hangingPunct="1">
              <a:defRPr/>
            </a:pPr>
            <a:r>
              <a:rPr lang="en-US" sz="2100" dirty="0">
                <a:latin typeface="+mj-lt"/>
                <a:ea typeface="+mj-ea"/>
                <a:cs typeface="+mj-cs"/>
              </a:rPr>
              <a:t>Associate Professor, </a:t>
            </a:r>
          </a:p>
          <a:p>
            <a:pPr algn="ctr" eaLnBrk="1" hangingPunct="1">
              <a:defRPr/>
            </a:pPr>
            <a:r>
              <a:rPr lang="en-US" sz="2100" dirty="0">
                <a:latin typeface="+mj-lt"/>
                <a:ea typeface="+mj-ea"/>
                <a:cs typeface="+mj-cs"/>
              </a:rPr>
              <a:t>TIET, Patiala</a:t>
            </a:r>
            <a:endParaRPr lang="en-IN" sz="2100" dirty="0">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381895" y="1752601"/>
            <a:ext cx="5029200" cy="1749425"/>
          </a:xfrm>
        </p:spPr>
        <p:txBody>
          <a:bodyPr>
            <a:normAutofit fontScale="47500" lnSpcReduction="20000"/>
          </a:bodyPr>
          <a:lstStyle/>
          <a:p>
            <a:pPr algn="ctr">
              <a:buFontTx/>
              <a:buNone/>
              <a:defRPr/>
            </a:pPr>
            <a:r>
              <a:rPr lang="en-US" sz="6000" dirty="0">
                <a:solidFill>
                  <a:srgbClr val="00B0F0"/>
                </a:solidFill>
              </a:rPr>
              <a:t>Lecture</a:t>
            </a:r>
          </a:p>
          <a:p>
            <a:pPr algn="ctr">
              <a:buFontTx/>
              <a:buNone/>
              <a:defRPr/>
            </a:pPr>
            <a:endParaRPr lang="en-US" sz="4950" dirty="0">
              <a:solidFill>
                <a:srgbClr val="C00000"/>
              </a:solidFill>
            </a:endParaRPr>
          </a:p>
          <a:p>
            <a:pPr algn="ctr">
              <a:buFontTx/>
              <a:buNone/>
              <a:defRPr/>
            </a:pPr>
            <a:r>
              <a:rPr lang="en-US" sz="5700" dirty="0">
                <a:solidFill>
                  <a:srgbClr val="C00000"/>
                </a:solidFill>
              </a:rPr>
              <a:t>5G </a:t>
            </a:r>
            <a:r>
              <a:rPr lang="en-US" sz="5700" dirty="0" smtClean="0">
                <a:solidFill>
                  <a:srgbClr val="C00000"/>
                </a:solidFill>
              </a:rPr>
              <a:t>Core Network Architecture</a:t>
            </a:r>
            <a:endParaRPr lang="en-US" sz="1725" dirty="0">
              <a:solidFill>
                <a:srgbClr val="C00000"/>
              </a:solidFill>
            </a:endParaRPr>
          </a:p>
        </p:txBody>
      </p:sp>
      <p:sp>
        <p:nvSpPr>
          <p:cNvPr id="3075" name="Slide Number Placeholder 14"/>
          <p:cNvSpPr>
            <a:spLocks noGrp="1"/>
          </p:cNvSpPr>
          <p:nvPr>
            <p:ph type="sldNum" sz="quarter" idx="12"/>
          </p:nvPr>
        </p:nvSpPr>
        <p:spPr>
          <a:xfrm>
            <a:off x="7581900" y="5624514"/>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28270C2B-F570-482D-B7D8-379B0AD8AD3A}" type="slidenum">
              <a:rPr lang="en-US" altLang="en-US" sz="1000"/>
              <a:pPr>
                <a:spcBef>
                  <a:spcPct val="0"/>
                </a:spcBef>
                <a:buFontTx/>
                <a:buNone/>
              </a:pPr>
              <a:t>2</a:t>
            </a:fld>
            <a:endParaRPr lang="en-US" altLang="en-US" sz="1000"/>
          </a:p>
        </p:txBody>
      </p:sp>
      <p:sp>
        <p:nvSpPr>
          <p:cNvPr id="4" name="Rectangle 3"/>
          <p:cNvSpPr/>
          <p:nvPr/>
        </p:nvSpPr>
        <p:spPr>
          <a:xfrm>
            <a:off x="3239555" y="3733801"/>
            <a:ext cx="5313891" cy="492443"/>
          </a:xfrm>
          <a:prstGeom prst="rect">
            <a:avLst/>
          </a:prstGeom>
        </p:spPr>
        <p:txBody>
          <a:bodyPr wrap="none">
            <a:spAutoFit/>
          </a:bodyPr>
          <a:lstStyle/>
          <a:p>
            <a:pPr algn="ctr">
              <a:buFontTx/>
              <a:buNone/>
              <a:defRPr/>
            </a:pPr>
            <a:r>
              <a:rPr lang="en-US" sz="2600" dirty="0">
                <a:solidFill>
                  <a:srgbClr val="C00000"/>
                </a:solidFill>
              </a:rPr>
              <a:t>SERVICE BASED ARCITECTURE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0" y="37407"/>
            <a:ext cx="8017579" cy="461665"/>
          </a:xfrm>
          <a:prstGeom prst="rect">
            <a:avLst/>
          </a:prstGeom>
        </p:spPr>
        <p:txBody>
          <a:bodyPr wrap="none">
            <a:spAutoFit/>
          </a:bodyPr>
          <a:lstStyle/>
          <a:p>
            <a:r>
              <a:rPr lang="en-IN" sz="2400" b="1" dirty="0">
                <a:solidFill>
                  <a:srgbClr val="FF0000"/>
                </a:solidFill>
                <a:latin typeface="Times New Roman" panose="02020603050405020304" pitchFamily="18" charset="0"/>
              </a:rPr>
              <a:t>5G CORE NETWORK </a:t>
            </a:r>
            <a:r>
              <a:rPr lang="en-IN" sz="2400" b="1" dirty="0" smtClean="0">
                <a:solidFill>
                  <a:srgbClr val="FF0000"/>
                </a:solidFill>
                <a:latin typeface="Times New Roman" panose="02020603050405020304" pitchFamily="18" charset="0"/>
              </a:rPr>
              <a:t>ARCHITECTURE (Service Based) </a:t>
            </a:r>
            <a:endParaRPr lang="en-IN" sz="2400" dirty="0">
              <a:solidFill>
                <a:srgbClr val="FF0000"/>
              </a:solidFill>
            </a:endParaRPr>
          </a:p>
        </p:txBody>
      </p:sp>
      <p:sp>
        <p:nvSpPr>
          <p:cNvPr id="4" name="Rectangle 3"/>
          <p:cNvSpPr/>
          <p:nvPr/>
        </p:nvSpPr>
        <p:spPr>
          <a:xfrm>
            <a:off x="228600" y="457200"/>
            <a:ext cx="11201400" cy="6370975"/>
          </a:xfrm>
          <a:prstGeom prst="rect">
            <a:avLst/>
          </a:prstGeom>
        </p:spPr>
        <p:txBody>
          <a:bodyPr wrap="square">
            <a:spAutoFit/>
          </a:bodyPr>
          <a:lstStyle/>
          <a:p>
            <a:pPr marL="457200" indent="-457200" algn="just">
              <a:buFont typeface="Wingdings" panose="05000000000000000000" pitchFamily="2" charset="2"/>
              <a:buChar char="v"/>
            </a:pPr>
            <a:r>
              <a:rPr lang="en-US" sz="2400" dirty="0" smtClean="0">
                <a:solidFill>
                  <a:srgbClr val="000000"/>
                </a:solidFill>
                <a:latin typeface="Calibri" panose="020F0502020204030204" pitchFamily="34" charset="0"/>
                <a:cs typeface="Calibri" panose="020F0502020204030204" pitchFamily="34" charset="0"/>
              </a:rPr>
              <a:t>Service-Based </a:t>
            </a:r>
            <a:r>
              <a:rPr lang="en-US" sz="2400" dirty="0">
                <a:solidFill>
                  <a:srgbClr val="000000"/>
                </a:solidFill>
                <a:latin typeface="Calibri" panose="020F0502020204030204" pitchFamily="34" charset="0"/>
                <a:cs typeface="Calibri" panose="020F0502020204030204" pitchFamily="34" charset="0"/>
              </a:rPr>
              <a:t>Architecture” (SBA) is a modular architecture which is </a:t>
            </a:r>
            <a:r>
              <a:rPr lang="en-US" sz="2400" dirty="0" smtClean="0">
                <a:solidFill>
                  <a:srgbClr val="000000"/>
                </a:solidFill>
                <a:latin typeface="Calibri" panose="020F0502020204030204" pitchFamily="34" charset="0"/>
                <a:cs typeface="Calibri" panose="020F0502020204030204" pitchFamily="34" charset="0"/>
              </a:rPr>
              <a:t>centered </a:t>
            </a:r>
            <a:r>
              <a:rPr lang="en-US" sz="2400" dirty="0">
                <a:solidFill>
                  <a:srgbClr val="000000"/>
                </a:solidFill>
                <a:latin typeface="Calibri" panose="020F0502020204030204" pitchFamily="34" charset="0"/>
                <a:cs typeface="Calibri" panose="020F0502020204030204" pitchFamily="34" charset="0"/>
              </a:rPr>
              <a:t>on services that can register themselves to provide certain services and also can subscribe to other services and using these as the building blocks, more complex services can be provided. </a:t>
            </a:r>
            <a:endParaRPr lang="en-US" sz="2400" dirty="0" smtClean="0">
              <a:solidFill>
                <a:srgbClr val="000000"/>
              </a:solidFill>
              <a:latin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v"/>
            </a:pPr>
            <a:r>
              <a:rPr lang="en-US" sz="2400" dirty="0" smtClean="0">
                <a:solidFill>
                  <a:srgbClr val="000000"/>
                </a:solidFill>
                <a:latin typeface="Calibri" panose="020F0502020204030204" pitchFamily="34" charset="0"/>
                <a:cs typeface="Calibri" panose="020F0502020204030204" pitchFamily="34" charset="0"/>
              </a:rPr>
              <a:t>3GPP </a:t>
            </a:r>
            <a:r>
              <a:rPr lang="en-US" sz="2400" dirty="0">
                <a:solidFill>
                  <a:srgbClr val="000000"/>
                </a:solidFill>
                <a:latin typeface="Calibri" panose="020F0502020204030204" pitchFamily="34" charset="0"/>
                <a:cs typeface="Calibri" panose="020F0502020204030204" pitchFamily="34" charset="0"/>
              </a:rPr>
              <a:t>has adopted a service-based architecture of the 5G core system. </a:t>
            </a:r>
            <a:endParaRPr lang="en-US" sz="2400" dirty="0" smtClean="0">
              <a:solidFill>
                <a:srgbClr val="000000"/>
              </a:solidFill>
              <a:latin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v"/>
            </a:pPr>
            <a:r>
              <a:rPr lang="en-US" sz="2400" dirty="0" smtClean="0">
                <a:solidFill>
                  <a:srgbClr val="000000"/>
                </a:solidFill>
                <a:latin typeface="Calibri" panose="020F0502020204030204" pitchFamily="34" charset="0"/>
                <a:cs typeface="Calibri" panose="020F0502020204030204" pitchFamily="34" charset="0"/>
              </a:rPr>
              <a:t>This </a:t>
            </a:r>
            <a:r>
              <a:rPr lang="en-US" sz="2400" dirty="0">
                <a:solidFill>
                  <a:srgbClr val="000000"/>
                </a:solidFill>
                <a:latin typeface="Calibri" panose="020F0502020204030204" pitchFamily="34" charset="0"/>
                <a:cs typeface="Calibri" panose="020F0502020204030204" pitchFamily="34" charset="0"/>
              </a:rPr>
              <a:t>is significantly different from 4G, where such modularity in the network elements that constitute the core network was not included. </a:t>
            </a:r>
            <a:endParaRPr lang="en-US" sz="2400" dirty="0" smtClean="0">
              <a:solidFill>
                <a:srgbClr val="000000"/>
              </a:solidFill>
              <a:latin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v"/>
            </a:pPr>
            <a:r>
              <a:rPr lang="en-US" sz="2400" dirty="0" smtClean="0">
                <a:solidFill>
                  <a:srgbClr val="000000"/>
                </a:solidFill>
                <a:latin typeface="Calibri" panose="020F0502020204030204" pitchFamily="34" charset="0"/>
                <a:cs typeface="Calibri" panose="020F0502020204030204" pitchFamily="34" charset="0"/>
              </a:rPr>
              <a:t>SBA </a:t>
            </a:r>
            <a:r>
              <a:rPr lang="en-US" sz="2400" dirty="0">
                <a:solidFill>
                  <a:srgbClr val="000000"/>
                </a:solidFill>
                <a:latin typeface="Calibri" panose="020F0502020204030204" pitchFamily="34" charset="0"/>
                <a:cs typeface="Calibri" panose="020F0502020204030204" pitchFamily="34" charset="0"/>
              </a:rPr>
              <a:t>helps in the adoption of </a:t>
            </a:r>
            <a:r>
              <a:rPr lang="en-US" sz="2400" dirty="0" smtClean="0">
                <a:solidFill>
                  <a:srgbClr val="000000"/>
                </a:solidFill>
                <a:latin typeface="Calibri" panose="020F0502020204030204" pitchFamily="34" charset="0"/>
                <a:cs typeface="Calibri" panose="020F0502020204030204" pitchFamily="34" charset="0"/>
              </a:rPr>
              <a:t>virtualization, </a:t>
            </a:r>
            <a:r>
              <a:rPr lang="en-US" sz="2400" dirty="0">
                <a:solidFill>
                  <a:srgbClr val="000000"/>
                </a:solidFill>
                <a:latin typeface="Calibri" panose="020F0502020204030204" pitchFamily="34" charset="0"/>
                <a:cs typeface="Calibri" panose="020F0502020204030204" pitchFamily="34" charset="0"/>
              </a:rPr>
              <a:t>provides increased flexibility and adaptability to the core network. </a:t>
            </a:r>
            <a:endParaRPr lang="en-US" sz="2400" dirty="0" smtClean="0">
              <a:solidFill>
                <a:srgbClr val="000000"/>
              </a:solidFill>
              <a:latin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v"/>
            </a:pPr>
            <a:r>
              <a:rPr lang="en-US" sz="2400" dirty="0">
                <a:solidFill>
                  <a:srgbClr val="000000"/>
                </a:solidFill>
                <a:latin typeface="Calibri" panose="020F0502020204030204" pitchFamily="34" charset="0"/>
                <a:cs typeface="Calibri" panose="020F0502020204030204" pitchFamily="34" charset="0"/>
              </a:rPr>
              <a:t>To make the applications more flexible, scalable and dynamic, the applications have been deconstructed into smaller and smaller components which can be reused for other applications and can also developed, tested and deployed independently. </a:t>
            </a:r>
            <a:endParaRPr lang="en-US" sz="2400" dirty="0" smtClean="0">
              <a:solidFill>
                <a:srgbClr val="000000"/>
              </a:solidFill>
              <a:latin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v"/>
            </a:pPr>
            <a:r>
              <a:rPr lang="en-US" sz="2400" dirty="0">
                <a:solidFill>
                  <a:srgbClr val="000000"/>
                </a:solidFill>
                <a:latin typeface="Calibri" panose="020F0502020204030204" pitchFamily="34" charset="0"/>
                <a:cs typeface="Calibri" panose="020F0502020204030204" pitchFamily="34" charset="0"/>
              </a:rPr>
              <a:t>These units are called micro services. Micro services are an architectural design pattern where the system is composed of small granularity, highly cohesive and loosely-coupled services. Each of these services fulfils a specific functionality and is self-contained. Interactions between services implement standard light-weight interfaces (e.g. Restful principles etc</a:t>
            </a:r>
            <a:r>
              <a:rPr lang="en-US" sz="2400" dirty="0" smtClean="0">
                <a:solidFill>
                  <a:srgbClr val="000000"/>
                </a:solidFill>
                <a:latin typeface="Calibri" panose="020F0502020204030204" pitchFamily="34" charset="0"/>
                <a:cs typeface="Calibri" panose="020F0502020204030204" pitchFamily="34" charset="0"/>
              </a:rPr>
              <a:t>.).</a:t>
            </a:r>
            <a:endParaRPr lang="en-US" sz="240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87997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0" y="37407"/>
            <a:ext cx="8017579" cy="461665"/>
          </a:xfrm>
          <a:prstGeom prst="rect">
            <a:avLst/>
          </a:prstGeom>
        </p:spPr>
        <p:txBody>
          <a:bodyPr wrap="none">
            <a:spAutoFit/>
          </a:bodyPr>
          <a:lstStyle/>
          <a:p>
            <a:r>
              <a:rPr lang="en-IN" sz="2400" b="1" dirty="0">
                <a:solidFill>
                  <a:srgbClr val="FF0000"/>
                </a:solidFill>
                <a:latin typeface="Times New Roman" panose="02020603050405020304" pitchFamily="18" charset="0"/>
              </a:rPr>
              <a:t>5G CORE NETWORK </a:t>
            </a:r>
            <a:r>
              <a:rPr lang="en-IN" sz="2400" b="1" dirty="0" smtClean="0">
                <a:solidFill>
                  <a:srgbClr val="FF0000"/>
                </a:solidFill>
                <a:latin typeface="Times New Roman" panose="02020603050405020304" pitchFamily="18" charset="0"/>
              </a:rPr>
              <a:t>ARCHITECTURE (Service Based) </a:t>
            </a:r>
            <a:endParaRPr lang="en-IN" sz="2400" dirty="0">
              <a:solidFill>
                <a:srgbClr val="FF0000"/>
              </a:solidFill>
            </a:endParaRPr>
          </a:p>
        </p:txBody>
      </p:sp>
      <p:pic>
        <p:nvPicPr>
          <p:cNvPr id="3" name="Picture 2"/>
          <p:cNvPicPr>
            <a:picLocks noChangeAspect="1"/>
          </p:cNvPicPr>
          <p:nvPr/>
        </p:nvPicPr>
        <p:blipFill>
          <a:blip r:embed="rId2"/>
          <a:stretch>
            <a:fillRect/>
          </a:stretch>
        </p:blipFill>
        <p:spPr>
          <a:xfrm>
            <a:off x="609600" y="762000"/>
            <a:ext cx="10747960" cy="5334000"/>
          </a:xfrm>
          <a:prstGeom prst="rect">
            <a:avLst/>
          </a:prstGeom>
        </p:spPr>
      </p:pic>
    </p:spTree>
    <p:extLst>
      <p:ext uri="{BB962C8B-B14F-4D97-AF65-F5344CB8AC3E}">
        <p14:creationId xmlns:p14="http://schemas.microsoft.com/office/powerpoint/2010/main" val="11127789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0" y="37407"/>
            <a:ext cx="8017579" cy="461665"/>
          </a:xfrm>
          <a:prstGeom prst="rect">
            <a:avLst/>
          </a:prstGeom>
        </p:spPr>
        <p:txBody>
          <a:bodyPr wrap="none">
            <a:spAutoFit/>
          </a:bodyPr>
          <a:lstStyle/>
          <a:p>
            <a:r>
              <a:rPr lang="en-IN" sz="2400" b="1" dirty="0">
                <a:solidFill>
                  <a:srgbClr val="FF0000"/>
                </a:solidFill>
                <a:latin typeface="Times New Roman" panose="02020603050405020304" pitchFamily="18" charset="0"/>
              </a:rPr>
              <a:t>5G CORE NETWORK </a:t>
            </a:r>
            <a:r>
              <a:rPr lang="en-IN" sz="2400" b="1" dirty="0" smtClean="0">
                <a:solidFill>
                  <a:srgbClr val="FF0000"/>
                </a:solidFill>
                <a:latin typeface="Times New Roman" panose="02020603050405020304" pitchFamily="18" charset="0"/>
              </a:rPr>
              <a:t>ARCHITECTURE (Service Based) </a:t>
            </a:r>
            <a:endParaRPr lang="en-IN" sz="2400" dirty="0">
              <a:solidFill>
                <a:srgbClr val="FF0000"/>
              </a:solidFill>
            </a:endParaRPr>
          </a:p>
        </p:txBody>
      </p:sp>
      <p:sp>
        <p:nvSpPr>
          <p:cNvPr id="4" name="Rectangle 3"/>
          <p:cNvSpPr/>
          <p:nvPr/>
        </p:nvSpPr>
        <p:spPr>
          <a:xfrm>
            <a:off x="228600" y="627757"/>
            <a:ext cx="11201400" cy="5262979"/>
          </a:xfrm>
          <a:prstGeom prst="rect">
            <a:avLst/>
          </a:prstGeom>
        </p:spPr>
        <p:txBody>
          <a:bodyPr wrap="square">
            <a:spAutoFit/>
          </a:bodyPr>
          <a:lstStyle/>
          <a:p>
            <a:pPr marL="457200" indent="-457200" algn="just">
              <a:buFont typeface="Wingdings" panose="05000000000000000000" pitchFamily="2" charset="2"/>
              <a:buChar char="v"/>
            </a:pPr>
            <a:r>
              <a:rPr lang="en-US" sz="2800" dirty="0" smtClean="0">
                <a:solidFill>
                  <a:srgbClr val="000000"/>
                </a:solidFill>
                <a:latin typeface="Calibri" panose="020F0502020204030204" pitchFamily="34" charset="0"/>
                <a:cs typeface="Calibri" panose="020F0502020204030204" pitchFamily="34" charset="0"/>
              </a:rPr>
              <a:t>This </a:t>
            </a:r>
            <a:r>
              <a:rPr lang="en-US" sz="2800" dirty="0">
                <a:solidFill>
                  <a:srgbClr val="000000"/>
                </a:solidFill>
                <a:latin typeface="Calibri" panose="020F0502020204030204" pitchFamily="34" charset="0"/>
                <a:cs typeface="Calibri" panose="020F0502020204030204" pitchFamily="34" charset="0"/>
              </a:rPr>
              <a:t>concept from the software world has been adopted into the telecom domain where each network element, which carries out certain functions has been broken down into the constituent parts and each network function can register, discover and use the services offered by other functions. </a:t>
            </a:r>
            <a:endParaRPr lang="en-US" sz="2800" dirty="0" smtClean="0">
              <a:solidFill>
                <a:srgbClr val="000000"/>
              </a:solidFill>
              <a:latin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v"/>
            </a:pPr>
            <a:endParaRPr lang="en-US" sz="2800" dirty="0" smtClean="0">
              <a:solidFill>
                <a:srgbClr val="000000"/>
              </a:solidFill>
              <a:latin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v"/>
            </a:pPr>
            <a:r>
              <a:rPr lang="en-US" sz="2800" dirty="0" smtClean="0">
                <a:solidFill>
                  <a:srgbClr val="000000"/>
                </a:solidFill>
                <a:latin typeface="Calibri" panose="020F0502020204030204" pitchFamily="34" charset="0"/>
                <a:cs typeface="Calibri" panose="020F0502020204030204" pitchFamily="34" charset="0"/>
              </a:rPr>
              <a:t>The </a:t>
            </a:r>
            <a:r>
              <a:rPr lang="en-US" sz="2800" dirty="0">
                <a:solidFill>
                  <a:srgbClr val="000000"/>
                </a:solidFill>
                <a:latin typeface="Calibri" panose="020F0502020204030204" pitchFamily="34" charset="0"/>
                <a:cs typeface="Calibri" panose="020F0502020204030204" pitchFamily="34" charset="0"/>
              </a:rPr>
              <a:t>network functions and </a:t>
            </a:r>
            <a:r>
              <a:rPr lang="en-US" sz="2800" dirty="0" smtClean="0">
                <a:solidFill>
                  <a:srgbClr val="000000"/>
                </a:solidFill>
                <a:latin typeface="Calibri" panose="020F0502020204030204" pitchFamily="34" charset="0"/>
                <a:cs typeface="Calibri" panose="020F0502020204030204" pitchFamily="34" charset="0"/>
              </a:rPr>
              <a:t>the Interfaces </a:t>
            </a:r>
            <a:r>
              <a:rPr lang="en-US" sz="2800" dirty="0">
                <a:solidFill>
                  <a:srgbClr val="000000"/>
                </a:solidFill>
                <a:latin typeface="Calibri" panose="020F0502020204030204" pitchFamily="34" charset="0"/>
                <a:cs typeface="Calibri" panose="020F0502020204030204" pitchFamily="34" charset="0"/>
              </a:rPr>
              <a:t>are designed to have minimum impact on others so that introduction of new network functions, upgradation of existing network functions etc. does not impact the whole network. This makes possible continuous </a:t>
            </a:r>
            <a:r>
              <a:rPr lang="en-US" sz="2800" dirty="0" err="1">
                <a:solidFill>
                  <a:srgbClr val="000000"/>
                </a:solidFill>
                <a:latin typeface="Calibri" panose="020F0502020204030204" pitchFamily="34" charset="0"/>
                <a:cs typeface="Calibri" panose="020F0502020204030204" pitchFamily="34" charset="0"/>
              </a:rPr>
              <a:t>updation</a:t>
            </a:r>
            <a:r>
              <a:rPr lang="en-US" sz="2800" dirty="0">
                <a:solidFill>
                  <a:srgbClr val="000000"/>
                </a:solidFill>
                <a:latin typeface="Calibri" panose="020F0502020204030204" pitchFamily="34" charset="0"/>
                <a:cs typeface="Calibri" panose="020F0502020204030204" pitchFamily="34" charset="0"/>
              </a:rPr>
              <a:t>, upgradation, and introduction of new services. This is the Service Based Architecture approach.</a:t>
            </a:r>
            <a:endParaRPr lang="en-US" sz="2800" dirty="0" smtClean="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34076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166092"/>
            <a:ext cx="11201400" cy="6463308"/>
          </a:xfrm>
          <a:prstGeom prst="rect">
            <a:avLst/>
          </a:prstGeom>
        </p:spPr>
        <p:txBody>
          <a:bodyPr wrap="square">
            <a:spAutoFit/>
          </a:bodyPr>
          <a:lstStyle/>
          <a:p>
            <a:r>
              <a:rPr lang="en-US" sz="2300" dirty="0">
                <a:latin typeface="Calibri" panose="020F0502020204030204" pitchFamily="34" charset="0"/>
                <a:cs typeface="Calibri" panose="020F0502020204030204" pitchFamily="34" charset="0"/>
              </a:rPr>
              <a:t>The Service-based architecture brings following benefits to 5G: </a:t>
            </a:r>
          </a:p>
          <a:p>
            <a:pPr marL="342900" indent="-342900">
              <a:buFont typeface="Wingdings" panose="05000000000000000000" pitchFamily="2" charset="2"/>
              <a:buChar char="v"/>
            </a:pPr>
            <a:r>
              <a:rPr lang="en-US" sz="2300" dirty="0" smtClean="0">
                <a:latin typeface="Calibri" panose="020F0502020204030204" pitchFamily="34" charset="0"/>
                <a:cs typeface="Calibri" panose="020F0502020204030204" pitchFamily="34" charset="0"/>
              </a:rPr>
              <a:t>Easy </a:t>
            </a:r>
            <a:r>
              <a:rPr lang="en-US" sz="2300" dirty="0">
                <a:latin typeface="Calibri" panose="020F0502020204030204" pitchFamily="34" charset="0"/>
                <a:cs typeface="Calibri" panose="020F0502020204030204" pitchFamily="34" charset="0"/>
              </a:rPr>
              <a:t>update of Network: </a:t>
            </a:r>
          </a:p>
          <a:p>
            <a:pPr marL="800100" lvl="1" indent="-342900" algn="just">
              <a:buFont typeface="Arial" panose="020B0604020202020204" pitchFamily="34" charset="0"/>
              <a:buChar char="•"/>
            </a:pPr>
            <a:r>
              <a:rPr lang="en-US" sz="2300" dirty="0" smtClean="0">
                <a:latin typeface="Calibri" panose="020F0502020204030204" pitchFamily="34" charset="0"/>
                <a:cs typeface="Calibri" panose="020F0502020204030204" pitchFamily="34" charset="0"/>
              </a:rPr>
              <a:t>Finer </a:t>
            </a:r>
            <a:r>
              <a:rPr lang="en-US" sz="2300" dirty="0">
                <a:latin typeface="Calibri" panose="020F0502020204030204" pitchFamily="34" charset="0"/>
                <a:cs typeface="Calibri" panose="020F0502020204030204" pitchFamily="34" charset="0"/>
              </a:rPr>
              <a:t>granularity allows individual services to be upgraded with minimal impact to other services. </a:t>
            </a:r>
            <a:endParaRPr lang="en-US" sz="2300" dirty="0" smtClean="0">
              <a:latin typeface="Calibri" panose="020F0502020204030204" pitchFamily="34" charset="0"/>
              <a:cs typeface="Calibri" panose="020F0502020204030204" pitchFamily="34" charset="0"/>
            </a:endParaRPr>
          </a:p>
          <a:p>
            <a:pPr marL="800100" lvl="1" indent="-342900" algn="just">
              <a:buFont typeface="Arial" panose="020B0604020202020204" pitchFamily="34" charset="0"/>
              <a:buChar char="•"/>
            </a:pPr>
            <a:r>
              <a:rPr lang="en-US" sz="2300" dirty="0" smtClean="0">
                <a:latin typeface="Calibri" panose="020F0502020204030204" pitchFamily="34" charset="0"/>
                <a:cs typeface="Calibri" panose="020F0502020204030204" pitchFamily="34" charset="0"/>
              </a:rPr>
              <a:t>Facilitated </a:t>
            </a:r>
            <a:r>
              <a:rPr lang="en-US" sz="2300" dirty="0">
                <a:latin typeface="Calibri" panose="020F0502020204030204" pitchFamily="34" charset="0"/>
                <a:cs typeface="Calibri" panose="020F0502020204030204" pitchFamily="34" charset="0"/>
              </a:rPr>
              <a:t>continuous integration reduces the time-to-market for installing bug fixes and rolling out new network features and operator applications. </a:t>
            </a:r>
          </a:p>
          <a:p>
            <a:pPr marL="342900" indent="-342900">
              <a:buFont typeface="Wingdings" panose="05000000000000000000" pitchFamily="2" charset="2"/>
              <a:buChar char="v"/>
            </a:pPr>
            <a:r>
              <a:rPr lang="en-IN" sz="2300" smtClean="0">
                <a:latin typeface="Calibri" panose="020F0502020204030204" pitchFamily="34" charset="0"/>
                <a:cs typeface="Calibri" panose="020F0502020204030204" pitchFamily="34" charset="0"/>
              </a:rPr>
              <a:t>Extensibility</a:t>
            </a:r>
            <a:r>
              <a:rPr lang="en-IN" sz="2300" dirty="0">
                <a:latin typeface="Calibri" panose="020F0502020204030204" pitchFamily="34" charset="0"/>
                <a:cs typeface="Calibri" panose="020F0502020204030204" pitchFamily="34" charset="0"/>
              </a:rPr>
              <a:t>: </a:t>
            </a:r>
          </a:p>
          <a:p>
            <a:pPr marL="800100" lvl="1" indent="-342900">
              <a:buFont typeface="Arial" panose="020B0604020202020204" pitchFamily="34" charset="0"/>
              <a:buChar char="•"/>
            </a:pPr>
            <a:r>
              <a:rPr lang="en-US" sz="2300" smtClean="0">
                <a:latin typeface="Calibri" panose="020F0502020204030204" pitchFamily="34" charset="0"/>
                <a:cs typeface="Calibri" panose="020F0502020204030204" pitchFamily="34" charset="0"/>
              </a:rPr>
              <a:t>Light-weighted </a:t>
            </a:r>
            <a:r>
              <a:rPr lang="en-US" sz="2300">
                <a:latin typeface="Calibri" panose="020F0502020204030204" pitchFamily="34" charset="0"/>
                <a:cs typeface="Calibri" panose="020F0502020204030204" pitchFamily="34" charset="0"/>
              </a:rPr>
              <a:t>service-based interfaces are needed to communicate across services. </a:t>
            </a:r>
          </a:p>
          <a:p>
            <a:pPr marL="342900" indent="-342900">
              <a:buFont typeface="Wingdings" panose="05000000000000000000" pitchFamily="2" charset="2"/>
              <a:buChar char="v"/>
            </a:pPr>
            <a:r>
              <a:rPr lang="en-IN" sz="2300" smtClean="0">
                <a:latin typeface="Calibri" panose="020F0502020204030204" pitchFamily="34" charset="0"/>
                <a:cs typeface="Calibri" panose="020F0502020204030204" pitchFamily="34" charset="0"/>
              </a:rPr>
              <a:t>Modularity </a:t>
            </a:r>
            <a:r>
              <a:rPr lang="en-IN" sz="2300" dirty="0">
                <a:latin typeface="Calibri" panose="020F0502020204030204" pitchFamily="34" charset="0"/>
                <a:cs typeface="Calibri" panose="020F0502020204030204" pitchFamily="34" charset="0"/>
              </a:rPr>
              <a:t>&amp; Reusability: </a:t>
            </a:r>
          </a:p>
          <a:p>
            <a:pPr marL="800100" lvl="1" indent="-342900" algn="just">
              <a:buFont typeface="Arial" panose="020B0604020202020204" pitchFamily="34" charset="0"/>
              <a:buChar char="•"/>
            </a:pPr>
            <a:r>
              <a:rPr lang="en-US" sz="2300" smtClean="0">
                <a:latin typeface="Calibri" panose="020F0502020204030204" pitchFamily="34" charset="0"/>
                <a:cs typeface="Calibri" panose="020F0502020204030204" pitchFamily="34" charset="0"/>
              </a:rPr>
              <a:t>The </a:t>
            </a:r>
            <a:r>
              <a:rPr lang="en-US" sz="2300">
                <a:latin typeface="Calibri" panose="020F0502020204030204" pitchFamily="34" charset="0"/>
                <a:cs typeface="Calibri" panose="020F0502020204030204" pitchFamily="34" charset="0"/>
              </a:rPr>
              <a:t>network is composed of modularized services reflecting the network capabilities and provides support to key 5G features such as network slicing. </a:t>
            </a:r>
            <a:endParaRPr lang="en-US" sz="2300" smtClean="0">
              <a:latin typeface="Calibri" panose="020F0502020204030204" pitchFamily="34" charset="0"/>
              <a:cs typeface="Calibri" panose="020F0502020204030204" pitchFamily="34" charset="0"/>
            </a:endParaRPr>
          </a:p>
          <a:p>
            <a:pPr marL="800100" lvl="1" indent="-342900" algn="just">
              <a:buFont typeface="Arial" panose="020B0604020202020204" pitchFamily="34" charset="0"/>
              <a:buChar char="•"/>
            </a:pPr>
            <a:r>
              <a:rPr lang="en-US" sz="2300" dirty="0" smtClean="0">
                <a:latin typeface="Calibri" panose="020F0502020204030204" pitchFamily="34" charset="0"/>
                <a:cs typeface="Calibri" panose="020F0502020204030204" pitchFamily="34" charset="0"/>
              </a:rPr>
              <a:t>A </a:t>
            </a:r>
            <a:r>
              <a:rPr lang="en-US" sz="2300" dirty="0">
                <a:latin typeface="Calibri" panose="020F0502020204030204" pitchFamily="34" charset="0"/>
                <a:cs typeface="Calibri" panose="020F0502020204030204" pitchFamily="34" charset="0"/>
              </a:rPr>
              <a:t>service can be easily invoked by other services (with appropriate authorization), enabling each service to be reused as much as possible. </a:t>
            </a:r>
          </a:p>
          <a:p>
            <a:pPr marL="342900" indent="-342900">
              <a:buFont typeface="Wingdings" panose="05000000000000000000" pitchFamily="2" charset="2"/>
              <a:buChar char="v"/>
            </a:pPr>
            <a:r>
              <a:rPr lang="en-IN" sz="2300" smtClean="0">
                <a:latin typeface="Calibri" panose="020F0502020204030204" pitchFamily="34" charset="0"/>
                <a:cs typeface="Calibri" panose="020F0502020204030204" pitchFamily="34" charset="0"/>
              </a:rPr>
              <a:t>Openness </a:t>
            </a:r>
            <a:endParaRPr lang="en-IN" sz="2300" dirty="0">
              <a:latin typeface="Calibri" panose="020F0502020204030204" pitchFamily="34" charset="0"/>
              <a:cs typeface="Calibri" panose="020F0502020204030204" pitchFamily="34" charset="0"/>
            </a:endParaRPr>
          </a:p>
          <a:p>
            <a:pPr algn="just"/>
            <a:endParaRPr lang="en-US" sz="2300" smtClean="0">
              <a:latin typeface="Calibri" panose="020F0502020204030204" pitchFamily="34" charset="0"/>
              <a:cs typeface="Calibri" panose="020F0502020204030204" pitchFamily="34" charset="0"/>
            </a:endParaRPr>
          </a:p>
          <a:p>
            <a:pPr algn="just"/>
            <a:r>
              <a:rPr lang="en-US" sz="2300" dirty="0" smtClean="0">
                <a:latin typeface="Calibri" panose="020F0502020204030204" pitchFamily="34" charset="0"/>
                <a:cs typeface="Calibri" panose="020F0502020204030204" pitchFamily="34" charset="0"/>
              </a:rPr>
              <a:t>Together </a:t>
            </a:r>
            <a:r>
              <a:rPr lang="en-US" sz="2300" dirty="0">
                <a:latin typeface="Calibri" panose="020F0502020204030204" pitchFamily="34" charset="0"/>
                <a:cs typeface="Calibri" panose="020F0502020204030204" pitchFamily="34" charset="0"/>
              </a:rPr>
              <a:t>with some management and control functions (i.e. authentication, authorization, accounting), the information about a 5G network can be easily exposed to external users such as 3rd parties through a specific service without complicated protocol conversion </a:t>
            </a:r>
            <a:endParaRPr lang="en-US" sz="2300" dirty="0" smtClean="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82042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1229591"/>
            <a:ext cx="11201400" cy="5600700"/>
          </a:xfrm>
          <a:prstGeom prst="rect">
            <a:avLst/>
          </a:prstGeom>
        </p:spPr>
      </p:pic>
      <p:sp>
        <p:nvSpPr>
          <p:cNvPr id="3" name="Rectangle 2"/>
          <p:cNvSpPr/>
          <p:nvPr/>
        </p:nvSpPr>
        <p:spPr>
          <a:xfrm>
            <a:off x="3657600" y="152400"/>
            <a:ext cx="4243406" cy="830997"/>
          </a:xfrm>
          <a:prstGeom prst="rect">
            <a:avLst/>
          </a:prstGeom>
        </p:spPr>
        <p:txBody>
          <a:bodyPr wrap="none">
            <a:spAutoFit/>
          </a:bodyPr>
          <a:lstStyle/>
          <a:p>
            <a:r>
              <a:rPr lang="en-IN" sz="2400" b="1" dirty="0">
                <a:solidFill>
                  <a:srgbClr val="FF0000"/>
                </a:solidFill>
                <a:latin typeface="Times New Roman" panose="02020603050405020304" pitchFamily="18" charset="0"/>
              </a:rPr>
              <a:t>5G </a:t>
            </a:r>
            <a:r>
              <a:rPr lang="en-IN" sz="2400" b="1" dirty="0" smtClean="0">
                <a:solidFill>
                  <a:srgbClr val="FF0000"/>
                </a:solidFill>
                <a:latin typeface="Times New Roman" panose="02020603050405020304" pitchFamily="18" charset="0"/>
              </a:rPr>
              <a:t>Core Network Architecture</a:t>
            </a:r>
          </a:p>
          <a:p>
            <a:r>
              <a:rPr lang="en-IN" sz="2400" b="1" dirty="0" smtClean="0">
                <a:solidFill>
                  <a:srgbClr val="FF0000"/>
                </a:solidFill>
                <a:latin typeface="Times New Roman" panose="02020603050405020304" pitchFamily="18" charset="0"/>
              </a:rPr>
              <a:t> Installed in 5G Use Case Lab </a:t>
            </a:r>
            <a:endParaRPr lang="en-IN" sz="2400" dirty="0">
              <a:solidFill>
                <a:srgbClr val="FF0000"/>
              </a:solidFill>
            </a:endParaRPr>
          </a:p>
        </p:txBody>
      </p:sp>
    </p:spTree>
    <p:extLst>
      <p:ext uri="{BB962C8B-B14F-4D97-AF65-F5344CB8AC3E}">
        <p14:creationId xmlns:p14="http://schemas.microsoft.com/office/powerpoint/2010/main" val="72118365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2730</TotalTime>
  <Words>517</Words>
  <Application>Microsoft Office PowerPoint</Application>
  <PresentationFormat>Widescreen</PresentationFormat>
  <Paragraphs>38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Times New Roman</vt:lpstr>
      <vt:lpstr>Wingdings</vt:lpstr>
      <vt:lpstr>Default Design</vt:lpstr>
      <vt:lpstr>5G WIRELESS COMMUNICATION  (UEC 719) </vt:lpstr>
      <vt:lpstr>PowerPoint Presentation</vt:lpstr>
      <vt:lpstr>PowerPoint Presentation</vt:lpstr>
      <vt:lpstr>PowerPoint Presentation</vt:lpstr>
      <vt:lpstr>PowerPoint Presentation</vt:lpstr>
      <vt:lpstr>PowerPoint Presentation</vt:lpstr>
      <vt:lpstr>PowerPoint Presentation</vt:lpstr>
    </vt:vector>
  </TitlesOfParts>
  <Company>jiet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Area of Research</dc:title>
  <dc:creator>hemdutt.joshi</dc:creator>
  <cp:lastModifiedBy>Hemdutt Joshi</cp:lastModifiedBy>
  <cp:revision>381</cp:revision>
  <dcterms:created xsi:type="dcterms:W3CDTF">2007-08-08T07:13:51Z</dcterms:created>
  <dcterms:modified xsi:type="dcterms:W3CDTF">2024-12-04T15:20:01Z</dcterms:modified>
</cp:coreProperties>
</file>
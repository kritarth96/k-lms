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95" r:id="rId2"/>
    <p:sldId id="256" r:id="rId3"/>
    <p:sldId id="257" r:id="rId4"/>
    <p:sldId id="258" r:id="rId5"/>
    <p:sldId id="259" r:id="rId6"/>
    <p:sldId id="282" r:id="rId7"/>
    <p:sldId id="283" r:id="rId8"/>
    <p:sldId id="261" r:id="rId9"/>
    <p:sldId id="262" r:id="rId10"/>
    <p:sldId id="284" r:id="rId11"/>
    <p:sldId id="294" r:id="rId12"/>
    <p:sldId id="265" r:id="rId13"/>
    <p:sldId id="277" r:id="rId14"/>
    <p:sldId id="29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78" autoAdjust="0"/>
    <p:restoredTop sz="86420" autoAdjust="0"/>
  </p:normalViewPr>
  <p:slideViewPr>
    <p:cSldViewPr>
      <p:cViewPr varScale="1">
        <p:scale>
          <a:sx n="59" d="100"/>
          <a:sy n="59" d="100"/>
        </p:scale>
        <p:origin x="82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46" y="458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A9770C-4780-4161-B273-4104EC83F3D8}" type="datetimeFigureOut">
              <a:rPr lang="en-US" smtClean="0"/>
              <a:pPr/>
              <a:t>5/3/2021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7A0F0-712C-4E8F-AF2E-4F27226A97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79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7A0F0-712C-4E8F-AF2E-4F27226A975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900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7A0F0-712C-4E8F-AF2E-4F27226A9754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7A0F0-712C-4E8F-AF2E-4F27226A9754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7A0F0-712C-4E8F-AF2E-4F27226A975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219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7A0F0-712C-4E8F-AF2E-4F27226A975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59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9D4-9777-441F-90EA-D10E0DE7AEAB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 , Assistant Professor , ECED 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F5CEE-76AF-4BB0-8DCC-03A8690CCC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56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7ED2-0C43-4ACE-9613-433715F93955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 , Assistant Professor , ECED 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F5CEE-76AF-4BB0-8DCC-03A8690CCC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893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F1233-5504-4A29-AFCF-78D8E657FE02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 , Assistant Professor , ECED 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F5CEE-76AF-4BB0-8DCC-03A8690CCC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959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5064F-607C-4A59-ABC4-3E8B25C14EC7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 , Assistant Professor , ECED , TIET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F5CEE-76AF-4BB0-8DCC-03A8690CCC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831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3BFA-A86C-4158-B1ED-31A8C41E11BB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 , Assistant Professor , ECED , TIET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F5CEE-76AF-4BB0-8DCC-03A8690CCC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572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F492-427A-4EC3-B802-659325FE6E63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 , Assistant Professor , ECED , TIET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F5CEE-76AF-4BB0-8DCC-03A8690CCC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053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C5266-8F96-4A6E-AFEB-98B22F16ED31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 , Assistant Professor , ECED , TIET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F5CEE-76AF-4BB0-8DCC-03A8690CCC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868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D84F3-B8CF-48EE-87A3-C3AF89ADDD91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 , Assistant Professor , ECED , TIET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F5CEE-76AF-4BB0-8DCC-03A8690CCC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841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95358-4182-4FEE-B1A4-9A7ACD2E67F4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 , Assistant Professor , ECED , TIET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F5CEE-76AF-4BB0-8DCC-03A8690CCC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75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9BDB-9E8E-4413-9206-A8858AE4BEF5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 , Assistant Professor , ECED 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F5CEE-76AF-4BB0-8DCC-03A8690CCC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936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9C2F5-999C-45F8-8DAF-07A2DB82FFAE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 , Assistant Professor , ECED 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F5CEE-76AF-4BB0-8DCC-03A8690CCC0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5819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0BC3B-A3EB-451B-8DAF-44AE855A4D89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 , Assistant Professor , ECED 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F5CEE-76AF-4BB0-8DCC-03A8690CCC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8231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E972-CA3A-4D2E-A512-F3E785E49053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 , Assistant Professor , ECED 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F5CEE-76AF-4BB0-8DCC-03A8690CCC0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7539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B7059-8D14-4786-976C-85B30B1A4410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 , Assistant Professor , ECED 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F5CEE-76AF-4BB0-8DCC-03A8690CCC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6478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97739-EC68-4414-8210-5C4EDC1F805E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 , Assistant Professor , ECED 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F5CEE-76AF-4BB0-8DCC-03A8690CCC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6142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82D3E-4AE6-4691-94E5-4C050C0BAA41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 , Assistant Professor , ECED 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F5CEE-76AF-4BB0-8DCC-03A8690CCC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538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9363F5-C899-41EA-A953-44D20E27F1D1}" type="datetime1">
              <a:rPr lang="en-US" smtClean="0"/>
              <a:t>5/3/2021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Amanpreet Kaur , Assistant Professor , ECED , TIET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25F5CEE-76AF-4BB0-8DCC-03A8690CCC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683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2400" y="754495"/>
            <a:ext cx="6347713" cy="2061152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Uniform  Linear Antenna </a:t>
            </a:r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Arrays </a:t>
            </a:r>
            <a:endParaRPr lang="en-US" sz="4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3048000"/>
            <a:ext cx="8305801" cy="3374363"/>
          </a:xfrm>
        </p:spPr>
        <p:txBody>
          <a:bodyPr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indent="0" algn="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Amanpreet Kaur(Sr.)</a:t>
            </a:r>
          </a:p>
          <a:p>
            <a:pPr marL="0" indent="0" algn="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marL="0" indent="0" algn="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 Engineering,</a:t>
            </a:r>
          </a:p>
          <a:p>
            <a:pPr marL="0" indent="0" algn="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Thapar Institute of Engineering and Technology, Patiala  </a:t>
            </a:r>
          </a:p>
          <a:p>
            <a:pPr marL="0" indent="0" algn="ctr">
              <a:buNone/>
            </a:pPr>
            <a:endParaRPr lang="en-US" sz="44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97056"/>
            <a:ext cx="2795631" cy="2118591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143000" y="6422363"/>
            <a:ext cx="4622973" cy="365125"/>
          </a:xfrm>
        </p:spPr>
        <p:txBody>
          <a:bodyPr/>
          <a:lstStyle/>
          <a:p>
            <a:r>
              <a:rPr lang="en-US" dirty="0" smtClean="0"/>
              <a:t>Amanpreet Kaur , Assistant Professor , ECED , TIET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89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382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b="1" i="1" dirty="0"/>
              <a:t>N-ELEMENT LINEAR ARRAY: UNIFORM </a:t>
            </a:r>
            <a:r>
              <a:rPr lang="en-US" sz="3100" b="1" i="1" dirty="0" smtClean="0"/>
              <a:t>AMPLITUDE </a:t>
            </a:r>
            <a:r>
              <a:rPr lang="en-US" sz="3100" b="1" dirty="0" smtClean="0"/>
              <a:t>AND </a:t>
            </a:r>
            <a:r>
              <a:rPr lang="en-US" sz="3100" b="1" dirty="0"/>
              <a:t>SPACING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447800"/>
            <a:ext cx="8001000" cy="51816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find the Array Factor of N Infinitesimally small dipoles placed in a linear geometry. 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this , let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 generalize the method to include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elements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us assume that all the elements have identical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amplitudes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succeeding element has a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 progressive phase lead current excitation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preceding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array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 can be obtained by considering the elements to be point sources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actual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are not isotropic sources, the total field can be formed by </a:t>
            </a:r>
            <a:r>
              <a:rPr lang="en-US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multiplying the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factor of the isotropic sources by the field of a single element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pattern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multiplication rule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 applies only for arrays of identical elements.</a:t>
            </a:r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905000" y="6427561"/>
            <a:ext cx="4622973" cy="365125"/>
          </a:xfrm>
        </p:spPr>
        <p:txBody>
          <a:bodyPr/>
          <a:lstStyle/>
          <a:p>
            <a:r>
              <a:rPr lang="en-US" dirty="0" smtClean="0"/>
              <a:t>Amanpreet Kaur , Assistant Professor , ECED , TIET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4114800" cy="4523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05200" y="475566"/>
            <a:ext cx="5562600" cy="2097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34000" y="2667000"/>
            <a:ext cx="3352800" cy="1887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04800" y="4648200"/>
            <a:ext cx="838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To be expressed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an alternate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, compact and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closed form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whose functions and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the distributions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are more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recognizable. we have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14400" y="5562600"/>
            <a:ext cx="5971309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7391400" y="1371600"/>
            <a:ext cx="154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………………….(</a:t>
            </a:r>
            <a:r>
              <a:rPr lang="en-US" dirty="0" err="1" smtClean="0"/>
              <a:t>i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162800" y="6019800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………………….(ii)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 , Assistant Professor , ECED , TIET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04800"/>
            <a:ext cx="230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Subtracting (</a:t>
            </a:r>
            <a:r>
              <a:rPr lang="en-US" dirty="0" err="1" smtClean="0"/>
              <a:t>i</a:t>
            </a:r>
            <a:r>
              <a:rPr lang="en-US" dirty="0" smtClean="0"/>
              <a:t>) from (ii)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838200"/>
            <a:ext cx="3810000" cy="679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1752600"/>
            <a:ext cx="5638800" cy="2159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28600" y="3886200"/>
            <a:ext cx="8915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the reference point is the physical center of the array, the array </a:t>
            </a:r>
            <a:r>
              <a:rPr lang="en-US" dirty="0" smtClean="0"/>
              <a:t>factor becomes :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04800" y="4495800"/>
            <a:ext cx="861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For small values of </a:t>
            </a:r>
            <a:r>
              <a:rPr lang="en-US" b="1" i="1" dirty="0"/>
              <a:t>ψ, the above </a:t>
            </a:r>
            <a:r>
              <a:rPr lang="en-US" b="1" i="1" dirty="0" smtClean="0"/>
              <a:t>expression can </a:t>
            </a:r>
            <a:r>
              <a:rPr lang="en-US" b="1" i="1" dirty="0"/>
              <a:t>be approximated </a:t>
            </a:r>
            <a:r>
              <a:rPr lang="en-US" b="1" i="1" dirty="0" smtClean="0"/>
              <a:t>by :</a:t>
            </a:r>
            <a:endParaRPr lang="en-US" b="1" i="1" dirty="0"/>
          </a:p>
        </p:txBody>
      </p:sp>
      <p:sp>
        <p:nvSpPr>
          <p:cNvPr id="8" name="TextBox 7"/>
          <p:cNvSpPr txBox="1"/>
          <p:nvPr/>
        </p:nvSpPr>
        <p:spPr>
          <a:xfrm>
            <a:off x="4800600" y="6248400"/>
            <a:ext cx="3499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…………………………………………………(iii)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71600" y="5029200"/>
            <a:ext cx="2667000" cy="1706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4400" y="6503761"/>
            <a:ext cx="4622973" cy="365125"/>
          </a:xfrm>
        </p:spPr>
        <p:txBody>
          <a:bodyPr/>
          <a:lstStyle/>
          <a:p>
            <a:r>
              <a:rPr lang="en-US" dirty="0" smtClean="0"/>
              <a:t>Amanpreet Kaur , Assistant Professor , ECED , TIET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82472"/>
            <a:ext cx="8686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value of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above equation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equal to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</a:t>
            </a:r>
            <a:endParaRPr lang="en-US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the array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factors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the maximum value of each is equal to unity,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eqn. (iii)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form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1066800"/>
            <a:ext cx="2895600" cy="1459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457200" y="2819400"/>
            <a:ext cx="7924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the nulls of the array,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(iv)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set equal to zero. That is,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2286000"/>
            <a:ext cx="3180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……………………………………………(iv)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" y="3200400"/>
            <a:ext cx="734235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81000" y="5996846"/>
            <a:ext cx="8686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Thus the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number of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nulls that can exist will be a function of the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element separation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d and the </a:t>
            </a: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phase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Excitation difference </a:t>
            </a:r>
            <a:r>
              <a:rPr lang="el-GR" sz="2000" b="1" i="1" dirty="0">
                <a:latin typeface="Times New Roman" pitchFamily="18" charset="0"/>
                <a:cs typeface="Times New Roman" pitchFamily="18" charset="0"/>
              </a:rPr>
              <a:t>β.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67400" y="4038600"/>
            <a:ext cx="195072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867400" y="4724399"/>
            <a:ext cx="2209800" cy="525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457200" y="5486400"/>
            <a:ext cx="7848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values of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n determine the order of the nulls (first, second, etc.).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06633" y="6557789"/>
            <a:ext cx="4622973" cy="365125"/>
          </a:xfrm>
        </p:spPr>
        <p:txBody>
          <a:bodyPr/>
          <a:lstStyle/>
          <a:p>
            <a:r>
              <a:rPr lang="en-US" dirty="0" smtClean="0"/>
              <a:t>Amanpreet Kaur , Assistant Professor , ECED , TIET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 descr="Chapt06_Page_029"/>
          <p:cNvSpPr>
            <a:spLocks noGrp="1" noChangeAspect="1" noChangeArrowheads="1"/>
          </p:cNvSpPr>
          <p:nvPr isPhoto="1"/>
        </p:nvSpPr>
        <p:spPr bwMode="auto">
          <a:xfrm>
            <a:off x="533400" y="310167"/>
            <a:ext cx="8001000" cy="617882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 b="-2"/>
            </a:stretch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 , Assistant Professor , ECED , TIET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 descr="Chapt06_Page_031"/>
          <p:cNvSpPr>
            <a:spLocks noGrp="1" noChangeAspect="1" noChangeArrowheads="1"/>
          </p:cNvSpPr>
          <p:nvPr isPhoto="1"/>
        </p:nvSpPr>
        <p:spPr bwMode="auto">
          <a:xfrm>
            <a:off x="263525" y="0"/>
            <a:ext cx="8880475" cy="685800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 b="-2"/>
            </a:stretch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6324600"/>
            <a:ext cx="4622973" cy="365125"/>
          </a:xfrm>
        </p:spPr>
        <p:txBody>
          <a:bodyPr/>
          <a:lstStyle/>
          <a:p>
            <a:r>
              <a:rPr lang="en-US" dirty="0" smtClean="0"/>
              <a:t>Amanpreet Kaur , Assistant Professor , ECED , TIET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2514600"/>
            <a:ext cx="838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For the array factor of eqn (iv), there are secondary maxima (maxima of minor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lobes) which occur approximately when the numerator of (iv) attains its maximum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value. That is,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581400"/>
            <a:ext cx="7895308" cy="2514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The maximum values of (iv) occur when it reduces to a sin(0)/0 form.</a:t>
            </a:r>
          </a:p>
          <a:p>
            <a:endParaRPr lang="en-US" b="1" dirty="0" smtClean="0"/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1" y="609600"/>
            <a:ext cx="82296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 , Assistant Professor , ECED , TIET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304800"/>
            <a:ext cx="7848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The array factor of (iv) has only one maximum and occurs when </a:t>
            </a:r>
            <a:r>
              <a:rPr lang="en-US" b="1" i="1" dirty="0" smtClean="0"/>
              <a:t>m = 0</a:t>
            </a:r>
          </a:p>
          <a:p>
            <a:r>
              <a:rPr lang="en-US" b="1" dirty="0" smtClean="0"/>
              <a:t>That is,</a:t>
            </a:r>
          </a:p>
          <a:p>
            <a:endParaRPr lang="en-US" i="1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1066800"/>
            <a:ext cx="25908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1905892" y="2069051"/>
            <a:ext cx="69333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which is the observation angle that makes </a:t>
            </a:r>
            <a:r>
              <a:rPr lang="en-US" sz="2400" i="1" dirty="0" smtClean="0"/>
              <a:t>ψ = 0 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609600" y="2590800"/>
            <a:ext cx="7772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3-dB point for the array factor of (iv)  occurs when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42999" y="2971800"/>
            <a:ext cx="4968237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91648" y="3786243"/>
            <a:ext cx="4648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381000" y="4876800"/>
            <a:ext cx="8991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half-power beam width        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be found once the angles of the first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maximum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θm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and the half-power point (</a:t>
            </a:r>
            <a:r>
              <a:rPr lang="en-US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θh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are determined.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a symmetrical pattern</a:t>
            </a:r>
          </a:p>
          <a:p>
            <a:endParaRPr lang="en-US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433888" y="3286125"/>
            <a:ext cx="27622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433888" y="3286125"/>
            <a:ext cx="27622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443413" y="3319463"/>
            <a:ext cx="257175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278966" y="4948534"/>
            <a:ext cx="291548" cy="248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209800" y="5755354"/>
            <a:ext cx="2743200" cy="814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9600" y="6386902"/>
            <a:ext cx="4622973" cy="365125"/>
          </a:xfrm>
        </p:spPr>
        <p:txBody>
          <a:bodyPr/>
          <a:lstStyle/>
          <a:p>
            <a:r>
              <a:rPr lang="en-US" smtClean="0"/>
              <a:t>Amanpreet Kaur , Assistant Professor , ECED , TIET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 descr="Chapt06_Page_032"/>
          <p:cNvSpPr>
            <a:spLocks noGrp="1" noChangeAspect="1" noChangeArrowheads="1"/>
          </p:cNvSpPr>
          <p:nvPr isPhoto="1"/>
        </p:nvSpPr>
        <p:spPr bwMode="auto">
          <a:xfrm>
            <a:off x="131763" y="0"/>
            <a:ext cx="8880475" cy="685800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 b="-2"/>
            </a:stretch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 , Assistant Professor , ECED , TIET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74780"/>
            <a:ext cx="8525707" cy="6102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533400" y="6476999"/>
            <a:ext cx="4622973" cy="365125"/>
          </a:xfrm>
        </p:spPr>
        <p:txBody>
          <a:bodyPr/>
          <a:lstStyle/>
          <a:p>
            <a:r>
              <a:rPr lang="en-US" dirty="0" smtClean="0"/>
              <a:t>Amanpreet Kaur , Assistant Professor , ECED , TIET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703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97960"/>
            <a:ext cx="9144000" cy="61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0"/>
            <a:ext cx="1425575" cy="664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 , Assistant Professor , ECED , TIET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667528"/>
            <a:ext cx="8305800" cy="5787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0"/>
            <a:ext cx="4114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953000" y="6454870"/>
            <a:ext cx="4622973" cy="365125"/>
          </a:xfrm>
        </p:spPr>
        <p:txBody>
          <a:bodyPr/>
          <a:lstStyle/>
          <a:p>
            <a:r>
              <a:rPr lang="en-US" dirty="0" smtClean="0"/>
              <a:t>Amanpreet Kaur , Assistant Professor , ECED , TIET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38200"/>
          </a:xfrm>
        </p:spPr>
        <p:txBody>
          <a:bodyPr>
            <a:normAutofit/>
          </a:bodyPr>
          <a:lstStyle/>
          <a:p>
            <a:r>
              <a:rPr lang="en-IN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: 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600200"/>
            <a:ext cx="7315201" cy="4441163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[1]. Constantine A Balanis , “Antenna theory , Analysis and Design , 2</a:t>
            </a:r>
            <a:r>
              <a:rPr lang="en-IN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Edition”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Jhon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Wiley and Sons 2007.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Amanpreet Kaur , Assistant Professor , ECED , TIET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889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15032</TotalTime>
  <Words>591</Words>
  <Application>Microsoft Office PowerPoint</Application>
  <PresentationFormat>On-screen Show (4:3)</PresentationFormat>
  <Paragraphs>57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Times New Roman</vt:lpstr>
      <vt:lpstr>Trebuchet MS</vt:lpstr>
      <vt:lpstr>Wingdings 3</vt:lpstr>
      <vt:lpstr>Facet</vt:lpstr>
      <vt:lpstr>Uniform  Linear Antenna Arrays </vt:lpstr>
      <vt:lpstr>N-ELEMENT LINEAR ARRAY: UNIFORM AMPLITUDE AND SPACING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 : </vt:lpstr>
    </vt:vector>
  </TitlesOfParts>
  <Company>ECED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N-ELEMENT LINEAR ARRAY: UNIFORM AMPLITUDE AND SPACING</dc:title>
  <dc:creator>Dr. A.K. Chatterjee</dc:creator>
  <cp:lastModifiedBy>amanp</cp:lastModifiedBy>
  <cp:revision>55</cp:revision>
  <dcterms:created xsi:type="dcterms:W3CDTF">2010-10-08T08:00:35Z</dcterms:created>
  <dcterms:modified xsi:type="dcterms:W3CDTF">2021-05-03T14:42:53Z</dcterms:modified>
</cp:coreProperties>
</file>
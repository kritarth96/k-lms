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67" r:id="rId3"/>
    <p:sldId id="259" r:id="rId4"/>
    <p:sldId id="26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E6958-00AD-484D-81EA-6F71DF9E0FEC}" type="datetimeFigureOut">
              <a:rPr lang="en-IN" smtClean="0"/>
              <a:t>03-05-2021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C4FA2-5F48-4395-8271-6B243A947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46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5967C6-E534-4B03-91AF-65368ECF6D7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9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288" y="-8468"/>
            <a:ext cx="12226405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461" y="2404534"/>
            <a:ext cx="776895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461" y="4050835"/>
            <a:ext cx="776895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A14F5-BE61-4427-81BE-8FE03500F54A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52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347E9-46A6-4D93-82B3-4456F6730AF1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2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8" y="2700869"/>
            <a:ext cx="8463620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6834E-76F8-4297-BEAD-1B0172F1876E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6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9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160589"/>
            <a:ext cx="411747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8939" y="2160590"/>
            <a:ext cx="411748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FC80C-DA2B-46EC-97C1-0E71FC75D2F7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77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9" y="2160983"/>
            <a:ext cx="41208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799" y="2737247"/>
            <a:ext cx="4120896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5520" y="2160983"/>
            <a:ext cx="41208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5520" y="2737247"/>
            <a:ext cx="4120896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BC75E-DB10-4E06-B4D9-DEE3F68E713B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82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609600"/>
            <a:ext cx="8463619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B9C9-853D-4952-99F1-DDABF324477C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61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C7AD4-7022-44ED-BE8B-47CFEF6BCE61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0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1498604"/>
            <a:ext cx="3720243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1701" y="514926"/>
            <a:ext cx="4514716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99" y="2777069"/>
            <a:ext cx="3720243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F71C-B5BD-4A6D-8A2C-49B72D465247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6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4800600"/>
            <a:ext cx="846361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799" y="609600"/>
            <a:ext cx="846361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99" y="5367338"/>
            <a:ext cx="8463619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1629-F49A-48DF-AE9A-9880E6CD2706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4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9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4470400"/>
            <a:ext cx="846361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5952-87FB-4AB7-9820-64AA8570FDFE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71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180" y="609600"/>
            <a:ext cx="809624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68099" y="3632200"/>
            <a:ext cx="722640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470400"/>
            <a:ext cx="8463620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87FF3-5621-4A02-9AF6-B34A0613A1F8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43615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6933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2607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8" y="1931988"/>
            <a:ext cx="8463620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F213-EC32-4252-BBDF-384C18A8E1C0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45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180" y="609600"/>
            <a:ext cx="809624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6" y="4013200"/>
            <a:ext cx="846362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3B130-D0CE-4EA4-AC5E-7A2980CBFB3B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43615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6933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9676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131" y="609600"/>
            <a:ext cx="8455287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6" y="4013200"/>
            <a:ext cx="846362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F9E1-9504-45EF-B013-007611B4C10C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220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DE6A-CD55-4236-9E6A-758633D1CF0D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706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9749" y="609601"/>
            <a:ext cx="130508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99" y="609601"/>
            <a:ext cx="6926701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24EC6-5950-488F-A1DF-4B2898705214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1289" y="-8468"/>
            <a:ext cx="12226407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9" y="2160590"/>
            <a:ext cx="846361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7011" y="6041364"/>
            <a:ext cx="912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84EB0-1F5A-4422-9AFE-229B5DEC6369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799" y="6041364"/>
            <a:ext cx="61639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Amanpreet Kaur, Assistant Professor,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2902" y="6041364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31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06764" y="609600"/>
            <a:ext cx="7474549" cy="9144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Two element Antenna Array – POPM Examples 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1" y="3048001"/>
            <a:ext cx="8305801" cy="3374363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Amanpreet Kaur(Sr.)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Engineering,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Thapar Institute of Engineering and Technology, Patiala  </a:t>
            </a:r>
          </a:p>
          <a:p>
            <a:pPr marL="0" indent="0" algn="ctr">
              <a:buNone/>
            </a:pP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741" y="609601"/>
            <a:ext cx="2480490" cy="211859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662056" y="6422364"/>
            <a:ext cx="6163964" cy="365125"/>
          </a:xfrm>
        </p:spPr>
        <p:txBody>
          <a:bodyPr/>
          <a:lstStyle/>
          <a:p>
            <a:r>
              <a:rPr lang="en-US" dirty="0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3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Pattern Multiplication :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4802" y="4043228"/>
            <a:ext cx="6966944" cy="14444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2799" y="1621933"/>
            <a:ext cx="1030437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pattern multiplication states that “the radiation pattern of an array </a:t>
            </a:r>
            <a:r>
              <a:rPr lang="en-US" sz="2800" b="1" i="1" dirty="0" smtClean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similar sources is - </a:t>
            </a:r>
            <a:r>
              <a:rPr lang="en-US" sz="2800" b="1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product of the pattern of the individual antenna with the array pattern of isotropic point sources each located at the phase </a:t>
            </a:r>
            <a:r>
              <a:rPr lang="en-US" sz="2800" b="1" i="1" dirty="0" err="1" smtClean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sz="2800" b="1" i="1" dirty="0" smtClean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individual </a:t>
            </a:r>
            <a:r>
              <a:rPr lang="en-US" sz="2800" b="1" i="1" dirty="0" smtClean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source, fed with same currents as the original sources</a:t>
            </a:r>
            <a:r>
              <a:rPr lang="en-US" sz="2800" i="1" dirty="0" smtClean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8274" y="5662197"/>
            <a:ext cx="590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***The phase centre of the array is the reference point for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total phase pattern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26560" y="6492875"/>
            <a:ext cx="6163964" cy="365125"/>
          </a:xfrm>
        </p:spPr>
        <p:txBody>
          <a:bodyPr/>
          <a:lstStyle/>
          <a:p>
            <a:r>
              <a:rPr lang="en-US" dirty="0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89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38" y="274638"/>
            <a:ext cx="11049802" cy="7159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Consider the array of two infinitesimal dipoles with a total Electric field as: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9658" y="1553988"/>
            <a:ext cx="586268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8108" y="2680216"/>
            <a:ext cx="205477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849592" y="2910095"/>
            <a:ext cx="5580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Considering one case at a time for analysis purpose: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biLevel thresh="50000"/>
            <a:lum bright="-13000" contrast="11000"/>
          </a:blip>
          <a:srcRect/>
          <a:stretch>
            <a:fillRect/>
          </a:stretch>
        </p:blipFill>
        <p:spPr bwMode="auto">
          <a:xfrm>
            <a:off x="1524001" y="3525439"/>
            <a:ext cx="590596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>
            <a:biLevel thresh="50000"/>
          </a:blip>
          <a:srcRect/>
          <a:stretch>
            <a:fillRect/>
          </a:stretch>
        </p:blipFill>
        <p:spPr bwMode="auto">
          <a:xfrm>
            <a:off x="1957107" y="4969043"/>
            <a:ext cx="5645727" cy="1108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 cstate="print">
            <a:biLevel thresh="50000"/>
          </a:blip>
          <a:srcRect/>
          <a:stretch>
            <a:fillRect/>
          </a:stretch>
        </p:blipFill>
        <p:spPr bwMode="auto">
          <a:xfrm>
            <a:off x="3810000" y="6191250"/>
            <a:ext cx="339795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17599" y="6491720"/>
            <a:ext cx="6163964" cy="365125"/>
          </a:xfrm>
        </p:spPr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90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99" y="1222408"/>
            <a:ext cx="9428481" cy="48189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Plotting the radiation pattern of the individual source by equating Cos </a:t>
            </a:r>
            <a:r>
              <a:rPr lang="el-G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 (for maxima points ) and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 </a:t>
            </a: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(for minima </a:t>
            </a:r>
          </a:p>
          <a:p>
            <a:pPr marL="0" indent="0" algn="ctr">
              <a:buNone/>
            </a:pP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marL="0" indent="0" algn="ctr">
              <a:buNone/>
            </a:pP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multiplying it with the pattern of the array by equating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177" y="5182580"/>
            <a:ext cx="1934678" cy="858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37607" y="5182581"/>
            <a:ext cx="5027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0 and =1 respectively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76945" y="6189146"/>
            <a:ext cx="6163964" cy="365125"/>
          </a:xfrm>
        </p:spPr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154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biLevel thresh="50000"/>
          </a:blip>
          <a:srcRect/>
          <a:stretch>
            <a:fillRect/>
          </a:stretch>
        </p:blipFill>
        <p:spPr bwMode="auto">
          <a:xfrm>
            <a:off x="1524001" y="0"/>
            <a:ext cx="618957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biLevel thresh="50000"/>
          </a:blip>
          <a:srcRect/>
          <a:stretch>
            <a:fillRect/>
          </a:stretch>
        </p:blipFill>
        <p:spPr bwMode="auto">
          <a:xfrm>
            <a:off x="960582" y="5105400"/>
            <a:ext cx="9864436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0" y="914400"/>
            <a:ext cx="6248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496176" y="838199"/>
            <a:ext cx="3171825" cy="3207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068944" y="6477000"/>
            <a:ext cx="6163964" cy="365125"/>
          </a:xfrm>
        </p:spPr>
        <p:txBody>
          <a:bodyPr/>
          <a:lstStyle/>
          <a:p>
            <a:r>
              <a:rPr lang="en-US" dirty="0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5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04801"/>
            <a:ext cx="1600200" cy="76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biLevel thresh="50000"/>
          </a:blip>
          <a:srcRect/>
          <a:stretch>
            <a:fillRect/>
          </a:stretch>
        </p:blipFill>
        <p:spPr bwMode="auto">
          <a:xfrm>
            <a:off x="1752600" y="1066800"/>
            <a:ext cx="5105400" cy="10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biLevel thresh="50000"/>
          </a:blip>
          <a:srcRect/>
          <a:stretch>
            <a:fillRect/>
          </a:stretch>
        </p:blipFill>
        <p:spPr bwMode="auto">
          <a:xfrm>
            <a:off x="1752600" y="2133600"/>
            <a:ext cx="6474372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24202" y="3429000"/>
            <a:ext cx="5105399" cy="693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0" y="4419600"/>
            <a:ext cx="6477000" cy="1524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760270" y="210235"/>
            <a:ext cx="7838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 , for the same case taking the phase excitation difference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array elements as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pi/2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get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05729" y="6329635"/>
            <a:ext cx="6163964" cy="365125"/>
          </a:xfrm>
        </p:spPr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79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52400"/>
            <a:ext cx="683252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409058"/>
            <a:ext cx="4038600" cy="3448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932872" y="6396733"/>
            <a:ext cx="6163964" cy="365125"/>
          </a:xfrm>
        </p:spPr>
        <p:txBody>
          <a:bodyPr/>
          <a:lstStyle/>
          <a:p>
            <a:r>
              <a:rPr lang="en-US" dirty="0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69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04801"/>
            <a:ext cx="1828800" cy="102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371600"/>
            <a:ext cx="4800600" cy="1290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1" y="2895600"/>
            <a:ext cx="5551557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3962401"/>
            <a:ext cx="2514600" cy="695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90801" y="4876800"/>
            <a:ext cx="6999233" cy="1633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235116" y="304801"/>
            <a:ext cx="6742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 , for the same case taking the phase excitation difference 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array elements as –pi/2 , we get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04219" y="6492875"/>
            <a:ext cx="6163964" cy="365125"/>
          </a:xfrm>
        </p:spPr>
        <p:txBody>
          <a:bodyPr/>
          <a:lstStyle/>
          <a:p>
            <a:r>
              <a:rPr lang="en-US" dirty="0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66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0"/>
            <a:ext cx="6858000" cy="3323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1" y="3495676"/>
            <a:ext cx="4200221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04219" y="6492875"/>
            <a:ext cx="6163964" cy="365125"/>
          </a:xfrm>
        </p:spPr>
        <p:txBody>
          <a:bodyPr/>
          <a:lstStyle/>
          <a:p>
            <a:r>
              <a:rPr lang="en-US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92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 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1403" y="1295401"/>
            <a:ext cx="8685998" cy="4745963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Constantine A Balanis , “Antenna theory , Analysis and Design , 2</a:t>
            </a:r>
            <a:r>
              <a:rPr lang="en-I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Edition”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Jhon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Wiley and Sons 2007.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62626" y="6362040"/>
            <a:ext cx="6163964" cy="365125"/>
          </a:xfrm>
        </p:spPr>
        <p:txBody>
          <a:bodyPr/>
          <a:lstStyle/>
          <a:p>
            <a:r>
              <a:rPr lang="en-US" dirty="0" smtClean="0"/>
              <a:t>Amanpreet Kaur, Assistant Professor,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4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294</Words>
  <Application>Microsoft Office PowerPoint</Application>
  <PresentationFormat>Widescreen</PresentationFormat>
  <Paragraphs>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Facet</vt:lpstr>
      <vt:lpstr>Two element Antenna Array – POPM Examples </vt:lpstr>
      <vt:lpstr>Principle of Pattern Multiplication :</vt:lpstr>
      <vt:lpstr>Examples: Consider the array of two infinitesimal dipoles with a total Electric field as: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element Antenna Array – POPM Examples </dc:title>
  <dc:creator>amanp</dc:creator>
  <cp:lastModifiedBy>amanp</cp:lastModifiedBy>
  <cp:revision>9</cp:revision>
  <dcterms:created xsi:type="dcterms:W3CDTF">2021-02-22T18:47:23Z</dcterms:created>
  <dcterms:modified xsi:type="dcterms:W3CDTF">2021-05-03T14:40:05Z</dcterms:modified>
</cp:coreProperties>
</file>
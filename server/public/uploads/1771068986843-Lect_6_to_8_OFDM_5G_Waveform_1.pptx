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494" r:id="rId2"/>
    <p:sldId id="476" r:id="rId3"/>
    <p:sldId id="477" r:id="rId4"/>
    <p:sldId id="283" r:id="rId5"/>
    <p:sldId id="497" r:id="rId6"/>
    <p:sldId id="292" r:id="rId7"/>
    <p:sldId id="285" r:id="rId8"/>
    <p:sldId id="482" r:id="rId9"/>
    <p:sldId id="483" r:id="rId10"/>
    <p:sldId id="484" r:id="rId11"/>
    <p:sldId id="485" r:id="rId12"/>
    <p:sldId id="486" r:id="rId13"/>
    <p:sldId id="487" r:id="rId14"/>
    <p:sldId id="464" r:id="rId15"/>
    <p:sldId id="465" r:id="rId16"/>
    <p:sldId id="289" r:id="rId17"/>
    <p:sldId id="467" r:id="rId18"/>
    <p:sldId id="488" r:id="rId19"/>
    <p:sldId id="489" r:id="rId20"/>
    <p:sldId id="481" r:id="rId21"/>
    <p:sldId id="468" r:id="rId22"/>
    <p:sldId id="469" r:id="rId23"/>
    <p:sldId id="493" r:id="rId24"/>
    <p:sldId id="329" r:id="rId25"/>
    <p:sldId id="330" r:id="rId26"/>
    <p:sldId id="495" r:id="rId27"/>
    <p:sldId id="492" r:id="rId28"/>
    <p:sldId id="473" r:id="rId29"/>
    <p:sldId id="474" r:id="rId30"/>
    <p:sldId id="496" r:id="rId31"/>
    <p:sldId id="331" r:id="rId32"/>
    <p:sldId id="478" r:id="rId33"/>
    <p:sldId id="479" r:id="rId34"/>
    <p:sldId id="480" r:id="rId3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92D77F1-37E5-4F6B-AA61-373B6DDDA256}" type="slidenum">
              <a:rPr lang="en-US" altLang="en-US"/>
              <a:pPr>
                <a:defRPr/>
              </a:pPr>
              <a:t>‹#›</a:t>
            </a:fld>
            <a:endParaRPr lang="en-US" altLang="en-US"/>
          </a:p>
        </p:txBody>
      </p:sp>
    </p:spTree>
    <p:extLst>
      <p:ext uri="{BB962C8B-B14F-4D97-AF65-F5344CB8AC3E}">
        <p14:creationId xmlns:p14="http://schemas.microsoft.com/office/powerpoint/2010/main" val="14007912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6A9266B7-9985-4658-845D-149622F7E354}" type="slidenum">
              <a:rPr lang="en-US" altLang="en-US"/>
              <a:pPr>
                <a:spcBef>
                  <a:spcPct val="0"/>
                </a:spcBef>
              </a:pPr>
              <a:t>8</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24A87957-B6DD-4147-9E6C-4B1DB7AF9233}" type="slidenum">
              <a:rPr lang="en-US" altLang="en-US"/>
              <a:pPr>
                <a:spcBef>
                  <a:spcPct val="0"/>
                </a:spcBef>
              </a:pPr>
              <a:t>16</a:t>
            </a:fld>
            <a:endParaRPr lang="en-US" alt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B7C0B2AA-40DA-4841-9811-67B64CA77C9E}" type="slidenum">
              <a:rPr lang="en-US" altLang="en-US"/>
              <a:pPr>
                <a:spcBef>
                  <a:spcPct val="0"/>
                </a:spcBef>
              </a:pPr>
              <a:t>17</a:t>
            </a:fld>
            <a:endParaRPr lang="en-US"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8C34B24E-95B8-42A5-8CE9-C3F6EED7C13C}" type="slidenum">
              <a:rPr lang="en-US" altLang="en-US"/>
              <a:pPr>
                <a:spcBef>
                  <a:spcPct val="0"/>
                </a:spcBef>
              </a:pPr>
              <a:t>18</a:t>
            </a:fld>
            <a:endParaRPr lang="en-US" alt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E77A56D9-73D6-4779-A1BC-0354C0E04CA0}" type="slidenum">
              <a:rPr lang="en-US" altLang="en-US"/>
              <a:pPr>
                <a:spcBef>
                  <a:spcPct val="0"/>
                </a:spcBef>
              </a:pPr>
              <a:t>20</a:t>
            </a:fld>
            <a:endParaRPr lang="en-US" alt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A9D4A717-1D83-4BCF-9E0D-FDF931587D29}" type="slidenum">
              <a:rPr lang="en-US" altLang="en-US"/>
              <a:pPr>
                <a:spcBef>
                  <a:spcPct val="0"/>
                </a:spcBef>
              </a:pPr>
              <a:t>21</a:t>
            </a:fld>
            <a:endParaRPr lang="en-US" alt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D208D037-7012-4E41-A1DD-9323A2C9900C}" type="slidenum">
              <a:rPr lang="en-US" altLang="en-US"/>
              <a:pPr>
                <a:spcBef>
                  <a:spcPct val="0"/>
                </a:spcBef>
              </a:pPr>
              <a:t>22</a:t>
            </a:fld>
            <a:endParaRPr lang="en-US"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D208D037-7012-4E41-A1DD-9323A2C9900C}" type="slidenum">
              <a:rPr lang="en-US" altLang="en-US"/>
              <a:pPr>
                <a:spcBef>
                  <a:spcPct val="0"/>
                </a:spcBef>
              </a:pPr>
              <a:t>23</a:t>
            </a:fld>
            <a:endParaRPr lang="en-US"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itchFamily="34"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A011F9BE-AC4A-4FBB-A74B-B0E592B5532C}" type="slidenum">
              <a:rPr lang="en-US" altLang="en-US"/>
              <a:pPr>
                <a:spcBef>
                  <a:spcPct val="0"/>
                </a:spcBef>
              </a:pPr>
              <a:t>24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0753B51-211E-4032-83AA-4B1EBD3540B3}" type="datetime1">
              <a:rPr lang="en-US" smtClean="0"/>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E8DB82F-421D-4D2A-88D7-E216CF57FCBD}" type="slidenum">
              <a:rPr lang="en-US" altLang="en-US"/>
              <a:pPr>
                <a:defRPr/>
              </a:pPr>
              <a:t>‹#›</a:t>
            </a:fld>
            <a:endParaRPr lang="en-US" altLang="en-US"/>
          </a:p>
        </p:txBody>
      </p:sp>
    </p:spTree>
    <p:extLst>
      <p:ext uri="{BB962C8B-B14F-4D97-AF65-F5344CB8AC3E}">
        <p14:creationId xmlns:p14="http://schemas.microsoft.com/office/powerpoint/2010/main" val="2749216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9992A8D2-B22C-447E-B758-86D9B55A4FCB}" type="datetime1">
              <a:rPr lang="en-US" smtClean="0"/>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2317C8-B743-4745-AB78-E1008DA291EF}" type="slidenum">
              <a:rPr lang="en-US" altLang="en-US"/>
              <a:pPr>
                <a:defRPr/>
              </a:pPr>
              <a:t>‹#›</a:t>
            </a:fld>
            <a:endParaRPr lang="en-US" altLang="en-US"/>
          </a:p>
        </p:txBody>
      </p:sp>
    </p:spTree>
    <p:extLst>
      <p:ext uri="{BB962C8B-B14F-4D97-AF65-F5344CB8AC3E}">
        <p14:creationId xmlns:p14="http://schemas.microsoft.com/office/powerpoint/2010/main" val="392965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DC944779-B0C1-4C0F-A9B8-90F18BD3B3F9}" type="datetime1">
              <a:rPr lang="en-US" smtClean="0"/>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CC978A3-2089-41AA-BC68-D3C0FA1D491F}" type="slidenum">
              <a:rPr lang="en-US" altLang="en-US"/>
              <a:pPr>
                <a:defRPr/>
              </a:pPr>
              <a:t>‹#›</a:t>
            </a:fld>
            <a:endParaRPr lang="en-US" altLang="en-US"/>
          </a:p>
        </p:txBody>
      </p:sp>
    </p:spTree>
    <p:extLst>
      <p:ext uri="{BB962C8B-B14F-4D97-AF65-F5344CB8AC3E}">
        <p14:creationId xmlns:p14="http://schemas.microsoft.com/office/powerpoint/2010/main" val="53643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44BF338F-831F-463B-98F2-DA58BA152378}" type="datetime1">
              <a:rPr lang="en-US" smtClean="0"/>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BA21FC8-C434-4DF8-9016-7CC3D72D322F}" type="slidenum">
              <a:rPr lang="en-US" altLang="en-US"/>
              <a:pPr>
                <a:defRPr/>
              </a:pPr>
              <a:t>‹#›</a:t>
            </a:fld>
            <a:endParaRPr lang="en-US" altLang="en-US"/>
          </a:p>
        </p:txBody>
      </p:sp>
    </p:spTree>
    <p:extLst>
      <p:ext uri="{BB962C8B-B14F-4D97-AF65-F5344CB8AC3E}">
        <p14:creationId xmlns:p14="http://schemas.microsoft.com/office/powerpoint/2010/main" val="651338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B74BD8C4-4BF0-483D-B9E1-7D99FA567DA2}" type="datetime1">
              <a:rPr lang="en-US" smtClean="0"/>
              <a:t>9/2/2025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482B016-AC9D-40D8-8801-FA322F257B43}" type="slidenum">
              <a:rPr lang="en-US" altLang="en-US"/>
              <a:pPr>
                <a:defRPr/>
              </a:pPr>
              <a:t>‹#›</a:t>
            </a:fld>
            <a:endParaRPr lang="en-US" altLang="en-US"/>
          </a:p>
        </p:txBody>
      </p:sp>
    </p:spTree>
    <p:extLst>
      <p:ext uri="{BB962C8B-B14F-4D97-AF65-F5344CB8AC3E}">
        <p14:creationId xmlns:p14="http://schemas.microsoft.com/office/powerpoint/2010/main" val="3536577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32C8CF85-1CF7-4E51-9500-80105A4D0393}" type="datetime1">
              <a:rPr lang="en-US" smtClean="0"/>
              <a:t>9/2/2025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DF044B0-9D61-4976-9B80-18B441E4807C}" type="slidenum">
              <a:rPr lang="en-US" altLang="en-US"/>
              <a:pPr>
                <a:defRPr/>
              </a:pPr>
              <a:t>‹#›</a:t>
            </a:fld>
            <a:endParaRPr lang="en-US" altLang="en-US"/>
          </a:p>
        </p:txBody>
      </p:sp>
    </p:spTree>
    <p:extLst>
      <p:ext uri="{BB962C8B-B14F-4D97-AF65-F5344CB8AC3E}">
        <p14:creationId xmlns:p14="http://schemas.microsoft.com/office/powerpoint/2010/main" val="3904160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B1473E5B-AA50-4F87-964A-00E0CC138FC3}" type="datetime1">
              <a:rPr lang="en-US" smtClean="0"/>
              <a:t>9/2/2025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D83B6541-C838-4F2C-AD4F-460B7D4FFFFF}" type="slidenum">
              <a:rPr lang="en-US" altLang="en-US"/>
              <a:pPr>
                <a:defRPr/>
              </a:pPr>
              <a:t>‹#›</a:t>
            </a:fld>
            <a:endParaRPr lang="en-US" altLang="en-US"/>
          </a:p>
        </p:txBody>
      </p:sp>
    </p:spTree>
    <p:extLst>
      <p:ext uri="{BB962C8B-B14F-4D97-AF65-F5344CB8AC3E}">
        <p14:creationId xmlns:p14="http://schemas.microsoft.com/office/powerpoint/2010/main" val="3043244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5E5ACE4-86EC-4A12-98D5-999F6212E9D5}" type="datetime1">
              <a:rPr lang="en-US" smtClean="0"/>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5C06FF-6A1E-496B-9B45-04B0BD731930}" type="slidenum">
              <a:rPr lang="en-US" altLang="en-US"/>
              <a:pPr>
                <a:defRPr/>
              </a:pPr>
              <a:t>‹#›</a:t>
            </a:fld>
            <a:endParaRPr lang="en-US" altLang="en-US"/>
          </a:p>
        </p:txBody>
      </p:sp>
    </p:spTree>
    <p:extLst>
      <p:ext uri="{BB962C8B-B14F-4D97-AF65-F5344CB8AC3E}">
        <p14:creationId xmlns:p14="http://schemas.microsoft.com/office/powerpoint/2010/main" val="4136961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4AA0D4E-0403-4E88-A60B-99CB8D1FAF9A}" type="datetime1">
              <a:rPr lang="en-US" smtClean="0"/>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B6AFDEC-5FD8-4E1B-8C25-9D18C28D4ACF}" type="slidenum">
              <a:rPr lang="en-US" altLang="en-US"/>
              <a:pPr>
                <a:defRPr/>
              </a:pPr>
              <a:t>‹#›</a:t>
            </a:fld>
            <a:endParaRPr lang="en-US" altLang="en-US"/>
          </a:p>
        </p:txBody>
      </p:sp>
    </p:spTree>
    <p:extLst>
      <p:ext uri="{BB962C8B-B14F-4D97-AF65-F5344CB8AC3E}">
        <p14:creationId xmlns:p14="http://schemas.microsoft.com/office/powerpoint/2010/main" val="2230924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0B15CE20-93B3-46CB-83E0-E7C7530514C2}" type="datetime1">
              <a:rPr lang="en-US" smtClean="0"/>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149F389-2A93-4F41-9791-B422B911C017}" type="slidenum">
              <a:rPr lang="en-US" altLang="en-US"/>
              <a:pPr>
                <a:defRPr/>
              </a:pPr>
              <a:t>‹#›</a:t>
            </a:fld>
            <a:endParaRPr lang="en-US" altLang="en-US"/>
          </a:p>
        </p:txBody>
      </p:sp>
    </p:spTree>
    <p:extLst>
      <p:ext uri="{BB962C8B-B14F-4D97-AF65-F5344CB8AC3E}">
        <p14:creationId xmlns:p14="http://schemas.microsoft.com/office/powerpoint/2010/main" val="1926172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B53E732B-DDD6-48D1-B51B-838014B0BD68}" type="datetime1">
              <a:rPr lang="en-US" smtClean="0"/>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86CC45D-67FB-47EE-8BFD-50E5BBB27752}" type="slidenum">
              <a:rPr lang="en-US" altLang="en-US"/>
              <a:pPr>
                <a:defRPr/>
              </a:pPr>
              <a:t>‹#›</a:t>
            </a:fld>
            <a:endParaRPr lang="en-US" altLang="en-US"/>
          </a:p>
        </p:txBody>
      </p:sp>
    </p:spTree>
    <p:extLst>
      <p:ext uri="{BB962C8B-B14F-4D97-AF65-F5344CB8AC3E}">
        <p14:creationId xmlns:p14="http://schemas.microsoft.com/office/powerpoint/2010/main" val="404829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6"/>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396A90C2-5B61-4565-85A4-DEE6F2B62BF5}" type="datetime1">
              <a:rPr lang="en-US" smtClean="0"/>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UEC719</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56D3D1F-012C-404E-8200-5D07E6E0DFC3}" type="slidenum">
              <a:rPr lang="en-US" altLang="en-US"/>
              <a:pPr>
                <a:defRPr/>
              </a:pPr>
              <a:t>‹#›</a:t>
            </a:fld>
            <a:endParaRPr lang="en-US" altLang="en-US"/>
          </a:p>
        </p:txBody>
      </p:sp>
    </p:spTree>
    <p:extLst>
      <p:ext uri="{BB962C8B-B14F-4D97-AF65-F5344CB8AC3E}">
        <p14:creationId xmlns:p14="http://schemas.microsoft.com/office/powerpoint/2010/main" val="3804289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50">
                <a:latin typeface="Arial" charset="0"/>
              </a:defRPr>
            </a:lvl1pPr>
          </a:lstStyle>
          <a:p>
            <a:pPr>
              <a:defRPr/>
            </a:pPr>
            <a:fld id="{18C65BC6-E6E1-4671-B5EE-C962657DEE9E}" type="datetime1">
              <a:rPr lang="en-US" smtClean="0"/>
              <a:t>9/2/2025</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r>
              <a:rPr lang="en-US" smtClean="0"/>
              <a:t>UEC719</a:t>
            </a: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FA9A9820-B53E-4757-8B56-50F58A70467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39787"/>
            <a:ext cx="7772400" cy="1470025"/>
          </a:xfrm>
        </p:spPr>
        <p:txBody>
          <a:bodyPr>
            <a:normAutofit/>
          </a:bodyPr>
          <a:lstStyle/>
          <a:p>
            <a:pPr algn="ctr"/>
            <a:r>
              <a:rPr lang="en-US" sz="3200" b="1" dirty="0">
                <a:solidFill>
                  <a:srgbClr val="000099"/>
                </a:solidFill>
                <a:latin typeface="Cambria" pitchFamily="18" charset="0"/>
                <a:ea typeface="Cambria" pitchFamily="18" charset="0"/>
              </a:rPr>
              <a:t>5G WIRELESS </a:t>
            </a:r>
            <a:r>
              <a:rPr lang="en-US" sz="3200" b="1" dirty="0" smtClean="0">
                <a:solidFill>
                  <a:srgbClr val="000099"/>
                </a:solidFill>
                <a:latin typeface="Cambria" pitchFamily="18" charset="0"/>
                <a:ea typeface="Cambria" pitchFamily="18" charset="0"/>
              </a:rPr>
              <a:t>COMMUNICATION </a:t>
            </a:r>
            <a:br>
              <a:rPr lang="en-US" sz="3200" b="1" dirty="0" smtClean="0">
                <a:solidFill>
                  <a:srgbClr val="000099"/>
                </a:solidFill>
                <a:latin typeface="Cambria" pitchFamily="18" charset="0"/>
                <a:ea typeface="Cambria" pitchFamily="18" charset="0"/>
              </a:rPr>
            </a:br>
            <a:r>
              <a:rPr lang="en-US" sz="3200" b="1" dirty="0" smtClean="0">
                <a:solidFill>
                  <a:srgbClr val="000099"/>
                </a:solidFill>
                <a:latin typeface="Cambria" pitchFamily="18" charset="0"/>
                <a:ea typeface="Cambria" pitchFamily="18" charset="0"/>
              </a:rPr>
              <a:t>(UEC 719) </a:t>
            </a:r>
            <a:endParaRPr lang="en-US" sz="3200" b="1" dirty="0">
              <a:solidFill>
                <a:srgbClr val="000099"/>
              </a:solidFill>
              <a:latin typeface="Cambria" pitchFamily="18" charset="0"/>
              <a:ea typeface="Cambria" pitchFamily="18" charset="0"/>
            </a:endParaRPr>
          </a:p>
        </p:txBody>
      </p:sp>
      <p:sp>
        <p:nvSpPr>
          <p:cNvPr id="4" name="Date Placeholder 3"/>
          <p:cNvSpPr>
            <a:spLocks noGrp="1"/>
          </p:cNvSpPr>
          <p:nvPr>
            <p:ph type="dt" sz="half" idx="10"/>
          </p:nvPr>
        </p:nvSpPr>
        <p:spPr/>
        <p:txBody>
          <a:bodyPr/>
          <a:lstStyle/>
          <a:p>
            <a:pPr>
              <a:defRPr/>
            </a:pPr>
            <a:fld id="{86BF6BB9-D9E3-4814-852B-4FBB02135AA0}"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2E8DB82F-421D-4D2A-88D7-E216CF57FCBD}" type="slidenum">
              <a:rPr lang="en-US" altLang="en-US" smtClean="0"/>
              <a:pPr>
                <a:defRPr/>
              </a:pPr>
              <a:t>1</a:t>
            </a:fld>
            <a:endParaRPr lang="en-US" altLang="en-US"/>
          </a:p>
        </p:txBody>
      </p:sp>
      <p:sp>
        <p:nvSpPr>
          <p:cNvPr id="7" name="TextBox 6"/>
          <p:cNvSpPr txBox="1"/>
          <p:nvPr/>
        </p:nvSpPr>
        <p:spPr>
          <a:xfrm>
            <a:off x="249218" y="4697215"/>
            <a:ext cx="2854307" cy="1200329"/>
          </a:xfrm>
          <a:prstGeom prst="rect">
            <a:avLst/>
          </a:prstGeom>
          <a:noFill/>
        </p:spPr>
        <p:txBody>
          <a:bodyPr wrap="none" rtlCol="0">
            <a:spAutoFit/>
          </a:bodyPr>
          <a:lstStyle/>
          <a:p>
            <a:pPr algn="ctr"/>
            <a:r>
              <a:rPr lang="en-US" sz="2400" dirty="0" smtClean="0">
                <a:solidFill>
                  <a:srgbClr val="002060"/>
                </a:solidFill>
                <a:latin typeface="Cambria" pitchFamily="18" charset="0"/>
                <a:ea typeface="Cambria" pitchFamily="18" charset="0"/>
                <a:cs typeface="+mj-cs"/>
              </a:rPr>
              <a:t>Dr</a:t>
            </a:r>
            <a:r>
              <a:rPr lang="en-US" sz="2400" dirty="0">
                <a:solidFill>
                  <a:srgbClr val="002060"/>
                </a:solidFill>
                <a:latin typeface="Cambria" pitchFamily="18" charset="0"/>
                <a:ea typeface="Cambria" pitchFamily="18" charset="0"/>
                <a:cs typeface="+mj-cs"/>
              </a:rPr>
              <a:t>. </a:t>
            </a:r>
            <a:r>
              <a:rPr lang="en-US" sz="2400" dirty="0" err="1" smtClean="0">
                <a:solidFill>
                  <a:srgbClr val="002060"/>
                </a:solidFill>
                <a:latin typeface="Cambria" pitchFamily="18" charset="0"/>
                <a:ea typeface="Cambria" pitchFamily="18" charset="0"/>
                <a:cs typeface="+mj-cs"/>
              </a:rPr>
              <a:t>Amit</a:t>
            </a:r>
            <a:r>
              <a:rPr lang="en-US" sz="2400" dirty="0" smtClean="0">
                <a:solidFill>
                  <a:srgbClr val="002060"/>
                </a:solidFill>
                <a:latin typeface="Cambria" pitchFamily="18" charset="0"/>
                <a:ea typeface="Cambria" pitchFamily="18" charset="0"/>
                <a:cs typeface="+mj-cs"/>
              </a:rPr>
              <a:t> Mishra</a:t>
            </a:r>
            <a:endParaRPr lang="en-US" sz="2400" dirty="0">
              <a:solidFill>
                <a:srgbClr val="002060"/>
              </a:solidFill>
              <a:latin typeface="Cambria" pitchFamily="18" charset="0"/>
              <a:ea typeface="Cambria" pitchFamily="18" charset="0"/>
              <a:cs typeface="+mj-cs"/>
            </a:endParaRPr>
          </a:p>
          <a:p>
            <a:pPr algn="ctr"/>
            <a:r>
              <a:rPr lang="en-US" sz="2400" dirty="0">
                <a:solidFill>
                  <a:srgbClr val="002060"/>
                </a:solidFill>
                <a:latin typeface="Cambria" pitchFamily="18" charset="0"/>
                <a:ea typeface="Cambria" pitchFamily="18" charset="0"/>
                <a:cs typeface="+mj-cs"/>
              </a:rPr>
              <a:t>Associate Professor, </a:t>
            </a:r>
          </a:p>
          <a:p>
            <a:pPr algn="ctr"/>
            <a:r>
              <a:rPr lang="en-US" sz="2400" dirty="0">
                <a:solidFill>
                  <a:srgbClr val="002060"/>
                </a:solidFill>
                <a:latin typeface="Cambria" pitchFamily="18" charset="0"/>
                <a:ea typeface="Cambria" pitchFamily="18" charset="0"/>
                <a:cs typeface="+mj-cs"/>
              </a:rPr>
              <a:t>TIET, Patiala</a:t>
            </a:r>
            <a:endParaRPr lang="en-IN" sz="2400" dirty="0">
              <a:solidFill>
                <a:srgbClr val="002060"/>
              </a:solidFill>
              <a:latin typeface="Cambria" pitchFamily="18" charset="0"/>
              <a:ea typeface="Cambria" pitchFamily="18" charset="0"/>
              <a:cs typeface="+mj-cs"/>
            </a:endParaRPr>
          </a:p>
        </p:txBody>
      </p:sp>
      <p:sp>
        <p:nvSpPr>
          <p:cNvPr id="8" name="TextBox 7"/>
          <p:cNvSpPr txBox="1"/>
          <p:nvPr/>
        </p:nvSpPr>
        <p:spPr>
          <a:xfrm>
            <a:off x="5562600" y="4697214"/>
            <a:ext cx="2854307" cy="1200329"/>
          </a:xfrm>
          <a:prstGeom prst="rect">
            <a:avLst/>
          </a:prstGeom>
          <a:noFill/>
        </p:spPr>
        <p:txBody>
          <a:bodyPr wrap="none" rtlCol="0">
            <a:spAutoFit/>
          </a:bodyPr>
          <a:lstStyle/>
          <a:p>
            <a:pPr algn="ctr"/>
            <a:r>
              <a:rPr lang="en-US" sz="2400" dirty="0" smtClean="0">
                <a:solidFill>
                  <a:srgbClr val="002060"/>
                </a:solidFill>
                <a:latin typeface="Cambria" pitchFamily="18" charset="0"/>
                <a:ea typeface="Cambria" pitchFamily="18" charset="0"/>
                <a:cs typeface="+mj-cs"/>
              </a:rPr>
              <a:t>Dr</a:t>
            </a:r>
            <a:r>
              <a:rPr lang="en-US" sz="2400" dirty="0">
                <a:solidFill>
                  <a:srgbClr val="002060"/>
                </a:solidFill>
                <a:latin typeface="Cambria" pitchFamily="18" charset="0"/>
                <a:ea typeface="Cambria" pitchFamily="18" charset="0"/>
                <a:cs typeface="+mj-cs"/>
              </a:rPr>
              <a:t>. </a:t>
            </a:r>
            <a:r>
              <a:rPr lang="en-US" sz="2400" dirty="0" err="1" smtClean="0">
                <a:solidFill>
                  <a:srgbClr val="002060"/>
                </a:solidFill>
                <a:latin typeface="Cambria" pitchFamily="18" charset="0"/>
                <a:ea typeface="Cambria" pitchFamily="18" charset="0"/>
                <a:cs typeface="+mj-cs"/>
              </a:rPr>
              <a:t>Surbhi</a:t>
            </a:r>
            <a:r>
              <a:rPr lang="en-US" sz="2400" dirty="0" smtClean="0">
                <a:solidFill>
                  <a:srgbClr val="002060"/>
                </a:solidFill>
                <a:latin typeface="Cambria" pitchFamily="18" charset="0"/>
                <a:ea typeface="Cambria" pitchFamily="18" charset="0"/>
                <a:cs typeface="+mj-cs"/>
              </a:rPr>
              <a:t> Sharma</a:t>
            </a:r>
            <a:endParaRPr lang="en-US" sz="2400" dirty="0">
              <a:solidFill>
                <a:srgbClr val="002060"/>
              </a:solidFill>
              <a:latin typeface="Cambria" pitchFamily="18" charset="0"/>
              <a:ea typeface="Cambria" pitchFamily="18" charset="0"/>
              <a:cs typeface="+mj-cs"/>
            </a:endParaRPr>
          </a:p>
          <a:p>
            <a:pPr algn="ctr"/>
            <a:r>
              <a:rPr lang="en-US" sz="2400" dirty="0">
                <a:solidFill>
                  <a:srgbClr val="002060"/>
                </a:solidFill>
                <a:latin typeface="Cambria" pitchFamily="18" charset="0"/>
                <a:ea typeface="Cambria" pitchFamily="18" charset="0"/>
                <a:cs typeface="+mj-cs"/>
              </a:rPr>
              <a:t>Associate Professor, </a:t>
            </a:r>
          </a:p>
          <a:p>
            <a:pPr algn="ctr"/>
            <a:r>
              <a:rPr lang="en-US" sz="2400" dirty="0">
                <a:solidFill>
                  <a:srgbClr val="002060"/>
                </a:solidFill>
                <a:latin typeface="Cambria" pitchFamily="18" charset="0"/>
                <a:ea typeface="Cambria" pitchFamily="18" charset="0"/>
                <a:cs typeface="+mj-cs"/>
              </a:rPr>
              <a:t>TIET, Patiala</a:t>
            </a:r>
            <a:endParaRPr lang="en-IN" sz="2400" dirty="0">
              <a:solidFill>
                <a:srgbClr val="002060"/>
              </a:solidFill>
              <a:latin typeface="Cambria" pitchFamily="18" charset="0"/>
              <a:ea typeface="Cambria" pitchFamily="18" charset="0"/>
              <a:cs typeface="+mj-cs"/>
            </a:endParaRPr>
          </a:p>
        </p:txBody>
      </p:sp>
    </p:spTree>
    <p:extLst>
      <p:ext uri="{BB962C8B-B14F-4D97-AF65-F5344CB8AC3E}">
        <p14:creationId xmlns:p14="http://schemas.microsoft.com/office/powerpoint/2010/main" val="25439325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428875" y="1736725"/>
            <a:ext cx="4171950" cy="1749425"/>
          </a:xfrm>
        </p:spPr>
        <p:txBody>
          <a:bodyPr>
            <a:normAutofit fontScale="47500" lnSpcReduction="20000"/>
          </a:bodyPr>
          <a:lstStyle/>
          <a:p>
            <a:pPr algn="ctr">
              <a:buFontTx/>
              <a:buNone/>
              <a:defRPr/>
            </a:pPr>
            <a:r>
              <a:rPr lang="en-US" sz="6000" dirty="0">
                <a:solidFill>
                  <a:srgbClr val="00B0F0"/>
                </a:solidFill>
                <a:latin typeface="Cambria" pitchFamily="18" charset="0"/>
                <a:ea typeface="Cambria" pitchFamily="18" charset="0"/>
              </a:rPr>
              <a:t>Lecture: </a:t>
            </a:r>
            <a:r>
              <a:rPr lang="en-US" sz="6000" dirty="0" smtClean="0">
                <a:solidFill>
                  <a:srgbClr val="00B0F0"/>
                </a:solidFill>
                <a:latin typeface="Cambria" pitchFamily="18" charset="0"/>
                <a:ea typeface="Cambria" pitchFamily="18" charset="0"/>
              </a:rPr>
              <a:t>4 to 6</a:t>
            </a:r>
            <a:endParaRPr lang="en-US" sz="6000" dirty="0">
              <a:solidFill>
                <a:srgbClr val="00B0F0"/>
              </a:solidFill>
              <a:latin typeface="Cambria" pitchFamily="18" charset="0"/>
              <a:ea typeface="Cambria" pitchFamily="18" charset="0"/>
            </a:endParaRPr>
          </a:p>
          <a:p>
            <a:pPr algn="ctr">
              <a:buFontTx/>
              <a:buNone/>
              <a:defRPr/>
            </a:pPr>
            <a:endParaRPr lang="en-US" sz="4950" dirty="0">
              <a:solidFill>
                <a:srgbClr val="C00000"/>
              </a:solidFill>
              <a:latin typeface="Cambria" pitchFamily="18" charset="0"/>
              <a:ea typeface="Cambria" pitchFamily="18" charset="0"/>
            </a:endParaRPr>
          </a:p>
          <a:p>
            <a:pPr algn="ctr">
              <a:buFontTx/>
              <a:buNone/>
              <a:defRPr/>
            </a:pPr>
            <a:r>
              <a:rPr lang="en-US" sz="6000" dirty="0">
                <a:solidFill>
                  <a:srgbClr val="C00000"/>
                </a:solidFill>
                <a:latin typeface="Cambria" pitchFamily="18" charset="0"/>
                <a:ea typeface="Cambria" pitchFamily="18" charset="0"/>
              </a:rPr>
              <a:t>Waveform for 5G</a:t>
            </a:r>
          </a:p>
          <a:p>
            <a:pPr algn="ctr">
              <a:buFontTx/>
              <a:buNone/>
              <a:defRPr/>
            </a:pPr>
            <a:r>
              <a:rPr lang="en-US" sz="6000" dirty="0">
                <a:solidFill>
                  <a:srgbClr val="C00000"/>
                </a:solidFill>
                <a:latin typeface="Cambria" pitchFamily="18" charset="0"/>
                <a:ea typeface="Cambria" pitchFamily="18" charset="0"/>
              </a:rPr>
              <a:t>(OFDM)</a:t>
            </a:r>
            <a:endParaRPr lang="en-US" sz="1725" dirty="0">
              <a:solidFill>
                <a:srgbClr val="C00000"/>
              </a:solidFill>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470CDF1B-5F06-4E8F-883C-B22CB5B9031D}" type="datetime1">
              <a:rPr lang="en-US" smtClean="0"/>
              <a:t>9/2/2025</a:t>
            </a:fld>
            <a:endParaRPr lang="en-US"/>
          </a:p>
        </p:txBody>
      </p:sp>
      <p:sp>
        <p:nvSpPr>
          <p:cNvPr id="4" name="Footer Placeholder 3"/>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D83B6541-C838-4F2C-AD4F-460B7D4FFFFF}" type="slidenum">
              <a:rPr lang="en-US" altLang="en-US" smtClean="0"/>
              <a:pPr>
                <a:defRPr/>
              </a:pPr>
              <a:t>2</a:t>
            </a:fld>
            <a:endParaRPr lang="en-US"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4294967295"/>
          </p:nvPr>
        </p:nvSpPr>
        <p:spPr>
          <a:xfrm>
            <a:off x="2209800" y="182563"/>
            <a:ext cx="4171950" cy="490537"/>
          </a:xfrm>
        </p:spPr>
        <p:txBody>
          <a:bodyPr/>
          <a:lstStyle/>
          <a:p>
            <a:pPr algn="ctr">
              <a:buFontTx/>
              <a:buNone/>
            </a:pPr>
            <a:r>
              <a:rPr lang="en-US" altLang="en-US" sz="3300" smtClean="0">
                <a:solidFill>
                  <a:srgbClr val="00B0F0"/>
                </a:solidFill>
                <a:latin typeface="Cambria" pitchFamily="18" charset="0"/>
                <a:ea typeface="Cambria" pitchFamily="18" charset="0"/>
              </a:rPr>
              <a:t>Contents of Lecture </a:t>
            </a:r>
          </a:p>
        </p:txBody>
      </p:sp>
      <p:sp>
        <p:nvSpPr>
          <p:cNvPr id="7" name="Rectangle 6"/>
          <p:cNvSpPr/>
          <p:nvPr/>
        </p:nvSpPr>
        <p:spPr>
          <a:xfrm>
            <a:off x="228600" y="914400"/>
            <a:ext cx="8534400" cy="4154984"/>
          </a:xfrm>
          <a:prstGeom prst="rect">
            <a:avLst/>
          </a:prstGeom>
        </p:spPr>
        <p:txBody>
          <a:bodyPr>
            <a:spAutoFit/>
          </a:bodyPr>
          <a:lstStyle/>
          <a:p>
            <a:pPr marL="214313" indent="-214313" algn="just" eaLnBrk="1" hangingPunct="1">
              <a:lnSpc>
                <a:spcPct val="150000"/>
              </a:lnSpc>
              <a:buFont typeface="Arial" panose="020B0604020202020204" pitchFamily="34" charset="0"/>
              <a:buChar char="•"/>
              <a:defRPr/>
            </a:pPr>
            <a:r>
              <a:rPr lang="en-US" sz="2200" dirty="0">
                <a:solidFill>
                  <a:srgbClr val="C00000"/>
                </a:solidFill>
                <a:latin typeface="Cambria" pitchFamily="18" charset="0"/>
                <a:ea typeface="Cambria" pitchFamily="18" charset="0"/>
              </a:rPr>
              <a:t>Need of </a:t>
            </a:r>
            <a:r>
              <a:rPr lang="en-US" sz="2200" b="1" dirty="0">
                <a:solidFill>
                  <a:srgbClr val="C00000"/>
                </a:solidFill>
                <a:latin typeface="Cambria" pitchFamily="18" charset="0"/>
                <a:ea typeface="Cambria" pitchFamily="18" charset="0"/>
              </a:rPr>
              <a:t>multi-carrier</a:t>
            </a:r>
            <a:r>
              <a:rPr lang="en-US" sz="2200" dirty="0">
                <a:solidFill>
                  <a:srgbClr val="C00000"/>
                </a:solidFill>
                <a:latin typeface="Cambria" pitchFamily="18" charset="0"/>
                <a:ea typeface="Cambria" pitchFamily="18" charset="0"/>
              </a:rPr>
              <a:t> communication system</a:t>
            </a:r>
          </a:p>
          <a:p>
            <a:pPr marL="214313" indent="-214313" algn="just" eaLnBrk="1" hangingPunct="1">
              <a:lnSpc>
                <a:spcPct val="150000"/>
              </a:lnSpc>
              <a:buFont typeface="Arial" panose="020B0604020202020204" pitchFamily="34" charset="0"/>
              <a:buChar char="•"/>
              <a:defRPr/>
            </a:pPr>
            <a:r>
              <a:rPr lang="en-US" sz="2200" b="1" dirty="0">
                <a:solidFill>
                  <a:srgbClr val="C00000"/>
                </a:solidFill>
                <a:latin typeface="Cambria" pitchFamily="18" charset="0"/>
                <a:ea typeface="Cambria" pitchFamily="18" charset="0"/>
              </a:rPr>
              <a:t>Frequency Selective </a:t>
            </a:r>
            <a:r>
              <a:rPr lang="en-US" sz="2200" dirty="0">
                <a:solidFill>
                  <a:srgbClr val="C00000"/>
                </a:solidFill>
                <a:latin typeface="Cambria" pitchFamily="18" charset="0"/>
                <a:ea typeface="Cambria" pitchFamily="18" charset="0"/>
              </a:rPr>
              <a:t>and </a:t>
            </a:r>
            <a:r>
              <a:rPr lang="en-US" sz="2200" b="1" dirty="0">
                <a:solidFill>
                  <a:srgbClr val="C00000"/>
                </a:solidFill>
                <a:latin typeface="Cambria" pitchFamily="18" charset="0"/>
                <a:ea typeface="Cambria" pitchFamily="18" charset="0"/>
              </a:rPr>
              <a:t>Flat Fading </a:t>
            </a:r>
            <a:r>
              <a:rPr lang="en-US" sz="2200" dirty="0">
                <a:solidFill>
                  <a:srgbClr val="C00000"/>
                </a:solidFill>
                <a:latin typeface="Cambria" pitchFamily="18" charset="0"/>
                <a:ea typeface="Cambria" pitchFamily="18" charset="0"/>
              </a:rPr>
              <a:t>Channel Characteristic </a:t>
            </a:r>
          </a:p>
          <a:p>
            <a:pPr marL="214313" indent="-214313" algn="just" eaLnBrk="1" hangingPunct="1">
              <a:lnSpc>
                <a:spcPct val="150000"/>
              </a:lnSpc>
              <a:buFont typeface="Arial" panose="020B0604020202020204" pitchFamily="34" charset="0"/>
              <a:buChar char="•"/>
              <a:defRPr/>
            </a:pPr>
            <a:r>
              <a:rPr lang="en-US" sz="2200" b="1" dirty="0">
                <a:solidFill>
                  <a:srgbClr val="C00000"/>
                </a:solidFill>
                <a:latin typeface="Cambria" pitchFamily="18" charset="0"/>
                <a:ea typeface="Cambria" pitchFamily="18" charset="0"/>
              </a:rPr>
              <a:t>Orthogonal Frequency Division Multiplexing </a:t>
            </a:r>
            <a:r>
              <a:rPr lang="en-US" sz="2200" dirty="0">
                <a:solidFill>
                  <a:srgbClr val="C00000"/>
                </a:solidFill>
                <a:latin typeface="Cambria" pitchFamily="18" charset="0"/>
                <a:ea typeface="Cambria" pitchFamily="18" charset="0"/>
              </a:rPr>
              <a:t>(Introduction)</a:t>
            </a:r>
          </a:p>
          <a:p>
            <a:pPr marL="214313" indent="-214313" algn="just" eaLnBrk="1" hangingPunct="1">
              <a:lnSpc>
                <a:spcPct val="150000"/>
              </a:lnSpc>
              <a:buFont typeface="Arial" panose="020B0604020202020204" pitchFamily="34" charset="0"/>
              <a:buChar char="•"/>
              <a:defRPr/>
            </a:pPr>
            <a:r>
              <a:rPr lang="en-US" sz="2200" b="1" dirty="0">
                <a:solidFill>
                  <a:srgbClr val="C00000"/>
                </a:solidFill>
                <a:latin typeface="Cambria" pitchFamily="18" charset="0"/>
                <a:ea typeface="Cambria" pitchFamily="18" charset="0"/>
              </a:rPr>
              <a:t>Historical</a:t>
            </a:r>
            <a:r>
              <a:rPr lang="en-US" sz="2200" dirty="0">
                <a:solidFill>
                  <a:srgbClr val="C00000"/>
                </a:solidFill>
                <a:latin typeface="Cambria" pitchFamily="18" charset="0"/>
                <a:ea typeface="Cambria" pitchFamily="18" charset="0"/>
              </a:rPr>
              <a:t> Development of OFDM </a:t>
            </a:r>
          </a:p>
          <a:p>
            <a:pPr marL="214313" indent="-214313" algn="just" eaLnBrk="1" hangingPunct="1">
              <a:lnSpc>
                <a:spcPct val="150000"/>
              </a:lnSpc>
              <a:buFont typeface="Arial" panose="020B0604020202020204" pitchFamily="34" charset="0"/>
              <a:buChar char="•"/>
              <a:defRPr/>
            </a:pPr>
            <a:r>
              <a:rPr lang="en-US" sz="2200" dirty="0">
                <a:solidFill>
                  <a:srgbClr val="C00000"/>
                </a:solidFill>
                <a:latin typeface="Cambria" pitchFamily="18" charset="0"/>
                <a:ea typeface="Cambria" pitchFamily="18" charset="0"/>
              </a:rPr>
              <a:t>OFDM </a:t>
            </a:r>
            <a:r>
              <a:rPr lang="en-US" sz="2200" b="1" dirty="0">
                <a:solidFill>
                  <a:srgbClr val="C00000"/>
                </a:solidFill>
                <a:latin typeface="Cambria" pitchFamily="18" charset="0"/>
                <a:ea typeface="Cambria" pitchFamily="18" charset="0"/>
              </a:rPr>
              <a:t>principle</a:t>
            </a:r>
          </a:p>
          <a:p>
            <a:pPr marL="214313" indent="-214313" algn="just" eaLnBrk="1" hangingPunct="1">
              <a:lnSpc>
                <a:spcPct val="150000"/>
              </a:lnSpc>
              <a:buFont typeface="Arial" panose="020B0604020202020204" pitchFamily="34" charset="0"/>
              <a:buChar char="•"/>
              <a:defRPr/>
            </a:pPr>
            <a:r>
              <a:rPr lang="en-US" sz="2200" b="1" dirty="0">
                <a:solidFill>
                  <a:srgbClr val="C00000"/>
                </a:solidFill>
                <a:latin typeface="Cambria" pitchFamily="18" charset="0"/>
                <a:ea typeface="Cambria" pitchFamily="18" charset="0"/>
              </a:rPr>
              <a:t>Principle</a:t>
            </a:r>
            <a:r>
              <a:rPr lang="en-US" sz="2200" dirty="0">
                <a:solidFill>
                  <a:srgbClr val="C00000"/>
                </a:solidFill>
                <a:latin typeface="Cambria" pitchFamily="18" charset="0"/>
                <a:ea typeface="Cambria" pitchFamily="18" charset="0"/>
              </a:rPr>
              <a:t> of Orthogonality</a:t>
            </a:r>
          </a:p>
          <a:p>
            <a:pPr marL="214313" indent="-214313" algn="just" eaLnBrk="1" hangingPunct="1">
              <a:lnSpc>
                <a:spcPct val="150000"/>
              </a:lnSpc>
              <a:buFont typeface="Arial" panose="020B0604020202020204" pitchFamily="34" charset="0"/>
              <a:buChar char="•"/>
              <a:defRPr/>
            </a:pPr>
            <a:r>
              <a:rPr lang="en-US" sz="2200" b="1" dirty="0" smtClean="0">
                <a:solidFill>
                  <a:srgbClr val="C00000"/>
                </a:solidFill>
                <a:latin typeface="Cambria" pitchFamily="18" charset="0"/>
                <a:ea typeface="Cambria" pitchFamily="18" charset="0"/>
              </a:rPr>
              <a:t>Advantages</a:t>
            </a:r>
            <a:r>
              <a:rPr lang="en-US" sz="2200" dirty="0" smtClean="0">
                <a:solidFill>
                  <a:srgbClr val="C00000"/>
                </a:solidFill>
                <a:latin typeface="Cambria" pitchFamily="18" charset="0"/>
                <a:ea typeface="Cambria" pitchFamily="18" charset="0"/>
              </a:rPr>
              <a:t> of OFDM System</a:t>
            </a:r>
            <a:endParaRPr lang="en-US" sz="2200" dirty="0">
              <a:solidFill>
                <a:srgbClr val="C00000"/>
              </a:solidFill>
              <a:latin typeface="Cambria" pitchFamily="18" charset="0"/>
              <a:ea typeface="Cambria" pitchFamily="18" charset="0"/>
            </a:endParaRPr>
          </a:p>
          <a:p>
            <a:pPr marL="214313" indent="-214313" algn="just" eaLnBrk="1" hangingPunct="1">
              <a:lnSpc>
                <a:spcPct val="150000"/>
              </a:lnSpc>
              <a:buFont typeface="Arial" panose="020B0604020202020204" pitchFamily="34" charset="0"/>
              <a:buChar char="•"/>
              <a:defRPr/>
            </a:pPr>
            <a:r>
              <a:rPr lang="en-US" sz="2200" dirty="0">
                <a:solidFill>
                  <a:srgbClr val="C00000"/>
                </a:solidFill>
                <a:latin typeface="Cambria" pitchFamily="18" charset="0"/>
                <a:ea typeface="Cambria" pitchFamily="18" charset="0"/>
              </a:rPr>
              <a:t>Major </a:t>
            </a:r>
            <a:r>
              <a:rPr lang="en-US" sz="2200" b="1" dirty="0">
                <a:solidFill>
                  <a:srgbClr val="C00000"/>
                </a:solidFill>
                <a:latin typeface="Cambria" pitchFamily="18" charset="0"/>
                <a:ea typeface="Cambria" pitchFamily="18" charset="0"/>
              </a:rPr>
              <a:t>Challenges </a:t>
            </a:r>
            <a:r>
              <a:rPr lang="en-US" sz="2200" dirty="0">
                <a:solidFill>
                  <a:srgbClr val="C00000"/>
                </a:solidFill>
                <a:latin typeface="Cambria" pitchFamily="18" charset="0"/>
                <a:ea typeface="Cambria" pitchFamily="18" charset="0"/>
              </a:rPr>
              <a:t>of OFDM System</a:t>
            </a:r>
          </a:p>
        </p:txBody>
      </p:sp>
      <p:sp>
        <p:nvSpPr>
          <p:cNvPr id="2" name="Date Placeholder 1"/>
          <p:cNvSpPr>
            <a:spLocks noGrp="1"/>
          </p:cNvSpPr>
          <p:nvPr>
            <p:ph type="dt" sz="half" idx="10"/>
          </p:nvPr>
        </p:nvSpPr>
        <p:spPr/>
        <p:txBody>
          <a:bodyPr/>
          <a:lstStyle/>
          <a:p>
            <a:pPr>
              <a:defRPr/>
            </a:pPr>
            <a:fld id="{38B963A6-D80B-43D8-A89E-A57907A59052}"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4" name="Slide Number Placeholder 3"/>
          <p:cNvSpPr>
            <a:spLocks noGrp="1"/>
          </p:cNvSpPr>
          <p:nvPr>
            <p:ph type="sldNum" sz="quarter" idx="12"/>
          </p:nvPr>
        </p:nvSpPr>
        <p:spPr/>
        <p:txBody>
          <a:bodyPr/>
          <a:lstStyle/>
          <a:p>
            <a:pPr>
              <a:defRPr/>
            </a:pPr>
            <a:fld id="{D83B6541-C838-4F2C-AD4F-460B7D4FFFFF}" type="slidenum">
              <a:rPr lang="en-US" altLang="en-US" smtClean="0"/>
              <a:pPr>
                <a:defRPr/>
              </a:pPr>
              <a:t>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circle(in)">
                                      <p:cBhvr>
                                        <p:cTn id="7" dur="2000"/>
                                        <p:tgtEl>
                                          <p:spTgt spid="40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build="p"/>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228600"/>
            <a:ext cx="7772400" cy="593725"/>
          </a:xfrm>
        </p:spPr>
        <p:txBody>
          <a:bodyPr/>
          <a:lstStyle/>
          <a:p>
            <a:pPr eaLnBrk="1" hangingPunct="1">
              <a:defRPr/>
            </a:pPr>
            <a:r>
              <a:rPr lang="en-US" sz="2200" b="1" cap="all" dirty="0">
                <a:latin typeface="Cambria" pitchFamily="18" charset="0"/>
                <a:ea typeface="Cambria" pitchFamily="18" charset="0"/>
              </a:rPr>
              <a:t>Need of multi-carrier communication system</a:t>
            </a:r>
            <a:r>
              <a:rPr lang="fr-FR" altLang="en-US" sz="2200" b="1" dirty="0">
                <a:latin typeface="Cambria" pitchFamily="18" charset="0"/>
                <a:ea typeface="Cambria" pitchFamily="18" charset="0"/>
              </a:rPr>
              <a:t/>
            </a:r>
            <a:br>
              <a:rPr lang="fr-FR" altLang="en-US" sz="2200" b="1" dirty="0">
                <a:latin typeface="Cambria" pitchFamily="18" charset="0"/>
                <a:ea typeface="Cambria" pitchFamily="18" charset="0"/>
              </a:rPr>
            </a:br>
            <a:r>
              <a:rPr lang="en-US" altLang="en-US" sz="2200" dirty="0">
                <a:latin typeface="Cambria" pitchFamily="18" charset="0"/>
                <a:ea typeface="Cambria" pitchFamily="18" charset="0"/>
              </a:rPr>
              <a:t>[T. S. Rappaport (2002)]</a:t>
            </a:r>
            <a:endParaRPr lang="en-US" altLang="en-US" sz="2200" i="1" dirty="0">
              <a:latin typeface="Cambria" pitchFamily="18" charset="0"/>
              <a:ea typeface="Cambria" pitchFamily="18" charset="0"/>
            </a:endParaRPr>
          </a:p>
        </p:txBody>
      </p:sp>
      <p:sp>
        <p:nvSpPr>
          <p:cNvPr id="5123" name="Rectangle 3"/>
          <p:cNvSpPr>
            <a:spLocks noGrp="1" noChangeArrowheads="1"/>
          </p:cNvSpPr>
          <p:nvPr>
            <p:ph type="body" idx="1"/>
          </p:nvPr>
        </p:nvSpPr>
        <p:spPr>
          <a:xfrm>
            <a:off x="304800" y="1447800"/>
            <a:ext cx="8686800" cy="4343400"/>
          </a:xfrm>
        </p:spPr>
        <p:txBody>
          <a:bodyPr/>
          <a:lstStyle/>
          <a:p>
            <a:pPr algn="just" eaLnBrk="1" hangingPunct="1">
              <a:buFont typeface="Wingdings" pitchFamily="2" charset="2"/>
              <a:buChar char="Ø"/>
            </a:pPr>
            <a:r>
              <a:rPr lang="en-US" altLang="en-US" sz="2200" dirty="0" smtClean="0">
                <a:latin typeface="Cambria" pitchFamily="18" charset="0"/>
                <a:ea typeface="Cambria" pitchFamily="18" charset="0"/>
              </a:rPr>
              <a:t>The main limitation of FDMA and TDMA are the capacity.</a:t>
            </a:r>
          </a:p>
          <a:p>
            <a:pPr algn="just" eaLnBrk="1" hangingPunct="1">
              <a:buFont typeface="Wingdings" pitchFamily="2" charset="2"/>
              <a:buChar char="Ø"/>
            </a:pPr>
            <a:r>
              <a:rPr lang="en-US" altLang="en-US" sz="2200" dirty="0" smtClean="0">
                <a:latin typeface="Cambria" pitchFamily="18" charset="0"/>
                <a:ea typeface="Cambria" pitchFamily="18" charset="0"/>
              </a:rPr>
              <a:t>CDMA techniques can potentially accommodates </a:t>
            </a:r>
            <a:r>
              <a:rPr lang="en-US" altLang="en-US" sz="2200" b="1" dirty="0" smtClean="0">
                <a:latin typeface="Cambria" pitchFamily="18" charset="0"/>
                <a:ea typeface="Cambria" pitchFamily="18" charset="0"/>
              </a:rPr>
              <a:t>more users </a:t>
            </a:r>
            <a:r>
              <a:rPr lang="en-US" altLang="en-US" sz="2200" dirty="0" smtClean="0">
                <a:latin typeface="Cambria" pitchFamily="18" charset="0"/>
                <a:ea typeface="Cambria" pitchFamily="18" charset="0"/>
              </a:rPr>
              <a:t>than either TDMA or FDMA.</a:t>
            </a:r>
          </a:p>
          <a:p>
            <a:pPr algn="just" eaLnBrk="1" hangingPunct="1">
              <a:buFont typeface="Wingdings" pitchFamily="2" charset="2"/>
              <a:buChar char="Ø"/>
            </a:pPr>
            <a:r>
              <a:rPr lang="en-US" altLang="en-US" sz="2200" b="1" dirty="0" smtClean="0">
                <a:latin typeface="Cambria" pitchFamily="18" charset="0"/>
                <a:ea typeface="Cambria" pitchFamily="18" charset="0"/>
              </a:rPr>
              <a:t>W-CDMA</a:t>
            </a:r>
            <a:r>
              <a:rPr lang="en-US" altLang="en-US" sz="2200" dirty="0" smtClean="0">
                <a:latin typeface="Cambria" pitchFamily="18" charset="0"/>
                <a:ea typeface="Cambria" pitchFamily="18" charset="0"/>
              </a:rPr>
              <a:t> is a 3G wireless standard, evolved from CDMA to support the wideband services at </a:t>
            </a:r>
            <a:r>
              <a:rPr lang="en-US" altLang="en-US" sz="2200" b="1" dirty="0" smtClean="0">
                <a:latin typeface="Cambria" pitchFamily="18" charset="0"/>
                <a:ea typeface="Cambria" pitchFamily="18" charset="0"/>
              </a:rPr>
              <a:t>data rate </a:t>
            </a:r>
            <a:r>
              <a:rPr lang="en-US" altLang="en-US" sz="2200" dirty="0" smtClean="0">
                <a:latin typeface="Cambria" pitchFamily="18" charset="0"/>
                <a:ea typeface="Cambria" pitchFamily="18" charset="0"/>
              </a:rPr>
              <a:t>as high as </a:t>
            </a:r>
            <a:r>
              <a:rPr lang="en-US" altLang="en-US" sz="2200" b="1" dirty="0" smtClean="0">
                <a:latin typeface="Cambria" pitchFamily="18" charset="0"/>
                <a:ea typeface="Cambria" pitchFamily="18" charset="0"/>
              </a:rPr>
              <a:t>2 Mbps</a:t>
            </a:r>
            <a:r>
              <a:rPr lang="en-US" altLang="en-US" sz="2200" dirty="0" smtClean="0">
                <a:latin typeface="Cambria" pitchFamily="18" charset="0"/>
                <a:ea typeface="Cambria" pitchFamily="18" charset="0"/>
              </a:rPr>
              <a:t>.</a:t>
            </a:r>
          </a:p>
          <a:p>
            <a:pPr algn="just" eaLnBrk="1" hangingPunct="1">
              <a:buFont typeface="Wingdings" pitchFamily="2" charset="2"/>
              <a:buChar char="Ø"/>
            </a:pPr>
            <a:r>
              <a:rPr lang="en-US" altLang="en-US" sz="2200" dirty="0" smtClean="0">
                <a:latin typeface="Cambria" pitchFamily="18" charset="0"/>
                <a:ea typeface="Cambria" pitchFamily="18" charset="0"/>
              </a:rPr>
              <a:t>CDMA used in 2G systems and W-CDMA  used in 3G systems have a common problem of </a:t>
            </a:r>
            <a:r>
              <a:rPr lang="en-US" altLang="en-US" sz="2200" b="1" i="1" dirty="0" smtClean="0">
                <a:latin typeface="Cambria" pitchFamily="18" charset="0"/>
                <a:ea typeface="Cambria" pitchFamily="18" charset="0"/>
              </a:rPr>
              <a:t>frequency selective multipath fading.</a:t>
            </a:r>
          </a:p>
          <a:p>
            <a:pPr algn="just" eaLnBrk="1" hangingPunct="1">
              <a:buFont typeface="Wingdings" pitchFamily="2" charset="2"/>
              <a:buChar char="Ø"/>
            </a:pPr>
            <a:r>
              <a:rPr lang="en-US" altLang="en-US" sz="2200" b="1" i="1" dirty="0" smtClean="0">
                <a:latin typeface="Cambria" pitchFamily="18" charset="0"/>
                <a:ea typeface="Cambria" pitchFamily="18" charset="0"/>
              </a:rPr>
              <a:t>Frequency selective multipath fading </a:t>
            </a:r>
            <a:r>
              <a:rPr lang="en-US" altLang="en-US" sz="2200" dirty="0" smtClean="0">
                <a:latin typeface="Cambria" pitchFamily="18" charset="0"/>
                <a:ea typeface="Cambria" pitchFamily="18" charset="0"/>
              </a:rPr>
              <a:t>is common in urban and indoor environment and is significant source of performance degradation.</a:t>
            </a:r>
          </a:p>
          <a:p>
            <a:pPr algn="just" eaLnBrk="1" hangingPunct="1">
              <a:buFont typeface="Wingdings" pitchFamily="2" charset="2"/>
              <a:buChar char="Ø"/>
            </a:pPr>
            <a:r>
              <a:rPr lang="en-US" altLang="en-US" sz="2200" dirty="0" smtClean="0">
                <a:latin typeface="Cambria" pitchFamily="18" charset="0"/>
                <a:ea typeface="Cambria" pitchFamily="18" charset="0"/>
              </a:rPr>
              <a:t>The performance </a:t>
            </a:r>
            <a:r>
              <a:rPr lang="en-US" altLang="en-US" sz="2200" b="1" dirty="0" smtClean="0">
                <a:latin typeface="Cambria" pitchFamily="18" charset="0"/>
                <a:ea typeface="Cambria" pitchFamily="18" charset="0"/>
              </a:rPr>
              <a:t>degrade</a:t>
            </a:r>
            <a:r>
              <a:rPr lang="en-US" altLang="en-US" sz="2200" dirty="0" smtClean="0">
                <a:latin typeface="Cambria" pitchFamily="18" charset="0"/>
                <a:ea typeface="Cambria" pitchFamily="18" charset="0"/>
              </a:rPr>
              <a:t> more if the number of </a:t>
            </a:r>
            <a:r>
              <a:rPr lang="en-US" altLang="en-US" sz="2200" b="1" dirty="0" smtClean="0">
                <a:latin typeface="Cambria" pitchFamily="18" charset="0"/>
                <a:ea typeface="Cambria" pitchFamily="18" charset="0"/>
              </a:rPr>
              <a:t>users increases</a:t>
            </a:r>
            <a:r>
              <a:rPr lang="en-US" altLang="en-US" sz="2200" dirty="0" smtClean="0">
                <a:latin typeface="Cambria" pitchFamily="18" charset="0"/>
                <a:ea typeface="Cambria" pitchFamily="18" charset="0"/>
              </a:rPr>
              <a:t>.</a:t>
            </a:r>
          </a:p>
        </p:txBody>
      </p:sp>
      <p:sp>
        <p:nvSpPr>
          <p:cNvPr id="2" name="Date Placeholder 1"/>
          <p:cNvSpPr>
            <a:spLocks noGrp="1"/>
          </p:cNvSpPr>
          <p:nvPr>
            <p:ph type="dt" sz="half" idx="10"/>
          </p:nvPr>
        </p:nvSpPr>
        <p:spPr/>
        <p:txBody>
          <a:bodyPr/>
          <a:lstStyle/>
          <a:p>
            <a:pPr>
              <a:defRPr/>
            </a:pPr>
            <a:fld id="{6C595EBF-5503-4516-A27D-BB3B5E78CEA8}"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4</a:t>
            </a:fld>
            <a:endParaRPr lang="en-US"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314450" y="304800"/>
            <a:ext cx="6172200" cy="952500"/>
          </a:xfrm>
        </p:spPr>
        <p:txBody>
          <a:bodyPr/>
          <a:lstStyle/>
          <a:p>
            <a:pPr eaLnBrk="1" hangingPunct="1"/>
            <a:r>
              <a:rPr lang="en-US" altLang="en-US" sz="2800" b="1" dirty="0" smtClean="0">
                <a:latin typeface="Cambria" pitchFamily="18" charset="0"/>
                <a:ea typeface="Cambria" pitchFamily="18" charset="0"/>
              </a:rPr>
              <a:t>Flat Fading</a:t>
            </a:r>
            <a:br>
              <a:rPr lang="en-US" altLang="en-US" sz="2800" b="1" dirty="0" smtClean="0">
                <a:latin typeface="Cambria" pitchFamily="18" charset="0"/>
                <a:ea typeface="Cambria" pitchFamily="18" charset="0"/>
              </a:rPr>
            </a:br>
            <a:r>
              <a:rPr lang="en-US" altLang="en-US" sz="2800" dirty="0" smtClean="0">
                <a:solidFill>
                  <a:srgbClr val="000000"/>
                </a:solidFill>
                <a:latin typeface="Cambria" pitchFamily="18" charset="0"/>
                <a:ea typeface="Cambria" pitchFamily="18" charset="0"/>
              </a:rPr>
              <a:t> [T. S. Rappaport (2002)]</a:t>
            </a:r>
            <a:endParaRPr lang="en-US" altLang="en-US" sz="2800" dirty="0" smtClean="0">
              <a:latin typeface="Cambria" pitchFamily="18" charset="0"/>
              <a:ea typeface="Cambria" pitchFamily="18" charset="0"/>
            </a:endParaRPr>
          </a:p>
        </p:txBody>
      </p:sp>
      <p:sp>
        <p:nvSpPr>
          <p:cNvPr id="7171" name="Content Placeholder 2"/>
          <p:cNvSpPr>
            <a:spLocks noGrp="1"/>
          </p:cNvSpPr>
          <p:nvPr>
            <p:ph idx="1"/>
          </p:nvPr>
        </p:nvSpPr>
        <p:spPr>
          <a:xfrm>
            <a:off x="1485900" y="1600200"/>
            <a:ext cx="6343650" cy="1085850"/>
          </a:xfrm>
        </p:spPr>
        <p:txBody>
          <a:bodyPr/>
          <a:lstStyle/>
          <a:p>
            <a:pPr algn="ctr" eaLnBrk="1" hangingPunct="1">
              <a:buFontTx/>
              <a:buNone/>
            </a:pPr>
            <a:r>
              <a:rPr lang="en-US" altLang="en-US" sz="2200" b="1" dirty="0" smtClean="0">
                <a:latin typeface="Cambria" pitchFamily="18" charset="0"/>
                <a:ea typeface="Cambria" pitchFamily="18" charset="0"/>
              </a:rPr>
              <a:t>Symbol Period    </a:t>
            </a:r>
            <a:r>
              <a:rPr lang="en-US" altLang="en-US" sz="2200" dirty="0" smtClean="0">
                <a:latin typeface="Cambria" pitchFamily="18" charset="0"/>
                <a:ea typeface="Cambria" pitchFamily="18" charset="0"/>
              </a:rPr>
              <a:t>&gt;    </a:t>
            </a:r>
            <a:r>
              <a:rPr lang="en-US" altLang="en-US" sz="2200" b="1" dirty="0" smtClean="0">
                <a:latin typeface="Cambria" pitchFamily="18" charset="0"/>
                <a:ea typeface="Cambria" pitchFamily="18" charset="0"/>
              </a:rPr>
              <a:t>delay spread </a:t>
            </a:r>
            <a:r>
              <a:rPr lang="en-US" altLang="en-US" sz="2200" dirty="0" smtClean="0">
                <a:latin typeface="Cambria" pitchFamily="18" charset="0"/>
                <a:ea typeface="Cambria" pitchFamily="18" charset="0"/>
              </a:rPr>
              <a:t>of channel</a:t>
            </a:r>
          </a:p>
          <a:p>
            <a:pPr algn="ctr" eaLnBrk="1" hangingPunct="1">
              <a:buFontTx/>
              <a:buNone/>
            </a:pPr>
            <a:r>
              <a:rPr lang="en-US" altLang="en-US" sz="2200" b="1" dirty="0">
                <a:latin typeface="Cambria" pitchFamily="18" charset="0"/>
                <a:ea typeface="Cambria" pitchFamily="18" charset="0"/>
              </a:rPr>
              <a:t>o</a:t>
            </a:r>
            <a:r>
              <a:rPr lang="en-US" altLang="en-US" sz="2200" b="1" dirty="0" smtClean="0">
                <a:latin typeface="Cambria" pitchFamily="18" charset="0"/>
                <a:ea typeface="Cambria" pitchFamily="18" charset="0"/>
              </a:rPr>
              <a:t>r</a:t>
            </a:r>
          </a:p>
          <a:p>
            <a:pPr algn="ctr" eaLnBrk="1" hangingPunct="1">
              <a:buFontTx/>
              <a:buNone/>
            </a:pPr>
            <a:r>
              <a:rPr lang="en-US" altLang="en-US" sz="2200" b="1" dirty="0" smtClean="0">
                <a:latin typeface="Cambria" pitchFamily="18" charset="0"/>
                <a:ea typeface="Cambria" pitchFamily="18" charset="0"/>
              </a:rPr>
              <a:t>Band Width </a:t>
            </a:r>
            <a:r>
              <a:rPr lang="en-US" altLang="en-US" sz="2200" dirty="0" smtClean="0">
                <a:latin typeface="Cambria" pitchFamily="18" charset="0"/>
                <a:ea typeface="Cambria" pitchFamily="18" charset="0"/>
              </a:rPr>
              <a:t>of Signal   &lt;     </a:t>
            </a:r>
            <a:r>
              <a:rPr lang="en-US" altLang="en-US" sz="2200" b="1" dirty="0" smtClean="0">
                <a:latin typeface="Cambria" pitchFamily="18" charset="0"/>
                <a:ea typeface="Cambria" pitchFamily="18" charset="0"/>
              </a:rPr>
              <a:t>Bandwidth</a:t>
            </a:r>
            <a:r>
              <a:rPr lang="en-US" altLang="en-US" sz="2200" dirty="0" smtClean="0">
                <a:latin typeface="Cambria" pitchFamily="18" charset="0"/>
                <a:ea typeface="Cambria" pitchFamily="18" charset="0"/>
              </a:rPr>
              <a:t> of Channel</a:t>
            </a:r>
          </a:p>
        </p:txBody>
      </p:sp>
      <p:pic>
        <p:nvPicPr>
          <p:cNvPr id="71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827" y="3028949"/>
            <a:ext cx="8160173" cy="3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CA4A9C3A-BE99-4A5E-9264-04AFD9B0B695}"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5</a:t>
            </a:fld>
            <a:endParaRPr lang="en-US" altLang="en-US"/>
          </a:p>
        </p:txBody>
      </p:sp>
    </p:spTree>
    <p:extLst>
      <p:ext uri="{BB962C8B-B14F-4D97-AF65-F5344CB8AC3E}">
        <p14:creationId xmlns:p14="http://schemas.microsoft.com/office/powerpoint/2010/main" val="27341086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468438" y="228600"/>
            <a:ext cx="6172200" cy="762000"/>
          </a:xfrm>
        </p:spPr>
        <p:txBody>
          <a:bodyPr/>
          <a:lstStyle/>
          <a:p>
            <a:pPr eaLnBrk="1" hangingPunct="1"/>
            <a:r>
              <a:rPr lang="en-US" altLang="en-US" sz="2800" b="1" dirty="0" smtClean="0">
                <a:latin typeface="Cambria" pitchFamily="18" charset="0"/>
                <a:ea typeface="Cambria" pitchFamily="18" charset="0"/>
              </a:rPr>
              <a:t>Frequency Selective Fading</a:t>
            </a:r>
            <a:br>
              <a:rPr lang="en-US" altLang="en-US" sz="2800" b="1" dirty="0" smtClean="0">
                <a:latin typeface="Cambria" pitchFamily="18" charset="0"/>
                <a:ea typeface="Cambria" pitchFamily="18" charset="0"/>
              </a:rPr>
            </a:br>
            <a:r>
              <a:rPr lang="en-US" altLang="en-US" sz="2800" dirty="0" smtClean="0">
                <a:latin typeface="Cambria" pitchFamily="18" charset="0"/>
                <a:ea typeface="Cambria" pitchFamily="18" charset="0"/>
              </a:rPr>
              <a:t> [T. S. Rappaport (2002)]</a:t>
            </a:r>
            <a:endParaRPr lang="en-US" altLang="en-US" sz="2800" b="1" dirty="0" smtClean="0">
              <a:latin typeface="Cambria" pitchFamily="18" charset="0"/>
              <a:ea typeface="Cambria" pitchFamily="18" charset="0"/>
            </a:endParaRPr>
          </a:p>
        </p:txBody>
      </p:sp>
      <p:sp>
        <p:nvSpPr>
          <p:cNvPr id="6147" name="Content Placeholder 2"/>
          <p:cNvSpPr>
            <a:spLocks noGrp="1"/>
          </p:cNvSpPr>
          <p:nvPr>
            <p:ph idx="1"/>
          </p:nvPr>
        </p:nvSpPr>
        <p:spPr>
          <a:xfrm>
            <a:off x="1287463" y="1295400"/>
            <a:ext cx="6343650" cy="1085850"/>
          </a:xfrm>
        </p:spPr>
        <p:txBody>
          <a:bodyPr/>
          <a:lstStyle/>
          <a:p>
            <a:pPr algn="ctr" eaLnBrk="1" hangingPunct="1">
              <a:buFontTx/>
              <a:buNone/>
            </a:pPr>
            <a:r>
              <a:rPr lang="en-US" altLang="en-US" sz="2200" b="1" dirty="0" smtClean="0">
                <a:latin typeface="Cambria" pitchFamily="18" charset="0"/>
                <a:ea typeface="Cambria" pitchFamily="18" charset="0"/>
              </a:rPr>
              <a:t>Symbol Period  </a:t>
            </a:r>
            <a:r>
              <a:rPr lang="en-US" altLang="en-US" sz="2200" dirty="0" smtClean="0">
                <a:latin typeface="Cambria" pitchFamily="18" charset="0"/>
                <a:ea typeface="Cambria" pitchFamily="18" charset="0"/>
              </a:rPr>
              <a:t>&lt;  </a:t>
            </a:r>
            <a:r>
              <a:rPr lang="en-US" altLang="en-US" sz="2200" b="1" dirty="0" smtClean="0">
                <a:latin typeface="Cambria" pitchFamily="18" charset="0"/>
                <a:ea typeface="Cambria" pitchFamily="18" charset="0"/>
              </a:rPr>
              <a:t>delay spread </a:t>
            </a:r>
            <a:r>
              <a:rPr lang="en-US" altLang="en-US" sz="2200" dirty="0" smtClean="0">
                <a:latin typeface="Cambria" pitchFamily="18" charset="0"/>
                <a:ea typeface="Cambria" pitchFamily="18" charset="0"/>
              </a:rPr>
              <a:t>of channel</a:t>
            </a:r>
          </a:p>
          <a:p>
            <a:pPr algn="ctr" eaLnBrk="1" hangingPunct="1">
              <a:buFontTx/>
              <a:buNone/>
            </a:pPr>
            <a:r>
              <a:rPr lang="en-US" altLang="en-US" sz="2200" b="1" dirty="0" smtClean="0">
                <a:latin typeface="Cambria" pitchFamily="18" charset="0"/>
                <a:ea typeface="Cambria" pitchFamily="18" charset="0"/>
              </a:rPr>
              <a:t>or</a:t>
            </a:r>
          </a:p>
          <a:p>
            <a:pPr algn="ctr" eaLnBrk="1" hangingPunct="1">
              <a:buFontTx/>
              <a:buNone/>
            </a:pPr>
            <a:r>
              <a:rPr lang="en-US" altLang="en-US" sz="2200" b="1" dirty="0" smtClean="0">
                <a:latin typeface="Cambria" pitchFamily="18" charset="0"/>
                <a:ea typeface="Cambria" pitchFamily="18" charset="0"/>
              </a:rPr>
              <a:t>Band Width </a:t>
            </a:r>
            <a:r>
              <a:rPr lang="en-US" altLang="en-US" sz="2200" dirty="0" smtClean="0">
                <a:latin typeface="Cambria" pitchFamily="18" charset="0"/>
                <a:ea typeface="Cambria" pitchFamily="18" charset="0"/>
              </a:rPr>
              <a:t>of Signal &gt; </a:t>
            </a:r>
            <a:r>
              <a:rPr lang="en-US" altLang="en-US" sz="2200" b="1" dirty="0" smtClean="0">
                <a:latin typeface="Cambria" pitchFamily="18" charset="0"/>
                <a:ea typeface="Cambria" pitchFamily="18" charset="0"/>
              </a:rPr>
              <a:t>Bandwidth</a:t>
            </a:r>
            <a:r>
              <a:rPr lang="en-US" altLang="en-US" sz="2200" dirty="0" smtClean="0">
                <a:latin typeface="Cambria" pitchFamily="18" charset="0"/>
                <a:ea typeface="Cambria" pitchFamily="18" charset="0"/>
              </a:rPr>
              <a:t> of Channel</a:t>
            </a:r>
          </a:p>
        </p:txBody>
      </p:sp>
      <p:pic>
        <p:nvPicPr>
          <p:cNvPr id="614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895600"/>
            <a:ext cx="8374912" cy="363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7D586CA7-29C3-4CC9-B735-9049DDECABE1}"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6</a:t>
            </a:fld>
            <a:endParaRPr lang="en-US"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8200" y="228600"/>
            <a:ext cx="7315200" cy="514350"/>
          </a:xfrm>
        </p:spPr>
        <p:txBody>
          <a:bodyPr/>
          <a:lstStyle/>
          <a:p>
            <a:pPr eaLnBrk="1" hangingPunct="1"/>
            <a:r>
              <a:rPr lang="fr-FR" altLang="en-US" sz="2800" b="1" dirty="0" smtClean="0">
                <a:solidFill>
                  <a:srgbClr val="FF0000"/>
                </a:solidFill>
                <a:latin typeface="Cambria" pitchFamily="18" charset="0"/>
                <a:ea typeface="Cambria" pitchFamily="18" charset="0"/>
              </a:rPr>
              <a:t>Evolution of Multi-Carrier Communication</a:t>
            </a:r>
            <a:endParaRPr lang="en-US" altLang="en-US" sz="2800" b="1" dirty="0" smtClean="0">
              <a:solidFill>
                <a:srgbClr val="FF0000"/>
              </a:solidFill>
              <a:latin typeface="Cambria" pitchFamily="18" charset="0"/>
              <a:ea typeface="Cambria" pitchFamily="18" charset="0"/>
            </a:endParaRPr>
          </a:p>
        </p:txBody>
      </p:sp>
      <p:sp>
        <p:nvSpPr>
          <p:cNvPr id="8195" name="Rectangle 3"/>
          <p:cNvSpPr>
            <a:spLocks noGrp="1" noChangeArrowheads="1"/>
          </p:cNvSpPr>
          <p:nvPr>
            <p:ph type="body" idx="1"/>
          </p:nvPr>
        </p:nvSpPr>
        <p:spPr>
          <a:xfrm>
            <a:off x="685800" y="1143000"/>
            <a:ext cx="8001000" cy="5029200"/>
          </a:xfrm>
        </p:spPr>
        <p:txBody>
          <a:bodyPr/>
          <a:lstStyle/>
          <a:p>
            <a:pPr algn="just" eaLnBrk="1" hangingPunct="1">
              <a:buFont typeface="Wingdings" pitchFamily="2" charset="2"/>
              <a:buChar char="§"/>
            </a:pPr>
            <a:r>
              <a:rPr lang="en-US" altLang="en-US" sz="2200" dirty="0" smtClean="0">
                <a:latin typeface="Cambria" pitchFamily="18" charset="0"/>
                <a:ea typeface="Cambria" pitchFamily="18" charset="0"/>
              </a:rPr>
              <a:t>The solution of </a:t>
            </a:r>
            <a:r>
              <a:rPr lang="en-US" altLang="en-US" sz="2200" b="1" i="1" dirty="0" smtClean="0">
                <a:latin typeface="Cambria" pitchFamily="18" charset="0"/>
                <a:ea typeface="Cambria" pitchFamily="18" charset="0"/>
              </a:rPr>
              <a:t>frequency selective fading</a:t>
            </a:r>
            <a:r>
              <a:rPr lang="en-US" altLang="en-US" sz="2200" dirty="0" smtClean="0">
                <a:latin typeface="Cambria" pitchFamily="18" charset="0"/>
                <a:ea typeface="Cambria" pitchFamily="18" charset="0"/>
              </a:rPr>
              <a:t> is to use </a:t>
            </a:r>
            <a:r>
              <a:rPr lang="en-US" altLang="en-US" sz="2200" b="1" dirty="0" smtClean="0">
                <a:latin typeface="Cambria" pitchFamily="18" charset="0"/>
                <a:ea typeface="Cambria" pitchFamily="18" charset="0"/>
              </a:rPr>
              <a:t>narrow band </a:t>
            </a:r>
            <a:r>
              <a:rPr lang="en-US" altLang="en-US" sz="2200" dirty="0" smtClean="0">
                <a:latin typeface="Cambria" pitchFamily="18" charset="0"/>
                <a:ea typeface="Cambria" pitchFamily="18" charset="0"/>
              </a:rPr>
              <a:t>(large duration) signal.</a:t>
            </a:r>
          </a:p>
          <a:p>
            <a:pPr algn="just" eaLnBrk="1" hangingPunct="1">
              <a:buFont typeface="Wingdings" pitchFamily="2" charset="2"/>
              <a:buChar char="§"/>
            </a:pPr>
            <a:endParaRPr lang="en-US" altLang="en-US" sz="2200" dirty="0" smtClean="0">
              <a:latin typeface="Cambria" pitchFamily="18" charset="0"/>
              <a:ea typeface="Cambria" pitchFamily="18" charset="0"/>
            </a:endParaRPr>
          </a:p>
          <a:p>
            <a:pPr algn="just" eaLnBrk="1" hangingPunct="1">
              <a:buFont typeface="Wingdings" pitchFamily="2" charset="2"/>
              <a:buChar char="§"/>
            </a:pPr>
            <a:r>
              <a:rPr lang="en-US" altLang="en-US" sz="2200" dirty="0" smtClean="0">
                <a:latin typeface="Cambria" pitchFamily="18" charset="0"/>
                <a:ea typeface="Cambria" pitchFamily="18" charset="0"/>
              </a:rPr>
              <a:t>But </a:t>
            </a:r>
            <a:r>
              <a:rPr lang="en-US" altLang="en-US" sz="2200" b="1" dirty="0" smtClean="0">
                <a:latin typeface="Cambria" pitchFamily="18" charset="0"/>
                <a:ea typeface="Cambria" pitchFamily="18" charset="0"/>
              </a:rPr>
              <a:t>broad band </a:t>
            </a:r>
            <a:r>
              <a:rPr lang="en-US" altLang="en-US" sz="2200" dirty="0" smtClean="0">
                <a:latin typeface="Cambria" pitchFamily="18" charset="0"/>
                <a:ea typeface="Cambria" pitchFamily="18" charset="0"/>
              </a:rPr>
              <a:t>signals are required for </a:t>
            </a:r>
            <a:r>
              <a:rPr lang="en-US" altLang="en-US" sz="2200" b="1" dirty="0" smtClean="0">
                <a:latin typeface="Cambria" pitchFamily="18" charset="0"/>
                <a:ea typeface="Cambria" pitchFamily="18" charset="0"/>
              </a:rPr>
              <a:t>multimedia</a:t>
            </a:r>
            <a:r>
              <a:rPr lang="en-US" altLang="en-US" sz="2200" dirty="0" smtClean="0">
                <a:latin typeface="Cambria" pitchFamily="18" charset="0"/>
                <a:ea typeface="Cambria" pitchFamily="18" charset="0"/>
              </a:rPr>
              <a:t> applications (for </a:t>
            </a:r>
            <a:r>
              <a:rPr lang="en-US" altLang="en-US" sz="2200" b="1" dirty="0" smtClean="0">
                <a:latin typeface="Cambria" pitchFamily="18" charset="0"/>
                <a:ea typeface="Cambria" pitchFamily="18" charset="0"/>
              </a:rPr>
              <a:t>3G</a:t>
            </a:r>
            <a:r>
              <a:rPr lang="en-US" altLang="en-US" sz="2200" dirty="0" smtClean="0">
                <a:latin typeface="Cambria" pitchFamily="18" charset="0"/>
                <a:ea typeface="Cambria" pitchFamily="18" charset="0"/>
              </a:rPr>
              <a:t> and </a:t>
            </a:r>
            <a:r>
              <a:rPr lang="en-US" altLang="en-US" sz="2200" b="1" dirty="0" smtClean="0">
                <a:latin typeface="Cambria" pitchFamily="18" charset="0"/>
                <a:ea typeface="Cambria" pitchFamily="18" charset="0"/>
              </a:rPr>
              <a:t>4G</a:t>
            </a:r>
            <a:r>
              <a:rPr lang="en-US" altLang="en-US" sz="2200" dirty="0" smtClean="0">
                <a:latin typeface="Cambria" pitchFamily="18" charset="0"/>
                <a:ea typeface="Cambria" pitchFamily="18" charset="0"/>
              </a:rPr>
              <a:t>)</a:t>
            </a:r>
          </a:p>
          <a:p>
            <a:pPr algn="just" eaLnBrk="1" hangingPunct="1">
              <a:buFont typeface="Wingdings" pitchFamily="2" charset="2"/>
              <a:buChar char="§"/>
            </a:pPr>
            <a:endParaRPr lang="en-US" altLang="en-US" sz="2200" dirty="0" smtClean="0">
              <a:latin typeface="Cambria" pitchFamily="18" charset="0"/>
              <a:ea typeface="Cambria" pitchFamily="18" charset="0"/>
            </a:endParaRPr>
          </a:p>
          <a:p>
            <a:pPr algn="just" eaLnBrk="1" hangingPunct="1">
              <a:buFont typeface="Wingdings" pitchFamily="2" charset="2"/>
              <a:buChar char="§"/>
            </a:pPr>
            <a:r>
              <a:rPr lang="en-US" altLang="en-US" sz="2200" dirty="0" smtClean="0">
                <a:latin typeface="Cambria" pitchFamily="18" charset="0"/>
                <a:ea typeface="Cambria" pitchFamily="18" charset="0"/>
              </a:rPr>
              <a:t>Hence </a:t>
            </a:r>
            <a:r>
              <a:rPr lang="en-US" altLang="en-US" sz="2200" b="1" dirty="0" smtClean="0">
                <a:latin typeface="Cambria" pitchFamily="18" charset="0"/>
                <a:ea typeface="Cambria" pitchFamily="18" charset="0"/>
              </a:rPr>
              <a:t>parallel</a:t>
            </a:r>
            <a:r>
              <a:rPr lang="en-US" altLang="en-US" sz="2200" dirty="0" smtClean="0">
                <a:latin typeface="Cambria" pitchFamily="18" charset="0"/>
                <a:ea typeface="Cambria" pitchFamily="18" charset="0"/>
              </a:rPr>
              <a:t> transmission with </a:t>
            </a:r>
            <a:r>
              <a:rPr lang="en-US" altLang="en-US" sz="2200" b="1" dirty="0" smtClean="0">
                <a:latin typeface="Cambria" pitchFamily="18" charset="0"/>
                <a:ea typeface="Cambria" pitchFamily="18" charset="0"/>
              </a:rPr>
              <a:t>multi-carrier</a:t>
            </a:r>
            <a:r>
              <a:rPr lang="en-US" altLang="en-US" sz="2200" dirty="0" smtClean="0">
                <a:latin typeface="Cambria" pitchFamily="18" charset="0"/>
                <a:ea typeface="Cambria" pitchFamily="18" charset="0"/>
              </a:rPr>
              <a:t> modulation has been proposed to </a:t>
            </a:r>
            <a:r>
              <a:rPr lang="en-US" altLang="en-US" sz="2200" b="1" dirty="0" smtClean="0">
                <a:latin typeface="Cambria" pitchFamily="18" charset="0"/>
                <a:ea typeface="Cambria" pitchFamily="18" charset="0"/>
              </a:rPr>
              <a:t>solve</a:t>
            </a:r>
            <a:r>
              <a:rPr lang="en-US" altLang="en-US" sz="2200" dirty="0" smtClean="0">
                <a:latin typeface="Cambria" pitchFamily="18" charset="0"/>
                <a:ea typeface="Cambria" pitchFamily="18" charset="0"/>
              </a:rPr>
              <a:t> the problem.</a:t>
            </a:r>
          </a:p>
          <a:p>
            <a:pPr algn="just" eaLnBrk="1" hangingPunct="1">
              <a:buFontTx/>
              <a:buNone/>
            </a:pPr>
            <a:endParaRPr lang="en-US" altLang="en-US" sz="2200" dirty="0" smtClean="0">
              <a:latin typeface="Cambria" pitchFamily="18" charset="0"/>
              <a:ea typeface="Cambria" pitchFamily="18" charset="0"/>
            </a:endParaRPr>
          </a:p>
          <a:p>
            <a:pPr algn="just" eaLnBrk="1" hangingPunct="1">
              <a:buFontTx/>
              <a:buNone/>
            </a:pPr>
            <a:r>
              <a:rPr lang="en-US" altLang="en-US" sz="2200" dirty="0" smtClean="0">
                <a:latin typeface="Cambria" pitchFamily="18" charset="0"/>
                <a:ea typeface="Cambria" pitchFamily="18" charset="0"/>
              </a:rPr>
              <a:t>Two such systems are </a:t>
            </a:r>
          </a:p>
          <a:p>
            <a:pPr algn="just" eaLnBrk="1" hangingPunct="1">
              <a:buFont typeface="Wingdings" pitchFamily="2" charset="2"/>
              <a:buChar char="§"/>
            </a:pPr>
            <a:r>
              <a:rPr lang="en-US" altLang="en-US" sz="2200" b="1" dirty="0" smtClean="0">
                <a:latin typeface="Cambria" pitchFamily="18" charset="0"/>
                <a:ea typeface="Cambria" pitchFamily="18" charset="0"/>
              </a:rPr>
              <a:t>OFDM</a:t>
            </a:r>
            <a:r>
              <a:rPr lang="en-US" altLang="en-US" sz="2200" dirty="0" smtClean="0">
                <a:latin typeface="Cambria" pitchFamily="18" charset="0"/>
                <a:ea typeface="Cambria" pitchFamily="18" charset="0"/>
              </a:rPr>
              <a:t> (Orthogonal Frequency Division Multiplexing)</a:t>
            </a:r>
          </a:p>
          <a:p>
            <a:pPr algn="just" eaLnBrk="1" hangingPunct="1">
              <a:buFont typeface="Wingdings" pitchFamily="2" charset="2"/>
              <a:buChar char="§"/>
            </a:pPr>
            <a:r>
              <a:rPr lang="en-US" altLang="en-US" sz="2200" b="1" dirty="0" smtClean="0">
                <a:latin typeface="Cambria" pitchFamily="18" charset="0"/>
                <a:ea typeface="Cambria" pitchFamily="18" charset="0"/>
              </a:rPr>
              <a:t>MC-CDMA</a:t>
            </a:r>
            <a:r>
              <a:rPr lang="en-US" altLang="en-US" sz="2200" dirty="0" smtClean="0">
                <a:latin typeface="Cambria" pitchFamily="18" charset="0"/>
                <a:ea typeface="Cambria" pitchFamily="18" charset="0"/>
              </a:rPr>
              <a:t> (Multi Carrier-CDMA)</a:t>
            </a:r>
          </a:p>
          <a:p>
            <a:pPr algn="just" eaLnBrk="1" hangingPunct="1">
              <a:buFont typeface="Wingdings" pitchFamily="2" charset="2"/>
              <a:buChar char="§"/>
            </a:pPr>
            <a:endParaRPr lang="en-US" altLang="en-US" sz="2200" dirty="0" smtClean="0">
              <a:latin typeface="Cambria" pitchFamily="18" charset="0"/>
              <a:ea typeface="Cambria" pitchFamily="18" charset="0"/>
            </a:endParaRPr>
          </a:p>
          <a:p>
            <a:pPr algn="just" eaLnBrk="1" hangingPunct="1">
              <a:buFont typeface="Wingdings" pitchFamily="2" charset="2"/>
              <a:buChar char="§"/>
            </a:pPr>
            <a:endParaRPr lang="en-US" altLang="en-US" sz="2200" dirty="0" smtClean="0">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2E2A2A6D-E2E3-455C-89AE-7C4290A64982}"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7</a:t>
            </a:fld>
            <a:endParaRPr lang="en-US"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399" y="3428999"/>
            <a:ext cx="8868297" cy="327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000" y="838200"/>
            <a:ext cx="70881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6A928FCA-2995-45F6-AB48-216C0EA2B189}"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8</a:t>
            </a:fld>
            <a:endParaRPr lang="en-US" altLang="en-US"/>
          </a:p>
        </p:txBody>
      </p:sp>
      <p:sp>
        <p:nvSpPr>
          <p:cNvPr id="10" name="Rectangle 3"/>
          <p:cNvSpPr>
            <a:spLocks noGrp="1" noChangeArrowheads="1"/>
          </p:cNvSpPr>
          <p:nvPr>
            <p:ph type="title"/>
          </p:nvPr>
        </p:nvSpPr>
        <p:spPr>
          <a:xfrm>
            <a:off x="1066800" y="152400"/>
            <a:ext cx="6567488" cy="381000"/>
          </a:xfrm>
        </p:spPr>
        <p:txBody>
          <a:bodyPr/>
          <a:lstStyle/>
          <a:p>
            <a:pPr eaLnBrk="1" hangingPunct="1"/>
            <a:r>
              <a:rPr lang="en-US" altLang="en-US" sz="2800" b="1" dirty="0" smtClean="0">
                <a:solidFill>
                  <a:srgbClr val="FF0000"/>
                </a:solidFill>
                <a:latin typeface="Cambria" pitchFamily="18" charset="0"/>
                <a:ea typeface="Cambria" pitchFamily="18" charset="0"/>
              </a:rPr>
              <a:t>Illustration of Multipath Interference</a:t>
            </a:r>
            <a:endParaRPr lang="fr-FR" altLang="en-US" sz="2800" b="1" dirty="0" smtClean="0">
              <a:solidFill>
                <a:srgbClr val="FF0000"/>
              </a:solidFill>
              <a:latin typeface="Cambria" pitchFamily="18" charset="0"/>
              <a:ea typeface="Cambria"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8199"/>
            <a:ext cx="8588220" cy="5792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p:cNvSpPr>
            <a:spLocks noGrp="1" noChangeArrowheads="1"/>
          </p:cNvSpPr>
          <p:nvPr>
            <p:ph type="title"/>
          </p:nvPr>
        </p:nvSpPr>
        <p:spPr>
          <a:xfrm>
            <a:off x="1066800" y="152400"/>
            <a:ext cx="6567488" cy="381000"/>
          </a:xfrm>
        </p:spPr>
        <p:txBody>
          <a:bodyPr/>
          <a:lstStyle/>
          <a:p>
            <a:pPr eaLnBrk="1" hangingPunct="1"/>
            <a:r>
              <a:rPr lang="en-US" altLang="en-US" sz="2800" b="1" dirty="0" smtClean="0">
                <a:solidFill>
                  <a:srgbClr val="FF0000"/>
                </a:solidFill>
                <a:latin typeface="Cambria" pitchFamily="18" charset="0"/>
                <a:ea typeface="Cambria" pitchFamily="18" charset="0"/>
              </a:rPr>
              <a:t>Illustration of Multipath Interference</a:t>
            </a:r>
            <a:endParaRPr lang="fr-FR" altLang="en-US" sz="2800" b="1" dirty="0" smtClean="0">
              <a:solidFill>
                <a:srgbClr val="FF0000"/>
              </a:solidFill>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FBC8301E-8173-4704-AAB3-2419D26C3167}"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9</a:t>
            </a:fld>
            <a:endParaRPr lang="en-US"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0"/>
            <a:ext cx="8001000" cy="574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3165FF5B-B496-4E80-9699-E98927D70FCB}"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10</a:t>
            </a:fld>
            <a:endParaRPr lang="en-US" altLang="en-US"/>
          </a:p>
        </p:txBody>
      </p:sp>
      <p:sp>
        <p:nvSpPr>
          <p:cNvPr id="9" name="Rectangle 3"/>
          <p:cNvSpPr>
            <a:spLocks noGrp="1" noChangeArrowheads="1"/>
          </p:cNvSpPr>
          <p:nvPr>
            <p:ph type="title"/>
          </p:nvPr>
        </p:nvSpPr>
        <p:spPr>
          <a:xfrm>
            <a:off x="1066800" y="152400"/>
            <a:ext cx="6567488" cy="381000"/>
          </a:xfrm>
        </p:spPr>
        <p:txBody>
          <a:bodyPr/>
          <a:lstStyle/>
          <a:p>
            <a:pPr eaLnBrk="1" hangingPunct="1"/>
            <a:r>
              <a:rPr lang="en-US" altLang="en-US" sz="2800" b="1" dirty="0" smtClean="0">
                <a:solidFill>
                  <a:srgbClr val="FF0000"/>
                </a:solidFill>
                <a:latin typeface="Cambria" pitchFamily="18" charset="0"/>
                <a:ea typeface="Cambria" pitchFamily="18" charset="0"/>
              </a:rPr>
              <a:t>Illustration of Multipath Interference</a:t>
            </a:r>
            <a:endParaRPr lang="fr-FR" altLang="en-US" sz="2800" b="1" dirty="0" smtClean="0">
              <a:solidFill>
                <a:srgbClr val="FF0000"/>
              </a:solidFill>
              <a:latin typeface="Cambria" pitchFamily="18" charset="0"/>
              <a:ea typeface="Cambria"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391400" cy="591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00828D64-E6DA-4475-8F78-4E5CE67F5EE4}"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11</a:t>
            </a:fld>
            <a:endParaRPr lang="en-US" altLang="en-US"/>
          </a:p>
        </p:txBody>
      </p:sp>
      <p:sp>
        <p:nvSpPr>
          <p:cNvPr id="9" name="Rectangle 3"/>
          <p:cNvSpPr>
            <a:spLocks noGrp="1" noChangeArrowheads="1"/>
          </p:cNvSpPr>
          <p:nvPr>
            <p:ph type="title"/>
          </p:nvPr>
        </p:nvSpPr>
        <p:spPr>
          <a:xfrm>
            <a:off x="1066800" y="152400"/>
            <a:ext cx="6567488" cy="381000"/>
          </a:xfrm>
        </p:spPr>
        <p:txBody>
          <a:bodyPr/>
          <a:lstStyle/>
          <a:p>
            <a:pPr eaLnBrk="1" hangingPunct="1"/>
            <a:r>
              <a:rPr lang="en-US" altLang="en-US" sz="2800" b="1" dirty="0" smtClean="0">
                <a:solidFill>
                  <a:srgbClr val="FF0000"/>
                </a:solidFill>
                <a:latin typeface="Cambria" pitchFamily="18" charset="0"/>
                <a:ea typeface="Cambria" pitchFamily="18" charset="0"/>
              </a:rPr>
              <a:t>Illustration of Multipath Interference</a:t>
            </a:r>
            <a:endParaRPr lang="fr-FR" altLang="en-US" sz="2800" b="1" dirty="0" smtClean="0">
              <a:solidFill>
                <a:srgbClr val="FF0000"/>
              </a:solidFill>
              <a:latin typeface="Cambria" pitchFamily="18" charset="0"/>
              <a:ea typeface="Cambria"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85800"/>
            <a:ext cx="7377113" cy="58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C612ADF9-F138-4710-BC9F-0F1B6BB4D678}"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12</a:t>
            </a:fld>
            <a:endParaRPr lang="en-US" altLang="en-US"/>
          </a:p>
        </p:txBody>
      </p:sp>
      <p:sp>
        <p:nvSpPr>
          <p:cNvPr id="9" name="Rectangle 3"/>
          <p:cNvSpPr>
            <a:spLocks noGrp="1" noChangeArrowheads="1"/>
          </p:cNvSpPr>
          <p:nvPr>
            <p:ph type="title"/>
          </p:nvPr>
        </p:nvSpPr>
        <p:spPr>
          <a:xfrm>
            <a:off x="1066800" y="152400"/>
            <a:ext cx="6567488" cy="381000"/>
          </a:xfrm>
        </p:spPr>
        <p:txBody>
          <a:bodyPr/>
          <a:lstStyle/>
          <a:p>
            <a:pPr eaLnBrk="1" hangingPunct="1"/>
            <a:r>
              <a:rPr lang="en-US" altLang="en-US" sz="2800" b="1" dirty="0" smtClean="0">
                <a:solidFill>
                  <a:srgbClr val="FF0000"/>
                </a:solidFill>
                <a:latin typeface="Cambria" pitchFamily="18" charset="0"/>
                <a:ea typeface="Cambria" pitchFamily="18" charset="0"/>
              </a:rPr>
              <a:t>Illustration of Multipath Interference</a:t>
            </a:r>
            <a:endParaRPr lang="fr-FR" altLang="en-US" sz="2800" b="1" dirty="0" smtClean="0">
              <a:solidFill>
                <a:srgbClr val="FF0000"/>
              </a:solidFill>
              <a:latin typeface="Cambria" pitchFamily="18" charset="0"/>
              <a:ea typeface="Cambria"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7972425" cy="531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4E00E5F2-F740-488D-8A97-848C3321B5CA}"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13</a:t>
            </a:fld>
            <a:endParaRPr lang="en-US" altLang="en-US"/>
          </a:p>
        </p:txBody>
      </p:sp>
      <p:sp>
        <p:nvSpPr>
          <p:cNvPr id="9" name="Rectangle 3"/>
          <p:cNvSpPr>
            <a:spLocks noGrp="1" noChangeArrowheads="1"/>
          </p:cNvSpPr>
          <p:nvPr>
            <p:ph type="title"/>
          </p:nvPr>
        </p:nvSpPr>
        <p:spPr>
          <a:xfrm>
            <a:off x="1066800" y="152400"/>
            <a:ext cx="6567488" cy="381000"/>
          </a:xfrm>
        </p:spPr>
        <p:txBody>
          <a:bodyPr/>
          <a:lstStyle/>
          <a:p>
            <a:pPr eaLnBrk="1" hangingPunct="1"/>
            <a:r>
              <a:rPr lang="en-US" altLang="en-US" sz="2800" b="1" dirty="0" smtClean="0">
                <a:solidFill>
                  <a:srgbClr val="FF0000"/>
                </a:solidFill>
                <a:latin typeface="Cambria" pitchFamily="18" charset="0"/>
                <a:ea typeface="Cambria" pitchFamily="18" charset="0"/>
              </a:rPr>
              <a:t>Illustration of Multipath Interference</a:t>
            </a:r>
            <a:endParaRPr lang="fr-FR" altLang="en-US" sz="2800" b="1" dirty="0" smtClean="0">
              <a:solidFill>
                <a:srgbClr val="FF0000"/>
              </a:solidFill>
              <a:latin typeface="Cambria" pitchFamily="18" charset="0"/>
              <a:ea typeface="Cambria"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Rot="1" noChangeArrowheads="1"/>
          </p:cNvSpPr>
          <p:nvPr>
            <p:ph sz="quarter" idx="1"/>
          </p:nvPr>
        </p:nvSpPr>
        <p:spPr>
          <a:xfrm>
            <a:off x="274638" y="1006475"/>
            <a:ext cx="8534400" cy="5165725"/>
          </a:xfrm>
        </p:spPr>
        <p:txBody>
          <a:bodyPr/>
          <a:lstStyle/>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OFDM is a popular </a:t>
            </a:r>
            <a:r>
              <a:rPr lang="en-US" altLang="en-US" sz="2200" b="1" dirty="0" smtClean="0">
                <a:latin typeface="Cambria" pitchFamily="18" charset="0"/>
                <a:ea typeface="Cambria" pitchFamily="18" charset="0"/>
              </a:rPr>
              <a:t>DFT-based</a:t>
            </a:r>
            <a:r>
              <a:rPr lang="en-US" altLang="en-US" sz="2200" dirty="0" smtClean="0">
                <a:latin typeface="Cambria" pitchFamily="18" charset="0"/>
                <a:ea typeface="Cambria" pitchFamily="18" charset="0"/>
              </a:rPr>
              <a:t> technique initially proposed in the </a:t>
            </a:r>
            <a:r>
              <a:rPr lang="en-US" altLang="en-US" sz="2200" b="1" dirty="0" smtClean="0">
                <a:latin typeface="Cambria" pitchFamily="18" charset="0"/>
                <a:ea typeface="Cambria" pitchFamily="18" charset="0"/>
              </a:rPr>
              <a:t>1971</a:t>
            </a:r>
            <a:r>
              <a:rPr lang="en-US" altLang="en-US" sz="2200" dirty="0" smtClean="0">
                <a:latin typeface="Cambria" pitchFamily="18" charset="0"/>
                <a:ea typeface="Cambria" pitchFamily="18" charset="0"/>
              </a:rPr>
              <a:t> by </a:t>
            </a:r>
            <a:r>
              <a:rPr lang="de-DE" altLang="en-US" sz="2200" dirty="0" smtClean="0">
                <a:latin typeface="Cambria" pitchFamily="18" charset="0"/>
                <a:ea typeface="Cambria" pitchFamily="18" charset="0"/>
              </a:rPr>
              <a:t>S. B. </a:t>
            </a:r>
            <a:r>
              <a:rPr lang="de-DE" altLang="en-US" sz="2200" b="1" dirty="0" smtClean="0">
                <a:latin typeface="Cambria" pitchFamily="18" charset="0"/>
                <a:ea typeface="Cambria" pitchFamily="18" charset="0"/>
              </a:rPr>
              <a:t>Weinstein</a:t>
            </a:r>
            <a:r>
              <a:rPr lang="de-DE" altLang="en-US" sz="2200" dirty="0" smtClean="0">
                <a:latin typeface="Cambria" pitchFamily="18" charset="0"/>
                <a:ea typeface="Cambria" pitchFamily="18" charset="0"/>
              </a:rPr>
              <a:t> and P. M. </a:t>
            </a:r>
            <a:r>
              <a:rPr lang="de-DE" altLang="en-US" sz="2200" b="1" dirty="0" smtClean="0">
                <a:latin typeface="Cambria" pitchFamily="18" charset="0"/>
                <a:ea typeface="Cambria" pitchFamily="18" charset="0"/>
              </a:rPr>
              <a:t>Ebert</a:t>
            </a:r>
            <a:r>
              <a:rPr lang="en-US" altLang="en-US" sz="2200" b="1" dirty="0" smtClean="0">
                <a:latin typeface="Cambria" pitchFamily="18" charset="0"/>
                <a:ea typeface="Cambria" pitchFamily="18" charset="0"/>
              </a:rPr>
              <a:t>.</a:t>
            </a:r>
            <a:r>
              <a:rPr lang="en-US" altLang="en-US" sz="2200" dirty="0" smtClean="0">
                <a:latin typeface="Cambria" pitchFamily="18" charset="0"/>
                <a:ea typeface="Cambria" pitchFamily="18" charset="0"/>
              </a:rPr>
              <a:t> </a:t>
            </a:r>
          </a:p>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It is a </a:t>
            </a:r>
            <a:r>
              <a:rPr lang="en-US" altLang="en-US" sz="2200" b="1" dirty="0" smtClean="0">
                <a:latin typeface="Cambria" pitchFamily="18" charset="0"/>
                <a:ea typeface="Cambria" pitchFamily="18" charset="0"/>
              </a:rPr>
              <a:t>special case </a:t>
            </a:r>
            <a:r>
              <a:rPr lang="en-US" altLang="en-US" sz="2200" dirty="0" smtClean="0">
                <a:latin typeface="Cambria" pitchFamily="18" charset="0"/>
                <a:ea typeface="Cambria" pitchFamily="18" charset="0"/>
              </a:rPr>
              <a:t>of multicarrier modulation (MCM) in which </a:t>
            </a:r>
            <a:r>
              <a:rPr lang="en-US" altLang="en-US" sz="2200" b="1" dirty="0" smtClean="0">
                <a:latin typeface="Cambria" pitchFamily="18" charset="0"/>
                <a:ea typeface="Cambria" pitchFamily="18" charset="0"/>
              </a:rPr>
              <a:t>multiple user </a:t>
            </a:r>
            <a:r>
              <a:rPr lang="en-US" altLang="en-US" sz="2200" dirty="0" smtClean="0">
                <a:latin typeface="Cambria" pitchFamily="18" charset="0"/>
                <a:ea typeface="Cambria" pitchFamily="18" charset="0"/>
              </a:rPr>
              <a:t>symbols are transmitted in </a:t>
            </a:r>
            <a:r>
              <a:rPr lang="en-US" altLang="en-US" sz="2200" b="1" dirty="0" smtClean="0">
                <a:latin typeface="Cambria" pitchFamily="18" charset="0"/>
                <a:ea typeface="Cambria" pitchFamily="18" charset="0"/>
              </a:rPr>
              <a:t>parallel</a:t>
            </a:r>
            <a:r>
              <a:rPr lang="en-US" altLang="en-US" sz="2200" dirty="0" smtClean="0">
                <a:latin typeface="Cambria" pitchFamily="18" charset="0"/>
                <a:ea typeface="Cambria" pitchFamily="18" charset="0"/>
              </a:rPr>
              <a:t> using different </a:t>
            </a:r>
            <a:r>
              <a:rPr lang="en-US" altLang="en-US" sz="2200" b="1" dirty="0" smtClean="0">
                <a:latin typeface="Cambria" pitchFamily="18" charset="0"/>
                <a:ea typeface="Cambria" pitchFamily="18" charset="0"/>
              </a:rPr>
              <a:t>subcarriers</a:t>
            </a:r>
            <a:r>
              <a:rPr lang="en-US" altLang="en-US" sz="2200" dirty="0" smtClean="0">
                <a:latin typeface="Cambria" pitchFamily="18" charset="0"/>
                <a:ea typeface="Cambria" pitchFamily="18" charset="0"/>
              </a:rPr>
              <a:t> with </a:t>
            </a:r>
            <a:r>
              <a:rPr lang="en-US" altLang="en-US" sz="2200" b="1" dirty="0" smtClean="0">
                <a:latin typeface="Cambria" pitchFamily="18" charset="0"/>
                <a:ea typeface="Cambria" pitchFamily="18" charset="0"/>
              </a:rPr>
              <a:t>overlapping</a:t>
            </a:r>
            <a:r>
              <a:rPr lang="en-US" altLang="en-US" sz="2200" dirty="0" smtClean="0">
                <a:latin typeface="Cambria" pitchFamily="18" charset="0"/>
                <a:ea typeface="Cambria" pitchFamily="18" charset="0"/>
              </a:rPr>
              <a:t> frequency bands that are </a:t>
            </a:r>
            <a:r>
              <a:rPr lang="en-US" altLang="en-US" sz="2200" b="1" dirty="0" smtClean="0">
                <a:latin typeface="Cambria" pitchFamily="18" charset="0"/>
                <a:ea typeface="Cambria" pitchFamily="18" charset="0"/>
              </a:rPr>
              <a:t>mutually     orthogonal</a:t>
            </a:r>
            <a:r>
              <a:rPr lang="en-US" altLang="en-US" sz="2200" dirty="0" smtClean="0">
                <a:latin typeface="Cambria" pitchFamily="18" charset="0"/>
                <a:ea typeface="Cambria" pitchFamily="18" charset="0"/>
              </a:rPr>
              <a:t>.</a:t>
            </a:r>
          </a:p>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Adopted as a major data transmission technique by many wireless communication </a:t>
            </a:r>
            <a:r>
              <a:rPr lang="en-US" altLang="en-US" sz="2200" b="1" dirty="0" smtClean="0">
                <a:latin typeface="Cambria" pitchFamily="18" charset="0"/>
                <a:ea typeface="Cambria" pitchFamily="18" charset="0"/>
              </a:rPr>
              <a:t>standards</a:t>
            </a:r>
            <a:r>
              <a:rPr lang="en-US" altLang="en-US" sz="2200" dirty="0" smtClean="0">
                <a:latin typeface="Cambria" pitchFamily="18" charset="0"/>
                <a:ea typeface="Cambria" pitchFamily="18" charset="0"/>
              </a:rPr>
              <a:t>:</a:t>
            </a:r>
          </a:p>
          <a:p>
            <a:pPr lvl="1" algn="just" eaLnBrk="1" hangingPunct="1"/>
            <a:r>
              <a:rPr lang="en-US" altLang="en-US" sz="2200" dirty="0" smtClean="0">
                <a:latin typeface="Cambria" pitchFamily="18" charset="0"/>
                <a:ea typeface="Cambria" pitchFamily="18" charset="0"/>
              </a:rPr>
              <a:t>5G </a:t>
            </a:r>
            <a:r>
              <a:rPr lang="en-US" altLang="en-US" sz="2200" b="1" dirty="0" smtClean="0">
                <a:latin typeface="Cambria" pitchFamily="18" charset="0"/>
                <a:ea typeface="Cambria" pitchFamily="18" charset="0"/>
              </a:rPr>
              <a:t>NR</a:t>
            </a:r>
          </a:p>
          <a:p>
            <a:pPr lvl="1" algn="just" eaLnBrk="1" hangingPunct="1"/>
            <a:r>
              <a:rPr lang="en-US" altLang="en-US" sz="2200" dirty="0" smtClean="0">
                <a:latin typeface="Cambria" pitchFamily="18" charset="0"/>
                <a:ea typeface="Cambria" pitchFamily="18" charset="0"/>
              </a:rPr>
              <a:t>4G </a:t>
            </a:r>
            <a:r>
              <a:rPr lang="en-US" altLang="en-US" sz="2200" b="1" dirty="0" smtClean="0">
                <a:latin typeface="Cambria" pitchFamily="18" charset="0"/>
                <a:ea typeface="Cambria" pitchFamily="18" charset="0"/>
              </a:rPr>
              <a:t>LTE</a:t>
            </a:r>
            <a:r>
              <a:rPr lang="en-US" altLang="en-US" sz="2200" dirty="0" smtClean="0">
                <a:latin typeface="Cambria" pitchFamily="18" charset="0"/>
                <a:ea typeface="Cambria" pitchFamily="18" charset="0"/>
              </a:rPr>
              <a:t>	</a:t>
            </a:r>
          </a:p>
          <a:p>
            <a:pPr lvl="1" algn="just" eaLnBrk="1" hangingPunct="1"/>
            <a:r>
              <a:rPr lang="en-US" altLang="en-US" sz="2200" dirty="0" smtClean="0">
                <a:latin typeface="Cambria" pitchFamily="18" charset="0"/>
                <a:ea typeface="Cambria" pitchFamily="18" charset="0"/>
              </a:rPr>
              <a:t>IEEE </a:t>
            </a:r>
            <a:r>
              <a:rPr lang="en-US" altLang="en-US" sz="2200" b="1" dirty="0" smtClean="0">
                <a:latin typeface="Cambria" pitchFamily="18" charset="0"/>
                <a:ea typeface="Cambria" pitchFamily="18" charset="0"/>
              </a:rPr>
              <a:t>802.11a/g</a:t>
            </a:r>
            <a:r>
              <a:rPr lang="en-US" altLang="en-US" sz="2200" dirty="0" smtClean="0">
                <a:latin typeface="Cambria" pitchFamily="18" charset="0"/>
                <a:ea typeface="Cambria" pitchFamily="18" charset="0"/>
              </a:rPr>
              <a:t>,  (</a:t>
            </a:r>
            <a:r>
              <a:rPr lang="en-US" altLang="en-US" sz="2200" b="1" dirty="0" smtClean="0">
                <a:latin typeface="Cambria" pitchFamily="18" charset="0"/>
                <a:ea typeface="Cambria" pitchFamily="18" charset="0"/>
              </a:rPr>
              <a:t>WiFi </a:t>
            </a:r>
            <a:r>
              <a:rPr lang="en-US" altLang="en-US" sz="2200" dirty="0" smtClean="0">
                <a:latin typeface="Cambria" pitchFamily="18" charset="0"/>
                <a:ea typeface="Cambria" pitchFamily="18" charset="0"/>
              </a:rPr>
              <a:t>or</a:t>
            </a:r>
            <a:r>
              <a:rPr lang="en-US" altLang="en-US" sz="2200" b="1" dirty="0" smtClean="0">
                <a:latin typeface="Cambria" pitchFamily="18" charset="0"/>
                <a:ea typeface="Cambria" pitchFamily="18" charset="0"/>
              </a:rPr>
              <a:t> WLAN</a:t>
            </a:r>
            <a:r>
              <a:rPr lang="en-US" altLang="en-US" sz="2200" dirty="0" smtClean="0">
                <a:latin typeface="Cambria" pitchFamily="18" charset="0"/>
                <a:ea typeface="Cambria" pitchFamily="18" charset="0"/>
              </a:rPr>
              <a:t>)</a:t>
            </a:r>
          </a:p>
          <a:p>
            <a:pPr lvl="1" algn="just" eaLnBrk="1" hangingPunct="1"/>
            <a:r>
              <a:rPr lang="en-US" altLang="en-US" sz="2200" dirty="0" smtClean="0">
                <a:latin typeface="Cambria" pitchFamily="18" charset="0"/>
                <a:ea typeface="Cambria" pitchFamily="18" charset="0"/>
              </a:rPr>
              <a:t>IEEE </a:t>
            </a:r>
            <a:r>
              <a:rPr lang="en-US" altLang="en-US" sz="2200" b="1" dirty="0" smtClean="0">
                <a:latin typeface="Cambria" pitchFamily="18" charset="0"/>
                <a:ea typeface="Cambria" pitchFamily="18" charset="0"/>
              </a:rPr>
              <a:t>802.16a/e  (</a:t>
            </a:r>
            <a:r>
              <a:rPr lang="en-US" altLang="en-US" sz="2200" b="1" dirty="0" err="1" smtClean="0">
                <a:latin typeface="Cambria" pitchFamily="18" charset="0"/>
                <a:ea typeface="Cambria" pitchFamily="18" charset="0"/>
              </a:rPr>
              <a:t>WiMAX</a:t>
            </a:r>
            <a:r>
              <a:rPr lang="en-US" altLang="en-US" sz="2200" b="1" dirty="0" smtClean="0">
                <a:latin typeface="Cambria" pitchFamily="18" charset="0"/>
                <a:ea typeface="Cambria" pitchFamily="18" charset="0"/>
              </a:rPr>
              <a:t>)</a:t>
            </a:r>
          </a:p>
          <a:p>
            <a:pPr lvl="1" algn="just" eaLnBrk="1" hangingPunct="1"/>
            <a:r>
              <a:rPr lang="en-US" altLang="en-US" sz="2200" dirty="0" smtClean="0">
                <a:latin typeface="Cambria" pitchFamily="18" charset="0"/>
                <a:ea typeface="Cambria" pitchFamily="18" charset="0"/>
              </a:rPr>
              <a:t>Terrestrial digital video broadcasting  (</a:t>
            </a:r>
            <a:r>
              <a:rPr lang="en-US" altLang="en-US" sz="2200" b="1" dirty="0" smtClean="0">
                <a:latin typeface="Cambria" pitchFamily="18" charset="0"/>
                <a:ea typeface="Cambria" pitchFamily="18" charset="0"/>
              </a:rPr>
              <a:t>DVB-T</a:t>
            </a:r>
            <a:r>
              <a:rPr lang="en-US" altLang="en-US" sz="2200" dirty="0" smtClean="0">
                <a:latin typeface="Cambria" pitchFamily="18" charset="0"/>
                <a:ea typeface="Cambria" pitchFamily="18" charset="0"/>
              </a:rPr>
              <a:t>)</a:t>
            </a:r>
          </a:p>
          <a:p>
            <a:pPr lvl="1" algn="just" eaLnBrk="1" hangingPunct="1"/>
            <a:r>
              <a:rPr lang="en-US" altLang="en-US" sz="2200" dirty="0" smtClean="0">
                <a:latin typeface="Cambria" pitchFamily="18" charset="0"/>
                <a:ea typeface="Cambria" pitchFamily="18" charset="0"/>
              </a:rPr>
              <a:t>Digital Audio Broadcasting (</a:t>
            </a:r>
            <a:r>
              <a:rPr lang="en-US" altLang="en-US" sz="2200" b="1" dirty="0" smtClean="0">
                <a:latin typeface="Cambria" pitchFamily="18" charset="0"/>
                <a:ea typeface="Cambria" pitchFamily="18" charset="0"/>
              </a:rPr>
              <a:t>DAB</a:t>
            </a:r>
            <a:r>
              <a:rPr lang="en-US" altLang="en-US" sz="2200" dirty="0" smtClean="0">
                <a:latin typeface="Cambria" pitchFamily="18" charset="0"/>
                <a:ea typeface="Cambria" pitchFamily="18" charset="0"/>
              </a:rPr>
              <a:t>)</a:t>
            </a:r>
          </a:p>
          <a:p>
            <a:pPr lvl="1" algn="just" eaLnBrk="1" hangingPunct="1"/>
            <a:r>
              <a:rPr lang="en-US" altLang="en-US" sz="2200" b="1" dirty="0" smtClean="0">
                <a:latin typeface="Cambria" pitchFamily="18" charset="0"/>
                <a:ea typeface="Cambria" pitchFamily="18" charset="0"/>
              </a:rPr>
              <a:t>HIPERLAN</a:t>
            </a:r>
          </a:p>
        </p:txBody>
      </p:sp>
      <p:sp>
        <p:nvSpPr>
          <p:cNvPr id="6146" name="Rectangle 5"/>
          <p:cNvSpPr>
            <a:spLocks noGrp="1" noRot="1" noChangeArrowheads="1"/>
          </p:cNvSpPr>
          <p:nvPr>
            <p:ph type="title"/>
          </p:nvPr>
        </p:nvSpPr>
        <p:spPr>
          <a:xfrm>
            <a:off x="838200" y="27709"/>
            <a:ext cx="6846888" cy="685800"/>
          </a:xfrm>
        </p:spPr>
        <p:txBody>
          <a:bodyPr/>
          <a:lstStyle/>
          <a:p>
            <a:pPr marL="205740" indent="-205740" eaLnBrk="1" fontAlgn="auto" hangingPunct="1">
              <a:lnSpc>
                <a:spcPct val="120000"/>
              </a:lnSpc>
              <a:spcBef>
                <a:spcPct val="20000"/>
              </a:spcBef>
              <a:spcAft>
                <a:spcPts val="0"/>
              </a:spcAft>
              <a:defRPr/>
            </a:pPr>
            <a:r>
              <a:rPr lang="fr-FR" sz="2200" b="1" dirty="0">
                <a:solidFill>
                  <a:schemeClr val="tx1"/>
                </a:solidFill>
                <a:latin typeface="Cambria" pitchFamily="18" charset="0"/>
                <a:ea typeface="Cambria" pitchFamily="18" charset="0"/>
              </a:rPr>
              <a:t>Orthogonal Fréquence Division Multiplexing </a:t>
            </a:r>
            <a:br>
              <a:rPr lang="fr-FR" sz="2200" b="1" dirty="0">
                <a:solidFill>
                  <a:schemeClr val="tx1"/>
                </a:solidFill>
                <a:latin typeface="Cambria" pitchFamily="18" charset="0"/>
                <a:ea typeface="Cambria" pitchFamily="18" charset="0"/>
              </a:rPr>
            </a:br>
            <a:r>
              <a:rPr lang="en-US" sz="2200" dirty="0">
                <a:solidFill>
                  <a:srgbClr val="000000"/>
                </a:solidFill>
                <a:latin typeface="Cambria" pitchFamily="18" charset="0"/>
                <a:ea typeface="Cambria" pitchFamily="18" charset="0"/>
                <a:cs typeface="+mn-cs"/>
              </a:rPr>
              <a:t>[</a:t>
            </a:r>
            <a:r>
              <a:rPr lang="fr-FR" sz="2200" dirty="0">
                <a:solidFill>
                  <a:srgbClr val="000000"/>
                </a:solidFill>
                <a:latin typeface="Cambria" pitchFamily="18" charset="0"/>
                <a:ea typeface="Cambria" pitchFamily="18" charset="0"/>
                <a:cs typeface="+mn-cs"/>
              </a:rPr>
              <a:t>S. </a:t>
            </a:r>
            <a:r>
              <a:rPr lang="fr-FR" sz="2200" dirty="0" err="1">
                <a:solidFill>
                  <a:srgbClr val="000000"/>
                </a:solidFill>
                <a:latin typeface="Cambria" pitchFamily="18" charset="0"/>
                <a:ea typeface="Cambria" pitchFamily="18" charset="0"/>
                <a:cs typeface="+mn-cs"/>
              </a:rPr>
              <a:t>Hara</a:t>
            </a:r>
            <a:r>
              <a:rPr lang="fr-FR" sz="2200" dirty="0">
                <a:solidFill>
                  <a:srgbClr val="000000"/>
                </a:solidFill>
                <a:latin typeface="Cambria" pitchFamily="18" charset="0"/>
                <a:ea typeface="Cambria" pitchFamily="18" charset="0"/>
                <a:cs typeface="+mn-cs"/>
              </a:rPr>
              <a:t> and R. Prasad (2003)]</a:t>
            </a:r>
            <a:r>
              <a:rPr lang="fr-FR" sz="2200" dirty="0">
                <a:solidFill>
                  <a:schemeClr val="tx1"/>
                </a:solidFill>
                <a:latin typeface="Cambria" pitchFamily="18" charset="0"/>
                <a:ea typeface="Cambria" pitchFamily="18" charset="0"/>
              </a:rPr>
              <a:t> </a:t>
            </a:r>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14</a:t>
            </a:fld>
            <a:endParaRPr lang="en-US"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Rot="1" noChangeArrowheads="1"/>
          </p:cNvSpPr>
          <p:nvPr>
            <p:ph type="title"/>
          </p:nvPr>
        </p:nvSpPr>
        <p:spPr>
          <a:xfrm>
            <a:off x="990600" y="152400"/>
            <a:ext cx="6694488" cy="685800"/>
          </a:xfrm>
        </p:spPr>
        <p:txBody>
          <a:bodyPr/>
          <a:lstStyle/>
          <a:p>
            <a:pPr marL="205740" indent="-205740" eaLnBrk="1" fontAlgn="auto" hangingPunct="1">
              <a:lnSpc>
                <a:spcPct val="120000"/>
              </a:lnSpc>
              <a:spcBef>
                <a:spcPct val="20000"/>
              </a:spcBef>
              <a:spcAft>
                <a:spcPts val="0"/>
              </a:spcAft>
              <a:defRPr/>
            </a:pPr>
            <a:r>
              <a:rPr lang="fr-FR" sz="2200" b="1" dirty="0">
                <a:solidFill>
                  <a:schemeClr val="tx1"/>
                </a:solidFill>
                <a:latin typeface="Cambria" pitchFamily="18" charset="0"/>
                <a:ea typeface="Cambria" pitchFamily="18" charset="0"/>
              </a:rPr>
              <a:t>Historical Development of OFDM </a:t>
            </a:r>
            <a:br>
              <a:rPr lang="fr-FR" sz="2200" b="1" dirty="0">
                <a:solidFill>
                  <a:schemeClr val="tx1"/>
                </a:solidFill>
                <a:latin typeface="Cambria" pitchFamily="18" charset="0"/>
                <a:ea typeface="Cambria" pitchFamily="18" charset="0"/>
              </a:rPr>
            </a:br>
            <a:r>
              <a:rPr lang="en-US" sz="2200" dirty="0">
                <a:solidFill>
                  <a:srgbClr val="000000"/>
                </a:solidFill>
                <a:latin typeface="Cambria" pitchFamily="18" charset="0"/>
                <a:ea typeface="Cambria" pitchFamily="18" charset="0"/>
                <a:cs typeface="+mn-cs"/>
              </a:rPr>
              <a:t>[</a:t>
            </a:r>
            <a:r>
              <a:rPr lang="fr-FR" sz="2200" dirty="0">
                <a:solidFill>
                  <a:srgbClr val="000000"/>
                </a:solidFill>
                <a:latin typeface="Cambria" pitchFamily="18" charset="0"/>
                <a:ea typeface="Cambria" pitchFamily="18" charset="0"/>
                <a:cs typeface="+mn-cs"/>
              </a:rPr>
              <a:t>S. </a:t>
            </a:r>
            <a:r>
              <a:rPr lang="fr-FR" sz="2200" dirty="0" err="1">
                <a:solidFill>
                  <a:srgbClr val="000000"/>
                </a:solidFill>
                <a:latin typeface="Cambria" pitchFamily="18" charset="0"/>
                <a:ea typeface="Cambria" pitchFamily="18" charset="0"/>
                <a:cs typeface="+mn-cs"/>
              </a:rPr>
              <a:t>Hara</a:t>
            </a:r>
            <a:r>
              <a:rPr lang="fr-FR" sz="2200" dirty="0">
                <a:solidFill>
                  <a:srgbClr val="000000"/>
                </a:solidFill>
                <a:latin typeface="Cambria" pitchFamily="18" charset="0"/>
                <a:ea typeface="Cambria" pitchFamily="18" charset="0"/>
                <a:cs typeface="+mn-cs"/>
              </a:rPr>
              <a:t> and R. Prasad (2003)]</a:t>
            </a:r>
            <a:r>
              <a:rPr lang="fr-FR" sz="2200" dirty="0">
                <a:solidFill>
                  <a:schemeClr val="tx1"/>
                </a:solidFill>
                <a:latin typeface="Cambria" pitchFamily="18" charset="0"/>
                <a:ea typeface="Cambria" pitchFamily="18" charset="0"/>
              </a:rPr>
              <a:t> </a:t>
            </a:r>
          </a:p>
        </p:txBody>
      </p:sp>
      <p:sp>
        <p:nvSpPr>
          <p:cNvPr id="16387" name="Rectangle 3"/>
          <p:cNvSpPr>
            <a:spLocks noGrp="1" noRot="1" noChangeArrowheads="1"/>
          </p:cNvSpPr>
          <p:nvPr>
            <p:ph sz="quarter" idx="1"/>
          </p:nvPr>
        </p:nvSpPr>
        <p:spPr>
          <a:xfrm>
            <a:off x="381000" y="914400"/>
            <a:ext cx="8458200" cy="5334000"/>
          </a:xfrm>
        </p:spPr>
        <p:txBody>
          <a:bodyPr/>
          <a:lstStyle/>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A U.S. patent in which the name of “OFDM” was first appeared was issued in January 1970. </a:t>
            </a:r>
          </a:p>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But it gained more popularity and attentions only after the use of the discrete Fourier transform (DFT) to generate orthogonal sub-carriers at the transmitter as — suggested by Weinstein and Ebert in 1971</a:t>
            </a:r>
          </a:p>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The DAB standard was the first OFDM-based standard (project started in 1988 by ETSI and completed in 1995). </a:t>
            </a:r>
          </a:p>
          <a:p>
            <a:pPr marL="204788" indent="-204788" algn="just" eaLnBrk="1" hangingPunct="1">
              <a:buFont typeface="Wingdings" pitchFamily="2" charset="2"/>
              <a:buChar char="Ø"/>
            </a:pPr>
            <a:r>
              <a:rPr lang="en-US" altLang="en-US" sz="2200" dirty="0" smtClean="0">
                <a:latin typeface="Cambria" pitchFamily="18" charset="0"/>
                <a:ea typeface="Cambria" pitchFamily="18" charset="0"/>
              </a:rPr>
              <a:t>A number of studies regarding the commercial applications of OFDM were made during 1990s like </a:t>
            </a:r>
          </a:p>
          <a:p>
            <a:pPr marL="504825" lvl="1" indent="-204788" algn="just" eaLnBrk="1" hangingPunct="1">
              <a:buFont typeface="Wingdings" pitchFamily="2" charset="2"/>
              <a:buChar char="Ø"/>
            </a:pPr>
            <a:r>
              <a:rPr lang="en-US" altLang="en-US" sz="2200" dirty="0" smtClean="0">
                <a:latin typeface="Cambria" pitchFamily="18" charset="0"/>
                <a:ea typeface="Cambria" pitchFamily="18" charset="0"/>
              </a:rPr>
              <a:t>High Bit rate Digital Subscriber Lines (HDSL; 1.6 Mbps), </a:t>
            </a:r>
          </a:p>
          <a:p>
            <a:pPr marL="504825" lvl="1" indent="-204788" algn="just" eaLnBrk="1" hangingPunct="1">
              <a:buFont typeface="Wingdings" pitchFamily="2" charset="2"/>
              <a:buChar char="Ø"/>
            </a:pPr>
            <a:r>
              <a:rPr lang="en-US" altLang="en-US" sz="2200" dirty="0" smtClean="0">
                <a:latin typeface="Cambria" pitchFamily="18" charset="0"/>
                <a:ea typeface="Cambria" pitchFamily="18" charset="0"/>
              </a:rPr>
              <a:t>Asymmetric Digital Subscriber Lines (ADSL; 6 Mbps), </a:t>
            </a:r>
          </a:p>
          <a:p>
            <a:pPr marL="504825" lvl="1" indent="-204788" algn="just" eaLnBrk="1" hangingPunct="1">
              <a:buFont typeface="Wingdings" pitchFamily="2" charset="2"/>
              <a:buChar char="Ø"/>
            </a:pPr>
            <a:r>
              <a:rPr lang="en-US" altLang="en-US" sz="2200" dirty="0" smtClean="0">
                <a:latin typeface="Cambria" pitchFamily="18" charset="0"/>
                <a:ea typeface="Cambria" pitchFamily="18" charset="0"/>
              </a:rPr>
              <a:t>Very High Speed Digital Subscriber Lines (VDSL; 100 Mbps),</a:t>
            </a:r>
          </a:p>
          <a:p>
            <a:pPr marL="504825" lvl="1" indent="-204788" algn="just" eaLnBrk="1" hangingPunct="1">
              <a:buFont typeface="Wingdings" pitchFamily="2" charset="2"/>
              <a:buChar char="Ø"/>
            </a:pPr>
            <a:r>
              <a:rPr lang="en-US" altLang="en-US" sz="2200" dirty="0" smtClean="0">
                <a:latin typeface="Cambria" pitchFamily="18" charset="0"/>
                <a:ea typeface="Cambria" pitchFamily="18" charset="0"/>
              </a:rPr>
              <a:t>DAB and High Definition Television (HDTV) terrestrial broadcasting.</a:t>
            </a:r>
          </a:p>
          <a:p>
            <a:pPr marL="204788" indent="-204788" algn="just" eaLnBrk="1" hangingPunct="1">
              <a:buFontTx/>
              <a:buNone/>
            </a:pPr>
            <a:endParaRPr lang="en-US" altLang="en-US" sz="2200" dirty="0" smtClean="0">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D7209B85-3326-4753-B7FC-724192BF4A99}"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15</a:t>
            </a:fld>
            <a:endParaRPr lang="en-US"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485900" y="204788"/>
            <a:ext cx="6172200" cy="252412"/>
          </a:xfrm>
        </p:spPr>
        <p:txBody>
          <a:bodyPr/>
          <a:lstStyle/>
          <a:p>
            <a:pPr eaLnBrk="1" hangingPunct="1">
              <a:defRPr/>
            </a:pPr>
            <a:r>
              <a:rPr lang="en-US" sz="2200" b="1" cap="all" dirty="0">
                <a:solidFill>
                  <a:srgbClr val="FF0000"/>
                </a:solidFill>
                <a:latin typeface="Cambria" pitchFamily="18" charset="0"/>
                <a:ea typeface="Cambria" pitchFamily="18" charset="0"/>
              </a:rPr>
              <a:t>OFDM principle</a:t>
            </a:r>
            <a:endParaRPr lang="fr-FR" altLang="en-US" sz="2200" b="1" dirty="0">
              <a:solidFill>
                <a:srgbClr val="FF0000"/>
              </a:solidFill>
              <a:latin typeface="Cambria" pitchFamily="18" charset="0"/>
              <a:ea typeface="Cambria" pitchFamily="18" charset="0"/>
            </a:endParaRPr>
          </a:p>
        </p:txBody>
      </p:sp>
      <p:sp>
        <p:nvSpPr>
          <p:cNvPr id="11267" name="Rectangle 17"/>
          <p:cNvSpPr>
            <a:spLocks noChangeArrowheads="1"/>
          </p:cNvSpPr>
          <p:nvPr/>
        </p:nvSpPr>
        <p:spPr bwMode="auto">
          <a:xfrm>
            <a:off x="4479925" y="706438"/>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sp>
        <p:nvSpPr>
          <p:cNvPr id="17412" name="Rectangle 1"/>
          <p:cNvSpPr>
            <a:spLocks noChangeArrowheads="1"/>
          </p:cNvSpPr>
          <p:nvPr/>
        </p:nvSpPr>
        <p:spPr bwMode="auto">
          <a:xfrm>
            <a:off x="250825" y="457200"/>
            <a:ext cx="84582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2400">
                <a:solidFill>
                  <a:schemeClr val="tx1"/>
                </a:solidFill>
                <a:latin typeface="Arial" pitchFamily="34" charset="0"/>
              </a:defRPr>
            </a:lvl1pPr>
            <a:lvl2pPr marL="742950" indent="-285750">
              <a:spcBef>
                <a:spcPct val="20000"/>
              </a:spcBef>
              <a:buChar char="–"/>
              <a:defRPr sz="21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500">
                <a:solidFill>
                  <a:schemeClr val="tx1"/>
                </a:solidFill>
                <a:latin typeface="Arial" pitchFamily="34" charset="0"/>
              </a:defRPr>
            </a:lvl4pPr>
            <a:lvl5pPr marL="2057400" indent="-228600">
              <a:spcBef>
                <a:spcPct val="20000"/>
              </a:spcBef>
              <a:buChar char="»"/>
              <a:defRPr sz="1500">
                <a:solidFill>
                  <a:schemeClr val="tx1"/>
                </a:solidFill>
                <a:latin typeface="Arial" pitchFamily="34" charset="0"/>
              </a:defRPr>
            </a:lvl5pPr>
            <a:lvl6pPr marL="2514600" indent="-228600" eaLnBrk="0" fontAlgn="base" hangingPunct="0">
              <a:spcBef>
                <a:spcPct val="20000"/>
              </a:spcBef>
              <a:spcAft>
                <a:spcPct val="0"/>
              </a:spcAft>
              <a:buChar char="»"/>
              <a:defRPr sz="1500">
                <a:solidFill>
                  <a:schemeClr val="tx1"/>
                </a:solidFill>
                <a:latin typeface="Arial" pitchFamily="34" charset="0"/>
              </a:defRPr>
            </a:lvl6pPr>
            <a:lvl7pPr marL="2971800" indent="-228600" eaLnBrk="0" fontAlgn="base" hangingPunct="0">
              <a:spcBef>
                <a:spcPct val="20000"/>
              </a:spcBef>
              <a:spcAft>
                <a:spcPct val="0"/>
              </a:spcAft>
              <a:buChar char="»"/>
              <a:defRPr sz="1500">
                <a:solidFill>
                  <a:schemeClr val="tx1"/>
                </a:solidFill>
                <a:latin typeface="Arial" pitchFamily="34" charset="0"/>
              </a:defRPr>
            </a:lvl7pPr>
            <a:lvl8pPr marL="3429000" indent="-228600" eaLnBrk="0" fontAlgn="base" hangingPunct="0">
              <a:spcBef>
                <a:spcPct val="20000"/>
              </a:spcBef>
              <a:spcAft>
                <a:spcPct val="0"/>
              </a:spcAft>
              <a:buChar char="»"/>
              <a:defRPr sz="1500">
                <a:solidFill>
                  <a:schemeClr val="tx1"/>
                </a:solidFill>
                <a:latin typeface="Arial" pitchFamily="34" charset="0"/>
              </a:defRPr>
            </a:lvl8pPr>
            <a:lvl9pPr marL="3886200" indent="-228600" eaLnBrk="0" fontAlgn="base" hangingPunct="0">
              <a:spcBef>
                <a:spcPct val="20000"/>
              </a:spcBef>
              <a:spcAft>
                <a:spcPct val="0"/>
              </a:spcAft>
              <a:buChar char="»"/>
              <a:defRPr sz="1500">
                <a:solidFill>
                  <a:schemeClr val="tx1"/>
                </a:solidFill>
                <a:latin typeface="Arial" pitchFamily="34" charset="0"/>
              </a:defRPr>
            </a:lvl9pPr>
          </a:lstStyle>
          <a:p>
            <a:pPr algn="just" eaLnBrk="1" hangingPunct="1">
              <a:spcBef>
                <a:spcPct val="0"/>
              </a:spcBef>
            </a:pPr>
            <a:r>
              <a:rPr lang="en-US" altLang="en-US" sz="2200" dirty="0">
                <a:latin typeface="Cambria" pitchFamily="18" charset="0"/>
                <a:ea typeface="Cambria" pitchFamily="18" charset="0"/>
              </a:rPr>
              <a:t>The basic principle of OFDM is to split a high data rate streams into a number of lower data rate streams and then transmitted these streams in parallel using several orthogonal sub-carriers (parallel transmission). </a:t>
            </a:r>
          </a:p>
          <a:p>
            <a:pPr algn="just" eaLnBrk="1" hangingPunct="1">
              <a:spcBef>
                <a:spcPct val="0"/>
              </a:spcBef>
            </a:pPr>
            <a:r>
              <a:rPr lang="en-US" altLang="en-US" sz="2200" dirty="0">
                <a:latin typeface="Cambria" pitchFamily="18" charset="0"/>
                <a:ea typeface="Cambria" pitchFamily="18" charset="0"/>
              </a:rPr>
              <a:t>Due to this parallel transmission, the symbol duration increases thus decreases the relative amount of dispersion in time caused by multipath delay spread. </a:t>
            </a:r>
          </a:p>
        </p:txBody>
      </p:sp>
      <p:pic>
        <p:nvPicPr>
          <p:cNvPr id="1741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35075" y="2928986"/>
            <a:ext cx="6858000" cy="2633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2"/>
          <p:cNvSpPr>
            <a:spLocks noChangeArrowheads="1"/>
          </p:cNvSpPr>
          <p:nvPr/>
        </p:nvSpPr>
        <p:spPr bwMode="auto">
          <a:xfrm>
            <a:off x="358775" y="5638800"/>
            <a:ext cx="863282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14313" indent="-214313">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buFont typeface="Arial" pitchFamily="34" charset="0"/>
              <a:buChar char="•"/>
            </a:pPr>
            <a:r>
              <a:rPr lang="en-US" altLang="en-US" sz="2200" dirty="0">
                <a:solidFill>
                  <a:srgbClr val="009B00"/>
                </a:solidFill>
                <a:latin typeface="Cambria" pitchFamily="18" charset="0"/>
                <a:ea typeface="Cambria" pitchFamily="18" charset="0"/>
              </a:rPr>
              <a:t>Transform high-speed serial transmission to low-speed </a:t>
            </a:r>
            <a:r>
              <a:rPr lang="en-IN" altLang="en-US" sz="2200" dirty="0">
                <a:solidFill>
                  <a:srgbClr val="009B00"/>
                </a:solidFill>
                <a:latin typeface="Cambria" pitchFamily="18" charset="0"/>
                <a:ea typeface="Cambria" pitchFamily="18" charset="0"/>
              </a:rPr>
              <a:t>parallel </a:t>
            </a:r>
            <a:r>
              <a:rPr lang="en-IN" altLang="en-US" sz="2200" dirty="0" smtClean="0">
                <a:solidFill>
                  <a:srgbClr val="009B00"/>
                </a:solidFill>
                <a:latin typeface="Cambria" pitchFamily="18" charset="0"/>
                <a:ea typeface="Cambria" pitchFamily="18" charset="0"/>
              </a:rPr>
              <a:t>transmission</a:t>
            </a:r>
            <a:endParaRPr lang="en-IN" altLang="en-US" sz="2200" dirty="0">
              <a:solidFill>
                <a:srgbClr val="009B00"/>
              </a:solidFill>
              <a:latin typeface="Cambria" pitchFamily="18" charset="0"/>
              <a:ea typeface="Cambria" pitchFamily="18" charset="0"/>
            </a:endParaRPr>
          </a:p>
          <a:p>
            <a:pPr algn="just" eaLnBrk="1" hangingPunct="1">
              <a:buFont typeface="Arial" pitchFamily="34" charset="0"/>
              <a:buChar char="•"/>
            </a:pPr>
            <a:r>
              <a:rPr lang="en-US" altLang="en-US" sz="2200" dirty="0">
                <a:solidFill>
                  <a:srgbClr val="009B00"/>
                </a:solidFill>
                <a:latin typeface="Cambria" pitchFamily="18" charset="0"/>
                <a:ea typeface="Cambria" pitchFamily="18" charset="0"/>
              </a:rPr>
              <a:t>Increase symbol duration, robust to multipath interference</a:t>
            </a:r>
            <a:endParaRPr lang="en-IN" altLang="en-US" sz="2200" dirty="0">
              <a:latin typeface="Cambria" pitchFamily="18" charset="0"/>
              <a:ea typeface="Cambria" pitchFamily="18" charset="0"/>
            </a:endParaRPr>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16</a:t>
            </a:fld>
            <a:endParaRPr lang="en-US"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401763" y="215900"/>
            <a:ext cx="6172200" cy="252413"/>
          </a:xfrm>
        </p:spPr>
        <p:txBody>
          <a:bodyPr/>
          <a:lstStyle/>
          <a:p>
            <a:pPr eaLnBrk="1" hangingPunct="1">
              <a:defRPr/>
            </a:pPr>
            <a:r>
              <a:rPr lang="en-US" sz="2800" b="1" cap="all" dirty="0">
                <a:solidFill>
                  <a:srgbClr val="FF0000"/>
                </a:solidFill>
                <a:latin typeface="Cambria" pitchFamily="18" charset="0"/>
                <a:ea typeface="Cambria" pitchFamily="18" charset="0"/>
              </a:rPr>
              <a:t>OFDM principle</a:t>
            </a:r>
            <a:endParaRPr lang="fr-FR" altLang="en-US" sz="2800" b="1" dirty="0">
              <a:solidFill>
                <a:srgbClr val="FF0000"/>
              </a:solidFill>
              <a:latin typeface="Cambria" pitchFamily="18" charset="0"/>
              <a:ea typeface="Cambria" pitchFamily="18" charset="0"/>
            </a:endParaRPr>
          </a:p>
        </p:txBody>
      </p:sp>
      <p:sp>
        <p:nvSpPr>
          <p:cNvPr id="12291" name="Rectangle 17"/>
          <p:cNvSpPr>
            <a:spLocks noChangeArrowheads="1"/>
          </p:cNvSpPr>
          <p:nvPr/>
        </p:nvSpPr>
        <p:spPr bwMode="auto">
          <a:xfrm>
            <a:off x="4479925" y="706438"/>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pic>
        <p:nvPicPr>
          <p:cNvPr id="1843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7525" y="673100"/>
            <a:ext cx="7924800"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EE1941BC-37BB-4540-B965-F72DB7AA079D}"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17</a:t>
            </a:fld>
            <a:endParaRPr lang="en-US"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577975" y="176213"/>
            <a:ext cx="6423025" cy="831850"/>
          </a:xfrm>
        </p:spPr>
        <p:txBody>
          <a:bodyPr/>
          <a:lstStyle/>
          <a:p>
            <a:pPr eaLnBrk="1" hangingPunct="1">
              <a:defRPr/>
            </a:pPr>
            <a:r>
              <a:rPr lang="en-US" sz="2400" b="1" cap="all" dirty="0">
                <a:solidFill>
                  <a:srgbClr val="FF0000"/>
                </a:solidFill>
                <a:latin typeface="Cambria" pitchFamily="18" charset="0"/>
                <a:ea typeface="Cambria" pitchFamily="18" charset="0"/>
              </a:rPr>
              <a:t>Basic Structure of Multi-carrier Transmission</a:t>
            </a:r>
            <a:endParaRPr lang="fr-FR" altLang="en-US" sz="2400" b="1" dirty="0">
              <a:solidFill>
                <a:srgbClr val="FF0000"/>
              </a:solidFill>
              <a:latin typeface="Cambria" pitchFamily="18" charset="0"/>
              <a:ea typeface="Cambria" pitchFamily="18" charset="0"/>
            </a:endParaRPr>
          </a:p>
        </p:txBody>
      </p:sp>
      <p:sp>
        <p:nvSpPr>
          <p:cNvPr id="12291" name="Rectangle 17"/>
          <p:cNvSpPr>
            <a:spLocks noChangeArrowheads="1"/>
          </p:cNvSpPr>
          <p:nvPr/>
        </p:nvSpPr>
        <p:spPr bwMode="auto">
          <a:xfrm>
            <a:off x="4479925" y="706438"/>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pic>
        <p:nvPicPr>
          <p:cNvPr id="1946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500" y="1008063"/>
            <a:ext cx="8324850" cy="546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9F0F0549-B8D2-4AA8-A0A1-AFE13FC6CF33}"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18</a:t>
            </a:fld>
            <a:endParaRPr lang="en-US"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05594" y="3574473"/>
            <a:ext cx="6131479"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600"/>
            <a:ext cx="4038600" cy="288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Curved Up Arrow 16"/>
          <p:cNvSpPr/>
          <p:nvPr/>
        </p:nvSpPr>
        <p:spPr bwMode="auto">
          <a:xfrm rot="2819909">
            <a:off x="388933" y="5026959"/>
            <a:ext cx="3565535" cy="1025482"/>
          </a:xfrm>
          <a:prstGeom prst="curvedUpArrow">
            <a:avLst/>
          </a:prstGeom>
          <a:solidFill>
            <a:schemeClr val="accent1"/>
          </a:solidFill>
          <a:ln w="9525" cap="flat" cmpd="sng" algn="ctr">
            <a:solidFill>
              <a:schemeClr val="tx1"/>
            </a:solidFill>
            <a:prstDash val="solid"/>
            <a:round/>
            <a:headEnd type="none" w="med" len="med"/>
            <a:tailEnd type="none" w="med" len="med"/>
          </a:ln>
          <a:effectLst/>
        </p:spPr>
        <p:txBody>
          <a:bodyPr lIns="68580" tIns="34290" rIns="68580" bIns="34290"/>
          <a:lstStyle/>
          <a:p>
            <a:pPr algn="ctr" defTabSz="685800" eaLnBrk="1" hangingPunct="1">
              <a:defRPr/>
            </a:pPr>
            <a:endParaRPr lang="en-IN" sz="1350">
              <a:latin typeface="Arial" charset="0"/>
            </a:endParaRPr>
          </a:p>
        </p:txBody>
      </p:sp>
      <p:sp>
        <p:nvSpPr>
          <p:cNvPr id="2" name="Date Placeholder 1"/>
          <p:cNvSpPr>
            <a:spLocks noGrp="1"/>
          </p:cNvSpPr>
          <p:nvPr>
            <p:ph type="dt" sz="half" idx="10"/>
          </p:nvPr>
        </p:nvSpPr>
        <p:spPr/>
        <p:txBody>
          <a:bodyPr/>
          <a:lstStyle/>
          <a:p>
            <a:pPr>
              <a:defRPr/>
            </a:pPr>
            <a:fld id="{EED6A90F-1ABC-4F7E-BF17-E30369E0F8C6}"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19</a:t>
            </a:fld>
            <a:endParaRPr lang="en-US" altLang="en-US"/>
          </a:p>
        </p:txBody>
      </p:sp>
      <p:pic>
        <p:nvPicPr>
          <p:cNvPr id="10"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76199"/>
            <a:ext cx="7346950" cy="1447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600200" y="204788"/>
            <a:ext cx="6172200" cy="252412"/>
          </a:xfrm>
        </p:spPr>
        <p:txBody>
          <a:bodyPr/>
          <a:lstStyle/>
          <a:p>
            <a:pPr eaLnBrk="1" hangingPunct="1">
              <a:defRPr/>
            </a:pPr>
            <a:r>
              <a:rPr lang="en-US" sz="2400" b="1" cap="all" dirty="0" smtClean="0">
                <a:solidFill>
                  <a:srgbClr val="FF0000"/>
                </a:solidFill>
                <a:latin typeface="Cambria" pitchFamily="18" charset="0"/>
                <a:ea typeface="Cambria" pitchFamily="18" charset="0"/>
              </a:rPr>
              <a:t>Improved Spectral efficiency</a:t>
            </a:r>
            <a:endParaRPr lang="fr-FR" altLang="en-US" sz="2400" b="1" dirty="0">
              <a:solidFill>
                <a:srgbClr val="FF0000"/>
              </a:solidFill>
              <a:latin typeface="Cambria" pitchFamily="18" charset="0"/>
              <a:ea typeface="Cambria" pitchFamily="18" charset="0"/>
            </a:endParaRPr>
          </a:p>
        </p:txBody>
      </p:sp>
      <p:sp>
        <p:nvSpPr>
          <p:cNvPr id="11267" name="Rectangle 17"/>
          <p:cNvSpPr>
            <a:spLocks noChangeArrowheads="1"/>
          </p:cNvSpPr>
          <p:nvPr/>
        </p:nvSpPr>
        <p:spPr bwMode="auto">
          <a:xfrm>
            <a:off x="4479925" y="706438"/>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sp>
        <p:nvSpPr>
          <p:cNvPr id="21508" name="Rectangle 1"/>
          <p:cNvSpPr>
            <a:spLocks noChangeArrowheads="1"/>
          </p:cNvSpPr>
          <p:nvPr/>
        </p:nvSpPr>
        <p:spPr bwMode="auto">
          <a:xfrm>
            <a:off x="342900" y="706438"/>
            <a:ext cx="84963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2400">
                <a:solidFill>
                  <a:schemeClr val="tx1"/>
                </a:solidFill>
                <a:latin typeface="Arial" pitchFamily="34" charset="0"/>
              </a:defRPr>
            </a:lvl1pPr>
            <a:lvl2pPr marL="742950" indent="-285750">
              <a:spcBef>
                <a:spcPct val="20000"/>
              </a:spcBef>
              <a:buChar char="–"/>
              <a:defRPr sz="2100">
                <a:solidFill>
                  <a:schemeClr val="tx1"/>
                </a:solidFill>
                <a:latin typeface="Arial" pitchFamily="34" charset="0"/>
              </a:defRPr>
            </a:lvl2pPr>
            <a:lvl3pPr marL="1143000" indent="-228600">
              <a:spcBef>
                <a:spcPct val="20000"/>
              </a:spcBef>
              <a:buChar char="•"/>
              <a:defRPr>
                <a:solidFill>
                  <a:schemeClr val="tx1"/>
                </a:solidFill>
                <a:latin typeface="Arial" pitchFamily="34" charset="0"/>
              </a:defRPr>
            </a:lvl3pPr>
            <a:lvl4pPr marL="1600200" indent="-228600">
              <a:spcBef>
                <a:spcPct val="20000"/>
              </a:spcBef>
              <a:buChar char="–"/>
              <a:defRPr sz="1500">
                <a:solidFill>
                  <a:schemeClr val="tx1"/>
                </a:solidFill>
                <a:latin typeface="Arial" pitchFamily="34" charset="0"/>
              </a:defRPr>
            </a:lvl4pPr>
            <a:lvl5pPr marL="2057400" indent="-228600">
              <a:spcBef>
                <a:spcPct val="20000"/>
              </a:spcBef>
              <a:buChar char="»"/>
              <a:defRPr sz="1500">
                <a:solidFill>
                  <a:schemeClr val="tx1"/>
                </a:solidFill>
                <a:latin typeface="Arial" pitchFamily="34" charset="0"/>
              </a:defRPr>
            </a:lvl5pPr>
            <a:lvl6pPr marL="2514600" indent="-228600" eaLnBrk="0" fontAlgn="base" hangingPunct="0">
              <a:spcBef>
                <a:spcPct val="20000"/>
              </a:spcBef>
              <a:spcAft>
                <a:spcPct val="0"/>
              </a:spcAft>
              <a:buChar char="»"/>
              <a:defRPr sz="1500">
                <a:solidFill>
                  <a:schemeClr val="tx1"/>
                </a:solidFill>
                <a:latin typeface="Arial" pitchFamily="34" charset="0"/>
              </a:defRPr>
            </a:lvl6pPr>
            <a:lvl7pPr marL="2971800" indent="-228600" eaLnBrk="0" fontAlgn="base" hangingPunct="0">
              <a:spcBef>
                <a:spcPct val="20000"/>
              </a:spcBef>
              <a:spcAft>
                <a:spcPct val="0"/>
              </a:spcAft>
              <a:buChar char="»"/>
              <a:defRPr sz="1500">
                <a:solidFill>
                  <a:schemeClr val="tx1"/>
                </a:solidFill>
                <a:latin typeface="Arial" pitchFamily="34" charset="0"/>
              </a:defRPr>
            </a:lvl7pPr>
            <a:lvl8pPr marL="3429000" indent="-228600" eaLnBrk="0" fontAlgn="base" hangingPunct="0">
              <a:spcBef>
                <a:spcPct val="20000"/>
              </a:spcBef>
              <a:spcAft>
                <a:spcPct val="0"/>
              </a:spcAft>
              <a:buChar char="»"/>
              <a:defRPr sz="1500">
                <a:solidFill>
                  <a:schemeClr val="tx1"/>
                </a:solidFill>
                <a:latin typeface="Arial" pitchFamily="34" charset="0"/>
              </a:defRPr>
            </a:lvl8pPr>
            <a:lvl9pPr marL="3886200" indent="-228600" eaLnBrk="0" fontAlgn="base" hangingPunct="0">
              <a:spcBef>
                <a:spcPct val="20000"/>
              </a:spcBef>
              <a:spcAft>
                <a:spcPct val="0"/>
              </a:spcAft>
              <a:buChar char="»"/>
              <a:defRPr sz="1500">
                <a:solidFill>
                  <a:schemeClr val="tx1"/>
                </a:solidFill>
                <a:latin typeface="Arial" pitchFamily="34" charset="0"/>
              </a:defRPr>
            </a:lvl9pPr>
          </a:lstStyle>
          <a:p>
            <a:pPr algn="just" eaLnBrk="1" hangingPunct="1">
              <a:spcBef>
                <a:spcPct val="0"/>
              </a:spcBef>
            </a:pPr>
            <a:r>
              <a:rPr lang="en-US" altLang="en-US" sz="2200" dirty="0">
                <a:latin typeface="Cambria" pitchFamily="18" charset="0"/>
                <a:ea typeface="Cambria" pitchFamily="18" charset="0"/>
              </a:rPr>
              <a:t>The concept of OFDM is very much similar to the well known and extensively used technique of Frequency Division Multiplexing (FDM). </a:t>
            </a:r>
          </a:p>
          <a:p>
            <a:pPr algn="just" eaLnBrk="1" hangingPunct="1">
              <a:spcBef>
                <a:spcPct val="0"/>
              </a:spcBef>
            </a:pPr>
            <a:r>
              <a:rPr lang="en-US" altLang="en-US" sz="2200" dirty="0">
                <a:latin typeface="Cambria" pitchFamily="18" charset="0"/>
                <a:ea typeface="Cambria" pitchFamily="18" charset="0"/>
              </a:rPr>
              <a:t>OFDM uses the principles of FDM to allow multiple messages to be sent over a single radio channel. </a:t>
            </a:r>
          </a:p>
          <a:p>
            <a:pPr algn="just" eaLnBrk="1" hangingPunct="1">
              <a:spcBef>
                <a:spcPct val="0"/>
              </a:spcBef>
            </a:pPr>
            <a:r>
              <a:rPr lang="en-US" altLang="en-US" sz="2200" dirty="0">
                <a:latin typeface="Cambria" pitchFamily="18" charset="0"/>
                <a:ea typeface="Cambria" pitchFamily="18" charset="0"/>
              </a:rPr>
              <a:t>It is however in a much more controlled manner, allowing an improved spectral efficiency. </a:t>
            </a:r>
          </a:p>
        </p:txBody>
      </p:sp>
      <p:pic>
        <p:nvPicPr>
          <p:cNvPr id="21509" name="Picture 7" descr="C:\Documents and Settings\hemdutt.joshi\Desktop\FDM_OFD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271420"/>
            <a:ext cx="7162800" cy="3129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1456F275-6AEE-4379-8563-416AF6FBCF80}"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20</a:t>
            </a:fld>
            <a:endParaRPr lang="en-US"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457325" y="217488"/>
            <a:ext cx="6172200" cy="250825"/>
          </a:xfrm>
        </p:spPr>
        <p:txBody>
          <a:bodyPr/>
          <a:lstStyle/>
          <a:p>
            <a:pPr eaLnBrk="1" hangingPunct="1">
              <a:defRPr/>
            </a:pPr>
            <a:r>
              <a:rPr lang="en-US" sz="2400" b="1" cap="all" dirty="0">
                <a:solidFill>
                  <a:srgbClr val="FF0000"/>
                </a:solidFill>
                <a:latin typeface="Cambria" pitchFamily="18" charset="0"/>
                <a:ea typeface="Cambria" pitchFamily="18" charset="0"/>
              </a:rPr>
              <a:t>principle of orthogonality</a:t>
            </a:r>
            <a:endParaRPr lang="fr-FR" altLang="en-US" sz="2400" b="1" dirty="0">
              <a:solidFill>
                <a:srgbClr val="FF0000"/>
              </a:solidFill>
              <a:latin typeface="Cambria" pitchFamily="18" charset="0"/>
              <a:ea typeface="Cambria" pitchFamily="18" charset="0"/>
            </a:endParaRPr>
          </a:p>
        </p:txBody>
      </p:sp>
      <p:sp>
        <p:nvSpPr>
          <p:cNvPr id="13315" name="Rectangle 17"/>
          <p:cNvSpPr>
            <a:spLocks noChangeArrowheads="1"/>
          </p:cNvSpPr>
          <p:nvPr/>
        </p:nvSpPr>
        <p:spPr bwMode="auto">
          <a:xfrm>
            <a:off x="4479925" y="706438"/>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sp>
        <p:nvSpPr>
          <p:cNvPr id="13319" name="Rectangle 4"/>
          <p:cNvSpPr>
            <a:spLocks noChangeArrowheads="1"/>
          </p:cNvSpPr>
          <p:nvPr/>
        </p:nvSpPr>
        <p:spPr bwMode="auto">
          <a:xfrm>
            <a:off x="762000" y="5036980"/>
            <a:ext cx="76962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defRPr/>
            </a:pPr>
            <a:r>
              <a:rPr lang="en-US" altLang="en-US" sz="2200" dirty="0" smtClean="0">
                <a:solidFill>
                  <a:srgbClr val="FF0000"/>
                </a:solidFill>
                <a:latin typeface="Cambria" pitchFamily="18" charset="0"/>
                <a:ea typeface="Cambria" pitchFamily="18" charset="0"/>
              </a:rPr>
              <a:t>Similarly, if the set of functions are to be an orthonormal set then they have to be orthogonal as well as being normalized, i.e., </a:t>
            </a:r>
            <a:endParaRPr lang="en-IN" altLang="en-US" sz="2200" dirty="0" smtClean="0">
              <a:solidFill>
                <a:srgbClr val="FF0000"/>
              </a:solidFill>
              <a:latin typeface="Cambria" pitchFamily="18" charset="0"/>
              <a:ea typeface="Cambria" pitchFamily="18" charset="0"/>
            </a:endParaRPr>
          </a:p>
        </p:txBody>
      </p:sp>
      <mc:AlternateContent xmlns:mc="http://schemas.openxmlformats.org/markup-compatibility/2006" xmlns:a14="http://schemas.microsoft.com/office/drawing/2010/main">
        <mc:Choice Requires="a14">
          <p:sp>
            <p:nvSpPr>
              <p:cNvPr id="2" name="Rectangle 1"/>
              <p:cNvSpPr/>
              <p:nvPr/>
            </p:nvSpPr>
            <p:spPr>
              <a:xfrm>
                <a:off x="2057400" y="5875180"/>
                <a:ext cx="5807075" cy="8304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i="1">
                              <a:latin typeface="Cambria Math" panose="02040503050406030204" pitchFamily="18" charset="0"/>
                            </a:rPr>
                          </m:ctrlPr>
                        </m:fPr>
                        <m:num>
                          <m:r>
                            <a:rPr lang="en-US" i="1">
                              <a:latin typeface="Cambria Math"/>
                            </a:rPr>
                            <m:t>1</m:t>
                          </m:r>
                        </m:num>
                        <m:den>
                          <m:r>
                            <a:rPr lang="en-US" i="1">
                              <a:latin typeface="Cambria Math"/>
                            </a:rPr>
                            <m:t>𝑇</m:t>
                          </m:r>
                        </m:den>
                      </m:f>
                      <m:nary>
                        <m:naryPr>
                          <m:limLoc m:val="subSup"/>
                          <m:grow m:val="on"/>
                          <m:ctrlPr>
                            <a:rPr lang="en-IN" i="1">
                              <a:latin typeface="Cambria Math" panose="02040503050406030204" pitchFamily="18" charset="0"/>
                            </a:rPr>
                          </m:ctrlPr>
                        </m:naryPr>
                        <m:sub>
                          <m:sSub>
                            <m:sSubPr>
                              <m:ctrlPr>
                                <a:rPr lang="en-IN" i="1">
                                  <a:latin typeface="Cambria Math" panose="02040503050406030204" pitchFamily="18" charset="0"/>
                                </a:rPr>
                              </m:ctrlPr>
                            </m:sSubPr>
                            <m:e>
                              <m:r>
                                <a:rPr lang="en-US" i="1">
                                  <a:latin typeface="Cambria Math"/>
                                </a:rPr>
                                <m:t>𝑡</m:t>
                              </m:r>
                            </m:e>
                            <m:sub>
                              <m:r>
                                <a:rPr lang="en-US" i="1">
                                  <a:latin typeface="Cambria Math"/>
                                </a:rPr>
                                <m:t>1</m:t>
                              </m:r>
                            </m:sub>
                          </m:sSub>
                        </m:sub>
                        <m:sup>
                          <m:sSub>
                            <m:sSubPr>
                              <m:ctrlPr>
                                <a:rPr lang="en-IN" i="1">
                                  <a:latin typeface="Cambria Math" panose="02040503050406030204" pitchFamily="18" charset="0"/>
                                </a:rPr>
                              </m:ctrlPr>
                            </m:sSubPr>
                            <m:e>
                              <m:r>
                                <a:rPr lang="en-US" i="1">
                                  <a:latin typeface="Cambria Math"/>
                                </a:rPr>
                                <m:t>𝑡</m:t>
                              </m:r>
                            </m:e>
                            <m:sub>
                              <m:r>
                                <a:rPr lang="en-US" i="1">
                                  <a:latin typeface="Cambria Math"/>
                                </a:rPr>
                                <m:t>1</m:t>
                              </m:r>
                            </m:sub>
                          </m:sSub>
                          <m:r>
                            <a:rPr lang="en-US" i="1">
                              <a:latin typeface="Cambria Math"/>
                            </a:rPr>
                            <m:t>+ </m:t>
                          </m:r>
                          <m:r>
                            <a:rPr lang="en-US" i="1">
                              <a:latin typeface="Cambria Math"/>
                            </a:rPr>
                            <m:t>𝑇</m:t>
                          </m:r>
                        </m:sup>
                        <m:e>
                          <m:sSub>
                            <m:sSubPr>
                              <m:ctrlPr>
                                <a:rPr lang="en-IN" i="1">
                                  <a:latin typeface="Cambria Math" panose="02040503050406030204" pitchFamily="18" charset="0"/>
                                </a:rPr>
                              </m:ctrlPr>
                            </m:sSubPr>
                            <m:e>
                              <m:r>
                                <a:rPr lang="en-US" i="1">
                                  <a:latin typeface="Cambria Math"/>
                                </a:rPr>
                                <m:t>𝑔</m:t>
                              </m:r>
                            </m:e>
                            <m:sub>
                              <m:r>
                                <a:rPr lang="en-US" i="1">
                                  <a:latin typeface="Cambria Math"/>
                                </a:rPr>
                                <m:t>𝑖</m:t>
                              </m:r>
                            </m:sub>
                          </m:sSub>
                          <m:d>
                            <m:dPr>
                              <m:ctrlPr>
                                <a:rPr lang="en-IN" i="1">
                                  <a:latin typeface="Cambria Math" panose="02040503050406030204" pitchFamily="18" charset="0"/>
                                </a:rPr>
                              </m:ctrlPr>
                            </m:dPr>
                            <m:e>
                              <m:r>
                                <a:rPr lang="en-US" i="1">
                                  <a:latin typeface="Cambria Math"/>
                                </a:rPr>
                                <m:t>𝑡</m:t>
                              </m:r>
                            </m:e>
                          </m:d>
                          <m:r>
                            <a:rPr lang="en-US" i="1">
                              <a:latin typeface="Cambria Math"/>
                            </a:rPr>
                            <m:t> </m:t>
                          </m:r>
                          <m:sSub>
                            <m:sSubPr>
                              <m:ctrlPr>
                                <a:rPr lang="en-IN" i="1">
                                  <a:latin typeface="Cambria Math" panose="02040503050406030204" pitchFamily="18" charset="0"/>
                                </a:rPr>
                              </m:ctrlPr>
                            </m:sSubPr>
                            <m:e>
                              <m:r>
                                <a:rPr lang="en-US" i="1">
                                  <a:latin typeface="Cambria Math"/>
                                </a:rPr>
                                <m:t>𝑔</m:t>
                              </m:r>
                            </m:e>
                            <m:sub>
                              <m:r>
                                <a:rPr lang="en-US" i="1">
                                  <a:latin typeface="Cambria Math"/>
                                </a:rPr>
                                <m:t>𝑘</m:t>
                              </m:r>
                            </m:sub>
                          </m:sSub>
                          <m:d>
                            <m:dPr>
                              <m:ctrlPr>
                                <a:rPr lang="en-IN" i="1">
                                  <a:latin typeface="Cambria Math" panose="02040503050406030204" pitchFamily="18" charset="0"/>
                                </a:rPr>
                              </m:ctrlPr>
                            </m:dPr>
                            <m:e>
                              <m:r>
                                <a:rPr lang="en-US" i="1">
                                  <a:latin typeface="Cambria Math"/>
                                </a:rPr>
                                <m:t>𝑡</m:t>
                              </m:r>
                            </m:e>
                          </m:d>
                        </m:e>
                      </m:nary>
                      <m:r>
                        <a:rPr lang="en-US" i="1">
                          <a:latin typeface="Cambria Math"/>
                        </a:rPr>
                        <m:t> </m:t>
                      </m:r>
                      <m:r>
                        <a:rPr lang="en-US" i="1">
                          <a:latin typeface="Cambria Math"/>
                        </a:rPr>
                        <m:t>𝑑𝑡</m:t>
                      </m:r>
                      <m:r>
                        <a:rPr lang="en-US" i="1">
                          <a:latin typeface="Cambria Math"/>
                        </a:rPr>
                        <m:t>=</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a:rPr>
                                <m:t>0                  ∀    </m:t>
                              </m:r>
                              <m:r>
                                <a:rPr lang="en-US" i="1">
                                  <a:latin typeface="Cambria Math"/>
                                </a:rPr>
                                <m:t>𝑖</m:t>
                              </m:r>
                              <m:r>
                                <a:rPr lang="en-US" i="1">
                                  <a:latin typeface="Cambria Math"/>
                                </a:rPr>
                                <m:t>≠</m:t>
                              </m:r>
                              <m:r>
                                <a:rPr lang="en-US" i="1">
                                  <a:latin typeface="Cambria Math"/>
                                </a:rPr>
                                <m:t>𝑘</m:t>
                              </m:r>
                            </m:e>
                            <m:e/>
                            <m:e>
                              <m:r>
                                <a:rPr lang="en-US" i="1">
                                  <a:latin typeface="Cambria Math"/>
                                </a:rPr>
                                <m:t>1                  ∀    </m:t>
                              </m:r>
                              <m:r>
                                <a:rPr lang="en-US" i="1">
                                  <a:latin typeface="Cambria Math"/>
                                </a:rPr>
                                <m:t>𝑖</m:t>
                              </m:r>
                              <m:r>
                                <a:rPr lang="en-US" i="1">
                                  <a:latin typeface="Cambria Math"/>
                                </a:rPr>
                                <m:t>=</m:t>
                              </m:r>
                              <m:r>
                                <a:rPr lang="en-US" i="1">
                                  <a:latin typeface="Cambria Math"/>
                                </a:rPr>
                                <m:t>𝑘</m:t>
                              </m:r>
                            </m:e>
                          </m:eqArr>
                        </m:e>
                      </m:d>
                    </m:oMath>
                  </m:oMathPara>
                </a14:m>
                <a:endParaRPr lang="en-IN" dirty="0">
                  <a:latin typeface="Cambria" pitchFamily="18" charset="0"/>
                  <a:ea typeface="Cambria"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2057400" y="5875180"/>
                <a:ext cx="5807075" cy="830420"/>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515936" y="609600"/>
                <a:ext cx="8018464" cy="3139321"/>
              </a:xfrm>
              <a:prstGeom prst="rect">
                <a:avLst/>
              </a:prstGeom>
            </p:spPr>
            <p:txBody>
              <a:bodyPr wrap="square">
                <a:spAutoFit/>
              </a:bodyPr>
              <a:lstStyle/>
              <a:p>
                <a:pPr marL="285750" indent="-285750" algn="just">
                  <a:buFont typeface="Arial" panose="020B0604020202020204" pitchFamily="34" charset="0"/>
                  <a:buChar char="•"/>
                </a:pPr>
                <a:r>
                  <a:rPr lang="en-US" sz="2200" dirty="0">
                    <a:latin typeface="Cambria" pitchFamily="18" charset="0"/>
                    <a:ea typeface="Cambria" pitchFamily="18" charset="0"/>
                  </a:rPr>
                  <a:t>Two functions or signals are said to be orthogonal if they are mutually independent of each other. </a:t>
                </a:r>
              </a:p>
              <a:p>
                <a:pPr marL="285750" indent="-285750" algn="just">
                  <a:buFont typeface="Arial" panose="020B0604020202020204" pitchFamily="34" charset="0"/>
                  <a:buChar char="•"/>
                </a:pPr>
                <a:r>
                  <a:rPr lang="en-US" sz="2200" dirty="0">
                    <a:latin typeface="Cambria" pitchFamily="18" charset="0"/>
                    <a:ea typeface="Cambria" pitchFamily="18" charset="0"/>
                  </a:rPr>
                  <a:t>The principle of orthogonality state that if the time-averaged integral of product of any two functions from a set of functions </a:t>
                </a:r>
                <a14:m>
                  <m:oMath xmlns:m="http://schemas.openxmlformats.org/officeDocument/2006/math">
                    <m:d>
                      <m:dPr>
                        <m:begChr m:val="{"/>
                        <m:endChr m:val="}"/>
                        <m:ctrlPr>
                          <a:rPr lang="en-IN" sz="2200" i="1">
                            <a:latin typeface="Cambria Math" panose="02040503050406030204" pitchFamily="18" charset="0"/>
                          </a:rPr>
                        </m:ctrlPr>
                      </m:dPr>
                      <m:e>
                        <m:sSub>
                          <m:sSubPr>
                            <m:ctrlPr>
                              <a:rPr lang="en-IN" sz="2200" i="1">
                                <a:latin typeface="Cambria Math" panose="02040503050406030204" pitchFamily="18" charset="0"/>
                              </a:rPr>
                            </m:ctrlPr>
                          </m:sSubPr>
                          <m:e>
                            <m:r>
                              <a:rPr lang="en-US" sz="2200" i="1">
                                <a:latin typeface="Cambria Math" panose="02040503050406030204" pitchFamily="18" charset="0"/>
                              </a:rPr>
                              <m:t>𝑔</m:t>
                            </m:r>
                          </m:e>
                          <m:sub>
                            <m:r>
                              <a:rPr lang="en-US" sz="2200" i="1">
                                <a:latin typeface="Cambria Math" panose="02040503050406030204" pitchFamily="18" charset="0"/>
                              </a:rPr>
                              <m:t>1</m:t>
                            </m:r>
                          </m:sub>
                        </m:sSub>
                        <m:d>
                          <m:dPr>
                            <m:ctrlPr>
                              <a:rPr lang="en-IN" sz="2200" i="1">
                                <a:latin typeface="Cambria Math" panose="02040503050406030204" pitchFamily="18" charset="0"/>
                              </a:rPr>
                            </m:ctrlPr>
                          </m:dPr>
                          <m:e>
                            <m:r>
                              <a:rPr lang="en-US" sz="2200" i="1">
                                <a:latin typeface="Cambria Math" panose="02040503050406030204" pitchFamily="18" charset="0"/>
                              </a:rPr>
                              <m:t>𝑡</m:t>
                            </m:r>
                          </m:e>
                        </m:d>
                        <m:r>
                          <a:rPr lang="en-US" sz="2200" i="1">
                            <a:latin typeface="Cambria Math" panose="02040503050406030204" pitchFamily="18" charset="0"/>
                          </a:rPr>
                          <m:t>, </m:t>
                        </m:r>
                        <m:sSub>
                          <m:sSubPr>
                            <m:ctrlPr>
                              <a:rPr lang="en-IN" sz="2200" i="1">
                                <a:latin typeface="Cambria Math" panose="02040503050406030204" pitchFamily="18" charset="0"/>
                              </a:rPr>
                            </m:ctrlPr>
                          </m:sSubPr>
                          <m:e>
                            <m:r>
                              <a:rPr lang="en-US" sz="2200" i="1">
                                <a:latin typeface="Cambria Math" panose="02040503050406030204" pitchFamily="18" charset="0"/>
                              </a:rPr>
                              <m:t>𝑔</m:t>
                            </m:r>
                          </m:e>
                          <m:sub>
                            <m:r>
                              <a:rPr lang="en-US" sz="2200" i="1">
                                <a:latin typeface="Cambria Math" panose="02040503050406030204" pitchFamily="18" charset="0"/>
                              </a:rPr>
                              <m:t>2</m:t>
                            </m:r>
                          </m:sub>
                        </m:sSub>
                        <m:d>
                          <m:dPr>
                            <m:ctrlPr>
                              <a:rPr lang="en-IN" sz="2200" i="1">
                                <a:latin typeface="Cambria Math" panose="02040503050406030204" pitchFamily="18" charset="0"/>
                              </a:rPr>
                            </m:ctrlPr>
                          </m:dPr>
                          <m:e>
                            <m:r>
                              <a:rPr lang="en-US" sz="2200" i="1">
                                <a:latin typeface="Cambria Math" panose="02040503050406030204" pitchFamily="18" charset="0"/>
                              </a:rPr>
                              <m:t>𝑡</m:t>
                            </m:r>
                          </m:e>
                        </m:d>
                        <m:r>
                          <a:rPr lang="en-US" sz="2200" i="1">
                            <a:latin typeface="Cambria Math" panose="02040503050406030204" pitchFamily="18" charset="0"/>
                          </a:rPr>
                          <m:t>, </m:t>
                        </m:r>
                        <m:sSub>
                          <m:sSubPr>
                            <m:ctrlPr>
                              <a:rPr lang="en-IN" sz="2200" i="1">
                                <a:latin typeface="Cambria Math" panose="02040503050406030204" pitchFamily="18" charset="0"/>
                              </a:rPr>
                            </m:ctrlPr>
                          </m:sSubPr>
                          <m:e>
                            <m:r>
                              <a:rPr lang="en-US" sz="2200" i="1">
                                <a:latin typeface="Cambria Math" panose="02040503050406030204" pitchFamily="18" charset="0"/>
                              </a:rPr>
                              <m:t>𝑔</m:t>
                            </m:r>
                          </m:e>
                          <m:sub>
                            <m:r>
                              <a:rPr lang="en-US" sz="2200" i="1">
                                <a:latin typeface="Cambria Math" panose="02040503050406030204" pitchFamily="18" charset="0"/>
                              </a:rPr>
                              <m:t>3</m:t>
                            </m:r>
                          </m:sub>
                        </m:sSub>
                        <m:d>
                          <m:dPr>
                            <m:ctrlPr>
                              <a:rPr lang="en-IN" sz="2200" i="1">
                                <a:latin typeface="Cambria Math" panose="02040503050406030204" pitchFamily="18" charset="0"/>
                              </a:rPr>
                            </m:ctrlPr>
                          </m:dPr>
                          <m:e>
                            <m:r>
                              <a:rPr lang="en-US" sz="2200" i="1">
                                <a:latin typeface="Cambria Math" panose="02040503050406030204" pitchFamily="18" charset="0"/>
                              </a:rPr>
                              <m:t>𝑡</m:t>
                            </m:r>
                          </m:e>
                        </m:d>
                        <m:r>
                          <a:rPr lang="en-US" sz="2200" i="1">
                            <a:latin typeface="Cambria Math" panose="02040503050406030204" pitchFamily="18" charset="0"/>
                          </a:rPr>
                          <m:t>,…, </m:t>
                        </m:r>
                        <m:sSub>
                          <m:sSubPr>
                            <m:ctrlPr>
                              <a:rPr lang="en-IN" sz="2200" i="1">
                                <a:latin typeface="Cambria Math" panose="02040503050406030204" pitchFamily="18" charset="0"/>
                              </a:rPr>
                            </m:ctrlPr>
                          </m:sSubPr>
                          <m:e>
                            <m:r>
                              <a:rPr lang="en-US" sz="2200" i="1">
                                <a:latin typeface="Cambria Math" panose="02040503050406030204" pitchFamily="18" charset="0"/>
                              </a:rPr>
                              <m:t>𝑔</m:t>
                            </m:r>
                          </m:e>
                          <m:sub>
                            <m:r>
                              <a:rPr lang="en-US" sz="2200" i="1">
                                <a:latin typeface="Cambria Math" panose="02040503050406030204" pitchFamily="18" charset="0"/>
                              </a:rPr>
                              <m:t>𝑁</m:t>
                            </m:r>
                          </m:sub>
                        </m:sSub>
                        <m:d>
                          <m:dPr>
                            <m:ctrlPr>
                              <a:rPr lang="en-IN" sz="2200" i="1">
                                <a:latin typeface="Cambria Math" panose="02040503050406030204" pitchFamily="18" charset="0"/>
                              </a:rPr>
                            </m:ctrlPr>
                          </m:dPr>
                          <m:e>
                            <m:r>
                              <a:rPr lang="en-US" sz="2200" i="1">
                                <a:latin typeface="Cambria Math" panose="02040503050406030204" pitchFamily="18" charset="0"/>
                              </a:rPr>
                              <m:t>𝑡</m:t>
                            </m:r>
                          </m:e>
                        </m:d>
                      </m:e>
                    </m:d>
                  </m:oMath>
                </a14:m>
                <a:r>
                  <a:rPr lang="en-US" sz="2200" dirty="0">
                    <a:latin typeface="Cambria" pitchFamily="18" charset="0"/>
                    <a:ea typeface="Cambria" pitchFamily="18" charset="0"/>
                  </a:rPr>
                  <a:t>, over a joint existence time interval</a:t>
                </a:r>
                <a14:m>
                  <m:oMath xmlns:m="http://schemas.openxmlformats.org/officeDocument/2006/math">
                    <m:r>
                      <a:rPr lang="en-US" sz="2200" i="1">
                        <a:latin typeface="Cambria Math" panose="02040503050406030204" pitchFamily="18" charset="0"/>
                      </a:rPr>
                      <m:t> </m:t>
                    </m:r>
                    <m:d>
                      <m:dPr>
                        <m:begChr m:val="["/>
                        <m:endChr m:val="]"/>
                        <m:ctrlPr>
                          <a:rPr lang="en-IN" sz="2200" i="1">
                            <a:latin typeface="Cambria Math" panose="02040503050406030204" pitchFamily="18" charset="0"/>
                          </a:rPr>
                        </m:ctrlPr>
                      </m:dPr>
                      <m:e>
                        <m:sSub>
                          <m:sSubPr>
                            <m:ctrlPr>
                              <a:rPr lang="en-IN" sz="2200" i="1">
                                <a:latin typeface="Cambria Math" panose="02040503050406030204" pitchFamily="18" charset="0"/>
                              </a:rPr>
                            </m:ctrlPr>
                          </m:sSubPr>
                          <m:e>
                            <m:r>
                              <a:rPr lang="en-US" sz="2200" i="1">
                                <a:latin typeface="Cambria Math" panose="02040503050406030204" pitchFamily="18" charset="0"/>
                              </a:rPr>
                              <m:t>𝑡</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IN" sz="2200" i="1">
                                <a:latin typeface="Cambria Math" panose="02040503050406030204" pitchFamily="18" charset="0"/>
                              </a:rPr>
                            </m:ctrlPr>
                          </m:sSubPr>
                          <m:e>
                            <m:r>
                              <a:rPr lang="en-US" sz="2200" i="1">
                                <a:latin typeface="Cambria Math" panose="02040503050406030204" pitchFamily="18" charset="0"/>
                              </a:rPr>
                              <m:t>𝑡</m:t>
                            </m:r>
                          </m:e>
                          <m:sub>
                            <m:r>
                              <a:rPr lang="en-US" sz="2200" i="1">
                                <a:latin typeface="Cambria Math" panose="02040503050406030204" pitchFamily="18" charset="0"/>
                              </a:rPr>
                              <m:t>1</m:t>
                            </m:r>
                          </m:sub>
                        </m:sSub>
                        <m:r>
                          <a:rPr lang="en-US" sz="2200" i="1">
                            <a:latin typeface="Cambria Math" panose="02040503050406030204" pitchFamily="18" charset="0"/>
                          </a:rPr>
                          <m:t>+</m:t>
                        </m:r>
                        <m:r>
                          <a:rPr lang="en-US" sz="2200" i="1">
                            <a:latin typeface="Cambria Math" panose="02040503050406030204" pitchFamily="18" charset="0"/>
                          </a:rPr>
                          <m:t>𝑇</m:t>
                        </m:r>
                      </m:e>
                    </m:d>
                  </m:oMath>
                </a14:m>
                <a:r>
                  <a:rPr lang="en-US" sz="2200" dirty="0">
                    <a:latin typeface="Cambria" pitchFamily="18" charset="0"/>
                    <a:ea typeface="Cambria" pitchFamily="18" charset="0"/>
                  </a:rPr>
                  <a:t> is equal to zero, irrespective of the limit of existence of the functions, then the functions are said to be orthogonal to each other within this </a:t>
                </a:r>
                <a:r>
                  <a:rPr lang="en-US" sz="2200" dirty="0" smtClean="0">
                    <a:latin typeface="Cambria" pitchFamily="18" charset="0"/>
                    <a:ea typeface="Cambria" pitchFamily="18" charset="0"/>
                  </a:rPr>
                  <a:t>time-interval. </a:t>
                </a:r>
                <a:r>
                  <a:rPr lang="en-US" sz="2200" dirty="0">
                    <a:latin typeface="Cambria" pitchFamily="18" charset="0"/>
                    <a:ea typeface="Cambria" pitchFamily="18" charset="0"/>
                  </a:rPr>
                  <a:t>Mathematically, it can be expressed as </a:t>
                </a:r>
                <a:r>
                  <a:rPr lang="en-US" sz="2200" dirty="0" smtClean="0">
                    <a:latin typeface="Cambria" pitchFamily="18" charset="0"/>
                    <a:ea typeface="Cambria" pitchFamily="18"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515936" y="609600"/>
                <a:ext cx="8018464" cy="3139321"/>
              </a:xfrm>
              <a:prstGeom prst="rect">
                <a:avLst/>
              </a:prstGeom>
              <a:blipFill rotWithShape="1">
                <a:blip r:embed="rId4"/>
                <a:stretch>
                  <a:fillRect l="-913" t="-1165" r="-1825" b="-29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382983" y="4038600"/>
                <a:ext cx="4504695" cy="7478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limLoc m:val="subSup"/>
                          <m:grow m:val="on"/>
                          <m:ctrlPr>
                            <a:rPr lang="en-IN" i="1">
                              <a:latin typeface="Cambria Math" panose="02040503050406030204" pitchFamily="18" charset="0"/>
                            </a:rPr>
                          </m:ctrlPr>
                        </m:naryPr>
                        <m:sub>
                          <m:sSub>
                            <m:sSubPr>
                              <m:ctrlPr>
                                <a:rPr lang="en-IN"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sub>
                        <m:sup>
                          <m:sSub>
                            <m:sSubPr>
                              <m:ctrlPr>
                                <a:rPr lang="en-IN"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 </m:t>
                          </m:r>
                          <m:r>
                            <a:rPr lang="en-US" i="1">
                              <a:latin typeface="Cambria Math" panose="02040503050406030204" pitchFamily="18" charset="0"/>
                            </a:rPr>
                            <m:t>𝑇</m:t>
                          </m:r>
                        </m:sup>
                        <m:e>
                          <m:sSub>
                            <m:sSubPr>
                              <m:ctrlPr>
                                <a:rPr lang="en-IN"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d>
                            <m:dPr>
                              <m:ctrlPr>
                                <a:rPr lang="en-IN"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𝑘</m:t>
                              </m:r>
                            </m:sub>
                          </m:sSub>
                          <m:d>
                            <m:dPr>
                              <m:ctrlPr>
                                <a:rPr lang="en-IN" i="1">
                                  <a:latin typeface="Cambria Math" panose="02040503050406030204" pitchFamily="18" charset="0"/>
                                </a:rPr>
                              </m:ctrlPr>
                            </m:dPr>
                            <m:e>
                              <m:r>
                                <a:rPr lang="en-US" i="1">
                                  <a:latin typeface="Cambria Math" panose="02040503050406030204" pitchFamily="18" charset="0"/>
                                </a:rPr>
                                <m:t>𝑡</m:t>
                              </m:r>
                            </m:e>
                          </m:d>
                        </m:e>
                      </m:nary>
                      <m:r>
                        <a:rPr lang="en-US" i="1">
                          <a:latin typeface="Cambria Math" panose="02040503050406030204" pitchFamily="18" charset="0"/>
                        </a:rPr>
                        <m:t> </m:t>
                      </m:r>
                      <m:r>
                        <a:rPr lang="en-US" i="1">
                          <a:latin typeface="Cambria Math" panose="02040503050406030204" pitchFamily="18" charset="0"/>
                        </a:rPr>
                        <m:t>𝑑𝑡</m:t>
                      </m:r>
                      <m:r>
                        <a:rPr lang="en-US" i="1">
                          <a:latin typeface="Cambria Math" panose="02040503050406030204" pitchFamily="18" charset="0"/>
                        </a:rPr>
                        <m:t>=0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oMath>
                  </m:oMathPara>
                </a14:m>
                <a:endParaRPr lang="en-IN" dirty="0">
                  <a:latin typeface="Cambria" pitchFamily="18" charset="0"/>
                  <a:ea typeface="Cambria"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382983" y="4038600"/>
                <a:ext cx="4504695" cy="747833"/>
              </a:xfrm>
              <a:prstGeom prst="rect">
                <a:avLst/>
              </a:prstGeom>
              <a:blipFill rotWithShape="1">
                <a:blip r:embed="rId5"/>
                <a:stretch>
                  <a:fillRect r="-1083"/>
                </a:stretch>
              </a:blipFill>
            </p:spPr>
            <p:txBody>
              <a:bodyPr/>
              <a:lstStyle/>
              <a:p>
                <a:r>
                  <a:rPr lang="en-IN">
                    <a:noFill/>
                  </a:rPr>
                  <a:t> </a:t>
                </a:r>
              </a:p>
            </p:txBody>
          </p:sp>
        </mc:Fallback>
      </mc:AlternateContent>
      <p:sp>
        <p:nvSpPr>
          <p:cNvPr id="5" name="Date Placeholder 4"/>
          <p:cNvSpPr>
            <a:spLocks noGrp="1"/>
          </p:cNvSpPr>
          <p:nvPr>
            <p:ph type="dt" sz="half" idx="10"/>
          </p:nvPr>
        </p:nvSpPr>
        <p:spPr/>
        <p:txBody>
          <a:bodyPr/>
          <a:lstStyle/>
          <a:p>
            <a:pPr>
              <a:defRPr/>
            </a:pPr>
            <a:fld id="{EC4C9894-0B2A-454A-A443-C152F121BCFC}" type="datetime1">
              <a:rPr lang="en-US" smtClean="0"/>
              <a:t>9/2/2025</a:t>
            </a:fld>
            <a:endParaRPr lang="en-US"/>
          </a:p>
        </p:txBody>
      </p:sp>
      <p:sp>
        <p:nvSpPr>
          <p:cNvPr id="8" name="Slide Number Placeholder 7"/>
          <p:cNvSpPr>
            <a:spLocks noGrp="1"/>
          </p:cNvSpPr>
          <p:nvPr>
            <p:ph type="sldNum" sz="quarter" idx="12"/>
          </p:nvPr>
        </p:nvSpPr>
        <p:spPr/>
        <p:txBody>
          <a:bodyPr/>
          <a:lstStyle/>
          <a:p>
            <a:pPr>
              <a:defRPr/>
            </a:pPr>
            <a:fld id="{472317C8-B743-4745-AB78-E1008DA291EF}" type="slidenum">
              <a:rPr lang="en-US" altLang="en-US" smtClean="0"/>
              <a:pPr>
                <a:defRPr/>
              </a:pPr>
              <a:t>21</a:t>
            </a:fld>
            <a:endParaRPr lang="en-US"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009650" y="152400"/>
            <a:ext cx="6819900" cy="481012"/>
          </a:xfrm>
        </p:spPr>
        <p:txBody>
          <a:bodyPr/>
          <a:lstStyle/>
          <a:p>
            <a:pPr eaLnBrk="1" hangingPunct="1">
              <a:defRPr/>
            </a:pPr>
            <a:r>
              <a:rPr lang="en-US" sz="2400" b="1" cap="all" dirty="0">
                <a:solidFill>
                  <a:srgbClr val="000099"/>
                </a:solidFill>
                <a:latin typeface="Cambria" pitchFamily="18" charset="0"/>
                <a:ea typeface="Cambria" pitchFamily="18" charset="0"/>
              </a:rPr>
              <a:t>principle of orthogonality for </a:t>
            </a:r>
            <a:r>
              <a:rPr lang="en-US" sz="2400" b="1" cap="all" dirty="0" err="1">
                <a:solidFill>
                  <a:srgbClr val="000099"/>
                </a:solidFill>
                <a:latin typeface="Cambria" pitchFamily="18" charset="0"/>
                <a:ea typeface="Cambria" pitchFamily="18" charset="0"/>
              </a:rPr>
              <a:t>ofdm</a:t>
            </a:r>
            <a:endParaRPr lang="fr-FR" altLang="en-US" sz="2400" b="1" dirty="0">
              <a:solidFill>
                <a:srgbClr val="000099"/>
              </a:solidFill>
              <a:latin typeface="Cambria" pitchFamily="18" charset="0"/>
              <a:ea typeface="Cambria" pitchFamily="18" charset="0"/>
            </a:endParaRPr>
          </a:p>
        </p:txBody>
      </p:sp>
      <p:sp>
        <p:nvSpPr>
          <p:cNvPr id="14339" name="Rectangle 17"/>
          <p:cNvSpPr>
            <a:spLocks noChangeArrowheads="1"/>
          </p:cNvSpPr>
          <p:nvPr/>
        </p:nvSpPr>
        <p:spPr bwMode="auto">
          <a:xfrm>
            <a:off x="4479925" y="-322263"/>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mc:AlternateContent xmlns:mc="http://schemas.openxmlformats.org/markup-compatibility/2006" xmlns:a14="http://schemas.microsoft.com/office/drawing/2010/main">
        <mc:Choice Requires="a14">
          <p:sp>
            <p:nvSpPr>
              <p:cNvPr id="2" name="Rectangle 1"/>
              <p:cNvSpPr/>
              <p:nvPr/>
            </p:nvSpPr>
            <p:spPr>
              <a:xfrm>
                <a:off x="26598" y="697104"/>
                <a:ext cx="8888801" cy="1749069"/>
              </a:xfrm>
              <a:prstGeom prst="rect">
                <a:avLst/>
              </a:prstGeom>
            </p:spPr>
            <p:txBody>
              <a:bodyPr wrap="square">
                <a:spAutoFit/>
              </a:bodyPr>
              <a:lstStyle/>
              <a:p>
                <a:pPr marL="285750" indent="-285750" algn="just">
                  <a:buFont typeface="Arial" panose="020B0604020202020204" pitchFamily="34" charset="0"/>
                  <a:buChar char="•"/>
                </a:pPr>
                <a:r>
                  <a:rPr lang="en-US" sz="2200" dirty="0">
                    <a:latin typeface="Cambria" pitchFamily="18" charset="0"/>
                    <a:ea typeface="Cambria" pitchFamily="18" charset="0"/>
                  </a:rPr>
                  <a:t>In the context of OFDM, the set of complex exponential function</a:t>
                </a:r>
                <a14:m>
                  <m:oMath xmlns:m="http://schemas.openxmlformats.org/officeDocument/2006/math">
                    <m:r>
                      <a:rPr lang="en-US" sz="2200" i="1">
                        <a:latin typeface="Cambria Math" panose="02040503050406030204" pitchFamily="18" charset="0"/>
                      </a:rPr>
                      <m:t> </m:t>
                    </m:r>
                    <m:sSubSup>
                      <m:sSubSupPr>
                        <m:ctrlPr>
                          <a:rPr lang="en-IN" sz="2200" i="1">
                            <a:latin typeface="Cambria Math" panose="02040503050406030204" pitchFamily="18" charset="0"/>
                          </a:rPr>
                        </m:ctrlPr>
                      </m:sSubSupPr>
                      <m:e>
                        <m:d>
                          <m:dPr>
                            <m:begChr m:val="{"/>
                            <m:endChr m:val="}"/>
                            <m:ctrlPr>
                              <a:rPr lang="en-IN" sz="2200" i="1">
                                <a:latin typeface="Cambria Math" panose="02040503050406030204" pitchFamily="18" charset="0"/>
                              </a:rPr>
                            </m:ctrlPr>
                          </m:dPr>
                          <m:e>
                            <m:sSup>
                              <m:sSupPr>
                                <m:ctrlPr>
                                  <a:rPr lang="en-IN"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𝑗</m:t>
                                </m:r>
                                <m:r>
                                  <a:rPr lang="en-US" sz="2200" i="1">
                                    <a:latin typeface="Cambria Math" panose="02040503050406030204" pitchFamily="18" charset="0"/>
                                  </a:rPr>
                                  <m:t> 2 </m:t>
                                </m:r>
                                <m:r>
                                  <a:rPr lang="en-US" sz="2200" i="1">
                                    <a:latin typeface="Cambria Math" panose="02040503050406030204" pitchFamily="18" charset="0"/>
                                  </a:rPr>
                                  <m:t>𝜋</m:t>
                                </m:r>
                                <m:r>
                                  <a:rPr lang="en-US" sz="2200" i="1">
                                    <a:latin typeface="Cambria Math" panose="02040503050406030204" pitchFamily="18" charset="0"/>
                                  </a:rPr>
                                  <m:t> </m:t>
                                </m:r>
                                <m:sSub>
                                  <m:sSubPr>
                                    <m:ctrlPr>
                                      <a:rPr lang="en-IN" sz="2200" i="1">
                                        <a:latin typeface="Cambria Math" panose="02040503050406030204" pitchFamily="18" charset="0"/>
                                      </a:rPr>
                                    </m:ctrlPr>
                                  </m:sSubPr>
                                  <m:e>
                                    <m:r>
                                      <a:rPr lang="en-US" sz="2200" i="1">
                                        <a:latin typeface="Cambria Math" panose="02040503050406030204" pitchFamily="18" charset="0"/>
                                      </a:rPr>
                                      <m:t>𝑓</m:t>
                                    </m:r>
                                  </m:e>
                                  <m:sub>
                                    <m:r>
                                      <a:rPr lang="en-US" sz="2200" i="1">
                                        <a:latin typeface="Cambria Math" panose="02040503050406030204" pitchFamily="18" charset="0"/>
                                      </a:rPr>
                                      <m:t>𝑘</m:t>
                                    </m:r>
                                  </m:sub>
                                </m:sSub>
                                <m:r>
                                  <a:rPr lang="en-US" sz="2200" i="1">
                                    <a:latin typeface="Cambria Math" panose="02040503050406030204" pitchFamily="18" charset="0"/>
                                  </a:rPr>
                                  <m:t> </m:t>
                                </m:r>
                                <m:r>
                                  <a:rPr lang="en-US" sz="2200" i="1">
                                    <a:latin typeface="Cambria Math" panose="02040503050406030204" pitchFamily="18" charset="0"/>
                                  </a:rPr>
                                  <m:t>𝑡</m:t>
                                </m:r>
                              </m:sup>
                            </m:sSup>
                          </m:e>
                        </m:d>
                      </m:e>
                      <m:sub>
                        <m:r>
                          <a:rPr lang="en-US" sz="2200" i="1">
                            <a:latin typeface="Cambria Math" panose="02040503050406030204" pitchFamily="18" charset="0"/>
                          </a:rPr>
                          <m:t>𝑘</m:t>
                        </m:r>
                        <m:r>
                          <a:rPr lang="en-US" sz="2200" i="1">
                            <a:latin typeface="Cambria Math" panose="02040503050406030204" pitchFamily="18" charset="0"/>
                          </a:rPr>
                          <m:t>=0</m:t>
                        </m:r>
                      </m:sub>
                      <m:sup>
                        <m:r>
                          <a:rPr lang="en-US" sz="2200" i="1">
                            <a:latin typeface="Cambria Math" panose="02040503050406030204" pitchFamily="18" charset="0"/>
                          </a:rPr>
                          <m:t>𝑁</m:t>
                        </m:r>
                        <m:r>
                          <a:rPr lang="en-US" sz="2200" i="1">
                            <a:latin typeface="Cambria Math" panose="02040503050406030204" pitchFamily="18" charset="0"/>
                          </a:rPr>
                          <m:t>−1</m:t>
                        </m:r>
                      </m:sup>
                    </m:sSubSup>
                    <m:r>
                      <a:rPr lang="en-US" sz="2200" i="1">
                        <a:latin typeface="Cambria Math" panose="02040503050406030204" pitchFamily="18" charset="0"/>
                      </a:rPr>
                      <m:t> </m:t>
                    </m:r>
                  </m:oMath>
                </a14:m>
                <a:r>
                  <a:rPr lang="en-US" sz="2200" dirty="0">
                    <a:latin typeface="Cambria" pitchFamily="18" charset="0"/>
                    <a:ea typeface="Cambria" pitchFamily="18" charset="0"/>
                  </a:rPr>
                  <a:t>, defined over the period [0, T], represents different sub-carriers at</a:t>
                </a:r>
                <a14:m>
                  <m:oMath xmlns:m="http://schemas.openxmlformats.org/officeDocument/2006/math">
                    <m:r>
                      <a:rPr lang="en-US" sz="2200" i="1">
                        <a:latin typeface="Cambria Math" panose="02040503050406030204" pitchFamily="18" charset="0"/>
                      </a:rPr>
                      <m:t> </m:t>
                    </m:r>
                    <m:sSub>
                      <m:sSubPr>
                        <m:ctrlPr>
                          <a:rPr lang="en-IN" sz="2200" i="1">
                            <a:latin typeface="Cambria Math" panose="02040503050406030204" pitchFamily="18" charset="0"/>
                          </a:rPr>
                        </m:ctrlPr>
                      </m:sSubPr>
                      <m:e>
                        <m:r>
                          <a:rPr lang="en-US" sz="2200" i="1">
                            <a:latin typeface="Cambria Math" panose="02040503050406030204" pitchFamily="18" charset="0"/>
                          </a:rPr>
                          <m:t>𝑓</m:t>
                        </m:r>
                      </m:e>
                      <m:sub>
                        <m:r>
                          <a:rPr lang="en-US" sz="2200" i="1">
                            <a:latin typeface="Cambria Math" panose="02040503050406030204" pitchFamily="18" charset="0"/>
                          </a:rPr>
                          <m:t>𝑘</m:t>
                        </m:r>
                      </m:sub>
                    </m:sSub>
                    <m:r>
                      <a:rPr lang="en-US" sz="2200" i="1">
                        <a:latin typeface="Cambria Math" panose="02040503050406030204" pitchFamily="18" charset="0"/>
                      </a:rPr>
                      <m:t>=</m:t>
                    </m:r>
                    <m:f>
                      <m:fPr>
                        <m:ctrlPr>
                          <a:rPr lang="en-IN" sz="2200" i="1">
                            <a:latin typeface="Cambria Math" panose="02040503050406030204" pitchFamily="18" charset="0"/>
                          </a:rPr>
                        </m:ctrlPr>
                      </m:fPr>
                      <m:num>
                        <m:r>
                          <a:rPr lang="en-US" sz="2200" i="1">
                            <a:latin typeface="Cambria Math" panose="02040503050406030204" pitchFamily="18" charset="0"/>
                          </a:rPr>
                          <m:t>𝑘</m:t>
                        </m:r>
                      </m:num>
                      <m:den>
                        <m:r>
                          <a:rPr lang="en-US" sz="2200" i="1">
                            <a:latin typeface="Cambria Math" panose="02040503050406030204" pitchFamily="18" charset="0"/>
                          </a:rPr>
                          <m:t>𝑇</m:t>
                        </m:r>
                      </m:den>
                    </m:f>
                    <m:r>
                      <a:rPr lang="en-US" sz="2200" i="1">
                        <a:latin typeface="Cambria Math" panose="02040503050406030204" pitchFamily="18" charset="0"/>
                      </a:rPr>
                      <m:t>, </m:t>
                    </m:r>
                    <m:r>
                      <a:rPr lang="en-US" sz="2200" i="1">
                        <a:latin typeface="Cambria Math" panose="02040503050406030204" pitchFamily="18" charset="0"/>
                      </a:rPr>
                      <m:t>𝑓𝑜𝑟</m:t>
                    </m:r>
                    <m:r>
                      <a:rPr lang="en-US" sz="2200" i="1">
                        <a:latin typeface="Cambria Math" panose="02040503050406030204" pitchFamily="18" charset="0"/>
                      </a:rPr>
                      <m:t> </m:t>
                    </m:r>
                    <m:r>
                      <a:rPr lang="en-US" sz="2200" i="1">
                        <a:latin typeface="Cambria Math" panose="02040503050406030204" pitchFamily="18" charset="0"/>
                      </a:rPr>
                      <m:t>𝑘</m:t>
                    </m:r>
                    <m:r>
                      <a:rPr lang="en-US" sz="2200" i="1">
                        <a:latin typeface="Cambria Math" panose="02040503050406030204" pitchFamily="18" charset="0"/>
                      </a:rPr>
                      <m:t>=0,1,2⋯,</m:t>
                    </m:r>
                    <m:r>
                      <a:rPr lang="en-US" sz="2200" i="1">
                        <a:latin typeface="Cambria Math" panose="02040503050406030204" pitchFamily="18" charset="0"/>
                      </a:rPr>
                      <m:t>𝑁</m:t>
                    </m:r>
                    <m:r>
                      <a:rPr lang="en-US" sz="2200" i="1">
                        <a:latin typeface="Cambria Math" panose="02040503050406030204" pitchFamily="18" charset="0"/>
                      </a:rPr>
                      <m:t>−1</m:t>
                    </m:r>
                  </m:oMath>
                </a14:m>
                <a:r>
                  <a:rPr lang="en-US" sz="2200" dirty="0">
                    <a:latin typeface="Cambria" pitchFamily="18" charset="0"/>
                    <a:ea typeface="Cambria" pitchFamily="18" charset="0"/>
                  </a:rPr>
                  <a:t>.</a:t>
                </a:r>
                <a:r>
                  <a:rPr lang="en-US" sz="2200" b="1" dirty="0">
                    <a:latin typeface="Cambria" pitchFamily="18" charset="0"/>
                    <a:ea typeface="Cambria" pitchFamily="18" charset="0"/>
                  </a:rPr>
                  <a:t> </a:t>
                </a:r>
                <a:r>
                  <a:rPr lang="en-US" sz="2200" dirty="0">
                    <a:latin typeface="Cambria" pitchFamily="18" charset="0"/>
                    <a:ea typeface="Cambria" pitchFamily="18" charset="0"/>
                  </a:rPr>
                  <a:t>Using the expression </a:t>
                </a:r>
                <a:r>
                  <a:rPr lang="en-US" sz="2200" dirty="0" smtClean="0">
                    <a:latin typeface="Cambria" pitchFamily="18" charset="0"/>
                    <a:ea typeface="Cambria" pitchFamily="18" charset="0"/>
                  </a:rPr>
                  <a:t>for </a:t>
                </a:r>
                <a:r>
                  <a:rPr lang="en-US" sz="2200" dirty="0">
                    <a:latin typeface="Cambria" pitchFamily="18" charset="0"/>
                    <a:ea typeface="Cambria" pitchFamily="18" charset="0"/>
                  </a:rPr>
                  <a:t>OFDM system –</a:t>
                </a:r>
                <a:endParaRPr lang="en-IN" sz="2200" dirty="0">
                  <a:latin typeface="Cambria" pitchFamily="18" charset="0"/>
                  <a:ea typeface="Cambria"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26598" y="697104"/>
                <a:ext cx="8888801" cy="1749069"/>
              </a:xfrm>
              <a:prstGeom prst="rect">
                <a:avLst/>
              </a:prstGeom>
              <a:blipFill rotWithShape="1">
                <a:blip r:embed="rId3"/>
                <a:stretch>
                  <a:fillRect l="-754" t="-2091" r="-1715" b="-59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90500" y="2708482"/>
                <a:ext cx="8763000" cy="72051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limLoc m:val="subSup"/>
                          <m:ctrlPr>
                            <a:rPr lang="en-IN" i="1">
                              <a:latin typeface="Cambria Math" panose="02040503050406030204" pitchFamily="18" charset="0"/>
                            </a:rPr>
                          </m:ctrlPr>
                        </m:naryPr>
                        <m:sub>
                          <m:r>
                            <a:rPr lang="en-US" i="1">
                              <a:latin typeface="Cambria Math" panose="02040503050406030204" pitchFamily="18" charset="0"/>
                            </a:rPr>
                            <m:t>0</m:t>
                          </m:r>
                        </m:sub>
                        <m:sup>
                          <m:r>
                            <a:rPr lang="en-US" i="1">
                              <a:latin typeface="Cambria Math" panose="02040503050406030204" pitchFamily="18" charset="0"/>
                            </a:rPr>
                            <m:t>𝑇</m:t>
                          </m:r>
                        </m:sup>
                        <m:e>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r>
                                <a:rPr lang="en-US" i="1">
                                  <a:latin typeface="Cambria Math" panose="02040503050406030204" pitchFamily="18" charset="0"/>
                                </a:rPr>
                                <m:t> </m:t>
                              </m:r>
                              <m:r>
                                <a:rPr lang="en-US" i="1">
                                  <a:latin typeface="Cambria Math" panose="02040503050406030204" pitchFamily="18" charset="0"/>
                                </a:rPr>
                                <m:t>𝑡</m:t>
                              </m:r>
                            </m:sup>
                          </m:sSup>
                          <m:sSup>
                            <m:sSupPr>
                              <m:ctrlPr>
                                <a:rPr lang="en-IN" i="1">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r>
                                <a:rPr lang="en-US" i="1">
                                  <a:latin typeface="Cambria Math" panose="02040503050406030204" pitchFamily="18" charset="0"/>
                                </a:rPr>
                                <m:t> </m:t>
                              </m:r>
                              <m:r>
                                <a:rPr lang="en-US" i="1">
                                  <a:latin typeface="Cambria Math" panose="02040503050406030204" pitchFamily="18" charset="0"/>
                                </a:rPr>
                                <m:t>𝑡</m:t>
                              </m:r>
                            </m:sup>
                          </m:sSup>
                          <m:r>
                            <a:rPr lang="en-US" i="1">
                              <a:latin typeface="Cambria Math" panose="02040503050406030204" pitchFamily="18" charset="0"/>
                            </a:rPr>
                            <m:t> </m:t>
                          </m:r>
                          <m:r>
                            <a:rPr lang="en-US" i="1">
                              <a:latin typeface="Cambria Math" panose="02040503050406030204" pitchFamily="18" charset="0"/>
                            </a:rPr>
                            <m:t>𝑑𝑡</m:t>
                          </m:r>
                        </m:e>
                      </m:nary>
                      <m:r>
                        <a:rPr lang="en-US" i="1">
                          <a:latin typeface="Cambria Math" panose="02040503050406030204" pitchFamily="18" charset="0"/>
                        </a:rPr>
                        <m:t>  =  </m:t>
                      </m:r>
                      <m:f>
                        <m:fPr>
                          <m:ctrlPr>
                            <a:rPr lang="en-IN"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limLoc m:val="subSup"/>
                          <m:ctrlPr>
                            <a:rPr lang="en-IN" i="1">
                              <a:latin typeface="Cambria Math" panose="02040503050406030204" pitchFamily="18" charset="0"/>
                            </a:rPr>
                          </m:ctrlPr>
                        </m:naryPr>
                        <m:sub>
                          <m:r>
                            <a:rPr lang="en-US" i="1">
                              <a:latin typeface="Cambria Math" panose="02040503050406030204" pitchFamily="18" charset="0"/>
                            </a:rPr>
                            <m:t>0</m:t>
                          </m:r>
                        </m:sub>
                        <m:sup>
                          <m:r>
                            <a:rPr lang="en-US" i="1">
                              <a:latin typeface="Cambria Math" panose="02040503050406030204" pitchFamily="18" charset="0"/>
                            </a:rPr>
                            <m:t>𝑇</m:t>
                          </m:r>
                        </m:sup>
                        <m:e>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𝑘</m:t>
                                  </m:r>
                                  <m:r>
                                    <a:rPr lang="en-US" i="1">
                                      <a:latin typeface="Cambria Math" panose="02040503050406030204" pitchFamily="18" charset="0"/>
                                    </a:rPr>
                                    <m:t> </m:t>
                                  </m:r>
                                  <m:r>
                                    <a:rPr lang="en-US" i="1">
                                      <a:latin typeface="Cambria Math" panose="02040503050406030204" pitchFamily="18" charset="0"/>
                                    </a:rPr>
                                    <m:t>𝑡</m:t>
                                  </m:r>
                                </m:num>
                                <m:den>
                                  <m:r>
                                    <a:rPr lang="en-US" i="1">
                                      <a:latin typeface="Cambria Math" panose="02040503050406030204" pitchFamily="18" charset="0"/>
                                    </a:rPr>
                                    <m:t>𝑇</m:t>
                                  </m:r>
                                </m:den>
                              </m:f>
                            </m:sup>
                          </m:sSup>
                          <m:sSup>
                            <m:sSupPr>
                              <m:ctrlPr>
                                <a:rPr lang="en-IN" i="1">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𝑡</m:t>
                                  </m:r>
                                </m:num>
                                <m:den>
                                  <m:r>
                                    <a:rPr lang="en-US" i="1">
                                      <a:latin typeface="Cambria Math" panose="02040503050406030204" pitchFamily="18" charset="0"/>
                                    </a:rPr>
                                    <m:t>𝑇</m:t>
                                  </m:r>
                                </m:den>
                              </m:f>
                            </m:sup>
                          </m:sSup>
                          <m:r>
                            <a:rPr lang="en-US" i="1">
                              <a:latin typeface="Cambria Math" panose="02040503050406030204" pitchFamily="18" charset="0"/>
                            </a:rPr>
                            <m:t> </m:t>
                          </m:r>
                          <m:r>
                            <a:rPr lang="en-US" i="1">
                              <a:latin typeface="Cambria Math" panose="02040503050406030204" pitchFamily="18" charset="0"/>
                            </a:rPr>
                            <m:t>𝑑𝑡</m:t>
                          </m:r>
                        </m:e>
                      </m:nary>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limLoc m:val="subSup"/>
                          <m:ctrlPr>
                            <a:rPr lang="en-IN" i="1">
                              <a:latin typeface="Cambria Math" panose="02040503050406030204" pitchFamily="18" charset="0"/>
                            </a:rPr>
                          </m:ctrlPr>
                        </m:naryPr>
                        <m:sub>
                          <m:r>
                            <a:rPr lang="en-US" i="1">
                              <a:latin typeface="Cambria Math" panose="02040503050406030204" pitchFamily="18" charset="0"/>
                            </a:rPr>
                            <m:t>0</m:t>
                          </m:r>
                        </m:sub>
                        <m:sup>
                          <m:r>
                            <a:rPr lang="en-US" i="1">
                              <a:latin typeface="Cambria Math" panose="02040503050406030204" pitchFamily="18" charset="0"/>
                            </a:rPr>
                            <m:t>𝑇</m:t>
                          </m:r>
                        </m:sup>
                        <m:e>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𝑡</m:t>
                                  </m:r>
                                  <m:r>
                                    <a:rPr lang="en-US" i="1">
                                      <a:latin typeface="Cambria Math" panose="02040503050406030204" pitchFamily="18" charset="0"/>
                                    </a:rPr>
                                    <m:t> (</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 </m:t>
                                  </m:r>
                                </m:num>
                                <m:den>
                                  <m:r>
                                    <a:rPr lang="en-US" i="1">
                                      <a:latin typeface="Cambria Math" panose="02040503050406030204" pitchFamily="18" charset="0"/>
                                    </a:rPr>
                                    <m:t>𝑇</m:t>
                                  </m:r>
                                </m:den>
                              </m:f>
                            </m:sup>
                          </m:sSup>
                          <m:r>
                            <a:rPr lang="en-US" i="1">
                              <a:latin typeface="Cambria Math" panose="02040503050406030204" pitchFamily="18" charset="0"/>
                            </a:rPr>
                            <m:t> </m:t>
                          </m:r>
                          <m:r>
                            <a:rPr lang="en-US" i="1">
                              <a:latin typeface="Cambria Math" panose="02040503050406030204" pitchFamily="18" charset="0"/>
                            </a:rPr>
                            <m:t>𝑑𝑡</m:t>
                          </m:r>
                        </m:e>
                      </m:nary>
                    </m:oMath>
                  </m:oMathPara>
                </a14:m>
                <a:endParaRPr lang="en-IN" dirty="0">
                  <a:latin typeface="Cambria" pitchFamily="18" charset="0"/>
                  <a:ea typeface="Cambria"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90500" y="2708482"/>
                <a:ext cx="8763000" cy="720518"/>
              </a:xfrm>
              <a:prstGeom prst="rect">
                <a:avLst/>
              </a:prstGeom>
              <a:blipFill rotWithShape="1">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90500" y="3937337"/>
                <a:ext cx="8724900" cy="1107996"/>
              </a:xfrm>
              <a:prstGeom prst="rect">
                <a:avLst/>
              </a:prstGeom>
            </p:spPr>
            <p:txBody>
              <a:bodyPr wrap="square">
                <a:spAutoFit/>
              </a:bodyPr>
              <a:lstStyle/>
              <a:p>
                <a:pPr marL="285750" indent="-285750" algn="just">
                  <a:buFont typeface="Arial" panose="020B0604020202020204" pitchFamily="34" charset="0"/>
                  <a:buChar char="•"/>
                </a:pPr>
                <a:r>
                  <a:rPr lang="en-US" sz="2200" dirty="0">
                    <a:latin typeface="Cambria" pitchFamily="18" charset="0"/>
                    <a:ea typeface="Cambria" pitchFamily="18" charset="0"/>
                  </a:rPr>
                  <a:t>Taking the discrete samples with the sampling instances at</a:t>
                </a:r>
                <a14:m>
                  <m:oMath xmlns:m="http://schemas.openxmlformats.org/officeDocument/2006/math">
                    <m:r>
                      <a:rPr lang="en-US" sz="2200" i="1">
                        <a:latin typeface="Cambria Math" panose="02040503050406030204" pitchFamily="18" charset="0"/>
                      </a:rPr>
                      <m:t> </m:t>
                    </m:r>
                    <m:r>
                      <a:rPr lang="en-US" sz="2200" i="1">
                        <a:latin typeface="Cambria Math" panose="02040503050406030204" pitchFamily="18" charset="0"/>
                      </a:rPr>
                      <m:t>𝑡</m:t>
                    </m:r>
                    <m:r>
                      <a:rPr lang="en-US" sz="2200" i="1">
                        <a:latin typeface="Cambria Math" panose="02040503050406030204" pitchFamily="18" charset="0"/>
                      </a:rPr>
                      <m:t>=</m:t>
                    </m:r>
                    <m:r>
                      <a:rPr lang="en-US" sz="2200" i="1">
                        <a:latin typeface="Cambria Math" panose="02040503050406030204" pitchFamily="18" charset="0"/>
                      </a:rPr>
                      <m:t>𝑛</m:t>
                    </m:r>
                    <m:sSub>
                      <m:sSubPr>
                        <m:ctrlPr>
                          <a:rPr lang="en-IN" sz="2200" i="1">
                            <a:latin typeface="Cambria Math" panose="02040503050406030204" pitchFamily="18" charset="0"/>
                          </a:rPr>
                        </m:ctrlPr>
                      </m:sSubPr>
                      <m:e>
                        <m:r>
                          <a:rPr lang="en-US" sz="2200" i="1">
                            <a:latin typeface="Cambria Math" panose="02040503050406030204" pitchFamily="18" charset="0"/>
                          </a:rPr>
                          <m:t>𝑇</m:t>
                        </m:r>
                      </m:e>
                      <m:sub>
                        <m:r>
                          <a:rPr lang="en-US" sz="2200" i="1">
                            <a:latin typeface="Cambria Math" panose="02040503050406030204" pitchFamily="18" charset="0"/>
                          </a:rPr>
                          <m:t>𝑠</m:t>
                        </m:r>
                      </m:sub>
                    </m:sSub>
                    <m:r>
                      <a:rPr lang="en-US" sz="2200" i="1">
                        <a:latin typeface="Cambria Math" panose="02040503050406030204" pitchFamily="18" charset="0"/>
                      </a:rPr>
                      <m:t>=</m:t>
                    </m:r>
                    <m:r>
                      <a:rPr lang="en-US" sz="2200" i="1">
                        <a:latin typeface="Cambria Math" panose="02040503050406030204" pitchFamily="18" charset="0"/>
                      </a:rPr>
                      <m:t>𝑛𝑇</m:t>
                    </m:r>
                    <m:r>
                      <a:rPr lang="en-US" sz="2200" i="1">
                        <a:latin typeface="Cambria Math" panose="02040503050406030204" pitchFamily="18" charset="0"/>
                      </a:rPr>
                      <m:t>/</m:t>
                    </m:r>
                    <m:r>
                      <a:rPr lang="en-US" sz="2200" i="1">
                        <a:latin typeface="Cambria Math" panose="02040503050406030204" pitchFamily="18" charset="0"/>
                      </a:rPr>
                      <m:t>𝑁</m:t>
                    </m:r>
                    <m:r>
                      <a:rPr lang="en-US" sz="2200" i="1">
                        <a:latin typeface="Cambria Math" panose="02040503050406030204" pitchFamily="18" charset="0"/>
                      </a:rPr>
                      <m:t>, </m:t>
                    </m:r>
                    <m:r>
                      <a:rPr lang="en-US" sz="2200" i="1">
                        <a:latin typeface="Cambria Math" panose="02040503050406030204" pitchFamily="18" charset="0"/>
                      </a:rPr>
                      <m:t>𝑛</m:t>
                    </m:r>
                    <m:r>
                      <a:rPr lang="en-US" sz="2200" i="1">
                        <a:latin typeface="Cambria Math" panose="02040503050406030204" pitchFamily="18" charset="0"/>
                      </a:rPr>
                      <m:t>=0,1,2,…, </m:t>
                    </m:r>
                    <m:r>
                      <a:rPr lang="en-US" sz="2200" i="1">
                        <a:latin typeface="Cambria Math" panose="02040503050406030204" pitchFamily="18" charset="0"/>
                      </a:rPr>
                      <m:t>𝑁</m:t>
                    </m:r>
                    <m:r>
                      <a:rPr lang="en-US" sz="2200" i="1">
                        <a:latin typeface="Cambria Math" panose="02040503050406030204" pitchFamily="18" charset="0"/>
                      </a:rPr>
                      <m:t>−1,</m:t>
                    </m:r>
                  </m:oMath>
                </a14:m>
                <a:r>
                  <a:rPr lang="en-US" sz="2200" dirty="0">
                    <a:latin typeface="Cambria" pitchFamily="18" charset="0"/>
                    <a:ea typeface="Cambria" pitchFamily="18" charset="0"/>
                  </a:rPr>
                  <a:t> </a:t>
                </a:r>
                <a:r>
                  <a:rPr lang="en-US" sz="2200" dirty="0" smtClean="0">
                    <a:latin typeface="Cambria" pitchFamily="18" charset="0"/>
                    <a:ea typeface="Cambria" pitchFamily="18" charset="0"/>
                  </a:rPr>
                  <a:t>it can </a:t>
                </a:r>
                <a:r>
                  <a:rPr lang="en-US" sz="2200" dirty="0">
                    <a:latin typeface="Cambria" pitchFamily="18" charset="0"/>
                    <a:ea typeface="Cambria" pitchFamily="18" charset="0"/>
                  </a:rPr>
                  <a:t>be written in the discrete time domain as –</a:t>
                </a:r>
                <a:endParaRPr lang="en-IN" sz="2200" dirty="0">
                  <a:latin typeface="Cambria" pitchFamily="18" charset="0"/>
                  <a:ea typeface="Cambria"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90500" y="3937337"/>
                <a:ext cx="8724900" cy="1107996"/>
              </a:xfrm>
              <a:prstGeom prst="rect">
                <a:avLst/>
              </a:prstGeom>
              <a:blipFill rotWithShape="1">
                <a:blip r:embed="rId5"/>
                <a:stretch>
                  <a:fillRect l="-768" t="-3297" r="-1676" b="-98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57225" y="5294203"/>
                <a:ext cx="7772400" cy="87799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limLoc m:val="undOvr"/>
                          <m:ctrlPr>
                            <a:rPr lang="en-IN"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f>
                                <m:fPr>
                                  <m:ctrlPr>
                                    <a:rPr lang="en-IN" i="1">
                                      <a:latin typeface="Cambria Math" panose="02040503050406030204" pitchFamily="18" charset="0"/>
                                    </a:rPr>
                                  </m:ctrlPr>
                                </m:fPr>
                                <m:num>
                                  <m:r>
                                    <a:rPr lang="en-US" i="1">
                                      <a:latin typeface="Cambria Math" panose="02040503050406030204" pitchFamily="18" charset="0"/>
                                    </a:rPr>
                                    <m:t>𝑘</m:t>
                                  </m:r>
                                </m:num>
                                <m:den>
                                  <m:r>
                                    <a:rPr lang="en-US" i="1">
                                      <a:latin typeface="Cambria Math" panose="02040503050406030204" pitchFamily="18" charset="0"/>
                                    </a:rPr>
                                    <m:t>𝑇</m:t>
                                  </m:r>
                                </m:den>
                              </m:f>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𝑠</m:t>
                                  </m:r>
                                </m:sub>
                              </m:sSub>
                            </m:sup>
                          </m:sSup>
                          <m:r>
                            <a:rPr lang="en-US" i="1">
                              <a:latin typeface="Cambria Math" panose="02040503050406030204" pitchFamily="18" charset="0"/>
                            </a:rPr>
                            <m:t>  </m:t>
                          </m:r>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f>
                                <m:fPr>
                                  <m:ctrlPr>
                                    <a:rPr lang="en-IN" i="1">
                                      <a:latin typeface="Cambria Math" panose="02040503050406030204" pitchFamily="18" charset="0"/>
                                    </a:rPr>
                                  </m:ctrlPr>
                                </m:fPr>
                                <m:num>
                                  <m:r>
                                    <a:rPr lang="en-US" i="1">
                                      <a:latin typeface="Cambria Math" panose="02040503050406030204" pitchFamily="18" charset="0"/>
                                    </a:rPr>
                                    <m:t>𝑖</m:t>
                                  </m:r>
                                </m:num>
                                <m:den>
                                  <m:r>
                                    <a:rPr lang="en-US" i="1">
                                      <a:latin typeface="Cambria Math" panose="02040503050406030204" pitchFamily="18" charset="0"/>
                                    </a:rPr>
                                    <m:t>𝑇</m:t>
                                  </m:r>
                                </m:den>
                              </m:f>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𝑠</m:t>
                                  </m:r>
                                </m:sub>
                              </m:sSub>
                            </m:sup>
                          </m:sSup>
                        </m:e>
                      </m:nary>
                      <m:r>
                        <a:rPr lang="en-US" i="1">
                          <a:latin typeface="Cambria Math" panose="02040503050406030204" pitchFamily="18" charset="0"/>
                        </a:rPr>
                        <m:t> =  </m:t>
                      </m:r>
                      <m:f>
                        <m:fPr>
                          <m:ctrlPr>
                            <a:rPr lang="en-IN"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limLoc m:val="undOvr"/>
                          <m:ctrlPr>
                            <a:rPr lang="en-IN"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f>
                                <m:fPr>
                                  <m:ctrlPr>
                                    <a:rPr lang="en-IN" i="1">
                                      <a:latin typeface="Cambria Math" panose="02040503050406030204" pitchFamily="18" charset="0"/>
                                    </a:rPr>
                                  </m:ctrlPr>
                                </m:fPr>
                                <m:num>
                                  <m:d>
                                    <m:dPr>
                                      <m:ctrlPr>
                                        <a:rPr lang="en-IN"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𝑖</m:t>
                                      </m:r>
                                    </m:e>
                                  </m:d>
                                </m:num>
                                <m:den>
                                  <m:r>
                                    <a:rPr lang="en-US" i="1">
                                      <a:latin typeface="Cambria Math" panose="02040503050406030204" pitchFamily="18" charset="0"/>
                                    </a:rPr>
                                    <m:t>𝑁</m:t>
                                  </m:r>
                                </m:den>
                              </m:f>
                              <m:r>
                                <a:rPr lang="en-US" i="1">
                                  <a:latin typeface="Cambria Math" panose="02040503050406030204" pitchFamily="18" charset="0"/>
                                </a:rPr>
                                <m:t>𝑛</m:t>
                              </m:r>
                            </m:sup>
                          </m:sSup>
                          <m:r>
                            <a:rPr lang="en-US" i="1">
                              <a:latin typeface="Cambria Math" panose="02040503050406030204" pitchFamily="18" charset="0"/>
                            </a:rPr>
                            <m:t>=  </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0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e>
                                <m:e/>
                                <m:e>
                                  <m:r>
                                    <a:rPr lang="en-US" i="1">
                                      <a:latin typeface="Cambria Math" panose="02040503050406030204" pitchFamily="18" charset="0"/>
                                    </a:rPr>
                                    <m:t>1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e>
                              </m:eqArr>
                            </m:e>
                          </m:d>
                        </m:e>
                      </m:nary>
                    </m:oMath>
                  </m:oMathPara>
                </a14:m>
                <a:endParaRPr lang="en-IN" dirty="0">
                  <a:latin typeface="Cambria" pitchFamily="18" charset="0"/>
                  <a:ea typeface="Cambria"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657225" y="5294203"/>
                <a:ext cx="7772400" cy="877997"/>
              </a:xfrm>
              <a:prstGeom prst="rect">
                <a:avLst/>
              </a:prstGeom>
              <a:blipFill rotWithShape="1">
                <a:blip r:embed="rId6"/>
                <a:stretch>
                  <a:fillRect/>
                </a:stretch>
              </a:blipFill>
            </p:spPr>
            <p:txBody>
              <a:bodyPr/>
              <a:lstStyle/>
              <a:p>
                <a:r>
                  <a:rPr lang="en-IN">
                    <a:noFill/>
                  </a:rPr>
                  <a:t> </a:t>
                </a:r>
              </a:p>
            </p:txBody>
          </p:sp>
        </mc:Fallback>
      </mc:AlternateContent>
      <p:sp>
        <p:nvSpPr>
          <p:cNvPr id="3" name="Date Placeholder 2"/>
          <p:cNvSpPr>
            <a:spLocks noGrp="1"/>
          </p:cNvSpPr>
          <p:nvPr>
            <p:ph type="dt" sz="half" idx="10"/>
          </p:nvPr>
        </p:nvSpPr>
        <p:spPr/>
        <p:txBody>
          <a:bodyPr/>
          <a:lstStyle/>
          <a:p>
            <a:pPr>
              <a:defRPr/>
            </a:pPr>
            <a:fld id="{624282E6-2285-4B71-88F1-C19DEB3DAD8D}" type="datetime1">
              <a:rPr lang="en-US" smtClean="0"/>
              <a:t>9/2/2025</a:t>
            </a:fld>
            <a:endParaRPr lang="en-US"/>
          </a:p>
        </p:txBody>
      </p:sp>
      <p:sp>
        <p:nvSpPr>
          <p:cNvPr id="7" name="Footer Placeholder 6"/>
          <p:cNvSpPr>
            <a:spLocks noGrp="1"/>
          </p:cNvSpPr>
          <p:nvPr>
            <p:ph type="ftr" sz="quarter" idx="11"/>
          </p:nvPr>
        </p:nvSpPr>
        <p:spPr/>
        <p:txBody>
          <a:bodyPr/>
          <a:lstStyle/>
          <a:p>
            <a:pPr>
              <a:defRPr/>
            </a:pPr>
            <a:r>
              <a:rPr lang="en-US" smtClean="0"/>
              <a:t>UEC719</a:t>
            </a:r>
            <a:endParaRPr lang="en-US"/>
          </a:p>
        </p:txBody>
      </p:sp>
      <p:sp>
        <p:nvSpPr>
          <p:cNvPr id="9" name="Slide Number Placeholder 8"/>
          <p:cNvSpPr>
            <a:spLocks noGrp="1"/>
          </p:cNvSpPr>
          <p:nvPr>
            <p:ph type="sldNum" sz="quarter" idx="12"/>
          </p:nvPr>
        </p:nvSpPr>
        <p:spPr/>
        <p:txBody>
          <a:bodyPr/>
          <a:lstStyle/>
          <a:p>
            <a:pPr>
              <a:defRPr/>
            </a:pPr>
            <a:fld id="{472317C8-B743-4745-AB78-E1008DA291EF}" type="slidenum">
              <a:rPr lang="en-US" altLang="en-US" smtClean="0"/>
              <a:pPr>
                <a:defRPr/>
              </a:pPr>
              <a:t>22</a:t>
            </a:fld>
            <a:endParaRPr lang="en-US"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762000" y="169863"/>
            <a:ext cx="6896100" cy="481012"/>
          </a:xfrm>
        </p:spPr>
        <p:txBody>
          <a:bodyPr/>
          <a:lstStyle/>
          <a:p>
            <a:pPr eaLnBrk="1" hangingPunct="1">
              <a:defRPr/>
            </a:pPr>
            <a:r>
              <a:rPr lang="en-US" sz="2400" b="1" cap="all" dirty="0">
                <a:solidFill>
                  <a:srgbClr val="00B050"/>
                </a:solidFill>
                <a:latin typeface="Cambria" pitchFamily="18" charset="0"/>
                <a:ea typeface="Cambria" pitchFamily="18" charset="0"/>
              </a:rPr>
              <a:t>principle of orthogonality for </a:t>
            </a:r>
            <a:r>
              <a:rPr lang="en-US" sz="2400" b="1" cap="all" dirty="0" err="1">
                <a:solidFill>
                  <a:srgbClr val="00B050"/>
                </a:solidFill>
                <a:latin typeface="Cambria" pitchFamily="18" charset="0"/>
                <a:ea typeface="Cambria" pitchFamily="18" charset="0"/>
              </a:rPr>
              <a:t>ofdm</a:t>
            </a:r>
            <a:endParaRPr lang="fr-FR" altLang="en-US" sz="2400" b="1" dirty="0">
              <a:solidFill>
                <a:srgbClr val="00B050"/>
              </a:solidFill>
              <a:latin typeface="Cambria" pitchFamily="18" charset="0"/>
              <a:ea typeface="Cambria" pitchFamily="18" charset="0"/>
            </a:endParaRPr>
          </a:p>
        </p:txBody>
      </p:sp>
      <p:sp>
        <p:nvSpPr>
          <p:cNvPr id="14339" name="Rectangle 17"/>
          <p:cNvSpPr>
            <a:spLocks noChangeArrowheads="1"/>
          </p:cNvSpPr>
          <p:nvPr/>
        </p:nvSpPr>
        <p:spPr bwMode="auto">
          <a:xfrm>
            <a:off x="4479925" y="-322263"/>
            <a:ext cx="1841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pic>
        <p:nvPicPr>
          <p:cNvPr id="23560" name="Picture 11" descr="C:\Documents and Settings\hemdutt.joshi\Desktop\orthogonalit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711912"/>
            <a:ext cx="6248400" cy="507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5" name="Rectangle 9"/>
          <p:cNvSpPr>
            <a:spLocks noChangeArrowheads="1"/>
          </p:cNvSpPr>
          <p:nvPr/>
        </p:nvSpPr>
        <p:spPr bwMode="auto">
          <a:xfrm>
            <a:off x="480848" y="5760745"/>
            <a:ext cx="7696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000" b="1" dirty="0" smtClean="0">
                <a:latin typeface="Cambria" pitchFamily="18" charset="0"/>
                <a:ea typeface="Cambria" pitchFamily="18" charset="0"/>
              </a:rPr>
              <a:t>Frequency response of the sub-carriers in a 5 tone OFDM signal </a:t>
            </a:r>
            <a:endParaRPr lang="en-IN" altLang="en-US" sz="2000" b="1" dirty="0" smtClean="0">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DDE20843-7B0F-4D94-8CD5-DA96B669697A}"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23</a:t>
            </a:fld>
            <a:endParaRPr lang="en-US" altLang="en-US"/>
          </a:p>
        </p:txBody>
      </p:sp>
    </p:spTree>
    <p:extLst>
      <p:ext uri="{BB962C8B-B14F-4D97-AF65-F5344CB8AC3E}">
        <p14:creationId xmlns:p14="http://schemas.microsoft.com/office/powerpoint/2010/main" val="14621953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title"/>
          </p:nvPr>
        </p:nvSpPr>
        <p:spPr>
          <a:xfrm>
            <a:off x="1562100" y="333375"/>
            <a:ext cx="6172200" cy="365125"/>
          </a:xfrm>
        </p:spPr>
        <p:txBody>
          <a:bodyPr/>
          <a:lstStyle/>
          <a:p>
            <a:pPr eaLnBrk="1" hangingPunct="1"/>
            <a:r>
              <a:rPr lang="fr-FR" altLang="en-US" sz="2400" b="1" dirty="0" smtClean="0">
                <a:latin typeface="Cambria" pitchFamily="18" charset="0"/>
                <a:ea typeface="Cambria" pitchFamily="18" charset="0"/>
              </a:rPr>
              <a:t>OFDM System Model </a:t>
            </a:r>
            <a:br>
              <a:rPr lang="fr-FR" altLang="en-US" sz="2400" b="1" dirty="0" smtClean="0">
                <a:latin typeface="Cambria" pitchFamily="18" charset="0"/>
                <a:ea typeface="Cambria" pitchFamily="18" charset="0"/>
              </a:rPr>
            </a:br>
            <a:r>
              <a:rPr lang="fr-FR" altLang="en-US" sz="2400" dirty="0" smtClean="0">
                <a:latin typeface="Cambria" pitchFamily="18" charset="0"/>
                <a:ea typeface="Cambria" pitchFamily="18" charset="0"/>
              </a:rPr>
              <a:t>[S. </a:t>
            </a:r>
            <a:r>
              <a:rPr lang="fr-FR" altLang="en-US" sz="2400" dirty="0" err="1" smtClean="0">
                <a:latin typeface="Cambria" pitchFamily="18" charset="0"/>
                <a:ea typeface="Cambria" pitchFamily="18" charset="0"/>
              </a:rPr>
              <a:t>Hara</a:t>
            </a:r>
            <a:r>
              <a:rPr lang="fr-FR" altLang="en-US" sz="2400" dirty="0" smtClean="0">
                <a:latin typeface="Cambria" pitchFamily="18" charset="0"/>
                <a:ea typeface="Cambria" pitchFamily="18" charset="0"/>
              </a:rPr>
              <a:t> and R. Prasad (2003)]</a:t>
            </a:r>
          </a:p>
        </p:txBody>
      </p:sp>
      <p:grpSp>
        <p:nvGrpSpPr>
          <p:cNvPr id="24579" name="Group 57"/>
          <p:cNvGrpSpPr>
            <a:grpSpLocks/>
          </p:cNvGrpSpPr>
          <p:nvPr/>
        </p:nvGrpSpPr>
        <p:grpSpPr bwMode="auto">
          <a:xfrm>
            <a:off x="415736" y="1371600"/>
            <a:ext cx="8216588" cy="4876800"/>
            <a:chOff x="222680" y="736600"/>
            <a:chExt cx="9241200" cy="5054600"/>
          </a:xfrm>
        </p:grpSpPr>
        <p:grpSp>
          <p:nvGrpSpPr>
            <p:cNvPr id="24580" name="Group 64"/>
            <p:cNvGrpSpPr>
              <a:grpSpLocks/>
            </p:cNvGrpSpPr>
            <p:nvPr/>
          </p:nvGrpSpPr>
          <p:grpSpPr bwMode="auto">
            <a:xfrm>
              <a:off x="222680" y="736600"/>
              <a:ext cx="9241200" cy="5054600"/>
              <a:chOff x="222680" y="736600"/>
              <a:chExt cx="9241200" cy="5054600"/>
            </a:xfrm>
          </p:grpSpPr>
          <p:grpSp>
            <p:nvGrpSpPr>
              <p:cNvPr id="24582" name="Group 180"/>
              <p:cNvGrpSpPr>
                <a:grpSpLocks/>
              </p:cNvGrpSpPr>
              <p:nvPr/>
            </p:nvGrpSpPr>
            <p:grpSpPr bwMode="auto">
              <a:xfrm>
                <a:off x="222680" y="736600"/>
                <a:ext cx="9241200" cy="5054600"/>
                <a:chOff x="-19939" y="304800"/>
                <a:chExt cx="9241506" cy="5054600"/>
              </a:xfrm>
            </p:grpSpPr>
            <p:grpSp>
              <p:nvGrpSpPr>
                <p:cNvPr id="24591" name="Group 115"/>
                <p:cNvGrpSpPr>
                  <a:grpSpLocks/>
                </p:cNvGrpSpPr>
                <p:nvPr/>
              </p:nvGrpSpPr>
              <p:grpSpPr bwMode="auto">
                <a:xfrm>
                  <a:off x="-19939" y="304800"/>
                  <a:ext cx="9241506" cy="5054600"/>
                  <a:chOff x="-19939" y="304800"/>
                  <a:chExt cx="9241506" cy="5054600"/>
                </a:xfrm>
              </p:grpSpPr>
              <p:sp>
                <p:nvSpPr>
                  <p:cNvPr id="86" name="Rectangle 85"/>
                  <p:cNvSpPr/>
                  <p:nvPr/>
                </p:nvSpPr>
                <p:spPr bwMode="auto">
                  <a:xfrm>
                    <a:off x="1098669" y="304800"/>
                    <a:ext cx="1059864" cy="107347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latin typeface="Cambria" pitchFamily="18" charset="0"/>
                        <a:ea typeface="Cambria" pitchFamily="18" charset="0"/>
                      </a:rPr>
                      <a:t>Encoder</a:t>
                    </a:r>
                  </a:p>
                  <a:p>
                    <a:pPr algn="ctr" eaLnBrk="1" hangingPunct="1">
                      <a:defRPr/>
                    </a:pPr>
                    <a:r>
                      <a:rPr lang="en-US" sz="1200" dirty="0">
                        <a:solidFill>
                          <a:schemeClr val="tx1"/>
                        </a:solidFill>
                        <a:latin typeface="Cambria" pitchFamily="18" charset="0"/>
                        <a:ea typeface="Cambria" pitchFamily="18" charset="0"/>
                      </a:rPr>
                      <a:t>(M-PSK, </a:t>
                    </a:r>
                  </a:p>
                  <a:p>
                    <a:pPr algn="ctr" eaLnBrk="1" hangingPunct="1">
                      <a:defRPr/>
                    </a:pPr>
                    <a:r>
                      <a:rPr lang="en-US" sz="1200" dirty="0">
                        <a:solidFill>
                          <a:schemeClr val="tx1"/>
                        </a:solidFill>
                        <a:latin typeface="Cambria" pitchFamily="18" charset="0"/>
                        <a:ea typeface="Cambria" pitchFamily="18" charset="0"/>
                      </a:rPr>
                      <a:t>M-QAM etc)</a:t>
                    </a:r>
                  </a:p>
                </p:txBody>
              </p:sp>
              <p:cxnSp>
                <p:nvCxnSpPr>
                  <p:cNvPr id="91" name="Straight Arrow Connector 90"/>
                  <p:cNvCxnSpPr/>
                  <p:nvPr/>
                </p:nvCxnSpPr>
                <p:spPr bwMode="auto">
                  <a:xfrm>
                    <a:off x="567921" y="876900"/>
                    <a:ext cx="530748" cy="1572"/>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92" name="Rectangle 91"/>
                  <p:cNvSpPr/>
                  <p:nvPr/>
                </p:nvSpPr>
                <p:spPr bwMode="auto">
                  <a:xfrm>
                    <a:off x="687135" y="3429348"/>
                    <a:ext cx="1443635" cy="107347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Decoder</a:t>
                    </a:r>
                  </a:p>
                  <a:p>
                    <a:pPr algn="ctr" eaLnBrk="1" hangingPunct="1">
                      <a:defRPr/>
                    </a:pPr>
                    <a:r>
                      <a:rPr lang="en-US" dirty="0">
                        <a:solidFill>
                          <a:schemeClr val="tx1"/>
                        </a:solidFill>
                        <a:latin typeface="Cambria" pitchFamily="18" charset="0"/>
                        <a:ea typeface="Cambria" pitchFamily="18" charset="0"/>
                      </a:rPr>
                      <a:t>(M-PSK, </a:t>
                    </a:r>
                  </a:p>
                  <a:p>
                    <a:pPr algn="ctr" eaLnBrk="1" hangingPunct="1">
                      <a:defRPr/>
                    </a:pPr>
                    <a:r>
                      <a:rPr lang="en-US" dirty="0">
                        <a:solidFill>
                          <a:schemeClr val="tx1"/>
                        </a:solidFill>
                        <a:latin typeface="Cambria" pitchFamily="18" charset="0"/>
                        <a:ea typeface="Cambria" pitchFamily="18" charset="0"/>
                      </a:rPr>
                      <a:t>M-QAM etc)</a:t>
                    </a:r>
                  </a:p>
                </p:txBody>
              </p:sp>
              <p:cxnSp>
                <p:nvCxnSpPr>
                  <p:cNvPr id="93" name="Straight Arrow Connector 92"/>
                  <p:cNvCxnSpPr>
                    <a:endCxn id="92" idx="3"/>
                  </p:cNvCxnSpPr>
                  <p:nvPr/>
                </p:nvCxnSpPr>
                <p:spPr bwMode="auto">
                  <a:xfrm rot="10800000">
                    <a:off x="2130770" y="3965299"/>
                    <a:ext cx="251493"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94" name="Straight Arrow Connector 93"/>
                  <p:cNvCxnSpPr>
                    <a:stCxn id="86" idx="3"/>
                    <a:endCxn id="108" idx="1"/>
                  </p:cNvCxnSpPr>
                  <p:nvPr/>
                </p:nvCxnSpPr>
                <p:spPr bwMode="auto">
                  <a:xfrm>
                    <a:off x="2158533" y="840752"/>
                    <a:ext cx="305384"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97" name="TextBox 96"/>
                  <p:cNvSpPr txBox="1"/>
                  <p:nvPr/>
                </p:nvSpPr>
                <p:spPr bwMode="auto">
                  <a:xfrm>
                    <a:off x="-17582" y="2616777"/>
                    <a:ext cx="1314717" cy="669895"/>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ctr" eaLnBrk="1" hangingPunct="1">
                      <a:defRPr/>
                    </a:pPr>
                    <a:r>
                      <a:rPr lang="en-US" dirty="0">
                        <a:latin typeface="Cambria" pitchFamily="18" charset="0"/>
                        <a:ea typeface="Cambria" pitchFamily="18" charset="0"/>
                      </a:rPr>
                      <a:t>output bit</a:t>
                    </a:r>
                  </a:p>
                  <a:p>
                    <a:pPr algn="ctr" eaLnBrk="1" hangingPunct="1">
                      <a:defRPr/>
                    </a:pPr>
                    <a:r>
                      <a:rPr lang="en-US" dirty="0">
                        <a:latin typeface="Cambria" pitchFamily="18" charset="0"/>
                        <a:ea typeface="Cambria" pitchFamily="18" charset="0"/>
                      </a:rPr>
                      <a:t>stream</a:t>
                    </a:r>
                  </a:p>
                </p:txBody>
              </p:sp>
              <p:grpSp>
                <p:nvGrpSpPr>
                  <p:cNvPr id="24600" name="Group 114"/>
                  <p:cNvGrpSpPr>
                    <a:grpSpLocks/>
                  </p:cNvGrpSpPr>
                  <p:nvPr/>
                </p:nvGrpSpPr>
                <p:grpSpPr bwMode="auto">
                  <a:xfrm>
                    <a:off x="-19939" y="304800"/>
                    <a:ext cx="9241506" cy="5054600"/>
                    <a:chOff x="-19939" y="304800"/>
                    <a:chExt cx="9241506" cy="5054600"/>
                  </a:xfrm>
                </p:grpSpPr>
                <p:grpSp>
                  <p:nvGrpSpPr>
                    <p:cNvPr id="24601" name="Group 280"/>
                    <p:cNvGrpSpPr>
                      <a:grpSpLocks/>
                    </p:cNvGrpSpPr>
                    <p:nvPr/>
                  </p:nvGrpSpPr>
                  <p:grpSpPr bwMode="auto">
                    <a:xfrm>
                      <a:off x="-19939" y="304800"/>
                      <a:ext cx="9241506" cy="5054600"/>
                      <a:chOff x="-82088" y="304800"/>
                      <a:chExt cx="9361880" cy="5387140"/>
                    </a:xfrm>
                  </p:grpSpPr>
                  <p:sp>
                    <p:nvSpPr>
                      <p:cNvPr id="108" name="Rectangle 107"/>
                      <p:cNvSpPr/>
                      <p:nvPr/>
                    </p:nvSpPr>
                    <p:spPr bwMode="auto">
                      <a:xfrm>
                        <a:off x="2434121" y="304800"/>
                        <a:ext cx="572403"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latin typeface="Cambria" pitchFamily="18" charset="0"/>
                            <a:ea typeface="Cambria" pitchFamily="18" charset="0"/>
                          </a:rPr>
                          <a:t>S/P</a:t>
                        </a:r>
                      </a:p>
                      <a:p>
                        <a:pPr algn="ctr" eaLnBrk="1" hangingPunct="1">
                          <a:defRPr/>
                        </a:pPr>
                        <a:endParaRPr lang="en-US" sz="1200" dirty="0">
                          <a:solidFill>
                            <a:schemeClr val="tx1"/>
                          </a:solidFill>
                          <a:latin typeface="Cambria" pitchFamily="18" charset="0"/>
                          <a:ea typeface="Cambria" pitchFamily="18" charset="0"/>
                        </a:endParaRPr>
                      </a:p>
                    </p:txBody>
                  </p:sp>
                  <p:sp>
                    <p:nvSpPr>
                      <p:cNvPr id="109" name="Rectangle 108"/>
                      <p:cNvSpPr/>
                      <p:nvPr/>
                    </p:nvSpPr>
                    <p:spPr bwMode="auto">
                      <a:xfrm>
                        <a:off x="3516061" y="304800"/>
                        <a:ext cx="914852"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N-Point</a:t>
                        </a:r>
                      </a:p>
                      <a:p>
                        <a:pPr algn="ctr" eaLnBrk="1" hangingPunct="1">
                          <a:defRPr/>
                        </a:pPr>
                        <a:r>
                          <a:rPr lang="en-US" dirty="0">
                            <a:solidFill>
                              <a:schemeClr val="tx1"/>
                            </a:solidFill>
                            <a:latin typeface="Cambria" pitchFamily="18" charset="0"/>
                            <a:ea typeface="Cambria" pitchFamily="18" charset="0"/>
                          </a:rPr>
                          <a:t>IFFT</a:t>
                        </a:r>
                      </a:p>
                    </p:txBody>
                  </p:sp>
                  <p:sp>
                    <p:nvSpPr>
                      <p:cNvPr id="110" name="Rectangle 109"/>
                      <p:cNvSpPr/>
                      <p:nvPr/>
                    </p:nvSpPr>
                    <p:spPr bwMode="auto">
                      <a:xfrm>
                        <a:off x="6000884" y="304800"/>
                        <a:ext cx="899963"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600" dirty="0">
                            <a:solidFill>
                              <a:schemeClr val="tx1"/>
                            </a:solidFill>
                            <a:latin typeface="Cambria" pitchFamily="18" charset="0"/>
                            <a:ea typeface="Cambria" pitchFamily="18" charset="0"/>
                          </a:rPr>
                          <a:t>Add</a:t>
                        </a:r>
                      </a:p>
                      <a:p>
                        <a:pPr algn="ctr" eaLnBrk="1" hangingPunct="1">
                          <a:defRPr/>
                        </a:pPr>
                        <a:r>
                          <a:rPr lang="en-US" sz="1600" dirty="0">
                            <a:solidFill>
                              <a:schemeClr val="tx1"/>
                            </a:solidFill>
                            <a:latin typeface="Cambria" pitchFamily="18" charset="0"/>
                            <a:ea typeface="Cambria" pitchFamily="18" charset="0"/>
                          </a:rPr>
                          <a:t>Cyclic Prefix </a:t>
                        </a:r>
                      </a:p>
                    </p:txBody>
                  </p:sp>
                  <p:sp>
                    <p:nvSpPr>
                      <p:cNvPr id="116" name="Rectangle 115"/>
                      <p:cNvSpPr/>
                      <p:nvPr/>
                    </p:nvSpPr>
                    <p:spPr bwMode="auto">
                      <a:xfrm>
                        <a:off x="4970229" y="304800"/>
                        <a:ext cx="651811"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P/S</a:t>
                        </a:r>
                      </a:p>
                      <a:p>
                        <a:pPr algn="ctr" eaLnBrk="1" hangingPunct="1">
                          <a:defRPr/>
                        </a:pPr>
                        <a:endParaRPr lang="en-US" dirty="0">
                          <a:solidFill>
                            <a:schemeClr val="tx1"/>
                          </a:solidFill>
                          <a:latin typeface="Cambria" pitchFamily="18" charset="0"/>
                          <a:ea typeface="Cambria" pitchFamily="18" charset="0"/>
                        </a:endParaRPr>
                      </a:p>
                    </p:txBody>
                  </p:sp>
                  <p:sp>
                    <p:nvSpPr>
                      <p:cNvPr id="117" name="Rectangle 116"/>
                      <p:cNvSpPr/>
                      <p:nvPr/>
                    </p:nvSpPr>
                    <p:spPr bwMode="auto">
                      <a:xfrm>
                        <a:off x="8212741" y="1279712"/>
                        <a:ext cx="1067051" cy="912933"/>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latin typeface="Cambria" pitchFamily="18" charset="0"/>
                            <a:ea typeface="Cambria" pitchFamily="18" charset="0"/>
                          </a:rPr>
                          <a:t>Fading Channel</a:t>
                        </a:r>
                      </a:p>
                    </p:txBody>
                  </p:sp>
                  <p:sp>
                    <p:nvSpPr>
                      <p:cNvPr id="118" name="Rectangle 117"/>
                      <p:cNvSpPr/>
                      <p:nvPr/>
                    </p:nvSpPr>
                    <p:spPr bwMode="auto">
                      <a:xfrm>
                        <a:off x="7316087" y="3628210"/>
                        <a:ext cx="1004186"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050" dirty="0">
                            <a:solidFill>
                              <a:schemeClr val="tx1"/>
                            </a:solidFill>
                            <a:latin typeface="Cambria" pitchFamily="18" charset="0"/>
                            <a:ea typeface="Cambria" pitchFamily="18" charset="0"/>
                          </a:rPr>
                          <a:t>Remove</a:t>
                        </a:r>
                      </a:p>
                      <a:p>
                        <a:pPr algn="ctr" eaLnBrk="1" hangingPunct="1">
                          <a:defRPr/>
                        </a:pPr>
                        <a:r>
                          <a:rPr lang="en-US" sz="1050" dirty="0">
                            <a:solidFill>
                              <a:schemeClr val="tx1"/>
                            </a:solidFill>
                            <a:latin typeface="Cambria" pitchFamily="18" charset="0"/>
                            <a:ea typeface="Cambria" pitchFamily="18" charset="0"/>
                          </a:rPr>
                          <a:t>Cyclic Prefix </a:t>
                        </a:r>
                      </a:p>
                    </p:txBody>
                  </p:sp>
                  <p:sp>
                    <p:nvSpPr>
                      <p:cNvPr id="119" name="Rectangle 118"/>
                      <p:cNvSpPr/>
                      <p:nvPr/>
                    </p:nvSpPr>
                    <p:spPr bwMode="auto">
                      <a:xfrm>
                        <a:off x="5001661" y="3634910"/>
                        <a:ext cx="916506"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N</a:t>
                        </a:r>
                      </a:p>
                      <a:p>
                        <a:pPr algn="ctr" eaLnBrk="1" hangingPunct="1">
                          <a:defRPr/>
                        </a:pPr>
                        <a:r>
                          <a:rPr lang="en-US" dirty="0">
                            <a:solidFill>
                              <a:schemeClr val="tx1"/>
                            </a:solidFill>
                            <a:latin typeface="Cambria" pitchFamily="18" charset="0"/>
                            <a:ea typeface="Cambria" pitchFamily="18" charset="0"/>
                          </a:rPr>
                          <a:t>Point</a:t>
                        </a:r>
                      </a:p>
                      <a:p>
                        <a:pPr algn="ctr" eaLnBrk="1" hangingPunct="1">
                          <a:defRPr/>
                        </a:pPr>
                        <a:r>
                          <a:rPr lang="en-US" dirty="0">
                            <a:solidFill>
                              <a:schemeClr val="tx1"/>
                            </a:solidFill>
                            <a:latin typeface="Cambria" pitchFamily="18" charset="0"/>
                            <a:ea typeface="Cambria" pitchFamily="18" charset="0"/>
                          </a:rPr>
                          <a:t>FFT</a:t>
                        </a:r>
                      </a:p>
                    </p:txBody>
                  </p:sp>
                  <p:cxnSp>
                    <p:nvCxnSpPr>
                      <p:cNvPr id="120" name="Straight Arrow Connector 119"/>
                      <p:cNvCxnSpPr/>
                      <p:nvPr/>
                    </p:nvCxnSpPr>
                    <p:spPr bwMode="auto">
                      <a:xfrm>
                        <a:off x="5665053" y="914538"/>
                        <a:ext cx="302744" cy="1676"/>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21" name="Flowchart: Or 120"/>
                      <p:cNvSpPr/>
                      <p:nvPr/>
                    </p:nvSpPr>
                    <p:spPr bwMode="auto">
                      <a:xfrm>
                        <a:off x="8368250" y="2659999"/>
                        <a:ext cx="762652" cy="532684"/>
                      </a:xfrm>
                      <a:prstGeom prst="flowChartOr">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endParaRPr lang="en-US">
                          <a:latin typeface="Cambria" pitchFamily="18" charset="0"/>
                          <a:ea typeface="Cambria" pitchFamily="18" charset="0"/>
                        </a:endParaRPr>
                      </a:p>
                    </p:txBody>
                  </p:sp>
                  <p:cxnSp>
                    <p:nvCxnSpPr>
                      <p:cNvPr id="122" name="Straight Arrow Connector 121"/>
                      <p:cNvCxnSpPr>
                        <a:stCxn id="117" idx="2"/>
                        <a:endCxn id="121" idx="0"/>
                      </p:cNvCxnSpPr>
                      <p:nvPr/>
                    </p:nvCxnSpPr>
                    <p:spPr bwMode="auto">
                      <a:xfrm rot="16200000" flipH="1">
                        <a:off x="8515071" y="2424667"/>
                        <a:ext cx="467354" cy="3309"/>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23" name="Straight Arrow Connector 122"/>
                      <p:cNvCxnSpPr>
                        <a:endCxn id="121" idx="2"/>
                      </p:cNvCxnSpPr>
                      <p:nvPr/>
                    </p:nvCxnSpPr>
                    <p:spPr bwMode="auto">
                      <a:xfrm>
                        <a:off x="7301198" y="2887813"/>
                        <a:ext cx="1067052" cy="3852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0" name="Straight Arrow Connector 129"/>
                      <p:cNvCxnSpPr>
                        <a:stCxn id="118" idx="1"/>
                      </p:cNvCxnSpPr>
                      <p:nvPr/>
                    </p:nvCxnSpPr>
                    <p:spPr bwMode="auto">
                      <a:xfrm rot="10800000">
                        <a:off x="6948823" y="4199421"/>
                        <a:ext cx="367264"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1" name="Straight Arrow Connector 130"/>
                      <p:cNvCxnSpPr/>
                      <p:nvPr/>
                    </p:nvCxnSpPr>
                    <p:spPr bwMode="auto">
                      <a:xfrm rot="10800000">
                        <a:off x="4548371" y="4015160"/>
                        <a:ext cx="453290"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2" name="Straight Arrow Connector 131"/>
                      <p:cNvCxnSpPr/>
                      <p:nvPr/>
                    </p:nvCxnSpPr>
                    <p:spPr bwMode="auto">
                      <a:xfrm rot="10800000">
                        <a:off x="4548371" y="3787345"/>
                        <a:ext cx="453290"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3" name="Straight Arrow Connector 132"/>
                      <p:cNvCxnSpPr/>
                      <p:nvPr/>
                    </p:nvCxnSpPr>
                    <p:spPr bwMode="auto">
                      <a:xfrm rot="10800000">
                        <a:off x="4548371" y="4320029"/>
                        <a:ext cx="453290"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5" name="Straight Arrow Connector 134"/>
                      <p:cNvCxnSpPr/>
                      <p:nvPr/>
                    </p:nvCxnSpPr>
                    <p:spPr bwMode="auto">
                      <a:xfrm rot="10800000">
                        <a:off x="4548371" y="4547843"/>
                        <a:ext cx="453290"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36" name="TextBox 135"/>
                      <p:cNvSpPr txBox="1"/>
                      <p:nvPr/>
                    </p:nvSpPr>
                    <p:spPr bwMode="auto">
                      <a:xfrm>
                        <a:off x="-82088" y="1063623"/>
                        <a:ext cx="1189380" cy="713967"/>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ctr" eaLnBrk="1" hangingPunct="1">
                          <a:defRPr/>
                        </a:pPr>
                        <a:r>
                          <a:rPr lang="en-US" dirty="0">
                            <a:latin typeface="Cambria" pitchFamily="18" charset="0"/>
                            <a:ea typeface="Cambria" pitchFamily="18" charset="0"/>
                          </a:rPr>
                          <a:t>Input bit</a:t>
                        </a:r>
                      </a:p>
                      <a:p>
                        <a:pPr algn="ctr" eaLnBrk="1" hangingPunct="1">
                          <a:defRPr/>
                        </a:pPr>
                        <a:r>
                          <a:rPr lang="en-US" dirty="0">
                            <a:latin typeface="Cambria" pitchFamily="18" charset="0"/>
                            <a:ea typeface="Cambria" pitchFamily="18" charset="0"/>
                          </a:rPr>
                          <a:t>stream</a:t>
                        </a:r>
                      </a:p>
                    </p:txBody>
                  </p:sp>
                  <p:sp>
                    <p:nvSpPr>
                      <p:cNvPr id="137" name="TextBox 136"/>
                      <p:cNvSpPr txBox="1"/>
                      <p:nvPr/>
                    </p:nvSpPr>
                    <p:spPr bwMode="auto">
                      <a:xfrm>
                        <a:off x="5754023" y="2397008"/>
                        <a:ext cx="2642717" cy="40798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ctr" eaLnBrk="1" hangingPunct="1">
                          <a:defRPr/>
                        </a:pPr>
                        <a:r>
                          <a:rPr lang="en-US" dirty="0">
                            <a:latin typeface="Cambria" pitchFamily="18" charset="0"/>
                            <a:ea typeface="Cambria" pitchFamily="18" charset="0"/>
                          </a:rPr>
                          <a:t>White Gaussian Noise</a:t>
                        </a:r>
                      </a:p>
                    </p:txBody>
                  </p:sp>
                  <p:cxnSp>
                    <p:nvCxnSpPr>
                      <p:cNvPr id="138" name="Straight Arrow Connector 137"/>
                      <p:cNvCxnSpPr/>
                      <p:nvPr/>
                    </p:nvCxnSpPr>
                    <p:spPr bwMode="auto">
                      <a:xfrm>
                        <a:off x="2981709" y="457235"/>
                        <a:ext cx="534352"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9" name="Straight Arrow Connector 138"/>
                      <p:cNvCxnSpPr/>
                      <p:nvPr/>
                    </p:nvCxnSpPr>
                    <p:spPr bwMode="auto">
                      <a:xfrm>
                        <a:off x="2981709" y="1066974"/>
                        <a:ext cx="534352"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0" name="Straight Arrow Connector 139"/>
                      <p:cNvCxnSpPr/>
                      <p:nvPr/>
                    </p:nvCxnSpPr>
                    <p:spPr bwMode="auto">
                      <a:xfrm>
                        <a:off x="2981709" y="762104"/>
                        <a:ext cx="534352"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1" name="Straight Arrow Connector 140"/>
                      <p:cNvCxnSpPr/>
                      <p:nvPr/>
                    </p:nvCxnSpPr>
                    <p:spPr bwMode="auto">
                      <a:xfrm>
                        <a:off x="2981709" y="1371843"/>
                        <a:ext cx="534352"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43" name="Rectangle 142"/>
                      <p:cNvSpPr/>
                      <p:nvPr/>
                    </p:nvSpPr>
                    <p:spPr bwMode="auto">
                      <a:xfrm>
                        <a:off x="3479666" y="3634910"/>
                        <a:ext cx="1068706" cy="114409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MMSE Equalizer</a:t>
                        </a:r>
                      </a:p>
                    </p:txBody>
                  </p:sp>
                  <p:cxnSp>
                    <p:nvCxnSpPr>
                      <p:cNvPr id="144" name="Straight Arrow Connector 143"/>
                      <p:cNvCxnSpPr/>
                      <p:nvPr/>
                    </p:nvCxnSpPr>
                    <p:spPr bwMode="auto">
                      <a:xfrm rot="10800000">
                        <a:off x="3023067" y="4015160"/>
                        <a:ext cx="456599"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6" name="Straight Arrow Connector 145"/>
                      <p:cNvCxnSpPr/>
                      <p:nvPr/>
                    </p:nvCxnSpPr>
                    <p:spPr bwMode="auto">
                      <a:xfrm rot="10800000">
                        <a:off x="3023067" y="3787345"/>
                        <a:ext cx="456599"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7" name="Straight Arrow Connector 146"/>
                      <p:cNvCxnSpPr/>
                      <p:nvPr/>
                    </p:nvCxnSpPr>
                    <p:spPr bwMode="auto">
                      <a:xfrm rot="10800000">
                        <a:off x="3023067" y="4320029"/>
                        <a:ext cx="456599"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9" name="Straight Arrow Connector 148"/>
                      <p:cNvCxnSpPr/>
                      <p:nvPr/>
                    </p:nvCxnSpPr>
                    <p:spPr bwMode="auto">
                      <a:xfrm rot="10800000">
                        <a:off x="3023067" y="4547843"/>
                        <a:ext cx="456599" cy="167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50" name="Rectangle 149"/>
                      <p:cNvSpPr/>
                      <p:nvPr/>
                    </p:nvSpPr>
                    <p:spPr bwMode="auto">
                      <a:xfrm>
                        <a:off x="4038834" y="5011847"/>
                        <a:ext cx="1295351" cy="680093"/>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latin typeface="Cambria" pitchFamily="18" charset="0"/>
                            <a:ea typeface="Cambria" pitchFamily="18" charset="0"/>
                          </a:rPr>
                          <a:t>Channel</a:t>
                        </a:r>
                      </a:p>
                      <a:p>
                        <a:pPr algn="ctr" eaLnBrk="1" hangingPunct="1">
                          <a:defRPr/>
                        </a:pPr>
                        <a:r>
                          <a:rPr lang="en-US" sz="1200" dirty="0">
                            <a:solidFill>
                              <a:schemeClr val="tx1"/>
                            </a:solidFill>
                            <a:latin typeface="Cambria" pitchFamily="18" charset="0"/>
                            <a:ea typeface="Cambria" pitchFamily="18" charset="0"/>
                          </a:rPr>
                          <a:t>Estimation</a:t>
                        </a:r>
                      </a:p>
                    </p:txBody>
                  </p:sp>
                  <p:cxnSp>
                    <p:nvCxnSpPr>
                      <p:cNvPr id="151" name="Elbow Connector 64"/>
                      <p:cNvCxnSpPr>
                        <a:stCxn id="150" idx="1"/>
                      </p:cNvCxnSpPr>
                      <p:nvPr/>
                    </p:nvCxnSpPr>
                    <p:spPr bwMode="auto">
                      <a:xfrm rot="10800000">
                        <a:off x="3658335" y="4779008"/>
                        <a:ext cx="380499" cy="572886"/>
                      </a:xfrm>
                      <a:prstGeom prst="bentConnector2">
                        <a:avLst/>
                      </a:prstGeom>
                      <a:ln>
                        <a:tailEnd type="arrow"/>
                      </a:ln>
                    </p:spPr>
                    <p:style>
                      <a:lnRef idx="2">
                        <a:schemeClr val="dk1"/>
                      </a:lnRef>
                      <a:fillRef idx="1">
                        <a:schemeClr val="lt1"/>
                      </a:fillRef>
                      <a:effectRef idx="0">
                        <a:schemeClr val="dk1"/>
                      </a:effectRef>
                      <a:fontRef idx="minor">
                        <a:schemeClr val="dk1"/>
                      </a:fontRef>
                    </p:style>
                  </p:cxnSp>
                  <p:cxnSp>
                    <p:nvCxnSpPr>
                      <p:cNvPr id="152" name="Elbow Connector 64"/>
                      <p:cNvCxnSpPr>
                        <a:endCxn id="150" idx="3"/>
                      </p:cNvCxnSpPr>
                      <p:nvPr/>
                    </p:nvCxnSpPr>
                    <p:spPr bwMode="auto">
                      <a:xfrm rot="5400000">
                        <a:off x="5199941" y="4913252"/>
                        <a:ext cx="572886" cy="304399"/>
                      </a:xfrm>
                      <a:prstGeom prst="bentConnector2">
                        <a:avLst/>
                      </a:prstGeom>
                      <a:ln>
                        <a:tailEnd type="arrow"/>
                      </a:ln>
                    </p:spPr>
                    <p:style>
                      <a:lnRef idx="2">
                        <a:schemeClr val="dk1"/>
                      </a:lnRef>
                      <a:fillRef idx="1">
                        <a:schemeClr val="lt1"/>
                      </a:fillRef>
                      <a:effectRef idx="0">
                        <a:schemeClr val="dk1"/>
                      </a:effectRef>
                      <a:fontRef idx="minor">
                        <a:schemeClr val="dk1"/>
                      </a:fontRef>
                    </p:style>
                  </p:cxnSp>
                </p:grpSp>
                <p:cxnSp>
                  <p:nvCxnSpPr>
                    <p:cNvPr id="101" name="Shape 100"/>
                    <p:cNvCxnSpPr>
                      <a:endCxn id="117" idx="0"/>
                    </p:cNvCxnSpPr>
                    <p:nvPr/>
                  </p:nvCxnSpPr>
                  <p:spPr>
                    <a:xfrm>
                      <a:off x="6873210" y="837608"/>
                      <a:ext cx="1822508" cy="381924"/>
                    </a:xfrm>
                    <a:prstGeom prst="bentConnector2">
                      <a:avLst/>
                    </a:prstGeom>
                    <a:ln w="25400">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02" name="Shape 101"/>
                    <p:cNvCxnSpPr>
                      <a:stCxn id="121" idx="4"/>
                      <a:endCxn id="118" idx="3"/>
                    </p:cNvCxnSpPr>
                    <p:nvPr/>
                  </p:nvCxnSpPr>
                  <p:spPr>
                    <a:xfrm rot="5400000">
                      <a:off x="8014387" y="3274416"/>
                      <a:ext cx="944595" cy="424599"/>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84" name="Rectangle 83"/>
                <p:cNvSpPr/>
                <p:nvPr/>
              </p:nvSpPr>
              <p:spPr bwMode="auto">
                <a:xfrm>
                  <a:off x="2401860" y="3423061"/>
                  <a:ext cx="643430" cy="107347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P/S</a:t>
                  </a:r>
                </a:p>
                <a:p>
                  <a:pPr algn="ctr" eaLnBrk="1" hangingPunct="1">
                    <a:defRPr/>
                  </a:pPr>
                  <a:endParaRPr lang="en-US" dirty="0">
                    <a:solidFill>
                      <a:schemeClr val="tx1"/>
                    </a:solidFill>
                    <a:latin typeface="Cambria" pitchFamily="18" charset="0"/>
                    <a:ea typeface="Cambria" pitchFamily="18" charset="0"/>
                  </a:endParaRPr>
                </a:p>
              </p:txBody>
            </p:sp>
            <p:sp>
              <p:nvSpPr>
                <p:cNvPr id="85" name="Rectangle 84"/>
                <p:cNvSpPr/>
                <p:nvPr/>
              </p:nvSpPr>
              <p:spPr bwMode="auto">
                <a:xfrm>
                  <a:off x="6339196" y="3423061"/>
                  <a:ext cx="563409" cy="107347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latin typeface="Cambria" pitchFamily="18" charset="0"/>
                      <a:ea typeface="Cambria" pitchFamily="18" charset="0"/>
                    </a:rPr>
                    <a:t>S/P</a:t>
                  </a:r>
                </a:p>
                <a:p>
                  <a:pPr algn="ctr" eaLnBrk="1" hangingPunct="1">
                    <a:defRPr/>
                  </a:pPr>
                  <a:endParaRPr lang="en-US" dirty="0">
                    <a:solidFill>
                      <a:schemeClr val="tx1"/>
                    </a:solidFill>
                    <a:latin typeface="Cambria" pitchFamily="18" charset="0"/>
                    <a:ea typeface="Cambria" pitchFamily="18" charset="0"/>
                  </a:endParaRPr>
                </a:p>
              </p:txBody>
            </p:sp>
          </p:grpSp>
          <p:cxnSp>
            <p:nvCxnSpPr>
              <p:cNvPr id="68" name="Straight Arrow Connector 67"/>
              <p:cNvCxnSpPr/>
              <p:nvPr/>
            </p:nvCxnSpPr>
            <p:spPr bwMode="auto">
              <a:xfrm>
                <a:off x="4682405" y="889056"/>
                <a:ext cx="527465"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69" name="Straight Arrow Connector 68"/>
              <p:cNvCxnSpPr/>
              <p:nvPr/>
            </p:nvCxnSpPr>
            <p:spPr bwMode="auto">
              <a:xfrm>
                <a:off x="4682405" y="1461156"/>
                <a:ext cx="527465"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0" name="Straight Arrow Connector 69"/>
              <p:cNvCxnSpPr/>
              <p:nvPr/>
            </p:nvCxnSpPr>
            <p:spPr bwMode="auto">
              <a:xfrm>
                <a:off x="4682405" y="1175106"/>
                <a:ext cx="527465"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2" name="Straight Arrow Connector 71"/>
              <p:cNvCxnSpPr/>
              <p:nvPr/>
            </p:nvCxnSpPr>
            <p:spPr bwMode="auto">
              <a:xfrm>
                <a:off x="4682405" y="1747206"/>
                <a:ext cx="527465"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6" name="Straight Arrow Connector 75"/>
              <p:cNvCxnSpPr/>
              <p:nvPr/>
            </p:nvCxnSpPr>
            <p:spPr bwMode="auto">
              <a:xfrm rot="10800000">
                <a:off x="6130892" y="4217925"/>
                <a:ext cx="450713"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7" name="Straight Arrow Connector 76"/>
              <p:cNvCxnSpPr/>
              <p:nvPr/>
            </p:nvCxnSpPr>
            <p:spPr bwMode="auto">
              <a:xfrm rot="10800000">
                <a:off x="6130892" y="4004173"/>
                <a:ext cx="450713"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8" name="Straight Arrow Connector 77"/>
              <p:cNvCxnSpPr/>
              <p:nvPr/>
            </p:nvCxnSpPr>
            <p:spPr bwMode="auto">
              <a:xfrm rot="10800000">
                <a:off x="6130892" y="4503975"/>
                <a:ext cx="450713"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9" name="Straight Arrow Connector 78"/>
              <p:cNvCxnSpPr/>
              <p:nvPr/>
            </p:nvCxnSpPr>
            <p:spPr bwMode="auto">
              <a:xfrm rot="10800000">
                <a:off x="6130892" y="4717727"/>
                <a:ext cx="450713" cy="1571"/>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grpSp>
        <p:cxnSp>
          <p:nvCxnSpPr>
            <p:cNvPr id="65" name="Shape 64"/>
            <p:cNvCxnSpPr>
              <a:stCxn id="92" idx="1"/>
            </p:cNvCxnSpPr>
            <p:nvPr/>
          </p:nvCxnSpPr>
          <p:spPr>
            <a:xfrm rot="10800000">
              <a:off x="472486" y="3733840"/>
              <a:ext cx="457245" cy="66325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Date Placeholder 1"/>
          <p:cNvSpPr>
            <a:spLocks noGrp="1"/>
          </p:cNvSpPr>
          <p:nvPr>
            <p:ph type="dt" sz="half" idx="10"/>
          </p:nvPr>
        </p:nvSpPr>
        <p:spPr/>
        <p:txBody>
          <a:bodyPr/>
          <a:lstStyle/>
          <a:p>
            <a:pPr>
              <a:defRPr/>
            </a:pPr>
            <a:fld id="{109ADC76-AA77-41B9-A909-6C4EFB4994D8}"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24</a:t>
            </a:fld>
            <a:endParaRPr lang="en-US"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457325" y="228600"/>
            <a:ext cx="6172200" cy="307975"/>
          </a:xfrm>
        </p:spPr>
        <p:txBody>
          <a:bodyPr/>
          <a:lstStyle/>
          <a:p>
            <a:r>
              <a:rPr lang="en-US" altLang="en-US" sz="2400" b="1" smtClean="0">
                <a:solidFill>
                  <a:srgbClr val="FF0000"/>
                </a:solidFill>
                <a:latin typeface="Cambria" pitchFamily="18" charset="0"/>
                <a:ea typeface="Cambria" pitchFamily="18" charset="0"/>
              </a:rPr>
              <a:t>ADVANTAGES OF OFDM SYSTEM</a:t>
            </a:r>
          </a:p>
        </p:txBody>
      </p:sp>
      <p:sp>
        <p:nvSpPr>
          <p:cNvPr id="3" name="Rectangle 2"/>
          <p:cNvSpPr/>
          <p:nvPr/>
        </p:nvSpPr>
        <p:spPr>
          <a:xfrm>
            <a:off x="228600" y="838200"/>
            <a:ext cx="8610600" cy="5170646"/>
          </a:xfrm>
          <a:prstGeom prst="rect">
            <a:avLst/>
          </a:prstGeom>
        </p:spPr>
        <p:txBody>
          <a:bodyPr wrap="square">
            <a:spAutoFit/>
          </a:bodyPr>
          <a:lstStyle/>
          <a:p>
            <a:pPr marL="214313" indent="-214313" algn="just" eaLnBrk="1" hangingPunct="1">
              <a:buFont typeface="Wingdings" panose="05000000000000000000" pitchFamily="2" charset="2"/>
              <a:buChar char="q"/>
              <a:defRPr/>
            </a:pPr>
            <a:r>
              <a:rPr lang="en-US" sz="2200" b="1" dirty="0">
                <a:latin typeface="Cambria" pitchFamily="18" charset="0"/>
                <a:ea typeface="Cambria" pitchFamily="18" charset="0"/>
              </a:rPr>
              <a:t>Less Implementation Complexity</a:t>
            </a:r>
            <a:r>
              <a:rPr lang="en-US" sz="2200" dirty="0">
                <a:latin typeface="Cambria" pitchFamily="18" charset="0"/>
                <a:ea typeface="Cambria" pitchFamily="18" charset="0"/>
              </a:rPr>
              <a:t>: </a:t>
            </a:r>
          </a:p>
          <a:p>
            <a:pPr algn="just" eaLnBrk="1" hangingPunct="1">
              <a:tabLst>
                <a:tab pos="335756" algn="l"/>
              </a:tabLst>
              <a:defRPr/>
            </a:pPr>
            <a:r>
              <a:rPr lang="en-US" sz="2200" dirty="0">
                <a:latin typeface="Cambria" pitchFamily="18" charset="0"/>
                <a:ea typeface="Cambria" pitchFamily="18" charset="0"/>
              </a:rPr>
              <a:t> 	--- For a given delay spread of multipath fading channel, the implementation complexity is 	             </a:t>
            </a:r>
          </a:p>
          <a:p>
            <a:pPr algn="just" eaLnBrk="1" hangingPunct="1">
              <a:tabLst>
                <a:tab pos="335756" algn="l"/>
              </a:tabLst>
              <a:defRPr/>
            </a:pPr>
            <a:r>
              <a:rPr lang="en-US" sz="2200" dirty="0">
                <a:latin typeface="Cambria" pitchFamily="18" charset="0"/>
                <a:ea typeface="Cambria" pitchFamily="18" charset="0"/>
              </a:rPr>
              <a:t>              significantly lower than that of single carrier system with an equalizer (single tap equalizer is </a:t>
            </a:r>
          </a:p>
          <a:p>
            <a:pPr algn="just" eaLnBrk="1" hangingPunct="1">
              <a:tabLst>
                <a:tab pos="335756" algn="l"/>
              </a:tabLst>
              <a:defRPr/>
            </a:pPr>
            <a:r>
              <a:rPr lang="en-US" sz="2200" dirty="0">
                <a:latin typeface="Cambria" pitchFamily="18" charset="0"/>
                <a:ea typeface="Cambria" pitchFamily="18" charset="0"/>
              </a:rPr>
              <a:t>              required in OFDM system). </a:t>
            </a:r>
            <a:endParaRPr lang="en-US" sz="2200" dirty="0" smtClean="0">
              <a:latin typeface="Cambria" pitchFamily="18" charset="0"/>
              <a:ea typeface="Cambria" pitchFamily="18" charset="0"/>
            </a:endParaRPr>
          </a:p>
          <a:p>
            <a:pPr algn="just" eaLnBrk="1" hangingPunct="1">
              <a:tabLst>
                <a:tab pos="335756" algn="l"/>
              </a:tabLst>
              <a:defRPr/>
            </a:pPr>
            <a:endParaRPr lang="en-US" sz="2200" b="1" dirty="0">
              <a:latin typeface="Cambria" pitchFamily="18" charset="0"/>
              <a:ea typeface="Cambria" pitchFamily="18" charset="0"/>
            </a:endParaRPr>
          </a:p>
          <a:p>
            <a:pPr marL="214313" indent="-214313" algn="just" eaLnBrk="1" hangingPunct="1">
              <a:buFont typeface="Wingdings" panose="05000000000000000000" pitchFamily="2" charset="2"/>
              <a:buChar char="q"/>
              <a:defRPr/>
            </a:pPr>
            <a:r>
              <a:rPr lang="en-US" sz="2200" b="1" dirty="0">
                <a:latin typeface="Cambria" pitchFamily="18" charset="0"/>
                <a:ea typeface="Cambria" pitchFamily="18" charset="0"/>
              </a:rPr>
              <a:t>Robustness Against Narrowband Interference</a:t>
            </a:r>
            <a:r>
              <a:rPr lang="en-US" sz="2200" dirty="0">
                <a:latin typeface="Cambria" pitchFamily="18" charset="0"/>
                <a:ea typeface="Cambria" pitchFamily="18" charset="0"/>
              </a:rPr>
              <a:t>: </a:t>
            </a:r>
          </a:p>
          <a:p>
            <a:pPr algn="just" eaLnBrk="1" hangingPunct="1">
              <a:tabLst>
                <a:tab pos="335756" algn="l"/>
              </a:tabLst>
              <a:defRPr/>
            </a:pPr>
            <a:r>
              <a:rPr lang="en-US" sz="2200" dirty="0">
                <a:latin typeface="Cambria" pitchFamily="18" charset="0"/>
                <a:ea typeface="Cambria" pitchFamily="18" charset="0"/>
              </a:rPr>
              <a:t>	-- OFDM is more robust against narrowband interference because in a single carrier system, </a:t>
            </a:r>
          </a:p>
          <a:p>
            <a:pPr algn="just" eaLnBrk="1" hangingPunct="1">
              <a:tabLst>
                <a:tab pos="335756" algn="l"/>
              </a:tabLst>
              <a:defRPr/>
            </a:pPr>
            <a:r>
              <a:rPr lang="en-US" sz="2200" dirty="0">
                <a:latin typeface="Cambria" pitchFamily="18" charset="0"/>
                <a:ea typeface="Cambria" pitchFamily="18" charset="0"/>
              </a:rPr>
              <a:t>	--- a single fade or interferer can cause the entire link to fail, but in OFDM, only a small percentage of </a:t>
            </a:r>
          </a:p>
          <a:p>
            <a:pPr algn="just" eaLnBrk="1" hangingPunct="1">
              <a:tabLst>
                <a:tab pos="335756" algn="l"/>
              </a:tabLst>
              <a:defRPr/>
            </a:pPr>
            <a:r>
              <a:rPr lang="en-US" sz="2200" dirty="0">
                <a:latin typeface="Cambria" pitchFamily="18" charset="0"/>
                <a:ea typeface="Cambria" pitchFamily="18" charset="0"/>
              </a:rPr>
              <a:t>              subcarriers will be affected</a:t>
            </a:r>
            <a:r>
              <a:rPr lang="en-US" sz="2200" dirty="0" smtClean="0">
                <a:latin typeface="Cambria" pitchFamily="18" charset="0"/>
                <a:ea typeface="Cambria" pitchFamily="18" charset="0"/>
              </a:rPr>
              <a:t>.</a:t>
            </a:r>
            <a:endParaRPr lang="en-US" sz="2200" b="1" dirty="0">
              <a:latin typeface="Cambria" pitchFamily="18" charset="0"/>
              <a:ea typeface="Cambria" pitchFamily="18" charset="0"/>
            </a:endParaRPr>
          </a:p>
          <a:p>
            <a:pPr algn="just" eaLnBrk="1" hangingPunct="1">
              <a:tabLst>
                <a:tab pos="271463" algn="l"/>
              </a:tabLst>
              <a:defRPr/>
            </a:pPr>
            <a:r>
              <a:rPr lang="en-US" sz="2200" dirty="0">
                <a:latin typeface="Cambria" pitchFamily="18" charset="0"/>
                <a:ea typeface="Cambria" pitchFamily="18" charset="0"/>
              </a:rPr>
              <a:t>	--  Efficient Modulation and demodulation of OFDM symbol are possible with the help of IFFT and FFT.</a:t>
            </a:r>
            <a:endParaRPr lang="en-IN" sz="2200" dirty="0">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4A067EC0-8502-42CF-899D-AE7CD94E91B5}" type="datetime1">
              <a:rPr lang="en-US" smtClean="0"/>
              <a:t>9/2/2025</a:t>
            </a:fld>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25</a:t>
            </a:fld>
            <a:endParaRPr lang="en-US"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992A8D2-B22C-447E-B758-86D9B55A4FCB}"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26</a:t>
            </a:fld>
            <a:endParaRPr lang="en-US" altLang="en-US"/>
          </a:p>
        </p:txBody>
      </p:sp>
      <p:sp>
        <p:nvSpPr>
          <p:cNvPr id="7" name="Rectangle 6"/>
          <p:cNvSpPr/>
          <p:nvPr/>
        </p:nvSpPr>
        <p:spPr>
          <a:xfrm>
            <a:off x="457200" y="685800"/>
            <a:ext cx="8153400" cy="4154984"/>
          </a:xfrm>
          <a:prstGeom prst="rect">
            <a:avLst/>
          </a:prstGeom>
        </p:spPr>
        <p:txBody>
          <a:bodyPr wrap="square">
            <a:spAutoFit/>
          </a:bodyPr>
          <a:lstStyle/>
          <a:p>
            <a:pPr marL="214313" indent="-214313" algn="just" eaLnBrk="1" hangingPunct="1">
              <a:buFont typeface="Wingdings" panose="05000000000000000000" pitchFamily="2" charset="2"/>
              <a:buChar char="q"/>
              <a:defRPr/>
            </a:pPr>
            <a:r>
              <a:rPr lang="en-US" sz="2200" b="1" dirty="0">
                <a:latin typeface="Cambria" pitchFamily="18" charset="0"/>
                <a:ea typeface="Cambria" pitchFamily="18" charset="0"/>
              </a:rPr>
              <a:t>Immune to Frequency Selective Fading</a:t>
            </a:r>
            <a:r>
              <a:rPr lang="en-US" sz="2200" dirty="0">
                <a:latin typeface="Cambria" pitchFamily="18" charset="0"/>
                <a:ea typeface="Cambria" pitchFamily="18" charset="0"/>
              </a:rPr>
              <a:t>: </a:t>
            </a:r>
          </a:p>
          <a:p>
            <a:pPr algn="just" eaLnBrk="1" hangingPunct="1">
              <a:tabLst>
                <a:tab pos="335756" algn="l"/>
              </a:tabLst>
              <a:defRPr/>
            </a:pPr>
            <a:r>
              <a:rPr lang="en-US" sz="2200" dirty="0">
                <a:latin typeface="Cambria" pitchFamily="18" charset="0"/>
                <a:ea typeface="Cambria" pitchFamily="18" charset="0"/>
              </a:rPr>
              <a:t>	-- OFDM is highly immune to frequency selective fading because of parallel transmission</a:t>
            </a:r>
          </a:p>
          <a:p>
            <a:pPr algn="just" eaLnBrk="1" hangingPunct="1">
              <a:tabLst>
                <a:tab pos="335756" algn="l"/>
              </a:tabLst>
              <a:defRPr/>
            </a:pPr>
            <a:r>
              <a:rPr lang="en-US" sz="2200" dirty="0">
                <a:latin typeface="Cambria" pitchFamily="18" charset="0"/>
                <a:ea typeface="Cambria" pitchFamily="18" charset="0"/>
              </a:rPr>
              <a:t>	-- Each sub-carrier has narrow bandwidth in comparison to overall bandwidth of signal.</a:t>
            </a:r>
          </a:p>
          <a:p>
            <a:pPr algn="just" eaLnBrk="1" hangingPunct="1">
              <a:tabLst>
                <a:tab pos="335756" algn="l"/>
              </a:tabLst>
              <a:defRPr/>
            </a:pPr>
            <a:r>
              <a:rPr lang="en-US" sz="2200" dirty="0">
                <a:latin typeface="Cambria" pitchFamily="18" charset="0"/>
                <a:ea typeface="Cambria" pitchFamily="18" charset="0"/>
              </a:rPr>
              <a:t>	-- It converts a frequency selective fading channel into several nearly flat fading channels</a:t>
            </a:r>
            <a:r>
              <a:rPr lang="en-US" sz="2200" dirty="0" smtClean="0">
                <a:latin typeface="Cambria" pitchFamily="18" charset="0"/>
                <a:ea typeface="Cambria" pitchFamily="18" charset="0"/>
              </a:rPr>
              <a:t>.</a:t>
            </a:r>
          </a:p>
          <a:p>
            <a:pPr algn="just" eaLnBrk="1" hangingPunct="1">
              <a:tabLst>
                <a:tab pos="335756" algn="l"/>
              </a:tabLst>
              <a:defRPr/>
            </a:pPr>
            <a:endParaRPr lang="en-US" sz="2200" b="1" dirty="0">
              <a:latin typeface="Cambria" pitchFamily="18" charset="0"/>
              <a:ea typeface="Cambria" pitchFamily="18" charset="0"/>
            </a:endParaRPr>
          </a:p>
          <a:p>
            <a:pPr marL="214313" indent="-214313" algn="just" eaLnBrk="1" hangingPunct="1">
              <a:buFont typeface="Wingdings" panose="05000000000000000000" pitchFamily="2" charset="2"/>
              <a:buChar char="q"/>
              <a:defRPr/>
            </a:pPr>
            <a:r>
              <a:rPr lang="en-US" sz="2200" b="1" dirty="0">
                <a:latin typeface="Cambria" pitchFamily="18" charset="0"/>
                <a:ea typeface="Cambria" pitchFamily="18" charset="0"/>
              </a:rPr>
              <a:t>High Spectral Efficiency</a:t>
            </a:r>
            <a:r>
              <a:rPr lang="en-US" sz="2200" dirty="0">
                <a:latin typeface="Cambria" pitchFamily="18" charset="0"/>
                <a:ea typeface="Cambria" pitchFamily="18" charset="0"/>
              </a:rPr>
              <a:t>: </a:t>
            </a:r>
          </a:p>
          <a:p>
            <a:pPr algn="just" eaLnBrk="1" hangingPunct="1">
              <a:tabLst>
                <a:tab pos="271463" algn="l"/>
              </a:tabLst>
              <a:defRPr/>
            </a:pPr>
            <a:r>
              <a:rPr lang="en-US" sz="2200" dirty="0">
                <a:latin typeface="Cambria" pitchFamily="18" charset="0"/>
                <a:ea typeface="Cambria" pitchFamily="18" charset="0"/>
              </a:rPr>
              <a:t>	-- Due to orthogonal nature of each sub-carrier, large number of sub-carriers can be </a:t>
            </a:r>
            <a:r>
              <a:rPr lang="en-US" sz="2200" dirty="0" err="1">
                <a:latin typeface="Cambria" pitchFamily="18" charset="0"/>
                <a:ea typeface="Cambria" pitchFamily="18" charset="0"/>
              </a:rPr>
              <a:t>accomadate</a:t>
            </a:r>
            <a:r>
              <a:rPr lang="en-US" sz="2200" dirty="0">
                <a:latin typeface="Cambria" pitchFamily="18" charset="0"/>
                <a:ea typeface="Cambria" pitchFamily="18" charset="0"/>
              </a:rPr>
              <a:t> in a 	    very narrow spectral region thus increasing the spectral efficiency.</a:t>
            </a:r>
          </a:p>
        </p:txBody>
      </p:sp>
    </p:spTree>
    <p:extLst>
      <p:ext uri="{BB962C8B-B14F-4D97-AF65-F5344CB8AC3E}">
        <p14:creationId xmlns:p14="http://schemas.microsoft.com/office/powerpoint/2010/main" val="1956470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34975" y="6350"/>
            <a:ext cx="8229600" cy="685800"/>
          </a:xfrm>
        </p:spPr>
        <p:txBody>
          <a:bodyPr/>
          <a:lstStyle/>
          <a:p>
            <a:r>
              <a:rPr lang="en-US" altLang="en-US" sz="2800" b="1" smtClean="0">
                <a:solidFill>
                  <a:srgbClr val="FF0000"/>
                </a:solidFill>
                <a:latin typeface="Cambria" pitchFamily="18" charset="0"/>
                <a:ea typeface="Cambria" pitchFamily="18" charset="0"/>
              </a:rPr>
              <a:t>Flexibility of OFDM</a:t>
            </a:r>
            <a:endParaRPr lang="en-IN" altLang="en-US" sz="2800" b="1" smtClean="0">
              <a:solidFill>
                <a:srgbClr val="FF0000"/>
              </a:solidFill>
              <a:latin typeface="Cambria" pitchFamily="18" charset="0"/>
              <a:ea typeface="Cambria" pitchFamily="18" charset="0"/>
            </a:endParaRPr>
          </a:p>
        </p:txBody>
      </p:sp>
      <p:pic>
        <p:nvPicPr>
          <p:cNvPr id="2662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163" y="692150"/>
            <a:ext cx="8253412"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532188"/>
            <a:ext cx="7597775"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F85473F4-3A35-4CA0-A604-618B356A7CBA}"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27</a:t>
            </a:fld>
            <a:endParaRPr lang="en-US"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485900" y="685800"/>
            <a:ext cx="6172200" cy="422275"/>
          </a:xfrm>
        </p:spPr>
        <p:txBody>
          <a:bodyPr/>
          <a:lstStyle/>
          <a:p>
            <a:r>
              <a:rPr lang="en-US" altLang="en-US" sz="2400" b="1" dirty="0" smtClean="0">
                <a:solidFill>
                  <a:srgbClr val="000099"/>
                </a:solidFill>
                <a:latin typeface="Cambria" pitchFamily="18" charset="0"/>
                <a:ea typeface="Cambria" pitchFamily="18" charset="0"/>
              </a:rPr>
              <a:t>Major Challenges of OFDM System</a:t>
            </a:r>
          </a:p>
        </p:txBody>
      </p:sp>
      <p:sp>
        <p:nvSpPr>
          <p:cNvPr id="27651" name="Content Placeholder 2"/>
          <p:cNvSpPr>
            <a:spLocks noGrp="1"/>
          </p:cNvSpPr>
          <p:nvPr>
            <p:ph idx="1"/>
          </p:nvPr>
        </p:nvSpPr>
        <p:spPr>
          <a:xfrm>
            <a:off x="1428750" y="1657350"/>
            <a:ext cx="6648450" cy="4000500"/>
          </a:xfrm>
        </p:spPr>
        <p:txBody>
          <a:bodyPr/>
          <a:lstStyle/>
          <a:p>
            <a:r>
              <a:rPr lang="en-US" altLang="en-US" sz="2200" dirty="0" smtClean="0">
                <a:latin typeface="Cambria" pitchFamily="18" charset="0"/>
                <a:ea typeface="Cambria" pitchFamily="18" charset="0"/>
              </a:rPr>
              <a:t>Modulation</a:t>
            </a:r>
          </a:p>
          <a:p>
            <a:r>
              <a:rPr lang="en-US" altLang="en-US" sz="2200" dirty="0" smtClean="0">
                <a:latin typeface="Cambria" pitchFamily="18" charset="0"/>
                <a:ea typeface="Cambria" pitchFamily="18" charset="0"/>
              </a:rPr>
              <a:t>Source Coding                       General to</a:t>
            </a:r>
          </a:p>
          <a:p>
            <a:r>
              <a:rPr lang="en-US" altLang="en-US" sz="2200" dirty="0" smtClean="0">
                <a:latin typeface="Cambria" pitchFamily="18" charset="0"/>
                <a:ea typeface="Cambria" pitchFamily="18" charset="0"/>
              </a:rPr>
              <a:t>Channel Coding                      all system                             </a:t>
            </a:r>
          </a:p>
          <a:p>
            <a:r>
              <a:rPr lang="en-US" altLang="en-US" sz="2200" dirty="0" smtClean="0">
                <a:latin typeface="Cambria" pitchFamily="18" charset="0"/>
                <a:ea typeface="Cambria" pitchFamily="18" charset="0"/>
              </a:rPr>
              <a:t>Channel Estimation</a:t>
            </a:r>
          </a:p>
          <a:p>
            <a:pPr>
              <a:buFontTx/>
              <a:buNone/>
            </a:pPr>
            <a:endParaRPr lang="en-US" altLang="en-US" sz="2200" dirty="0" smtClean="0">
              <a:latin typeface="Cambria" pitchFamily="18" charset="0"/>
              <a:ea typeface="Cambria" pitchFamily="18" charset="0"/>
            </a:endParaRPr>
          </a:p>
          <a:p>
            <a:r>
              <a:rPr lang="en-US" altLang="en-US" sz="2200" dirty="0" smtClean="0">
                <a:solidFill>
                  <a:srgbClr val="FF0000"/>
                </a:solidFill>
                <a:latin typeface="Cambria" pitchFamily="18" charset="0"/>
                <a:ea typeface="Cambria" pitchFamily="18" charset="0"/>
              </a:rPr>
              <a:t>Synchronization</a:t>
            </a:r>
            <a:r>
              <a:rPr lang="en-US" altLang="en-US" sz="2200" dirty="0" smtClean="0">
                <a:latin typeface="Cambria" pitchFamily="18" charset="0"/>
                <a:ea typeface="Cambria" pitchFamily="18" charset="0"/>
              </a:rPr>
              <a:t>                   </a:t>
            </a:r>
          </a:p>
          <a:p>
            <a:pPr lvl="2"/>
            <a:r>
              <a:rPr lang="en-US" altLang="en-US" sz="2200" dirty="0" smtClean="0">
                <a:solidFill>
                  <a:srgbClr val="0070C0"/>
                </a:solidFill>
                <a:latin typeface="Cambria" pitchFamily="18" charset="0"/>
                <a:ea typeface="Cambria" pitchFamily="18" charset="0"/>
              </a:rPr>
              <a:t>Timing Synchronization               </a:t>
            </a:r>
            <a:r>
              <a:rPr lang="en-US" altLang="en-US" sz="2200" dirty="0" smtClean="0">
                <a:latin typeface="Cambria" pitchFamily="18" charset="0"/>
                <a:ea typeface="Cambria" pitchFamily="18" charset="0"/>
              </a:rPr>
              <a:t>Dominates in</a:t>
            </a:r>
          </a:p>
          <a:p>
            <a:pPr lvl="2"/>
            <a:r>
              <a:rPr lang="en-US" altLang="en-US" sz="2200" dirty="0" smtClean="0">
                <a:solidFill>
                  <a:srgbClr val="0070C0"/>
                </a:solidFill>
                <a:latin typeface="Cambria" pitchFamily="18" charset="0"/>
                <a:ea typeface="Cambria" pitchFamily="18" charset="0"/>
              </a:rPr>
              <a:t>Frequency Synchronization            </a:t>
            </a:r>
            <a:r>
              <a:rPr lang="en-US" altLang="en-US" sz="2200" dirty="0" smtClean="0">
                <a:latin typeface="Cambria" pitchFamily="18" charset="0"/>
                <a:ea typeface="Cambria" pitchFamily="18" charset="0"/>
              </a:rPr>
              <a:t>OFDM</a:t>
            </a:r>
          </a:p>
          <a:p>
            <a:r>
              <a:rPr lang="en-US" altLang="en-US" sz="2200" dirty="0" smtClean="0">
                <a:solidFill>
                  <a:srgbClr val="FF0000"/>
                </a:solidFill>
                <a:latin typeface="Cambria" pitchFamily="18" charset="0"/>
                <a:ea typeface="Cambria" pitchFamily="18" charset="0"/>
              </a:rPr>
              <a:t>High PAPR                           </a:t>
            </a:r>
          </a:p>
        </p:txBody>
      </p:sp>
      <p:sp>
        <p:nvSpPr>
          <p:cNvPr id="18436" name="Right Brace 3"/>
          <p:cNvSpPr>
            <a:spLocks/>
          </p:cNvSpPr>
          <p:nvPr/>
        </p:nvSpPr>
        <p:spPr bwMode="auto">
          <a:xfrm>
            <a:off x="5638800" y="3771900"/>
            <a:ext cx="457200" cy="1485900"/>
          </a:xfrm>
          <a:prstGeom prst="rightBrace">
            <a:avLst>
              <a:gd name="adj1" fmla="val 8336"/>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sp>
        <p:nvSpPr>
          <p:cNvPr id="18437" name="Right Brace 4"/>
          <p:cNvSpPr>
            <a:spLocks/>
          </p:cNvSpPr>
          <p:nvPr/>
        </p:nvSpPr>
        <p:spPr bwMode="auto">
          <a:xfrm>
            <a:off x="4267200" y="1600200"/>
            <a:ext cx="457200" cy="1543050"/>
          </a:xfrm>
          <a:prstGeom prst="rightBrace">
            <a:avLst>
              <a:gd name="adj1" fmla="val 8328"/>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sp>
        <p:nvSpPr>
          <p:cNvPr id="2" name="Date Placeholder 1"/>
          <p:cNvSpPr>
            <a:spLocks noGrp="1"/>
          </p:cNvSpPr>
          <p:nvPr>
            <p:ph type="dt" sz="half" idx="10"/>
          </p:nvPr>
        </p:nvSpPr>
        <p:spPr/>
        <p:txBody>
          <a:bodyPr/>
          <a:lstStyle/>
          <a:p>
            <a:pPr>
              <a:defRPr/>
            </a:pPr>
            <a:fld id="{B765418D-2CD2-4FF8-BDA5-61999E7BC7AD}"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5" name="Slide Number Placeholder 4"/>
          <p:cNvSpPr>
            <a:spLocks noGrp="1"/>
          </p:cNvSpPr>
          <p:nvPr>
            <p:ph type="sldNum" sz="quarter" idx="12"/>
          </p:nvPr>
        </p:nvSpPr>
        <p:spPr/>
        <p:txBody>
          <a:bodyPr/>
          <a:lstStyle/>
          <a:p>
            <a:pPr>
              <a:defRPr/>
            </a:pPr>
            <a:fld id="{472317C8-B743-4745-AB78-E1008DA291EF}" type="slidenum">
              <a:rPr lang="en-US" altLang="en-US" smtClean="0"/>
              <a:pPr>
                <a:defRPr/>
              </a:pPr>
              <a:t>28</a:t>
            </a:fld>
            <a:endParaRPr lang="en-US"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477963" y="76200"/>
            <a:ext cx="6172200" cy="381000"/>
          </a:xfrm>
        </p:spPr>
        <p:txBody>
          <a:bodyPr/>
          <a:lstStyle/>
          <a:p>
            <a:r>
              <a:rPr lang="en-US" altLang="en-US" sz="2400" b="1" dirty="0" smtClean="0">
                <a:solidFill>
                  <a:srgbClr val="FF0000"/>
                </a:solidFill>
                <a:latin typeface="Cambria" pitchFamily="18" charset="0"/>
                <a:ea typeface="Cambria" pitchFamily="18" charset="0"/>
              </a:rPr>
              <a:t>Major Challenges of OFDM System</a:t>
            </a:r>
          </a:p>
        </p:txBody>
      </p:sp>
      <p:sp>
        <p:nvSpPr>
          <p:cNvPr id="3" name="Rectangle 2"/>
          <p:cNvSpPr/>
          <p:nvPr/>
        </p:nvSpPr>
        <p:spPr>
          <a:xfrm>
            <a:off x="381000" y="685800"/>
            <a:ext cx="8534400" cy="5170646"/>
          </a:xfrm>
          <a:prstGeom prst="rect">
            <a:avLst/>
          </a:prstGeom>
        </p:spPr>
        <p:txBody>
          <a:bodyPr wrap="square">
            <a:spAutoFit/>
          </a:bodyPr>
          <a:lstStyle/>
          <a:p>
            <a:pPr marL="214313" indent="-214313" algn="just" eaLnBrk="1" hangingPunct="1">
              <a:buFont typeface="Wingdings" panose="05000000000000000000" pitchFamily="2" charset="2"/>
              <a:buChar char="Ø"/>
              <a:defRPr/>
            </a:pPr>
            <a:r>
              <a:rPr lang="en-US" sz="2200" b="1" dirty="0">
                <a:solidFill>
                  <a:srgbClr val="FF0000"/>
                </a:solidFill>
                <a:latin typeface="Cambria" pitchFamily="18" charset="0"/>
                <a:ea typeface="Cambria" pitchFamily="18" charset="0"/>
              </a:rPr>
              <a:t>Symbol Timing Offset (STO)</a:t>
            </a:r>
            <a:r>
              <a:rPr lang="en-US" sz="2200" dirty="0">
                <a:solidFill>
                  <a:srgbClr val="FF0000"/>
                </a:solidFill>
                <a:latin typeface="Cambria" pitchFamily="18" charset="0"/>
                <a:ea typeface="Cambria" pitchFamily="18" charset="0"/>
              </a:rPr>
              <a:t>: </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OFMD is highly sensitive to STO.</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Due to the use of IFFT and FFT for modulation and demodulation at transmitter and receiver respectively, correct timing (start of FFT window) is required at the receiver otherwise one FFT window will take sample from two transmitted OFDM symbol. </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This deteriorates the performance of OFDM system</a:t>
            </a:r>
            <a:r>
              <a:rPr lang="en-US" sz="2200" dirty="0" smtClean="0">
                <a:latin typeface="Cambria" pitchFamily="18" charset="0"/>
                <a:ea typeface="Cambria" pitchFamily="18" charset="0"/>
              </a:rPr>
              <a:t>.</a:t>
            </a:r>
          </a:p>
          <a:p>
            <a:pPr marL="342900" lvl="1" algn="just" eaLnBrk="1" hangingPunct="1">
              <a:defRPr/>
            </a:pPr>
            <a:endParaRPr lang="en-IN" sz="2200" dirty="0">
              <a:latin typeface="Cambria" pitchFamily="18" charset="0"/>
              <a:ea typeface="Cambria" pitchFamily="18" charset="0"/>
            </a:endParaRPr>
          </a:p>
          <a:p>
            <a:pPr marL="214313" indent="-214313" algn="just" eaLnBrk="1" hangingPunct="1">
              <a:buFont typeface="Wingdings" panose="05000000000000000000" pitchFamily="2" charset="2"/>
              <a:buChar char="Ø"/>
              <a:defRPr/>
            </a:pPr>
            <a:r>
              <a:rPr lang="en-US" sz="2200" b="1" dirty="0">
                <a:solidFill>
                  <a:srgbClr val="FF0000"/>
                </a:solidFill>
                <a:latin typeface="Cambria" pitchFamily="18" charset="0"/>
                <a:ea typeface="Cambria" pitchFamily="18" charset="0"/>
              </a:rPr>
              <a:t>Carrier Frequency Offset (CFO)</a:t>
            </a:r>
            <a:r>
              <a:rPr lang="en-US" sz="2200" dirty="0">
                <a:solidFill>
                  <a:srgbClr val="FF0000"/>
                </a:solidFill>
                <a:latin typeface="Cambria" pitchFamily="18" charset="0"/>
                <a:ea typeface="Cambria" pitchFamily="18" charset="0"/>
              </a:rPr>
              <a:t>: </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OFDM is highly sensitive to carrier frequency offset.</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Most of the advantages of OFDM are due to the orthogonal nature of sub-carriers and this orthogonality between sub carriers will be destroyed if frequency offset arises between them.</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The major cause of CFO is Doppler shifts (due to relative motion between transmitter and channel). </a:t>
            </a:r>
            <a:endParaRPr lang="en-IN" sz="2200" dirty="0">
              <a:latin typeface="Cambria" pitchFamily="18" charset="0"/>
              <a:ea typeface="Cambria" pitchFamily="18" charset="0"/>
            </a:endParaRPr>
          </a:p>
        </p:txBody>
      </p:sp>
      <p:sp>
        <p:nvSpPr>
          <p:cNvPr id="2" name="Date Placeholder 1"/>
          <p:cNvSpPr>
            <a:spLocks noGrp="1"/>
          </p:cNvSpPr>
          <p:nvPr>
            <p:ph type="dt" sz="half" idx="10"/>
          </p:nvPr>
        </p:nvSpPr>
        <p:spPr/>
        <p:txBody>
          <a:bodyPr/>
          <a:lstStyle/>
          <a:p>
            <a:pPr>
              <a:defRPr/>
            </a:pPr>
            <a:fld id="{DC564932-91DF-40C8-8D98-4B2573FF1966}" type="datetime1">
              <a:rPr lang="en-US" smtClean="0"/>
              <a:t>9/2/2025</a:t>
            </a:fld>
            <a:endParaRPr lang="en-US"/>
          </a:p>
        </p:txBody>
      </p:sp>
      <p:sp>
        <p:nvSpPr>
          <p:cNvPr id="4" name="Footer Placeholder 3"/>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29</a:t>
            </a:fld>
            <a:endParaRPr lang="en-US"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992A8D2-B22C-447E-B758-86D9B55A4FCB}"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30</a:t>
            </a:fld>
            <a:endParaRPr lang="en-US" altLang="en-US"/>
          </a:p>
        </p:txBody>
      </p:sp>
      <p:sp>
        <p:nvSpPr>
          <p:cNvPr id="7" name="Rectangle 6"/>
          <p:cNvSpPr/>
          <p:nvPr/>
        </p:nvSpPr>
        <p:spPr>
          <a:xfrm>
            <a:off x="381000" y="609600"/>
            <a:ext cx="8305800" cy="3816429"/>
          </a:xfrm>
          <a:prstGeom prst="rect">
            <a:avLst/>
          </a:prstGeom>
        </p:spPr>
        <p:txBody>
          <a:bodyPr wrap="square">
            <a:spAutoFit/>
          </a:bodyPr>
          <a:lstStyle/>
          <a:p>
            <a:pPr marL="214313" indent="-214313" algn="just" eaLnBrk="1" hangingPunct="1">
              <a:buFont typeface="Wingdings" panose="05000000000000000000" pitchFamily="2" charset="2"/>
              <a:buChar char="Ø"/>
              <a:defRPr/>
            </a:pPr>
            <a:r>
              <a:rPr lang="en-US" sz="2200" b="1" dirty="0">
                <a:solidFill>
                  <a:srgbClr val="FF0000"/>
                </a:solidFill>
                <a:latin typeface="Cambria" pitchFamily="18" charset="0"/>
                <a:ea typeface="Cambria" pitchFamily="18" charset="0"/>
              </a:rPr>
              <a:t>High Peak-to-Average Power Ratio (PAPR):</a:t>
            </a:r>
            <a:endParaRPr lang="en-US" sz="2200" dirty="0">
              <a:solidFill>
                <a:srgbClr val="FF0000"/>
              </a:solidFill>
              <a:latin typeface="Cambria" pitchFamily="18" charset="0"/>
              <a:ea typeface="Cambria" pitchFamily="18" charset="0"/>
            </a:endParaRP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The transmitted signal of OFDM exhibits a high Peak-To-Average Power Ratio (PAPR).</a:t>
            </a:r>
          </a:p>
          <a:p>
            <a:pPr marL="557213" lvl="1" indent="-214313" algn="just" eaLnBrk="1" hangingPunct="1">
              <a:buFont typeface="Wingdings" panose="05000000000000000000" pitchFamily="2" charset="2"/>
              <a:buChar char="§"/>
              <a:defRPr/>
            </a:pPr>
            <a:r>
              <a:rPr lang="en-US" sz="2200" dirty="0">
                <a:latin typeface="Cambria" pitchFamily="18" charset="0"/>
                <a:ea typeface="Cambria" pitchFamily="18" charset="0"/>
              </a:rPr>
              <a:t>This high PAPR reduces the efficiency of high power amplifier and degrades the performance of the system</a:t>
            </a:r>
            <a:r>
              <a:rPr lang="en-US" sz="2200" dirty="0" smtClean="0">
                <a:latin typeface="Cambria" pitchFamily="18" charset="0"/>
                <a:ea typeface="Cambria" pitchFamily="18" charset="0"/>
              </a:rPr>
              <a:t>.</a:t>
            </a:r>
          </a:p>
          <a:p>
            <a:pPr marL="342900" lvl="1" algn="just" eaLnBrk="1" hangingPunct="1">
              <a:defRPr/>
            </a:pPr>
            <a:endParaRPr lang="en-IN" sz="2200" dirty="0">
              <a:latin typeface="Cambria" pitchFamily="18" charset="0"/>
              <a:ea typeface="Cambria" pitchFamily="18" charset="0"/>
            </a:endParaRPr>
          </a:p>
          <a:p>
            <a:pPr marL="214313" indent="-214313" algn="just" eaLnBrk="1" hangingPunct="1">
              <a:buFont typeface="Wingdings" panose="05000000000000000000" pitchFamily="2" charset="2"/>
              <a:buChar char="Ø"/>
              <a:defRPr/>
            </a:pPr>
            <a:r>
              <a:rPr lang="en-US" sz="2200" b="1" dirty="0">
                <a:solidFill>
                  <a:srgbClr val="FF0000"/>
                </a:solidFill>
                <a:latin typeface="Cambria" pitchFamily="18" charset="0"/>
                <a:ea typeface="Cambria" pitchFamily="18" charset="0"/>
              </a:rPr>
              <a:t>Inter-Carrier Interference (ICI)</a:t>
            </a:r>
            <a:r>
              <a:rPr lang="en-US" sz="2200" dirty="0">
                <a:solidFill>
                  <a:srgbClr val="FF0000"/>
                </a:solidFill>
                <a:latin typeface="Cambria" pitchFamily="18" charset="0"/>
                <a:ea typeface="Cambria" pitchFamily="18" charset="0"/>
              </a:rPr>
              <a:t>: </a:t>
            </a:r>
          </a:p>
          <a:p>
            <a:pPr marL="600075" lvl="1" indent="-257175" algn="just" eaLnBrk="1" hangingPunct="1">
              <a:buFont typeface="Wingdings" panose="05000000000000000000" pitchFamily="2" charset="2"/>
              <a:buChar char="§"/>
              <a:defRPr/>
            </a:pPr>
            <a:r>
              <a:rPr lang="en-US" sz="2200" dirty="0">
                <a:latin typeface="Cambria" pitchFamily="18" charset="0"/>
                <a:ea typeface="Cambria" pitchFamily="18" charset="0"/>
              </a:rPr>
              <a:t>The result of all above mention problem will appear in the form of Inter-Carrier Interference (ICI) at the receiver. </a:t>
            </a:r>
          </a:p>
          <a:p>
            <a:pPr marL="600075" lvl="1" indent="-257175" algn="just" eaLnBrk="1" hangingPunct="1">
              <a:buFont typeface="Wingdings" panose="05000000000000000000" pitchFamily="2" charset="2"/>
              <a:buChar char="§"/>
              <a:defRPr/>
            </a:pPr>
            <a:r>
              <a:rPr lang="en-US" sz="2200" dirty="0">
                <a:latin typeface="Cambria" pitchFamily="18" charset="0"/>
                <a:ea typeface="Cambria" pitchFamily="18" charset="0"/>
              </a:rPr>
              <a:t>The ICI decreases the SNR and degrades the BER performance of OFDM system. </a:t>
            </a:r>
            <a:endParaRPr lang="en-IN" sz="2200" dirty="0">
              <a:latin typeface="Cambria" pitchFamily="18" charset="0"/>
              <a:ea typeface="Cambria" pitchFamily="18" charset="0"/>
            </a:endParaRPr>
          </a:p>
        </p:txBody>
      </p:sp>
    </p:spTree>
    <p:extLst>
      <p:ext uri="{BB962C8B-B14F-4D97-AF65-F5344CB8AC3E}">
        <p14:creationId xmlns:p14="http://schemas.microsoft.com/office/powerpoint/2010/main" val="409292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p:cNvSpPr>
            <a:spLocks noGrp="1"/>
          </p:cNvSpPr>
          <p:nvPr>
            <p:ph idx="1"/>
          </p:nvPr>
        </p:nvSpPr>
        <p:spPr>
          <a:xfrm>
            <a:off x="533400" y="1943100"/>
            <a:ext cx="6515100" cy="1943100"/>
          </a:xfrm>
        </p:spPr>
        <p:txBody>
          <a:bodyPr/>
          <a:lstStyle/>
          <a:p>
            <a:pPr>
              <a:buFont typeface="Wingdings" panose="05000000000000000000" pitchFamily="2" charset="2"/>
              <a:buChar char="Ø"/>
              <a:defRPr/>
            </a:pPr>
            <a:r>
              <a:rPr lang="en-US" altLang="en-US" sz="2200" dirty="0">
                <a:solidFill>
                  <a:srgbClr val="0070C0"/>
                </a:solidFill>
                <a:latin typeface="Cambria" pitchFamily="18" charset="0"/>
                <a:ea typeface="Cambria" pitchFamily="18" charset="0"/>
              </a:rPr>
              <a:t>Timing Synchronization</a:t>
            </a:r>
          </a:p>
          <a:p>
            <a:pPr>
              <a:buFont typeface="Wingdings" panose="05000000000000000000" pitchFamily="2" charset="2"/>
              <a:buChar char="Ø"/>
              <a:defRPr/>
            </a:pPr>
            <a:endParaRPr lang="en-US" altLang="en-US" sz="2200" dirty="0">
              <a:latin typeface="Cambria" pitchFamily="18" charset="0"/>
              <a:ea typeface="Cambria" pitchFamily="18" charset="0"/>
            </a:endParaRPr>
          </a:p>
          <a:p>
            <a:pPr>
              <a:buFont typeface="Wingdings" panose="05000000000000000000" pitchFamily="2" charset="2"/>
              <a:buChar char="Ø"/>
              <a:defRPr/>
            </a:pPr>
            <a:r>
              <a:rPr lang="en-US" altLang="en-US" sz="2200" dirty="0">
                <a:solidFill>
                  <a:srgbClr val="0070C0"/>
                </a:solidFill>
                <a:latin typeface="Cambria" pitchFamily="18" charset="0"/>
                <a:ea typeface="Cambria" pitchFamily="18" charset="0"/>
              </a:rPr>
              <a:t>Frequency Synchronization        </a:t>
            </a:r>
            <a:endParaRPr lang="en-US" altLang="en-US" sz="2200" dirty="0">
              <a:solidFill>
                <a:srgbClr val="FF0000"/>
              </a:solidFill>
              <a:latin typeface="Cambria" pitchFamily="18" charset="0"/>
              <a:ea typeface="Cambria" pitchFamily="18" charset="0"/>
            </a:endParaRPr>
          </a:p>
          <a:p>
            <a:pPr lvl="1">
              <a:buFontTx/>
              <a:buNone/>
              <a:defRPr/>
            </a:pPr>
            <a:r>
              <a:rPr lang="en-US" altLang="en-US" sz="2200" dirty="0">
                <a:solidFill>
                  <a:srgbClr val="FF0000"/>
                </a:solidFill>
                <a:latin typeface="Cambria" pitchFamily="18" charset="0"/>
                <a:ea typeface="Cambria" pitchFamily="18" charset="0"/>
              </a:rPr>
              <a:t>						</a:t>
            </a:r>
          </a:p>
          <a:p>
            <a:pPr>
              <a:buFont typeface="Wingdings" panose="05000000000000000000" pitchFamily="2" charset="2"/>
              <a:buChar char="Ø"/>
              <a:defRPr/>
            </a:pPr>
            <a:r>
              <a:rPr lang="en-US" altLang="en-US" sz="2200" dirty="0">
                <a:solidFill>
                  <a:srgbClr val="0070C0"/>
                </a:solidFill>
                <a:latin typeface="Cambria" pitchFamily="18" charset="0"/>
                <a:ea typeface="Cambria" pitchFamily="18" charset="0"/>
              </a:rPr>
              <a:t>High PAPR</a:t>
            </a:r>
          </a:p>
        </p:txBody>
      </p:sp>
      <p:sp>
        <p:nvSpPr>
          <p:cNvPr id="25604" name="Right Brace 3"/>
          <p:cNvSpPr>
            <a:spLocks/>
          </p:cNvSpPr>
          <p:nvPr/>
        </p:nvSpPr>
        <p:spPr bwMode="auto">
          <a:xfrm>
            <a:off x="4572000" y="2000250"/>
            <a:ext cx="457200" cy="1600200"/>
          </a:xfrm>
          <a:prstGeom prst="rightBrace">
            <a:avLst>
              <a:gd name="adj1" fmla="val 8329"/>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1350" smtClean="0"/>
          </a:p>
        </p:txBody>
      </p:sp>
      <p:sp>
        <p:nvSpPr>
          <p:cNvPr id="5" name="Rectangle 4"/>
          <p:cNvSpPr>
            <a:spLocks noChangeArrowheads="1"/>
          </p:cNvSpPr>
          <p:nvPr/>
        </p:nvSpPr>
        <p:spPr bwMode="auto">
          <a:xfrm>
            <a:off x="5105400" y="2428875"/>
            <a:ext cx="36576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Arial" panose="020B0604020202020204" pitchFamily="34" charset="0"/>
              </a:defRPr>
            </a:lvl1pPr>
            <a:lvl2pPr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200" dirty="0" smtClean="0">
                <a:solidFill>
                  <a:srgbClr val="FF0000"/>
                </a:solidFill>
                <a:latin typeface="Cambria" pitchFamily="18" charset="0"/>
                <a:ea typeface="Cambria" pitchFamily="18" charset="0"/>
              </a:rPr>
              <a:t>Inter Carrier Interference</a:t>
            </a:r>
          </a:p>
          <a:p>
            <a:pPr lvl="1" algn="ctr" eaLnBrk="1" hangingPunct="1">
              <a:spcBef>
                <a:spcPct val="0"/>
              </a:spcBef>
              <a:buFontTx/>
              <a:buNone/>
              <a:defRPr/>
            </a:pPr>
            <a:r>
              <a:rPr lang="en-US" altLang="en-US" sz="2200" dirty="0" smtClean="0">
                <a:solidFill>
                  <a:srgbClr val="FF0000"/>
                </a:solidFill>
                <a:latin typeface="Cambria" pitchFamily="18" charset="0"/>
                <a:ea typeface="Cambria" pitchFamily="18" charset="0"/>
              </a:rPr>
              <a:t>(ICI)</a:t>
            </a:r>
          </a:p>
        </p:txBody>
      </p:sp>
      <p:sp>
        <p:nvSpPr>
          <p:cNvPr id="29701" name="Title 1"/>
          <p:cNvSpPr>
            <a:spLocks noGrp="1"/>
          </p:cNvSpPr>
          <p:nvPr>
            <p:ph type="title"/>
          </p:nvPr>
        </p:nvSpPr>
        <p:spPr>
          <a:xfrm>
            <a:off x="1485900" y="914400"/>
            <a:ext cx="6172200" cy="342900"/>
          </a:xfrm>
        </p:spPr>
        <p:txBody>
          <a:bodyPr/>
          <a:lstStyle/>
          <a:p>
            <a:r>
              <a:rPr lang="en-US" altLang="en-US" sz="2600" b="1" dirty="0" smtClean="0">
                <a:solidFill>
                  <a:srgbClr val="FF0000"/>
                </a:solidFill>
                <a:latin typeface="Cambria" pitchFamily="18" charset="0"/>
                <a:ea typeface="Cambria" pitchFamily="18" charset="0"/>
              </a:rPr>
              <a:t>Major Challenges of OFDM System</a:t>
            </a:r>
          </a:p>
        </p:txBody>
      </p:sp>
      <p:sp>
        <p:nvSpPr>
          <p:cNvPr id="2" name="Date Placeholder 1"/>
          <p:cNvSpPr>
            <a:spLocks noGrp="1"/>
          </p:cNvSpPr>
          <p:nvPr>
            <p:ph type="dt" sz="half" idx="10"/>
          </p:nvPr>
        </p:nvSpPr>
        <p:spPr/>
        <p:txBody>
          <a:bodyPr/>
          <a:lstStyle/>
          <a:p>
            <a:pPr>
              <a:defRPr/>
            </a:pPr>
            <a:fld id="{11E02E03-7182-42AF-8AE7-E088046A50DF}"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31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2" dur="500"/>
                                        <p:tgtEl>
                                          <p:spTgt spid="256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7" dur="500"/>
                                        <p:tgtEl>
                                          <p:spTgt spid="2560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5604"/>
                                        </p:tgtEl>
                                        <p:attrNameLst>
                                          <p:attrName>style.visibility</p:attrName>
                                        </p:attrNameLst>
                                      </p:cBhvr>
                                      <p:to>
                                        <p:strVal val="visible"/>
                                      </p:to>
                                    </p:set>
                                    <p:anim calcmode="lin" valueType="num">
                                      <p:cBhvr additive="base">
                                        <p:cTn id="22" dur="500" fill="hold"/>
                                        <p:tgtEl>
                                          <p:spTgt spid="25604"/>
                                        </p:tgtEl>
                                        <p:attrNameLst>
                                          <p:attrName>ppt_x</p:attrName>
                                        </p:attrNameLst>
                                      </p:cBhvr>
                                      <p:tavLst>
                                        <p:tav tm="0">
                                          <p:val>
                                            <p:strVal val="#ppt_x"/>
                                          </p:val>
                                        </p:tav>
                                        <p:tav tm="100000">
                                          <p:val>
                                            <p:strVal val="#ppt_x"/>
                                          </p:val>
                                        </p:tav>
                                      </p:tavLst>
                                    </p:anim>
                                    <p:anim calcmode="lin" valueType="num">
                                      <p:cBhvr additive="base">
                                        <p:cTn id="23" dur="500" fill="hold"/>
                                        <p:tgtEl>
                                          <p:spTgt spid="25604"/>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5604" grpId="0" animBg="1"/>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ChangeArrowheads="1"/>
          </p:cNvSpPr>
          <p:nvPr/>
        </p:nvSpPr>
        <p:spPr bwMode="auto">
          <a:xfrm>
            <a:off x="1758166" y="152400"/>
            <a:ext cx="5322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400" b="1" dirty="0" smtClean="0">
                <a:solidFill>
                  <a:srgbClr val="FF0000"/>
                </a:solidFill>
                <a:latin typeface="Cambria" pitchFamily="18" charset="0"/>
                <a:ea typeface="Cambria" pitchFamily="18" charset="0"/>
              </a:rPr>
              <a:t>Digital Audio Broadcasting Standard</a:t>
            </a:r>
            <a:endParaRPr lang="en-IN" altLang="en-US" sz="2400" dirty="0" smtClean="0">
              <a:solidFill>
                <a:srgbClr val="FF0000"/>
              </a:solidFill>
              <a:latin typeface="Cambria" pitchFamily="18" charset="0"/>
              <a:ea typeface="Cambria"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24640507"/>
              </p:ext>
            </p:extLst>
          </p:nvPr>
        </p:nvGraphicFramePr>
        <p:xfrm>
          <a:off x="152400" y="838200"/>
          <a:ext cx="8686800" cy="5638801"/>
        </p:xfrm>
        <a:graphic>
          <a:graphicData uri="http://schemas.openxmlformats.org/drawingml/2006/table">
            <a:tbl>
              <a:tblPr firstRow="1" firstCol="1" bandRow="1">
                <a:tableStyleId>{5C22544A-7EE6-4342-B048-85BDC9FD1C3A}</a:tableStyleId>
              </a:tblPr>
              <a:tblGrid>
                <a:gridCol w="3452956">
                  <a:extLst>
                    <a:ext uri="{9D8B030D-6E8A-4147-A177-3AD203B41FA5}">
                      <a16:colId xmlns:a16="http://schemas.microsoft.com/office/drawing/2014/main" val="20000"/>
                    </a:ext>
                  </a:extLst>
                </a:gridCol>
                <a:gridCol w="1667883">
                  <a:extLst>
                    <a:ext uri="{9D8B030D-6E8A-4147-A177-3AD203B41FA5}">
                      <a16:colId xmlns:a16="http://schemas.microsoft.com/office/drawing/2014/main" val="20001"/>
                    </a:ext>
                  </a:extLst>
                </a:gridCol>
                <a:gridCol w="1725431">
                  <a:extLst>
                    <a:ext uri="{9D8B030D-6E8A-4147-A177-3AD203B41FA5}">
                      <a16:colId xmlns:a16="http://schemas.microsoft.com/office/drawing/2014/main" val="20002"/>
                    </a:ext>
                  </a:extLst>
                </a:gridCol>
                <a:gridCol w="1840530">
                  <a:extLst>
                    <a:ext uri="{9D8B030D-6E8A-4147-A177-3AD203B41FA5}">
                      <a16:colId xmlns:a16="http://schemas.microsoft.com/office/drawing/2014/main" val="20003"/>
                    </a:ext>
                  </a:extLst>
                </a:gridCol>
              </a:tblGrid>
              <a:tr h="576204">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Parameters</a:t>
                      </a:r>
                      <a:endParaRPr lang="en-IN" sz="1800" dirty="0">
                        <a:solidFill>
                          <a:schemeClr val="tx1"/>
                        </a:solidFill>
                        <a:effectLst/>
                        <a:latin typeface="Cambria" pitchFamily="18" charset="0"/>
                        <a:ea typeface="Cambria" pitchFamily="18" charset="0"/>
                        <a:cs typeface="Times New Roman"/>
                      </a:endParaRPr>
                    </a:p>
                  </a:txBody>
                  <a:tcPr marL="51435" marR="51435" marT="0" marB="0" anchor="ctr"/>
                </a:tc>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Mode 1</a:t>
                      </a:r>
                      <a:endParaRPr lang="en-IN" sz="1800" dirty="0">
                        <a:solidFill>
                          <a:schemeClr val="tx1"/>
                        </a:solidFill>
                        <a:effectLst/>
                        <a:latin typeface="Cambria" pitchFamily="18" charset="0"/>
                        <a:ea typeface="Cambria" pitchFamily="18" charset="0"/>
                        <a:cs typeface="Times New Roman"/>
                      </a:endParaRPr>
                    </a:p>
                  </a:txBody>
                  <a:tcPr marL="51435" marR="51435" marT="0" marB="0" anchor="ctr">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a:solidFill>
                            <a:schemeClr val="tx1"/>
                          </a:solidFill>
                          <a:effectLst/>
                          <a:latin typeface="Cambria" pitchFamily="18" charset="0"/>
                          <a:ea typeface="Cambria" pitchFamily="18" charset="0"/>
                        </a:rPr>
                        <a:t>Mode 2</a:t>
                      </a:r>
                      <a:endParaRPr lang="en-IN" sz="1800">
                        <a:solidFill>
                          <a:schemeClr val="tx1"/>
                        </a:solidFill>
                        <a:effectLst/>
                        <a:latin typeface="Cambria" pitchFamily="18" charset="0"/>
                        <a:ea typeface="Cambria" pitchFamily="18" charset="0"/>
                        <a:cs typeface="Times New Roman"/>
                      </a:endParaRPr>
                    </a:p>
                  </a:txBody>
                  <a:tcPr marL="51435" marR="51435" marT="0" marB="0" anchor="ctr">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a:solidFill>
                            <a:schemeClr val="tx1"/>
                          </a:solidFill>
                          <a:effectLst/>
                          <a:latin typeface="Cambria" pitchFamily="18" charset="0"/>
                          <a:ea typeface="Cambria" pitchFamily="18" charset="0"/>
                        </a:rPr>
                        <a:t>Mode 3</a:t>
                      </a:r>
                      <a:endParaRPr lang="en-IN" sz="1800">
                        <a:solidFill>
                          <a:schemeClr val="tx1"/>
                        </a:solidFill>
                        <a:effectLst/>
                        <a:latin typeface="Cambria" pitchFamily="18" charset="0"/>
                        <a:ea typeface="Cambria" pitchFamily="18" charset="0"/>
                        <a:cs typeface="Times New Roman"/>
                      </a:endParaRPr>
                    </a:p>
                  </a:txBody>
                  <a:tcPr marL="51435" marR="51435"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98412">
                <a:tc>
                  <a:txBody>
                    <a:bodyPr/>
                    <a:lstStyle/>
                    <a:p>
                      <a:pPr algn="ctr">
                        <a:spcAft>
                          <a:spcPts val="0"/>
                        </a:spcAft>
                      </a:pPr>
                      <a:r>
                        <a:rPr lang="en-US" sz="2000" dirty="0">
                          <a:solidFill>
                            <a:srgbClr val="FF0000"/>
                          </a:solidFill>
                          <a:effectLst/>
                          <a:latin typeface="Cambria" pitchFamily="18" charset="0"/>
                          <a:ea typeface="Cambria" pitchFamily="18" charset="0"/>
                        </a:rPr>
                        <a:t>Number of Sub-carriers (N)</a:t>
                      </a:r>
                      <a:endParaRPr lang="en-IN" sz="2000" dirty="0">
                        <a:solidFill>
                          <a:srgbClr val="FF000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a:txBody>
                    <a:bodyPr/>
                    <a:lstStyle/>
                    <a:p>
                      <a:pPr algn="ctr">
                        <a:spcAft>
                          <a:spcPts val="0"/>
                        </a:spcAft>
                      </a:pPr>
                      <a:r>
                        <a:rPr lang="en-US" sz="2000" b="1" dirty="0">
                          <a:solidFill>
                            <a:schemeClr val="tx1"/>
                          </a:solidFill>
                          <a:effectLst/>
                          <a:latin typeface="Cambria" pitchFamily="18" charset="0"/>
                          <a:ea typeface="Cambria" pitchFamily="18" charset="0"/>
                        </a:rPr>
                        <a:t>1546</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b="1">
                          <a:solidFill>
                            <a:schemeClr val="tx1"/>
                          </a:solidFill>
                          <a:effectLst/>
                          <a:latin typeface="Cambria" pitchFamily="18" charset="0"/>
                          <a:ea typeface="Cambria" pitchFamily="18" charset="0"/>
                        </a:rPr>
                        <a:t>768</a:t>
                      </a:r>
                      <a:endParaRPr lang="en-IN" sz="20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384</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7424">
                <a:tc>
                  <a:txBody>
                    <a:bodyPr/>
                    <a:lstStyle/>
                    <a:p>
                      <a:pPr algn="ctr">
                        <a:spcAft>
                          <a:spcPts val="0"/>
                        </a:spcAft>
                      </a:pPr>
                      <a:r>
                        <a:rPr lang="en-US" sz="2000" dirty="0">
                          <a:solidFill>
                            <a:srgbClr val="7030A0"/>
                          </a:solidFill>
                          <a:effectLst/>
                          <a:latin typeface="Cambria" pitchFamily="18" charset="0"/>
                          <a:ea typeface="Cambria" pitchFamily="18" charset="0"/>
                        </a:rPr>
                        <a:t>Modulation</a:t>
                      </a:r>
                      <a:endParaRPr lang="en-IN" sz="2000" dirty="0">
                        <a:solidFill>
                          <a:srgbClr val="7030A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3">
                  <a:txBody>
                    <a:bodyPr/>
                    <a:lstStyle/>
                    <a:p>
                      <a:pPr algn="ctr">
                        <a:spcAft>
                          <a:spcPts val="0"/>
                        </a:spcAft>
                      </a:pPr>
                      <a:r>
                        <a:rPr lang="en-US" sz="2000" b="1" dirty="0">
                          <a:solidFill>
                            <a:schemeClr val="tx1"/>
                          </a:solidFill>
                          <a:effectLst/>
                          <a:latin typeface="Cambria" pitchFamily="18" charset="0"/>
                          <a:ea typeface="Cambria" pitchFamily="18" charset="0"/>
                        </a:rPr>
                        <a:t>DQPSK</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2"/>
                  </a:ext>
                </a:extLst>
              </a:tr>
              <a:tr h="598412">
                <a:tc>
                  <a:txBody>
                    <a:bodyPr/>
                    <a:lstStyle/>
                    <a:p>
                      <a:endParaRPr lang="en-US" sz="2000" dirty="0">
                        <a:latin typeface="Cambria" pitchFamily="18" charset="0"/>
                        <a:ea typeface="Cambria" pitchFamily="18" charset="0"/>
                      </a:endParaRPr>
                    </a:p>
                  </a:txBody>
                  <a:tcPr marL="51435" marR="51435" marT="0" marB="0" anchor="ctr">
                    <a:lnR w="12700" cap="flat" cmpd="sng" algn="ctr">
                      <a:solidFill>
                        <a:schemeClr val="tx1"/>
                      </a:solidFill>
                      <a:prstDash val="solid"/>
                      <a:round/>
                      <a:headEnd type="none" w="med" len="med"/>
                      <a:tailEnd type="none" w="med" len="med"/>
                    </a:lnR>
                    <a:blipFill rotWithShape="1">
                      <a:blip r:embed="rId2"/>
                      <a:stretch>
                        <a:fillRect t="-263492" r="-151436" b="-557143"/>
                      </a:stretch>
                    </a:blipFill>
                  </a:tcPr>
                </a:tc>
                <a:tc>
                  <a:txBody>
                    <a:bodyPr/>
                    <a:lstStyle/>
                    <a:p>
                      <a:pPr algn="ctr">
                        <a:spcAft>
                          <a:spcPts val="0"/>
                        </a:spcAft>
                      </a:pPr>
                      <a:r>
                        <a:rPr lang="en-US" sz="2000" b="1" dirty="0">
                          <a:solidFill>
                            <a:schemeClr val="tx1"/>
                          </a:solidFill>
                          <a:effectLst/>
                          <a:latin typeface="Cambria" pitchFamily="18" charset="0"/>
                          <a:ea typeface="Cambria" pitchFamily="18" charset="0"/>
                        </a:rPr>
                        <a:t>1 </a:t>
                      </a:r>
                      <a:r>
                        <a:rPr lang="en-US" sz="2000" b="1" dirty="0" err="1">
                          <a:solidFill>
                            <a:schemeClr val="tx1"/>
                          </a:solidFill>
                          <a:effectLst/>
                          <a:latin typeface="Cambria" pitchFamily="18" charset="0"/>
                          <a:ea typeface="Cambria" pitchFamily="18" charset="0"/>
                        </a:rPr>
                        <a:t>ms</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b="1" dirty="0">
                          <a:solidFill>
                            <a:schemeClr val="tx1"/>
                          </a:solidFill>
                          <a:effectLst/>
                          <a:latin typeface="Cambria" pitchFamily="18" charset="0"/>
                          <a:ea typeface="Cambria" pitchFamily="18" charset="0"/>
                        </a:rPr>
                        <a:t>250 µs</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125 µs</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53935">
                <a:tc>
                  <a:txBody>
                    <a:bodyPr/>
                    <a:lstStyle/>
                    <a:p>
                      <a:endParaRPr lang="en-US" sz="2000" dirty="0">
                        <a:latin typeface="Cambria" pitchFamily="18" charset="0"/>
                        <a:ea typeface="Cambria" pitchFamily="18" charset="0"/>
                      </a:endParaRPr>
                    </a:p>
                  </a:txBody>
                  <a:tcPr marL="51435" marR="51435" marT="0" marB="0" anchor="ctr">
                    <a:lnR w="12700" cap="flat" cmpd="sng" algn="ctr">
                      <a:solidFill>
                        <a:schemeClr val="tx1"/>
                      </a:solidFill>
                      <a:prstDash val="solid"/>
                      <a:round/>
                      <a:headEnd type="none" w="med" len="med"/>
                      <a:tailEnd type="none" w="med" len="med"/>
                    </a:lnR>
                    <a:blipFill rotWithShape="1">
                      <a:blip r:embed="rId2"/>
                      <a:stretch>
                        <a:fillRect t="-331884" r="-151436" b="-408696"/>
                      </a:stretch>
                    </a:blipFill>
                  </a:tcPr>
                </a:tc>
                <a:tc>
                  <a:txBody>
                    <a:bodyPr/>
                    <a:lstStyle/>
                    <a:p>
                      <a:pPr algn="ctr">
                        <a:spcAft>
                          <a:spcPts val="0"/>
                        </a:spcAft>
                      </a:pPr>
                      <a:r>
                        <a:rPr lang="en-US" sz="2000" b="1" dirty="0">
                          <a:solidFill>
                            <a:schemeClr val="tx1"/>
                          </a:solidFill>
                          <a:effectLst/>
                          <a:latin typeface="Cambria" pitchFamily="18" charset="0"/>
                          <a:ea typeface="Cambria" pitchFamily="18" charset="0"/>
                        </a:rPr>
                        <a:t>3968 KHz</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b="1" dirty="0">
                          <a:solidFill>
                            <a:schemeClr val="tx1"/>
                          </a:solidFill>
                          <a:effectLst/>
                          <a:latin typeface="Cambria" pitchFamily="18" charset="0"/>
                          <a:ea typeface="Cambria" pitchFamily="18" charset="0"/>
                        </a:rPr>
                        <a:t>1.984  KHz</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0.992  KHz</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76028">
                <a:tc>
                  <a:txBody>
                    <a:bodyPr/>
                    <a:lstStyle/>
                    <a:p>
                      <a:endParaRPr lang="en-US" sz="2000" dirty="0">
                        <a:latin typeface="Cambria" pitchFamily="18" charset="0"/>
                        <a:ea typeface="Cambria" pitchFamily="18" charset="0"/>
                      </a:endParaRPr>
                    </a:p>
                  </a:txBody>
                  <a:tcPr marL="51435" marR="51435" marT="0" marB="0" anchor="ctr">
                    <a:lnR w="12700" cap="flat" cmpd="sng" algn="ctr">
                      <a:solidFill>
                        <a:schemeClr val="tx1"/>
                      </a:solidFill>
                      <a:prstDash val="solid"/>
                      <a:round/>
                      <a:headEnd type="none" w="med" len="med"/>
                      <a:tailEnd type="none" w="med" len="med"/>
                    </a:lnR>
                    <a:blipFill rotWithShape="1">
                      <a:blip r:embed="rId2"/>
                      <a:stretch>
                        <a:fillRect t="-320430" r="-151436" b="-203226"/>
                      </a:stretch>
                    </a:blipFill>
                  </a:tcPr>
                </a:tc>
                <a:tc>
                  <a:txBody>
                    <a:bodyPr/>
                    <a:lstStyle/>
                    <a:p>
                      <a:endParaRPr lang="en-US" sz="2000">
                        <a:latin typeface="Cambria" pitchFamily="18" charset="0"/>
                        <a:ea typeface="Cambria"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07027" t="-320430" r="-213514" b="-203226"/>
                      </a:stretch>
                    </a:blipFill>
                  </a:tcPr>
                </a:tc>
                <a:tc>
                  <a:txBody>
                    <a:bodyPr/>
                    <a:lstStyle/>
                    <a:p>
                      <a:endParaRPr lang="en-US" sz="2000" dirty="0">
                        <a:latin typeface="Cambria" pitchFamily="18" charset="0"/>
                        <a:ea typeface="Cambria"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97382" t="-320430" r="-106806" b="-203226"/>
                      </a:stretch>
                    </a:blipFill>
                  </a:tcPr>
                </a:tc>
                <a:tc>
                  <a:txBody>
                    <a:bodyPr/>
                    <a:lstStyle/>
                    <a:p>
                      <a:endParaRPr lang="en-US" sz="1800">
                        <a:latin typeface="Cambria" pitchFamily="18" charset="0"/>
                        <a:ea typeface="Cambria"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372059" t="-320430" b="-203226"/>
                      </a:stretch>
                    </a:blipFill>
                  </a:tcPr>
                </a:tc>
                <a:extLst>
                  <a:ext uri="{0D108BD9-81ED-4DB2-BD59-A6C34878D82A}">
                    <a16:rowId xmlns:a16="http://schemas.microsoft.com/office/drawing/2014/main" val="10005"/>
                  </a:ext>
                </a:extLst>
              </a:tr>
              <a:tr h="752719">
                <a:tc>
                  <a:txBody>
                    <a:bodyPr/>
                    <a:lstStyle/>
                    <a:p>
                      <a:pPr algn="ctr">
                        <a:spcAft>
                          <a:spcPts val="0"/>
                        </a:spcAft>
                      </a:pPr>
                      <a:r>
                        <a:rPr lang="en-US" sz="2000" dirty="0">
                          <a:solidFill>
                            <a:srgbClr val="7030A0"/>
                          </a:solidFill>
                          <a:effectLst/>
                          <a:latin typeface="Cambria" pitchFamily="18" charset="0"/>
                          <a:ea typeface="Cambria" pitchFamily="18" charset="0"/>
                        </a:rPr>
                        <a:t>Forward Error Correction Code</a:t>
                      </a:r>
                      <a:endParaRPr lang="en-IN" sz="2000" dirty="0">
                        <a:solidFill>
                          <a:srgbClr val="7030A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3">
                  <a:txBody>
                    <a:bodyPr/>
                    <a:lstStyle/>
                    <a:p>
                      <a:pPr algn="ctr">
                        <a:spcAft>
                          <a:spcPts val="0"/>
                        </a:spcAft>
                      </a:pPr>
                      <a:r>
                        <a:rPr lang="en-US" sz="2000" b="1" dirty="0">
                          <a:solidFill>
                            <a:schemeClr val="tx1"/>
                          </a:solidFill>
                          <a:effectLst/>
                          <a:latin typeface="Cambria" pitchFamily="18" charset="0"/>
                          <a:ea typeface="Cambria" pitchFamily="18" charset="0"/>
                        </a:rPr>
                        <a:t>Convolution Code</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6"/>
                  </a:ext>
                </a:extLst>
              </a:tr>
              <a:tr h="752719">
                <a:tc>
                  <a:txBody>
                    <a:bodyPr/>
                    <a:lstStyle/>
                    <a:p>
                      <a:pPr algn="ctr">
                        <a:spcAft>
                          <a:spcPts val="0"/>
                        </a:spcAft>
                      </a:pPr>
                      <a:r>
                        <a:rPr lang="en-US" sz="2000" dirty="0">
                          <a:solidFill>
                            <a:schemeClr val="tx1"/>
                          </a:solidFill>
                          <a:effectLst/>
                          <a:latin typeface="Cambria" pitchFamily="18" charset="0"/>
                          <a:ea typeface="Cambria" pitchFamily="18" charset="0"/>
                        </a:rPr>
                        <a:t>Information Transmission Rate</a:t>
                      </a:r>
                      <a:endParaRPr lang="en-IN" sz="2000" dirty="0">
                        <a:solidFill>
                          <a:schemeClr val="tx1"/>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3">
                  <a:txBody>
                    <a:bodyPr/>
                    <a:lstStyle/>
                    <a:p>
                      <a:pPr algn="ctr">
                        <a:spcAft>
                          <a:spcPts val="0"/>
                        </a:spcAft>
                      </a:pPr>
                      <a:r>
                        <a:rPr lang="en-US" sz="2000" b="1" dirty="0">
                          <a:solidFill>
                            <a:schemeClr val="tx1"/>
                          </a:solidFill>
                          <a:effectLst/>
                          <a:latin typeface="Cambria" pitchFamily="18" charset="0"/>
                          <a:ea typeface="Cambria" pitchFamily="18" charset="0"/>
                        </a:rPr>
                        <a:t>2.4 Mbps</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7"/>
                  </a:ext>
                </a:extLst>
              </a:tr>
              <a:tr h="442948">
                <a:tc>
                  <a:txBody>
                    <a:bodyPr/>
                    <a:lstStyle/>
                    <a:p>
                      <a:pPr algn="ctr">
                        <a:spcAft>
                          <a:spcPts val="0"/>
                        </a:spcAft>
                      </a:pPr>
                      <a:r>
                        <a:rPr lang="en-US" sz="2000" dirty="0">
                          <a:solidFill>
                            <a:srgbClr val="FF0000"/>
                          </a:solidFill>
                          <a:effectLst/>
                          <a:latin typeface="Cambria" pitchFamily="18" charset="0"/>
                          <a:ea typeface="Cambria" pitchFamily="18" charset="0"/>
                        </a:rPr>
                        <a:t>Bandwidth</a:t>
                      </a:r>
                      <a:endParaRPr lang="en-IN" sz="2000" dirty="0">
                        <a:solidFill>
                          <a:srgbClr val="FF000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3">
                  <a:txBody>
                    <a:bodyPr/>
                    <a:lstStyle/>
                    <a:p>
                      <a:pPr algn="ctr">
                        <a:spcAft>
                          <a:spcPts val="0"/>
                        </a:spcAft>
                      </a:pPr>
                      <a:r>
                        <a:rPr lang="en-US" sz="2000" b="1" dirty="0">
                          <a:solidFill>
                            <a:schemeClr val="tx1"/>
                          </a:solidFill>
                          <a:effectLst/>
                          <a:latin typeface="Cambria" pitchFamily="18" charset="0"/>
                          <a:ea typeface="Cambria" pitchFamily="18" charset="0"/>
                        </a:rPr>
                        <a:t>1.536 MHz</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fld id="{81D1CCB1-61F0-442C-B481-E34A8C9283C2}"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32</a:t>
            </a:fld>
            <a:endParaRPr lang="en-US"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85800" y="381000"/>
            <a:ext cx="7581900" cy="323850"/>
          </a:xfrm>
        </p:spPr>
        <p:txBody>
          <a:bodyPr/>
          <a:lstStyle/>
          <a:p>
            <a:r>
              <a:rPr lang="en-US" altLang="en-US" sz="2400" b="1" dirty="0" smtClean="0">
                <a:latin typeface="Cambria" pitchFamily="18" charset="0"/>
                <a:ea typeface="Cambria" pitchFamily="18" charset="0"/>
              </a:rPr>
              <a:t>Key Parameters of Different Standards based on OFDM</a:t>
            </a:r>
            <a:endParaRPr lang="en-IN" altLang="en-US" sz="2400" b="1" dirty="0" smtClean="0">
              <a:latin typeface="Cambria" pitchFamily="18" charset="0"/>
              <a:ea typeface="Cambria" pitchFamily="18" charset="0"/>
            </a:endParaRPr>
          </a:p>
        </p:txBody>
      </p:sp>
      <p:sp>
        <p:nvSpPr>
          <p:cNvPr id="22531" name="Rectangle 3"/>
          <p:cNvSpPr>
            <a:spLocks noChangeArrowheads="1"/>
          </p:cNvSpPr>
          <p:nvPr/>
        </p:nvSpPr>
        <p:spPr bwMode="auto">
          <a:xfrm>
            <a:off x="2667000" y="919118"/>
            <a:ext cx="358854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1350" i="1" dirty="0" smtClean="0">
                <a:latin typeface="Cambria" pitchFamily="18" charset="0"/>
                <a:ea typeface="Cambria" pitchFamily="18" charset="0"/>
              </a:rPr>
              <a:t>Terrestrial Digital Video Broadcasting (DVB-T)</a:t>
            </a:r>
            <a:r>
              <a:rPr lang="en-US" altLang="en-US" sz="1350" dirty="0" smtClean="0">
                <a:latin typeface="Cambria" pitchFamily="18" charset="0"/>
                <a:ea typeface="Cambria" pitchFamily="18" charset="0"/>
              </a:rPr>
              <a:t> </a:t>
            </a:r>
            <a:endParaRPr lang="en-IN" altLang="en-US" sz="1350" dirty="0" smtClean="0">
              <a:latin typeface="Cambria" pitchFamily="18" charset="0"/>
              <a:ea typeface="Cambria"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008979869"/>
              </p:ext>
            </p:extLst>
          </p:nvPr>
        </p:nvGraphicFramePr>
        <p:xfrm>
          <a:off x="228601" y="1330096"/>
          <a:ext cx="8229600" cy="4764491"/>
        </p:xfrm>
        <a:graphic>
          <a:graphicData uri="http://schemas.openxmlformats.org/drawingml/2006/table">
            <a:tbl>
              <a:tblPr firstRow="1" firstCol="1" bandRow="1">
                <a:tableStyleId>{5C22544A-7EE6-4342-B048-85BDC9FD1C3A}</a:tableStyleId>
              </a:tblPr>
              <a:tblGrid>
                <a:gridCol w="3200399">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971801">
                  <a:extLst>
                    <a:ext uri="{9D8B030D-6E8A-4147-A177-3AD203B41FA5}">
                      <a16:colId xmlns:a16="http://schemas.microsoft.com/office/drawing/2014/main" val="20002"/>
                    </a:ext>
                  </a:extLst>
                </a:gridCol>
              </a:tblGrid>
              <a:tr h="230790">
                <a:tc>
                  <a:txBody>
                    <a:bodyPr/>
                    <a:lstStyle/>
                    <a:p>
                      <a:pPr algn="ctr">
                        <a:lnSpc>
                          <a:spcPct val="150000"/>
                        </a:lnSpc>
                        <a:spcAft>
                          <a:spcPts val="0"/>
                        </a:spcAft>
                      </a:pPr>
                      <a:r>
                        <a:rPr lang="en-US" sz="2000" dirty="0">
                          <a:solidFill>
                            <a:schemeClr val="tx1"/>
                          </a:solidFill>
                          <a:effectLst/>
                          <a:latin typeface="Cambria" pitchFamily="18" charset="0"/>
                          <a:ea typeface="Cambria" pitchFamily="18" charset="0"/>
                        </a:rPr>
                        <a:t>Parameters</a:t>
                      </a:r>
                      <a:endParaRPr lang="en-IN" sz="2000" dirty="0">
                        <a:solidFill>
                          <a:schemeClr val="tx1"/>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a:txBody>
                    <a:bodyPr/>
                    <a:lstStyle/>
                    <a:p>
                      <a:pPr algn="ctr">
                        <a:spcAft>
                          <a:spcPts val="0"/>
                        </a:spcAft>
                      </a:pPr>
                      <a:r>
                        <a:rPr lang="en-US" sz="2000" b="1" dirty="0">
                          <a:solidFill>
                            <a:schemeClr val="tx1"/>
                          </a:solidFill>
                          <a:effectLst/>
                          <a:latin typeface="Cambria" pitchFamily="18" charset="0"/>
                          <a:ea typeface="Cambria" pitchFamily="18" charset="0"/>
                        </a:rPr>
                        <a:t>Mode 2K</a:t>
                      </a:r>
                      <a:endParaRPr lang="en-IN" sz="20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b="1">
                          <a:solidFill>
                            <a:schemeClr val="tx1"/>
                          </a:solidFill>
                          <a:effectLst/>
                          <a:latin typeface="Cambria" pitchFamily="18" charset="0"/>
                          <a:ea typeface="Cambria" pitchFamily="18" charset="0"/>
                        </a:rPr>
                        <a:t>Mode 8K</a:t>
                      </a:r>
                      <a:endParaRPr lang="en-IN" sz="20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0879">
                <a:tc>
                  <a:txBody>
                    <a:bodyPr/>
                    <a:lstStyle/>
                    <a:p>
                      <a:pPr algn="ctr">
                        <a:spcAft>
                          <a:spcPts val="0"/>
                        </a:spcAft>
                      </a:pPr>
                      <a:r>
                        <a:rPr lang="en-US" sz="1800" dirty="0">
                          <a:solidFill>
                            <a:srgbClr val="FF0000"/>
                          </a:solidFill>
                          <a:effectLst/>
                          <a:latin typeface="Cambria" pitchFamily="18" charset="0"/>
                          <a:ea typeface="Cambria" pitchFamily="18" charset="0"/>
                        </a:rPr>
                        <a:t>Number of Sub-carriers (N)</a:t>
                      </a:r>
                      <a:endParaRPr lang="en-IN" sz="1800" dirty="0">
                        <a:solidFill>
                          <a:srgbClr val="FF000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a:txBody>
                    <a:bodyPr/>
                    <a:lstStyle/>
                    <a:p>
                      <a:pPr algn="ctr">
                        <a:spcAft>
                          <a:spcPts val="0"/>
                        </a:spcAft>
                      </a:pPr>
                      <a:r>
                        <a:rPr lang="en-US" sz="1800" b="1" dirty="0">
                          <a:solidFill>
                            <a:schemeClr val="tx1"/>
                          </a:solidFill>
                          <a:effectLst/>
                          <a:latin typeface="Cambria" pitchFamily="18" charset="0"/>
                          <a:ea typeface="Cambria" pitchFamily="18" charset="0"/>
                        </a:rPr>
                        <a:t>1705</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6817</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8581">
                <a:tc>
                  <a:txBody>
                    <a:bodyPr/>
                    <a:lstStyle/>
                    <a:p>
                      <a:pPr algn="ctr">
                        <a:spcAft>
                          <a:spcPts val="0"/>
                        </a:spcAft>
                      </a:pPr>
                      <a:r>
                        <a:rPr lang="en-US" sz="1800" dirty="0">
                          <a:solidFill>
                            <a:srgbClr val="7030A0"/>
                          </a:solidFill>
                          <a:effectLst/>
                          <a:latin typeface="Cambria" pitchFamily="18" charset="0"/>
                          <a:ea typeface="Cambria" pitchFamily="18" charset="0"/>
                        </a:rPr>
                        <a:t>Modulation</a:t>
                      </a:r>
                      <a:endParaRPr lang="en-IN" sz="1800" dirty="0">
                        <a:solidFill>
                          <a:srgbClr val="7030A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a:txBody>
                    <a:bodyPr/>
                    <a:lstStyle/>
                    <a:p>
                      <a:pPr algn="ctr">
                        <a:spcAft>
                          <a:spcPts val="0"/>
                        </a:spcAft>
                      </a:pPr>
                      <a:r>
                        <a:rPr lang="en-US" sz="1800" b="1" dirty="0">
                          <a:solidFill>
                            <a:schemeClr val="tx1"/>
                          </a:solidFill>
                          <a:effectLst/>
                          <a:latin typeface="Cambria" pitchFamily="18" charset="0"/>
                          <a:ea typeface="Cambria" pitchFamily="18" charset="0"/>
                        </a:rPr>
                        <a:t>QPSK</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16 and 64 QAM</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8790">
                <a:tc>
                  <a:txBody>
                    <a:bodyPr/>
                    <a:lstStyle/>
                    <a:p>
                      <a:endParaRPr lang="en-US" sz="1800" dirty="0">
                        <a:latin typeface="Cambria" pitchFamily="18" charset="0"/>
                        <a:ea typeface="Cambria" pitchFamily="18" charset="0"/>
                      </a:endParaRPr>
                    </a:p>
                  </a:txBody>
                  <a:tcPr marL="51435" marR="51435" marT="0" marB="0" anchor="ctr">
                    <a:lnR w="12700" cap="flat" cmpd="sng" algn="ctr">
                      <a:solidFill>
                        <a:schemeClr val="tx1"/>
                      </a:solidFill>
                      <a:prstDash val="solid"/>
                      <a:round/>
                      <a:headEnd type="none" w="med" len="med"/>
                      <a:tailEnd type="none" w="med" len="med"/>
                    </a:lnR>
                    <a:blipFill rotWithShape="1">
                      <a:blip r:embed="rId2"/>
                      <a:stretch>
                        <a:fillRect l="-347" t="-159130" r="-301042" b="-398261"/>
                      </a:stretch>
                    </a:blipFill>
                  </a:tcPr>
                </a:tc>
                <a:tc>
                  <a:txBody>
                    <a:bodyPr/>
                    <a:lstStyle/>
                    <a:p>
                      <a:pPr algn="ctr">
                        <a:spcAft>
                          <a:spcPts val="0"/>
                        </a:spcAft>
                      </a:pPr>
                      <a:r>
                        <a:rPr lang="en-US" sz="1800" b="1" dirty="0">
                          <a:solidFill>
                            <a:schemeClr val="tx1"/>
                          </a:solidFill>
                          <a:effectLst/>
                          <a:latin typeface="Cambria" pitchFamily="18" charset="0"/>
                          <a:ea typeface="Cambria" pitchFamily="18" charset="0"/>
                        </a:rPr>
                        <a:t>224 µs</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896 µs</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6402">
                <a:tc>
                  <a:txBody>
                    <a:bodyPr/>
                    <a:lstStyle/>
                    <a:p>
                      <a:endParaRPr lang="en-US" sz="1800" dirty="0">
                        <a:latin typeface="Cambria" pitchFamily="18" charset="0"/>
                        <a:ea typeface="Cambria" pitchFamily="18" charset="0"/>
                      </a:endParaRPr>
                    </a:p>
                  </a:txBody>
                  <a:tcPr marL="51435" marR="51435" marT="0" marB="0" anchor="ctr">
                    <a:lnR w="12700" cap="flat" cmpd="sng" algn="ctr">
                      <a:solidFill>
                        <a:schemeClr val="tx1"/>
                      </a:solidFill>
                      <a:prstDash val="solid"/>
                      <a:round/>
                      <a:headEnd type="none" w="med" len="med"/>
                      <a:tailEnd type="none" w="med" len="med"/>
                    </a:lnR>
                    <a:blipFill rotWithShape="1">
                      <a:blip r:embed="rId2"/>
                      <a:stretch>
                        <a:fillRect l="-347" t="-444776" r="-301042" b="-583582"/>
                      </a:stretch>
                    </a:blipFill>
                  </a:tcPr>
                </a:tc>
                <a:tc>
                  <a:txBody>
                    <a:bodyPr/>
                    <a:lstStyle/>
                    <a:p>
                      <a:pPr algn="ctr">
                        <a:spcAft>
                          <a:spcPts val="0"/>
                        </a:spcAft>
                      </a:pPr>
                      <a:r>
                        <a:rPr lang="en-US" sz="1800" b="1" dirty="0">
                          <a:solidFill>
                            <a:schemeClr val="tx1"/>
                          </a:solidFill>
                          <a:effectLst/>
                          <a:latin typeface="Cambria" pitchFamily="18" charset="0"/>
                          <a:ea typeface="Cambria" pitchFamily="18" charset="0"/>
                        </a:rPr>
                        <a:t>4.464 KHz</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a:solidFill>
                            <a:schemeClr val="tx1"/>
                          </a:solidFill>
                          <a:effectLst/>
                          <a:latin typeface="Cambria" pitchFamily="18" charset="0"/>
                          <a:ea typeface="Cambria" pitchFamily="18" charset="0"/>
                        </a:rPr>
                        <a:t>1.116 KHz</a:t>
                      </a:r>
                      <a:endParaRPr lang="en-IN" sz="1800" b="1">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52340">
                <a:tc>
                  <a:txBody>
                    <a:bodyPr/>
                    <a:lstStyle/>
                    <a:p>
                      <a:endParaRPr lang="en-US" sz="1800" dirty="0">
                        <a:latin typeface="Cambria" pitchFamily="18" charset="0"/>
                        <a:ea typeface="Cambria" pitchFamily="18" charset="0"/>
                      </a:endParaRPr>
                    </a:p>
                  </a:txBody>
                  <a:tcPr marL="51435" marR="51435" marT="0" marB="0" anchor="ctr">
                    <a:lnR w="12700" cap="flat" cmpd="sng" algn="ctr">
                      <a:solidFill>
                        <a:schemeClr val="tx1"/>
                      </a:solidFill>
                      <a:prstDash val="solid"/>
                      <a:round/>
                      <a:headEnd type="none" w="med" len="med"/>
                      <a:tailEnd type="none" w="med" len="med"/>
                    </a:lnR>
                    <a:blipFill rotWithShape="1">
                      <a:blip r:embed="rId2"/>
                      <a:stretch>
                        <a:fillRect l="-347" t="-255245" r="-301042" b="-173427"/>
                      </a:stretch>
                    </a:blipFill>
                  </a:tcPr>
                </a:tc>
                <a:tc>
                  <a:txBody>
                    <a:bodyPr/>
                    <a:lstStyle/>
                    <a:p>
                      <a:endParaRPr lang="en-US" sz="1800" dirty="0">
                        <a:latin typeface="Cambria" pitchFamily="18" charset="0"/>
                        <a:ea typeface="Cambria"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72250" t="-255245" r="-116750" b="-173427"/>
                      </a:stretch>
                    </a:blipFill>
                  </a:tcPr>
                </a:tc>
                <a:tc>
                  <a:txBody>
                    <a:bodyPr/>
                    <a:lstStyle/>
                    <a:p>
                      <a:endParaRPr lang="en-US" sz="1800" dirty="0">
                        <a:latin typeface="Cambria" pitchFamily="18" charset="0"/>
                        <a:ea typeface="Cambria"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47854" t="-255245" r="-215" b="-173427"/>
                      </a:stretch>
                    </a:blipFill>
                  </a:tcPr>
                </a:tc>
                <a:extLst>
                  <a:ext uri="{0D108BD9-81ED-4DB2-BD59-A6C34878D82A}">
                    <a16:rowId xmlns:a16="http://schemas.microsoft.com/office/drawing/2014/main" val="10005"/>
                  </a:ext>
                </a:extLst>
              </a:tr>
              <a:tr h="521871">
                <a:tc>
                  <a:txBody>
                    <a:bodyPr/>
                    <a:lstStyle/>
                    <a:p>
                      <a:pPr algn="ctr">
                        <a:spcAft>
                          <a:spcPts val="0"/>
                        </a:spcAft>
                      </a:pPr>
                      <a:r>
                        <a:rPr lang="en-US" sz="1800" dirty="0">
                          <a:solidFill>
                            <a:srgbClr val="7030A0"/>
                          </a:solidFill>
                          <a:effectLst/>
                          <a:latin typeface="Cambria" pitchFamily="18" charset="0"/>
                          <a:ea typeface="Cambria" pitchFamily="18" charset="0"/>
                        </a:rPr>
                        <a:t>Forward Error Correction Code</a:t>
                      </a:r>
                      <a:endParaRPr lang="en-IN" sz="1800" dirty="0">
                        <a:solidFill>
                          <a:srgbClr val="7030A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2">
                  <a:txBody>
                    <a:bodyPr/>
                    <a:lstStyle/>
                    <a:p>
                      <a:pPr algn="ctr">
                        <a:spcAft>
                          <a:spcPts val="0"/>
                        </a:spcAft>
                      </a:pPr>
                      <a:r>
                        <a:rPr lang="fr-FR" sz="1800" b="1" dirty="0">
                          <a:solidFill>
                            <a:schemeClr val="tx1"/>
                          </a:solidFill>
                          <a:effectLst/>
                          <a:latin typeface="Cambria" pitchFamily="18" charset="0"/>
                          <a:ea typeface="Cambria" pitchFamily="18" charset="0"/>
                        </a:rPr>
                        <a:t> </a:t>
                      </a:r>
                      <a:endParaRPr lang="en-IN" sz="1800" b="1" dirty="0">
                        <a:solidFill>
                          <a:schemeClr val="tx1"/>
                        </a:solidFill>
                        <a:effectLst/>
                        <a:latin typeface="Cambria" pitchFamily="18" charset="0"/>
                        <a:ea typeface="Cambria" pitchFamily="18" charset="0"/>
                      </a:endParaRPr>
                    </a:p>
                    <a:p>
                      <a:pPr algn="ctr">
                        <a:spcAft>
                          <a:spcPts val="0"/>
                        </a:spcAft>
                      </a:pPr>
                      <a:r>
                        <a:rPr lang="fr-FR" sz="1800" b="1" dirty="0" err="1">
                          <a:solidFill>
                            <a:schemeClr val="tx1"/>
                          </a:solidFill>
                          <a:effectLst/>
                          <a:latin typeface="Cambria" pitchFamily="18" charset="0"/>
                          <a:ea typeface="Cambria" pitchFamily="18" charset="0"/>
                        </a:rPr>
                        <a:t>Inner</a:t>
                      </a:r>
                      <a:r>
                        <a:rPr lang="fr-FR" sz="1800" b="1" dirty="0">
                          <a:solidFill>
                            <a:schemeClr val="tx1"/>
                          </a:solidFill>
                          <a:effectLst/>
                          <a:latin typeface="Cambria" pitchFamily="18" charset="0"/>
                          <a:ea typeface="Cambria" pitchFamily="18" charset="0"/>
                        </a:rPr>
                        <a:t> Code – Convolution Code (R = 1/2, 2/3, 3/4 5/6, 7/8)</a:t>
                      </a:r>
                      <a:endParaRPr lang="en-IN" sz="1800" b="1" dirty="0">
                        <a:solidFill>
                          <a:schemeClr val="tx1"/>
                        </a:solidFill>
                        <a:effectLst/>
                        <a:latin typeface="Cambria" pitchFamily="18" charset="0"/>
                        <a:ea typeface="Cambria" pitchFamily="18" charset="0"/>
                      </a:endParaRPr>
                    </a:p>
                    <a:p>
                      <a:pPr algn="ctr">
                        <a:spcAft>
                          <a:spcPts val="0"/>
                        </a:spcAft>
                      </a:pPr>
                      <a:r>
                        <a:rPr lang="fr-FR" sz="1800" b="1" dirty="0">
                          <a:solidFill>
                            <a:schemeClr val="tx1"/>
                          </a:solidFill>
                          <a:effectLst/>
                          <a:latin typeface="Cambria" pitchFamily="18" charset="0"/>
                          <a:ea typeface="Cambria" pitchFamily="18" charset="0"/>
                        </a:rPr>
                        <a:t>Outer Code – Reed-Solomon Code (204, 188)</a:t>
                      </a:r>
                      <a:endParaRPr lang="en-IN" sz="1800" b="1" dirty="0">
                        <a:solidFill>
                          <a:schemeClr val="tx1"/>
                        </a:solidFill>
                        <a:effectLst/>
                        <a:latin typeface="Cambria" pitchFamily="18" charset="0"/>
                        <a:ea typeface="Cambria" pitchFamily="18" charset="0"/>
                      </a:endParaRPr>
                    </a:p>
                    <a:p>
                      <a:pPr algn="ctr">
                        <a:spcAft>
                          <a:spcPts val="0"/>
                        </a:spcAft>
                      </a:pPr>
                      <a:r>
                        <a:rPr lang="fr-FR" sz="1800" b="1" dirty="0">
                          <a:solidFill>
                            <a:schemeClr val="tx1"/>
                          </a:solidFill>
                          <a:effectLst/>
                          <a:latin typeface="Cambria" pitchFamily="18" charset="0"/>
                          <a:ea typeface="Cambria" pitchFamily="18" charset="0"/>
                        </a:rPr>
                        <a:t> </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6"/>
                  </a:ext>
                </a:extLst>
              </a:tr>
              <a:tr h="350879">
                <a:tc>
                  <a:txBody>
                    <a:bodyPr/>
                    <a:lstStyle/>
                    <a:p>
                      <a:pPr algn="ctr">
                        <a:spcAft>
                          <a:spcPts val="0"/>
                        </a:spcAft>
                      </a:pPr>
                      <a:r>
                        <a:rPr lang="en-US" sz="1800" dirty="0">
                          <a:solidFill>
                            <a:schemeClr val="tx1"/>
                          </a:solidFill>
                          <a:effectLst/>
                          <a:latin typeface="Cambria" pitchFamily="18" charset="0"/>
                          <a:ea typeface="Cambria" pitchFamily="18" charset="0"/>
                        </a:rPr>
                        <a:t>Information Transmission Rate</a:t>
                      </a:r>
                      <a:endParaRPr lang="en-IN" sz="1800" dirty="0">
                        <a:solidFill>
                          <a:schemeClr val="tx1"/>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2">
                  <a:txBody>
                    <a:bodyPr/>
                    <a:lstStyle/>
                    <a:p>
                      <a:pPr algn="ctr">
                        <a:spcAft>
                          <a:spcPts val="0"/>
                        </a:spcAft>
                      </a:pPr>
                      <a:r>
                        <a:rPr lang="en-US" sz="1800" b="1" dirty="0">
                          <a:solidFill>
                            <a:schemeClr val="tx1"/>
                          </a:solidFill>
                          <a:effectLst/>
                          <a:latin typeface="Cambria" pitchFamily="18" charset="0"/>
                          <a:ea typeface="Cambria" pitchFamily="18" charset="0"/>
                        </a:rPr>
                        <a:t>4.98 – 31.67 Mbps</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7"/>
                  </a:ext>
                </a:extLst>
              </a:tr>
              <a:tr h="261924">
                <a:tc>
                  <a:txBody>
                    <a:bodyPr/>
                    <a:lstStyle/>
                    <a:p>
                      <a:pPr algn="ctr">
                        <a:spcAft>
                          <a:spcPts val="0"/>
                        </a:spcAft>
                      </a:pPr>
                      <a:r>
                        <a:rPr lang="en-US" sz="1800" dirty="0">
                          <a:solidFill>
                            <a:srgbClr val="FF0000"/>
                          </a:solidFill>
                          <a:effectLst/>
                          <a:latin typeface="Cambria" pitchFamily="18" charset="0"/>
                          <a:ea typeface="Cambria" pitchFamily="18" charset="0"/>
                        </a:rPr>
                        <a:t>Bandwidth</a:t>
                      </a:r>
                      <a:endParaRPr lang="en-IN" sz="1800" dirty="0">
                        <a:solidFill>
                          <a:srgbClr val="FF0000"/>
                        </a:solidFill>
                        <a:effectLst/>
                        <a:latin typeface="Cambria" pitchFamily="18" charset="0"/>
                        <a:ea typeface="Cambria" pitchFamily="18" charset="0"/>
                        <a:cs typeface="Times New Roman"/>
                      </a:endParaRPr>
                    </a:p>
                  </a:txBody>
                  <a:tcPr marL="51435" marR="51435" marT="0" marB="0" anchor="ctr">
                    <a:lnR w="12700" cap="flat" cmpd="sng" algn="ctr">
                      <a:solidFill>
                        <a:schemeClr val="tx1"/>
                      </a:solidFill>
                      <a:prstDash val="solid"/>
                      <a:round/>
                      <a:headEnd type="none" w="med" len="med"/>
                      <a:tailEnd type="none" w="med" len="med"/>
                    </a:lnR>
                  </a:tcPr>
                </a:tc>
                <a:tc gridSpan="2">
                  <a:txBody>
                    <a:bodyPr/>
                    <a:lstStyle/>
                    <a:p>
                      <a:pPr algn="ctr">
                        <a:spcAft>
                          <a:spcPts val="0"/>
                        </a:spcAft>
                      </a:pPr>
                      <a:r>
                        <a:rPr lang="en-US" sz="1800" b="1" dirty="0">
                          <a:solidFill>
                            <a:schemeClr val="tx1"/>
                          </a:solidFill>
                          <a:effectLst/>
                          <a:latin typeface="Cambria" pitchFamily="18" charset="0"/>
                          <a:ea typeface="Cambria" pitchFamily="18" charset="0"/>
                        </a:rPr>
                        <a:t>7.61 MHz</a:t>
                      </a:r>
                      <a:endParaRPr lang="en-IN" sz="1800" b="1" dirty="0">
                        <a:solidFill>
                          <a:schemeClr val="tx1"/>
                        </a:solidFill>
                        <a:effectLst/>
                        <a:latin typeface="Cambria" pitchFamily="18" charset="0"/>
                        <a:ea typeface="Cambria" pitchFamily="18" charset="0"/>
                        <a:cs typeface="Times New Roman"/>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fld id="{0AE4FFCB-C822-4AD7-AEA4-C447EAE60EC0}" type="datetime1">
              <a:rPr lang="en-US" smtClean="0"/>
              <a:t>9/2/2025</a:t>
            </a:fld>
            <a:endParaRPr lang="en-US"/>
          </a:p>
        </p:txBody>
      </p:sp>
      <p:sp>
        <p:nvSpPr>
          <p:cNvPr id="4" name="Footer Placeholder 3"/>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33</a:t>
            </a:fld>
            <a:endParaRPr lang="en-US"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567656" y="304800"/>
            <a:ext cx="6172200" cy="250825"/>
          </a:xfrm>
        </p:spPr>
        <p:txBody>
          <a:bodyPr/>
          <a:lstStyle/>
          <a:p>
            <a:r>
              <a:rPr lang="en-US" altLang="en-US" sz="2400" b="1" dirty="0" smtClean="0">
                <a:latin typeface="Cambria" pitchFamily="18" charset="0"/>
                <a:ea typeface="Cambria" pitchFamily="18" charset="0"/>
              </a:rPr>
              <a:t>Key Parameters of Different Standards based on OFDM</a:t>
            </a:r>
            <a:endParaRPr lang="en-IN" altLang="en-US" sz="2400" b="1" dirty="0" smtClean="0">
              <a:latin typeface="Cambria" pitchFamily="18" charset="0"/>
              <a:ea typeface="Cambria" pitchFamily="18" charset="0"/>
            </a:endParaRPr>
          </a:p>
        </p:txBody>
      </p:sp>
      <p:sp>
        <p:nvSpPr>
          <p:cNvPr id="23555" name="Rectangle 3"/>
          <p:cNvSpPr>
            <a:spLocks noChangeArrowheads="1"/>
          </p:cNvSpPr>
          <p:nvPr/>
        </p:nvSpPr>
        <p:spPr bwMode="auto">
          <a:xfrm>
            <a:off x="3399155" y="990600"/>
            <a:ext cx="248818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1400" i="1" dirty="0" smtClean="0">
                <a:latin typeface="Cambria" pitchFamily="18" charset="0"/>
                <a:ea typeface="Cambria" pitchFamily="18" charset="0"/>
              </a:rPr>
              <a:t>IEEE 802.11 and HIPERLAN/2</a:t>
            </a:r>
            <a:r>
              <a:rPr lang="en-US" altLang="en-US" sz="1400" dirty="0" smtClean="0">
                <a:latin typeface="Cambria" pitchFamily="18" charset="0"/>
                <a:ea typeface="Cambria" pitchFamily="18" charset="0"/>
              </a:rPr>
              <a:t> </a:t>
            </a:r>
            <a:endParaRPr lang="en-IN" altLang="en-US" sz="1400" dirty="0" smtClean="0">
              <a:latin typeface="Cambria" pitchFamily="18" charset="0"/>
              <a:ea typeface="Cambria"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784820795"/>
              </p:ext>
            </p:extLst>
          </p:nvPr>
        </p:nvGraphicFramePr>
        <p:xfrm>
          <a:off x="228600" y="1600200"/>
          <a:ext cx="8610600" cy="4526280"/>
        </p:xfrm>
        <a:graphic>
          <a:graphicData uri="http://schemas.openxmlformats.org/drawingml/2006/table">
            <a:tbl>
              <a:tblPr firstRow="1" firstCol="1" bandRow="1">
                <a:tableStyleId>{5C22544A-7EE6-4342-B048-85BDC9FD1C3A}</a:tableStyleId>
              </a:tblPr>
              <a:tblGrid>
                <a:gridCol w="4308945">
                  <a:extLst>
                    <a:ext uri="{9D8B030D-6E8A-4147-A177-3AD203B41FA5}">
                      <a16:colId xmlns:a16="http://schemas.microsoft.com/office/drawing/2014/main" val="20000"/>
                    </a:ext>
                  </a:extLst>
                </a:gridCol>
                <a:gridCol w="4301655">
                  <a:extLst>
                    <a:ext uri="{9D8B030D-6E8A-4147-A177-3AD203B41FA5}">
                      <a16:colId xmlns:a16="http://schemas.microsoft.com/office/drawing/2014/main" val="20001"/>
                    </a:ext>
                  </a:extLst>
                </a:gridCol>
              </a:tblGrid>
              <a:tr h="327945">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Parameters</a:t>
                      </a:r>
                      <a:endParaRPr lang="en-IN" sz="1800" dirty="0">
                        <a:solidFill>
                          <a:schemeClr val="tx1"/>
                        </a:solidFill>
                        <a:effectLst/>
                        <a:latin typeface="Cambria" pitchFamily="18" charset="0"/>
                        <a:ea typeface="Cambria" pitchFamily="18" charset="0"/>
                        <a:cs typeface="Times New Roman"/>
                      </a:endParaRPr>
                    </a:p>
                  </a:txBody>
                  <a:tcPr marL="51435" marR="51435" marT="0" marB="0" anchor="ctr"/>
                </a:tc>
                <a:tc>
                  <a:txBody>
                    <a:bodyPr/>
                    <a:lstStyle/>
                    <a:p>
                      <a:pPr algn="ctr">
                        <a:lnSpc>
                          <a:spcPct val="150000"/>
                        </a:lnSpc>
                        <a:spcAft>
                          <a:spcPts val="0"/>
                        </a:spcAft>
                      </a:pPr>
                      <a:r>
                        <a:rPr lang="en-US" sz="1800">
                          <a:solidFill>
                            <a:schemeClr val="tx1"/>
                          </a:solidFill>
                          <a:effectLst/>
                          <a:latin typeface="Cambria" pitchFamily="18" charset="0"/>
                          <a:ea typeface="Cambria" pitchFamily="18" charset="0"/>
                        </a:rPr>
                        <a:t>Specification</a:t>
                      </a:r>
                      <a:endParaRPr lang="en-IN" sz="180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0"/>
                  </a:ext>
                </a:extLst>
              </a:tr>
              <a:tr h="327945">
                <a:tc>
                  <a:txBody>
                    <a:bodyPr/>
                    <a:lstStyle/>
                    <a:p>
                      <a:pPr algn="ctr">
                        <a:lnSpc>
                          <a:spcPct val="150000"/>
                        </a:lnSpc>
                        <a:spcAft>
                          <a:spcPts val="0"/>
                        </a:spcAft>
                      </a:pPr>
                      <a:r>
                        <a:rPr lang="en-US" sz="1800" dirty="0">
                          <a:solidFill>
                            <a:srgbClr val="FF0000"/>
                          </a:solidFill>
                          <a:effectLst/>
                          <a:latin typeface="Cambria" pitchFamily="18" charset="0"/>
                          <a:ea typeface="Cambria" pitchFamily="18" charset="0"/>
                        </a:rPr>
                        <a:t>Data rate</a:t>
                      </a:r>
                      <a:endParaRPr lang="en-IN" sz="1800" dirty="0">
                        <a:solidFill>
                          <a:srgbClr val="FF0000"/>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6, 9, 12, 18, 24, 36, 48, and 54 Mbps</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1"/>
                  </a:ext>
                </a:extLst>
              </a:tr>
              <a:tr h="327945">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Modulation</a:t>
                      </a:r>
                      <a:endParaRPr lang="en-IN" sz="1800" dirty="0">
                        <a:solidFill>
                          <a:schemeClr val="tx1"/>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BPSK, QPSK, 16-QAM, 64-QAM</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2"/>
                  </a:ext>
                </a:extLst>
              </a:tr>
              <a:tr h="374146">
                <a:tc>
                  <a:txBody>
                    <a:bodyPr/>
                    <a:lstStyle/>
                    <a:p>
                      <a:pPr algn="ctr">
                        <a:lnSpc>
                          <a:spcPct val="150000"/>
                        </a:lnSpc>
                        <a:spcAft>
                          <a:spcPts val="0"/>
                        </a:spcAft>
                      </a:pPr>
                      <a:r>
                        <a:rPr lang="en-US" sz="1800" dirty="0">
                          <a:solidFill>
                            <a:srgbClr val="FF0000"/>
                          </a:solidFill>
                          <a:effectLst/>
                          <a:latin typeface="Cambria" pitchFamily="18" charset="0"/>
                          <a:ea typeface="Cambria" pitchFamily="18" charset="0"/>
                        </a:rPr>
                        <a:t>Coding rate</a:t>
                      </a:r>
                      <a:endParaRPr lang="en-IN" sz="1800" dirty="0">
                        <a:solidFill>
                          <a:srgbClr val="FF0000"/>
                        </a:solidFill>
                        <a:effectLst/>
                        <a:latin typeface="Cambria" pitchFamily="18" charset="0"/>
                        <a:ea typeface="Cambria" pitchFamily="18" charset="0"/>
                        <a:cs typeface="Times New Roman"/>
                      </a:endParaRPr>
                    </a:p>
                  </a:txBody>
                  <a:tcPr marL="51435" marR="51435" marT="0" marB="0"/>
                </a:tc>
                <a:tc>
                  <a:txBody>
                    <a:bodyPr/>
                    <a:lstStyle/>
                    <a:p>
                      <a:endParaRPr lang="en-US" sz="1800">
                        <a:latin typeface="Cambria" pitchFamily="18" charset="0"/>
                        <a:ea typeface="Cambria" pitchFamily="18" charset="0"/>
                      </a:endParaRPr>
                    </a:p>
                  </a:txBody>
                  <a:tcPr marL="51435" marR="51435" marT="0" marB="0">
                    <a:blipFill rotWithShape="1">
                      <a:blip r:embed="rId2"/>
                      <a:stretch>
                        <a:fillRect l="-100000" t="-263415" b="-536585"/>
                      </a:stretch>
                    </a:blipFill>
                  </a:tcPr>
                </a:tc>
                <a:extLst>
                  <a:ext uri="{0D108BD9-81ED-4DB2-BD59-A6C34878D82A}">
                    <a16:rowId xmlns:a16="http://schemas.microsoft.com/office/drawing/2014/main" val="10003"/>
                  </a:ext>
                </a:extLst>
              </a:tr>
              <a:tr h="374146">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Total number of sub-carriers (Pilot + Data)</a:t>
                      </a:r>
                      <a:endParaRPr lang="en-IN" sz="1800" dirty="0">
                        <a:solidFill>
                          <a:schemeClr val="tx1"/>
                        </a:solidFill>
                        <a:effectLst/>
                        <a:latin typeface="Cambria" pitchFamily="18" charset="0"/>
                        <a:ea typeface="Cambria" pitchFamily="18" charset="0"/>
                        <a:cs typeface="Times New Roman"/>
                      </a:endParaRPr>
                    </a:p>
                  </a:txBody>
                  <a:tcPr marL="51435" marR="51435" marT="0" marB="0"/>
                </a:tc>
                <a:tc>
                  <a:txBody>
                    <a:bodyPr/>
                    <a:lstStyle/>
                    <a:p>
                      <a:endParaRPr lang="en-US" sz="1800" dirty="0">
                        <a:latin typeface="Cambria" pitchFamily="18" charset="0"/>
                        <a:ea typeface="Cambria" pitchFamily="18" charset="0"/>
                      </a:endParaRPr>
                    </a:p>
                  </a:txBody>
                  <a:tcPr marL="51435" marR="51435" marT="0" marB="0">
                    <a:blipFill rotWithShape="1">
                      <a:blip r:embed="rId2"/>
                      <a:stretch>
                        <a:fillRect l="-100000" t="-363415" b="-436585"/>
                      </a:stretch>
                    </a:blipFill>
                  </a:tcPr>
                </a:tc>
                <a:extLst>
                  <a:ext uri="{0D108BD9-81ED-4DB2-BD59-A6C34878D82A}">
                    <a16:rowId xmlns:a16="http://schemas.microsoft.com/office/drawing/2014/main" val="10004"/>
                  </a:ext>
                </a:extLst>
              </a:tr>
              <a:tr h="327945">
                <a:tc>
                  <a:txBody>
                    <a:bodyPr/>
                    <a:lstStyle/>
                    <a:p>
                      <a:pPr algn="ctr">
                        <a:lnSpc>
                          <a:spcPct val="150000"/>
                        </a:lnSpc>
                        <a:spcAft>
                          <a:spcPts val="0"/>
                        </a:spcAft>
                      </a:pPr>
                      <a:r>
                        <a:rPr lang="en-US" sz="1800" dirty="0">
                          <a:solidFill>
                            <a:srgbClr val="FF0000"/>
                          </a:solidFill>
                          <a:effectLst/>
                          <a:latin typeface="Cambria" pitchFamily="18" charset="0"/>
                          <a:ea typeface="Cambria" pitchFamily="18" charset="0"/>
                        </a:rPr>
                        <a:t>Number of Pilot sub-carriers</a:t>
                      </a:r>
                      <a:endParaRPr lang="en-IN" sz="1800" dirty="0">
                        <a:solidFill>
                          <a:srgbClr val="FF0000"/>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4</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5"/>
                  </a:ext>
                </a:extLst>
              </a:tr>
              <a:tr h="327945">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OFDM Symbol Duration</a:t>
                      </a:r>
                      <a:endParaRPr lang="en-IN" sz="1800" dirty="0">
                        <a:solidFill>
                          <a:schemeClr val="tx1"/>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4 µs</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6"/>
                  </a:ext>
                </a:extLst>
              </a:tr>
              <a:tr h="327945">
                <a:tc>
                  <a:txBody>
                    <a:bodyPr/>
                    <a:lstStyle/>
                    <a:p>
                      <a:pPr algn="ctr">
                        <a:lnSpc>
                          <a:spcPct val="150000"/>
                        </a:lnSpc>
                        <a:spcAft>
                          <a:spcPts val="0"/>
                        </a:spcAft>
                      </a:pPr>
                      <a:r>
                        <a:rPr lang="en-US" sz="1800" dirty="0">
                          <a:solidFill>
                            <a:srgbClr val="FF0000"/>
                          </a:solidFill>
                          <a:effectLst/>
                          <a:latin typeface="Cambria" pitchFamily="18" charset="0"/>
                          <a:ea typeface="Cambria" pitchFamily="18" charset="0"/>
                        </a:rPr>
                        <a:t>Guard Interval</a:t>
                      </a:r>
                      <a:endParaRPr lang="en-IN" sz="1800" dirty="0">
                        <a:solidFill>
                          <a:srgbClr val="FF0000"/>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800 ns</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7"/>
                  </a:ext>
                </a:extLst>
              </a:tr>
              <a:tr h="327945">
                <a:tc>
                  <a:txBody>
                    <a:bodyPr/>
                    <a:lstStyle/>
                    <a:p>
                      <a:pPr algn="ctr">
                        <a:lnSpc>
                          <a:spcPct val="150000"/>
                        </a:lnSpc>
                        <a:spcAft>
                          <a:spcPts val="0"/>
                        </a:spcAft>
                      </a:pPr>
                      <a:r>
                        <a:rPr lang="en-US" sz="1800" dirty="0">
                          <a:solidFill>
                            <a:schemeClr val="tx1"/>
                          </a:solidFill>
                          <a:effectLst/>
                          <a:latin typeface="Cambria" pitchFamily="18" charset="0"/>
                          <a:ea typeface="Cambria" pitchFamily="18" charset="0"/>
                        </a:rPr>
                        <a:t>Sub-carrier spacing</a:t>
                      </a:r>
                      <a:endParaRPr lang="en-IN" sz="1800" dirty="0">
                        <a:solidFill>
                          <a:schemeClr val="tx1"/>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312.5 KHz</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8"/>
                  </a:ext>
                </a:extLst>
              </a:tr>
              <a:tr h="327945">
                <a:tc>
                  <a:txBody>
                    <a:bodyPr/>
                    <a:lstStyle/>
                    <a:p>
                      <a:pPr algn="ctr">
                        <a:lnSpc>
                          <a:spcPct val="150000"/>
                        </a:lnSpc>
                        <a:spcAft>
                          <a:spcPts val="0"/>
                        </a:spcAft>
                      </a:pPr>
                      <a:r>
                        <a:rPr lang="en-US" sz="1800" dirty="0">
                          <a:solidFill>
                            <a:srgbClr val="FF0000"/>
                          </a:solidFill>
                          <a:effectLst/>
                          <a:latin typeface="Cambria" pitchFamily="18" charset="0"/>
                          <a:ea typeface="Cambria" pitchFamily="18" charset="0"/>
                        </a:rPr>
                        <a:t>Channel Spacing</a:t>
                      </a:r>
                      <a:endParaRPr lang="en-IN" sz="1800" dirty="0">
                        <a:solidFill>
                          <a:srgbClr val="FF0000"/>
                        </a:solidFill>
                        <a:effectLst/>
                        <a:latin typeface="Cambria" pitchFamily="18" charset="0"/>
                        <a:ea typeface="Cambria" pitchFamily="18" charset="0"/>
                        <a:cs typeface="Times New Roman"/>
                      </a:endParaRPr>
                    </a:p>
                  </a:txBody>
                  <a:tcPr marL="51435" marR="51435" marT="0" marB="0"/>
                </a:tc>
                <a:tc>
                  <a:txBody>
                    <a:bodyPr/>
                    <a:lstStyle/>
                    <a:p>
                      <a:pPr algn="ctr">
                        <a:lnSpc>
                          <a:spcPct val="150000"/>
                        </a:lnSpc>
                        <a:spcAft>
                          <a:spcPts val="0"/>
                        </a:spcAft>
                      </a:pPr>
                      <a:r>
                        <a:rPr lang="en-US" sz="1800" b="1" dirty="0">
                          <a:solidFill>
                            <a:schemeClr val="tx1"/>
                          </a:solidFill>
                          <a:effectLst/>
                          <a:latin typeface="Cambria" pitchFamily="18" charset="0"/>
                          <a:ea typeface="Cambria" pitchFamily="18" charset="0"/>
                        </a:rPr>
                        <a:t>20 MHz</a:t>
                      </a:r>
                      <a:endParaRPr lang="en-IN" sz="1800" b="1" dirty="0">
                        <a:solidFill>
                          <a:schemeClr val="tx1"/>
                        </a:solidFill>
                        <a:effectLst/>
                        <a:latin typeface="Cambria" pitchFamily="18" charset="0"/>
                        <a:ea typeface="Cambria" pitchFamily="18" charset="0"/>
                        <a:cs typeface="Times New Roman"/>
                      </a:endParaRPr>
                    </a:p>
                  </a:txBody>
                  <a:tcPr marL="51435" marR="51435" marT="0" marB="0"/>
                </a:tc>
                <a:extLst>
                  <a:ext uri="{0D108BD9-81ED-4DB2-BD59-A6C34878D82A}">
                    <a16:rowId xmlns:a16="http://schemas.microsoft.com/office/drawing/2014/main" val="10009"/>
                  </a:ext>
                </a:extLst>
              </a:tr>
            </a:tbl>
          </a:graphicData>
        </a:graphic>
      </p:graphicFrame>
      <p:sp>
        <p:nvSpPr>
          <p:cNvPr id="2" name="Date Placeholder 1"/>
          <p:cNvSpPr>
            <a:spLocks noGrp="1"/>
          </p:cNvSpPr>
          <p:nvPr>
            <p:ph type="dt" sz="half" idx="10"/>
          </p:nvPr>
        </p:nvSpPr>
        <p:spPr/>
        <p:txBody>
          <a:bodyPr/>
          <a:lstStyle/>
          <a:p>
            <a:pPr>
              <a:defRPr/>
            </a:pPr>
            <a:fld id="{4C97BFF2-D677-4297-993C-190708009EFF}"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smtClean="0"/>
              <a:t>UEC719</a:t>
            </a:r>
            <a:endParaRPr lang="en-US"/>
          </a:p>
        </p:txBody>
      </p:sp>
      <p:sp>
        <p:nvSpPr>
          <p:cNvPr id="6" name="Slide Number Placeholder 5"/>
          <p:cNvSpPr>
            <a:spLocks noGrp="1"/>
          </p:cNvSpPr>
          <p:nvPr>
            <p:ph type="sldNum" sz="quarter" idx="12"/>
          </p:nvPr>
        </p:nvSpPr>
        <p:spPr/>
        <p:txBody>
          <a:bodyPr/>
          <a:lstStyle/>
          <a:p>
            <a:pPr>
              <a:defRPr/>
            </a:pPr>
            <a:fld id="{472317C8-B743-4745-AB78-E1008DA291EF}" type="slidenum">
              <a:rPr lang="en-US" altLang="en-US" smtClean="0"/>
              <a:pPr>
                <a:defRPr/>
              </a:pPr>
              <a:t>34</a:t>
            </a:fld>
            <a:endParaRPr lang="en-US"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2122</TotalTime>
  <Words>1387</Words>
  <Application>Microsoft Office PowerPoint</Application>
  <PresentationFormat>On-screen Show (4:3)</PresentationFormat>
  <Paragraphs>351</Paragraphs>
  <Slides>34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Cambria</vt:lpstr>
      <vt:lpstr>Cambria Math</vt:lpstr>
      <vt:lpstr>Times New Roman</vt:lpstr>
      <vt:lpstr>Wingdings</vt:lpstr>
      <vt:lpstr>Default Design</vt:lpstr>
      <vt:lpstr>5G WIRELESS COMMUNICATION  (UEC 719) </vt:lpstr>
      <vt:lpstr>PowerPoint Presentation</vt:lpstr>
      <vt:lpstr>PowerPoint Presentation</vt:lpstr>
      <vt:lpstr>Need of multi-carrier communication system [T. S. Rappaport (2002)]</vt:lpstr>
      <vt:lpstr>Flat Fading  [T. S. Rappaport (2002)]</vt:lpstr>
      <vt:lpstr>Frequency Selective Fading  [T. S. Rappaport (2002)]</vt:lpstr>
      <vt:lpstr>Evolution of Multi-Carrier Communication</vt:lpstr>
      <vt:lpstr>Illustration of Multipath Interference</vt:lpstr>
      <vt:lpstr>Illustration of Multipath Interference</vt:lpstr>
      <vt:lpstr>Illustration of Multipath Interference</vt:lpstr>
      <vt:lpstr>Illustration of Multipath Interference</vt:lpstr>
      <vt:lpstr>Illustration of Multipath Interference</vt:lpstr>
      <vt:lpstr>Illustration of Multipath Interference</vt:lpstr>
      <vt:lpstr>Orthogonal Fréquence Division Multiplexing  [S. Hara and R. Prasad (2003)] </vt:lpstr>
      <vt:lpstr>Historical Development of OFDM  [S. Hara and R. Prasad (2003)] </vt:lpstr>
      <vt:lpstr>OFDM principle</vt:lpstr>
      <vt:lpstr>OFDM principle</vt:lpstr>
      <vt:lpstr>Basic Structure of Multi-carrier Transmission</vt:lpstr>
      <vt:lpstr>PowerPoint Presentation</vt:lpstr>
      <vt:lpstr>Improved Spectral efficiency</vt:lpstr>
      <vt:lpstr>principle of orthogonality</vt:lpstr>
      <vt:lpstr>principle of orthogonality for ofdm</vt:lpstr>
      <vt:lpstr>principle of orthogonality for ofdm</vt:lpstr>
      <vt:lpstr>OFDM System Model  [S. Hara and R. Prasad (2003)]</vt:lpstr>
      <vt:lpstr>ADVANTAGES OF OFDM SYSTEM</vt:lpstr>
      <vt:lpstr>PowerPoint Presentation</vt:lpstr>
      <vt:lpstr>Flexibility of OFDM</vt:lpstr>
      <vt:lpstr>Major Challenges of OFDM System</vt:lpstr>
      <vt:lpstr>Major Challenges of OFDM System</vt:lpstr>
      <vt:lpstr>PowerPoint Presentation</vt:lpstr>
      <vt:lpstr>Major Challenges of OFDM System</vt:lpstr>
      <vt:lpstr>PowerPoint Presentation</vt:lpstr>
      <vt:lpstr>Key Parameters of Different Standards based on OFDM</vt:lpstr>
      <vt:lpstr>Key Parameters of Different Standards based on OFDM</vt:lpstr>
    </vt:vector>
  </TitlesOfParts>
  <Company>jiet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of Research</dc:title>
  <dc:creator>hemdutt.joshi</dc:creator>
  <cp:lastModifiedBy>ti</cp:lastModifiedBy>
  <cp:revision>299</cp:revision>
  <dcterms:created xsi:type="dcterms:W3CDTF">2007-08-08T07:13:51Z</dcterms:created>
  <dcterms:modified xsi:type="dcterms:W3CDTF">2025-09-02T11:23:01Z</dcterms:modified>
</cp:coreProperties>
</file>
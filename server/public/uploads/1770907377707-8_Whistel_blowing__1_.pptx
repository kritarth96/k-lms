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88" r:id="rId3"/>
    <p:sldId id="265" r:id="rId4"/>
    <p:sldId id="266" r:id="rId5"/>
    <p:sldId id="286" r:id="rId6"/>
    <p:sldId id="287" r:id="rId7"/>
    <p:sldId id="257" r:id="rId8"/>
    <p:sldId id="263" r:id="rId9"/>
    <p:sldId id="264" r:id="rId10"/>
    <p:sldId id="260" r:id="rId11"/>
    <p:sldId id="261" r:id="rId12"/>
    <p:sldId id="262" r:id="rId13"/>
    <p:sldId id="267" r:id="rId14"/>
    <p:sldId id="268" r:id="rId15"/>
    <p:sldId id="269" r:id="rId16"/>
    <p:sldId id="284" r:id="rId17"/>
    <p:sldId id="28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22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08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57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41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22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9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9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1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7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0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3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4169" y="120501"/>
            <a:ext cx="6629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22056" y="6650666"/>
            <a:ext cx="1905000" cy="191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34" y="6629400"/>
            <a:ext cx="2209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31763" y="6625862"/>
            <a:ext cx="6858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 rot="16200000">
            <a:off x="8389359" y="5624452"/>
            <a:ext cx="12843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dirty="0" smtClean="0">
                <a:solidFill>
                  <a:schemeClr val="bg1">
                    <a:lumMod val="65000"/>
                  </a:schemeClr>
                </a:solidFill>
              </a:rPr>
              <a:t>Copyright 2013-2014</a:t>
            </a:r>
            <a:endParaRPr lang="en-US" sz="1000" b="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47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915400" cy="5486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>
                <a:latin typeface="+mj-lt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47800" y="2667000"/>
            <a:ext cx="4952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Whistleblowing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Whistleblowing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410200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the act by an employee,  informing the public or higher management of unethical or illegal behavior by an employee, or supervisor.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According to the codes of ethics of the professional engineering,  societies, engineers have a duty to protect the health &amp; safety of the public.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So in many cases, an engineer is compelled to blow the whistle on acts or projects that harm these values.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An engineers also have the professional right to disclose wrong doing within their organizations &amp; expect to see appropriate action.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What is Whistle Blowing 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10600" cy="4648200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“Whistle Blowing” is the term used to refer to unauthorized reporting or disclosure of confidential information in institutional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settings.</a:t>
            </a:r>
          </a:p>
          <a:p>
            <a:pPr algn="just">
              <a:lnSpc>
                <a:spcPct val="90000"/>
              </a:lnSpc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whistleblower steps outside the approved channels of communication to disclose information to an audience who normally would not be entitled to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it.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458200" cy="4830763"/>
          </a:xfrm>
        </p:spPr>
        <p:txBody>
          <a:bodyPr/>
          <a:lstStyle/>
          <a:p>
            <a:pPr algn="just"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unauthorized public disclosure of privileged information by an employee to protect the public interest</a:t>
            </a:r>
          </a:p>
          <a:p>
            <a:pPr lvl="1" algn="just">
              <a:buClrTx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must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be public</a:t>
            </a:r>
          </a:p>
          <a:p>
            <a:pPr lvl="1" algn="just">
              <a:buClrTx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must be information the employee has access to by virtue of their job position</a:t>
            </a:r>
          </a:p>
          <a:p>
            <a:pPr lvl="2" algn="just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i.e. not simply personal opinion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66294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0000"/>
                </a:solidFill>
                <a:cs typeface="Times New Roman" pitchFamily="18" charset="0"/>
              </a:rPr>
              <a:t>Kinds of Whistle blowing:</a:t>
            </a:r>
            <a:br>
              <a:rPr lang="en-US" b="1" dirty="0" smtClean="0">
                <a:solidFill>
                  <a:srgbClr val="000000"/>
                </a:solidFill>
                <a:cs typeface="Times New Roman" pitchFamily="18" charset="0"/>
              </a:rPr>
            </a:br>
            <a:endParaRPr lang="en-US" b="1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686800" cy="5029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Internal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Whistle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blowing is made to someone within the organization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Personal Whistle blowing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blowing the whistle on the offender, here the charge is not against the organization or system but against one individual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The impersonal, External Whistle Blowing: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blowing the whistle against third party or organization.</a:t>
            </a: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534400" cy="52578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Rarely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whistleblower are honored as heroes by their fellow workers, for the following reasons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doubt the loyalty of the whistle blower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 the employer.</a:t>
            </a:r>
          </a:p>
          <a:p>
            <a:pPr algn="just"/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whistleblower is perceived as a traitor, as someone who has damage the firm - the working family to which he/she belongs.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0" y="0"/>
            <a:ext cx="9144000" cy="126523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When should Whistleblowing be attempted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1816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Need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Proximity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Capability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Last resort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cs typeface="Times New Roman" pitchFamily="18" charset="0"/>
              </a:rPr>
              <a:t>When should Whistleblowing be attempted</a:t>
            </a:r>
            <a:endParaRPr lang="en-US" sz="3600" b="1" dirty="0"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839200" cy="5791200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>
                <a:latin typeface="+mj-lt"/>
                <a:cs typeface="Times New Roman" pitchFamily="18" charset="0"/>
              </a:rPr>
              <a:t>	Need:</a:t>
            </a:r>
            <a:r>
              <a:rPr lang="en-US" dirty="0" smtClean="0">
                <a:latin typeface="+mj-lt"/>
                <a:cs typeface="Times New Roman" pitchFamily="18" charset="0"/>
              </a:rPr>
              <a:t> there must be clear &amp; important harm that can be avoided by blowing the whistle. Employee must understand that you need not to blow the whistle about everything but just about the important issues.</a:t>
            </a:r>
          </a:p>
          <a:p>
            <a:pPr algn="just">
              <a:buNone/>
            </a:pPr>
            <a:endParaRPr lang="en-US" dirty="0" smtClean="0">
              <a:latin typeface="+mj-lt"/>
              <a:cs typeface="Times New Roman" pitchFamily="18" charset="0"/>
            </a:endParaRPr>
          </a:p>
          <a:p>
            <a:pPr algn="just">
              <a:buNone/>
            </a:pPr>
            <a:r>
              <a:rPr lang="en-US" b="1" dirty="0" smtClean="0">
                <a:latin typeface="+mj-lt"/>
                <a:cs typeface="Times New Roman" pitchFamily="18" charset="0"/>
              </a:rPr>
              <a:t>	Proximity: </a:t>
            </a:r>
            <a:r>
              <a:rPr lang="en-US" dirty="0" smtClean="0">
                <a:latin typeface="+mj-lt"/>
                <a:cs typeface="Times New Roman" pitchFamily="18" charset="0"/>
              </a:rPr>
              <a:t>the whistleblower must be in a very clear position to report on the problem. Rumors are not adequate. Firsthand knowledge is essential to make an effective case about wrong doing.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102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3400" b="1" dirty="0" smtClean="0">
                <a:latin typeface="+mj-lt"/>
                <a:cs typeface="Times New Roman" pitchFamily="18" charset="0"/>
              </a:rPr>
              <a:t>	Capability:</a:t>
            </a:r>
            <a:r>
              <a:rPr lang="en-US" sz="3400" dirty="0" smtClean="0">
                <a:latin typeface="+mj-lt"/>
                <a:cs typeface="Times New Roman" pitchFamily="18" charset="0"/>
              </a:rPr>
              <a:t> the whistleblower must have a chance of success in stopping the harmful activity. You are not obligated to risk your career &amp; the financial security of your family.</a:t>
            </a:r>
          </a:p>
          <a:p>
            <a:pPr algn="just">
              <a:buNone/>
            </a:pPr>
            <a:endParaRPr lang="en-US" sz="3400" dirty="0" smtClean="0">
              <a:latin typeface="+mj-lt"/>
              <a:cs typeface="Times New Roman" pitchFamily="18" charset="0"/>
            </a:endParaRPr>
          </a:p>
          <a:p>
            <a:pPr algn="just">
              <a:buNone/>
            </a:pPr>
            <a:r>
              <a:rPr lang="en-US" sz="3400" b="1" dirty="0" smtClean="0">
                <a:latin typeface="+mj-lt"/>
                <a:cs typeface="Times New Roman" pitchFamily="18" charset="0"/>
              </a:rPr>
              <a:t>	Last resort: </a:t>
            </a:r>
            <a:r>
              <a:rPr lang="en-US" sz="3400" dirty="0" smtClean="0">
                <a:latin typeface="+mj-lt"/>
                <a:cs typeface="Times New Roman" pitchFamily="18" charset="0"/>
              </a:rPr>
              <a:t>whistle blowing should be attempted only if there is no one else capable or more proximate to blow the whistle &amp; if you feel that all other lines of action within the context of the organization have explored &amp; shut off.</a:t>
            </a:r>
          </a:p>
          <a:p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4000"/>
              <a:t>Whistleblower Provisions of Sarbanes-Oxley</a:t>
            </a:r>
          </a:p>
        </p:txBody>
      </p:sp>
      <p:graphicFrame>
        <p:nvGraphicFramePr>
          <p:cNvPr id="666630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2257425" y="1801813"/>
          <a:ext cx="4629150" cy="412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hoto Editor Photo" r:id="rId3" imgW="4629796" imgH="4123810" progId="">
                  <p:embed/>
                </p:oleObj>
              </mc:Choice>
              <mc:Fallback>
                <p:oleObj name="Photo Editor Photo" r:id="rId3" imgW="4629796" imgH="4123810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1801813"/>
                        <a:ext cx="4629150" cy="412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4000"/>
              <a:t>Whistleblower Provisions of Sarbanes-Oxley (continued)</a:t>
            </a:r>
          </a:p>
        </p:txBody>
      </p:sp>
      <p:graphicFrame>
        <p:nvGraphicFramePr>
          <p:cNvPr id="662538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1703388" y="1600200"/>
          <a:ext cx="5507037" cy="490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Photo Editor Photo" r:id="rId3" imgW="4629796" imgH="4123810" progId="">
                  <p:embed/>
                </p:oleObj>
              </mc:Choice>
              <mc:Fallback>
                <p:oleObj name="Photo Editor Photo" r:id="rId3" imgW="4629796" imgH="4123810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1600200"/>
                        <a:ext cx="5507037" cy="490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4000"/>
              <a:t>Whistleblower Provisions of Sarbanes-Oxley (continued)</a:t>
            </a:r>
          </a:p>
        </p:txBody>
      </p:sp>
      <p:graphicFrame>
        <p:nvGraphicFramePr>
          <p:cNvPr id="68096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993900" y="1874838"/>
          <a:ext cx="5080000" cy="452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Photo Editor Photo" r:id="rId3" imgW="4629796" imgH="4123810" progId="">
                  <p:embed/>
                </p:oleObj>
              </mc:Choice>
              <mc:Fallback>
                <p:oleObj name="Photo Editor Photo" r:id="rId3" imgW="4629796" imgH="4123810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1874838"/>
                        <a:ext cx="5080000" cy="452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Purpose of Whistle Blowing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534400" cy="5257800"/>
          </a:xfrm>
        </p:spPr>
        <p:txBody>
          <a:bodyPr>
            <a:normAutofit/>
          </a:bodyPr>
          <a:lstStyle/>
          <a:p>
            <a:pPr algn="just"/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To draw attention to unethical, inappropriate or incompetent conduct which has or may have detrimental effects either for the institution or for those affected by its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functions.</a:t>
            </a:r>
          </a:p>
          <a:p>
            <a:pPr algn="just">
              <a:buNone/>
            </a:pP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It extends to situations where an individual believes that an activity is harmful while others involved are not aware of it or reject the perception that is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involved.</a:t>
            </a: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0501"/>
            <a:ext cx="7162799" cy="8382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Characteristics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Whistle Blowing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86800" cy="46021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The whistleblowers are prepared to take full responsibility for their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actions.</a:t>
            </a: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Implies a concern for the preservation of ethical values which overrides a concern for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self-preservation.</a:t>
            </a: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Whistleblowers open themselves to the risk of losing personal and financial security,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and isolation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and yet they feel compelled to make the disclosure and to stand by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it.</a:t>
            </a: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0501"/>
            <a:ext cx="7162799" cy="8382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/>
              <a:t>Criteria </a:t>
            </a:r>
            <a:r>
              <a:rPr lang="en-US" altLang="zh-TW" dirty="0">
                <a:latin typeface="Times New Roman"/>
              </a:rPr>
              <a:t>–</a:t>
            </a:r>
            <a:r>
              <a:rPr lang="en-US" altLang="zh-TW" dirty="0"/>
              <a:t> Is </a:t>
            </a:r>
            <a:r>
              <a:rPr lang="en-US" altLang="zh-TW" dirty="0" smtClean="0"/>
              <a:t>Whistle-Blowing Justified</a:t>
            </a:r>
            <a:r>
              <a:rPr lang="en-US" altLang="zh-TW" dirty="0"/>
              <a:t>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458200" cy="46021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Is the whistle-blower acting in the public interest?</a:t>
            </a:r>
          </a:p>
          <a:p>
            <a:pPr lvl="1" algn="just">
              <a:lnSpc>
                <a:spcPct val="90000"/>
              </a:lnSpc>
              <a:buClrTx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what is the public interest?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life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health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safety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environment?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wasting tax dollars?</a:t>
            </a:r>
          </a:p>
          <a:p>
            <a:pPr lvl="1" algn="just">
              <a:lnSpc>
                <a:spcPct val="90000"/>
              </a:lnSpc>
              <a:buClrTx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who should judge?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the whistle-blower?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the government</a:t>
            </a:r>
          </a:p>
          <a:p>
            <a:pPr lvl="2" algn="just">
              <a:lnSpc>
                <a:spcPct val="90000"/>
              </a:lnSpc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a third party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6783569" cy="958701"/>
          </a:xfrm>
        </p:spPr>
        <p:txBody>
          <a:bodyPr>
            <a:normAutofit fontScale="90000"/>
          </a:bodyPr>
          <a:lstStyle/>
          <a:p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Laws Protecting Whistle Blowers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0" y="1219200"/>
            <a:ext cx="8839200" cy="5410200"/>
          </a:xfrm>
        </p:spPr>
        <p:txBody>
          <a:bodyPr>
            <a:normAutofit/>
          </a:bodyPr>
          <a:lstStyle/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Whistle Blowers in some areas are not without legal support.  In United States, both federal and state laws are aimed at protecting those who undertake whistle blowing.</a:t>
            </a:r>
          </a:p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However, even with this support, the potential whistle blower must still contemplate a difficult and dangerous path.</a:t>
            </a:r>
          </a:p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The primary protection law is the Federal Whistle Blower Protection Act of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1989.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Another Federal Law is the False Claims Act, which has been around since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1863.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Many state governments have passed their own whistle blower protection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acts.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10600" cy="5410200"/>
          </a:xfrm>
        </p:spPr>
        <p:txBody>
          <a:bodyPr>
            <a:noAutofit/>
          </a:bodyPr>
          <a:lstStyle/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 whistle blowing incident is probably the most emotionally difficult thing you can experience as a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professional.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Not every incident that should result in whistle blowing does, sometimes the whistle is “swallowed” rather than blown</a:t>
            </a:r>
          </a:p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In some cases, there are federal and state laws meant to provide protection for the whistle blowers</a:t>
            </a:r>
          </a:p>
          <a:p>
            <a:pPr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If you find yourself in a possible whistle-blowing incident, you should exhaust all internal alternatives for addressing the problem and accumulate all documentation possible.  If blowing the whistle becomes the only alternative, then you should anticipate a job change and you should get good legal representation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583</TotalTime>
  <Words>578</Words>
  <Application>Microsoft Office PowerPoint</Application>
  <PresentationFormat>On-screen Show (4:3)</PresentationFormat>
  <Paragraphs>74</Paragraphs>
  <Slides>17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Theme1</vt:lpstr>
      <vt:lpstr>Photo Editor Photo</vt:lpstr>
      <vt:lpstr>PowerPoint Presentation</vt:lpstr>
      <vt:lpstr>Whistleblowing</vt:lpstr>
      <vt:lpstr>What is Whistle Blowing ?</vt:lpstr>
      <vt:lpstr>PowerPoint Presentation</vt:lpstr>
      <vt:lpstr>Kinds of Whistle blowing: </vt:lpstr>
      <vt:lpstr>PowerPoint Presentation</vt:lpstr>
      <vt:lpstr>When should Whistleblowing be attempted</vt:lpstr>
      <vt:lpstr>When should Whistleblowing be attempted</vt:lpstr>
      <vt:lpstr>PowerPoint Presentation</vt:lpstr>
      <vt:lpstr>Whistleblower Provisions of Sarbanes-Oxley</vt:lpstr>
      <vt:lpstr>Whistleblower Provisions of Sarbanes-Oxley (continued)</vt:lpstr>
      <vt:lpstr>Whistleblower Provisions of Sarbanes-Oxley (continued)</vt:lpstr>
      <vt:lpstr>Purpose of Whistle Blowing</vt:lpstr>
      <vt:lpstr>Characteristics of Whistle Blowing</vt:lpstr>
      <vt:lpstr>Criteria – Is Whistle-Blowing Justified?</vt:lpstr>
      <vt:lpstr>Laws Protecting Whistle Blowers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Whistleblowing</dc:title>
  <dc:creator>isha</dc:creator>
  <cp:lastModifiedBy>Ti</cp:lastModifiedBy>
  <cp:revision>8</cp:revision>
  <dcterms:created xsi:type="dcterms:W3CDTF">2006-08-16T00:00:00Z</dcterms:created>
  <dcterms:modified xsi:type="dcterms:W3CDTF">2023-07-07T12:44:26Z</dcterms:modified>
</cp:coreProperties>
</file>
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80" r:id="rId4"/>
    <p:sldId id="273" r:id="rId5"/>
    <p:sldId id="281" r:id="rId6"/>
    <p:sldId id="285" r:id="rId7"/>
    <p:sldId id="274" r:id="rId8"/>
    <p:sldId id="275" r:id="rId9"/>
    <p:sldId id="276" r:id="rId10"/>
    <p:sldId id="282" r:id="rId11"/>
    <p:sldId id="283" r:id="rId12"/>
    <p:sldId id="284" r:id="rId13"/>
    <p:sldId id="267" r:id="rId14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589" y="-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C512F-57E2-4347-8AB9-97726AFAFBD4}" type="datetimeFigureOut">
              <a:rPr lang="en-US" smtClean="0"/>
              <a:pPr/>
              <a:t>9/16/2020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76728-E605-4C9D-BB71-97F5CA16A8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E5AC8-DF32-4530-BE70-4DF10E957B0F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DC05-DC1C-4BC7-83D0-F2C687841CD6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4021-6D00-490C-8F05-8D1CB4FDB300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B5E5-83F0-489B-A5B1-2EA4EABA0270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58A4-F9DF-4793-AEFB-9444EF4A4B9E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DFC1B-246B-4E89-B316-110A873EC268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D7A26-3A9D-42B8-9383-DEFFCAB98889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9A30-FFAB-4DBF-94A6-2E145F2FCA2A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C8A4-2A60-4EF9-9287-209AD1D300D3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6E30-7210-464E-8302-9DD7751FDC36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0983-422B-47AA-A7F1-7ABBD3BE51B8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72A2C-A8D6-4D99-8E80-99D45247B09F}" type="datetime1">
              <a:rPr lang="en-US" smtClean="0"/>
              <a:pPr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and Mobile Communication</a:t>
            </a:r>
            <a:br>
              <a:rPr lang="en-US" dirty="0" smtClean="0"/>
            </a:br>
            <a:r>
              <a:rPr lang="en-US" dirty="0" smtClean="0"/>
              <a:t>(UEC 804) </a:t>
            </a:r>
            <a:endParaRPr lang="en-US" dirty="0"/>
          </a:p>
        </p:txBody>
      </p:sp>
      <p:grpSp>
        <p:nvGrpSpPr>
          <p:cNvPr id="3" name="Group 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1143000" y="4743271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Reference Text book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“Wireless communication_ principles and practices” (Second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>
                <a:solidFill>
                  <a:srgbClr val="C00000"/>
                </a:solidFill>
              </a:rPr>
              <a:t>dition )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Author: Theodore s Rapport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Publisher: Prentice Hall (2002)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8400" y="2286000"/>
            <a:ext cx="5562600" cy="1447800"/>
          </a:xfrm>
        </p:spPr>
        <p:txBody>
          <a:bodyPr/>
          <a:lstStyle/>
          <a:p>
            <a:pPr>
              <a:buNone/>
            </a:pPr>
            <a:r>
              <a:rPr lang="en-US" sz="6600" dirty="0" smtClean="0">
                <a:solidFill>
                  <a:srgbClr val="C00000"/>
                </a:solidFill>
              </a:rPr>
              <a:t>MODULE -IV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5" cy="5538266"/>
              <a:chOff x="211286" y="1131023"/>
              <a:chExt cx="13623320" cy="6982618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57200" y="990600"/>
            <a:ext cx="6377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video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38200" y="18288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5750">
              <a:buFont typeface="Arial" pitchFamily="34" charset="0"/>
              <a:buChar char="•"/>
            </a:pPr>
            <a:r>
              <a:rPr lang="en-US" sz="2000" dirty="0" smtClean="0"/>
              <a:t>Propagation Basics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Introduction to Radio Wave Propagation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304800" y="1981200"/>
            <a:ext cx="8610600" cy="2957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Mobile radio channel places fundamental limitations on the performance of wireless</a:t>
            </a:r>
            <a:br>
              <a:rPr lang="en-US" dirty="0" smtClean="0"/>
            </a:br>
            <a:r>
              <a:rPr lang="en-US" dirty="0" smtClean="0"/>
              <a:t>communication systems 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Paths can vary from simple line-of-sight to ones that are severely obstructed by buildings, mountains, and foliage 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Radio channels are extremely random and difficult to analyze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The speed of motion also impacts how rapidly the signal level fades as a mobile terminals moves about.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81000" y="762000"/>
            <a:ext cx="800100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When electrons move, they create electromagnetic waves that can propagate through space. By attaching appropriate antenna, these waves can be broadcast efficiently . But when we transmit these ways wirelessly,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/>
      <p:bldP spid="16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-1" y="65325"/>
            <a:ext cx="9144001" cy="6792675"/>
            <a:chOff x="-1" y="65325"/>
            <a:chExt cx="9144001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-1" y="404838"/>
              <a:ext cx="9144001" cy="6453162"/>
              <a:chOff x="-323095" y="776786"/>
              <a:chExt cx="14645897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5" y="1232011"/>
                <a:ext cx="14645897" cy="7680891"/>
                <a:chOff x="-323095" y="1232011"/>
                <a:chExt cx="14645897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6820" y="7511610"/>
                  <a:ext cx="903684" cy="1016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1537" y="7952943"/>
                  <a:ext cx="903684" cy="1016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371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Properties of Radio wave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8600" y="990600"/>
            <a:ext cx="8534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Are easy to generate</a:t>
            </a:r>
          </a:p>
          <a:p>
            <a:pPr marL="346075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Can travel long distance</a:t>
            </a:r>
          </a:p>
          <a:p>
            <a:pPr marL="346075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Can penetrate buildings</a:t>
            </a:r>
          </a:p>
          <a:p>
            <a:pPr marL="346075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May be used for both indoor and outdoor communication</a:t>
            </a:r>
          </a:p>
          <a:p>
            <a:pPr marL="346075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Are </a:t>
            </a:r>
            <a:r>
              <a:rPr lang="en-US" dirty="0" err="1" smtClean="0"/>
              <a:t>omni</a:t>
            </a:r>
            <a:r>
              <a:rPr lang="en-US" dirty="0" smtClean="0"/>
              <a:t>-directional-can travel in all directions</a:t>
            </a:r>
          </a:p>
          <a:p>
            <a:pPr marL="346075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Can be narrowly focused at high frequencies (greater than 100 MHz) using parabolic antenna(like satellite dishes) </a:t>
            </a:r>
          </a:p>
          <a:p>
            <a:pPr marL="346075" indent="-285750" algn="just">
              <a:lnSpc>
                <a:spcPct val="150000"/>
              </a:lnSpc>
              <a:buFont typeface="Wingdings" pitchFamily="2" charset="2"/>
              <a:buChar char="Ø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-1" y="65325"/>
            <a:ext cx="9144001" cy="6792675"/>
            <a:chOff x="-1" y="65325"/>
            <a:chExt cx="9144001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-1" y="404838"/>
              <a:ext cx="9144001" cy="6453162"/>
              <a:chOff x="-323095" y="776786"/>
              <a:chExt cx="14645897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5" y="1232011"/>
                <a:ext cx="14645897" cy="7680891"/>
                <a:chOff x="-323095" y="1232011"/>
                <a:chExt cx="14645897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6820" y="7511610"/>
                  <a:ext cx="903684" cy="1016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1537" y="7952943"/>
                  <a:ext cx="903684" cy="1016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371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Properties of Radio wave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4800" y="914400"/>
            <a:ext cx="8534400" cy="2126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285750" algn="just">
              <a:lnSpc>
                <a:spcPct val="150000"/>
              </a:lnSpc>
            </a:pPr>
            <a:r>
              <a:rPr lang="en-US" b="1" dirty="0" smtClean="0"/>
              <a:t>Frequency-dependence</a:t>
            </a:r>
          </a:p>
          <a:p>
            <a:pPr lvl="1" indent="233363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/>
              <a:t>Behave more like light at higher frequencies</a:t>
            </a:r>
          </a:p>
          <a:p>
            <a:pPr lvl="2" indent="346075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smtClean="0"/>
              <a:t>Difficulty in passing obstacles</a:t>
            </a:r>
          </a:p>
          <a:p>
            <a:pPr lvl="2" indent="346075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smtClean="0"/>
              <a:t>More direct path</a:t>
            </a:r>
          </a:p>
          <a:p>
            <a:pPr lvl="2" indent="346075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smtClean="0"/>
              <a:t>Absorbed by 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800" y="3048000"/>
            <a:ext cx="6477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0563" lvl="2" indent="-295275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/>
              <a:t>Behave more like radio at lower frequencies</a:t>
            </a:r>
          </a:p>
          <a:p>
            <a:pPr marL="1311275" lvl="3" indent="-396875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smtClean="0"/>
              <a:t>Can pass obstacles</a:t>
            </a:r>
          </a:p>
          <a:p>
            <a:pPr marL="1311275" lvl="3" indent="-396875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smtClean="0"/>
              <a:t>Power falls off sharply with distance from Source</a:t>
            </a:r>
          </a:p>
          <a:p>
            <a:pPr marL="457200" lvl="3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/>
              <a:t>  Subject to interference from other radio sources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04800" y="914400"/>
            <a:ext cx="8077200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371600" y="1"/>
            <a:ext cx="647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Problems Unique to Wireless systems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" y="533400"/>
            <a:ext cx="8458200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6875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Interference from other service providers, Interference from other users (same network)</a:t>
            </a:r>
          </a:p>
          <a:p>
            <a:pPr marL="396875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CCI due to frequency reuse</a:t>
            </a:r>
          </a:p>
          <a:p>
            <a:pPr marL="396875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ACI due to </a:t>
            </a:r>
            <a:r>
              <a:rPr lang="en-US" dirty="0" err="1" smtClean="0"/>
              <a:t>Tx</a:t>
            </a:r>
            <a:r>
              <a:rPr lang="en-US" dirty="0" smtClean="0"/>
              <a:t>/Rx design limitations large users sharing finite BW</a:t>
            </a:r>
          </a:p>
          <a:p>
            <a:pPr marL="396875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Obstructions to line-of-sight paths cause areas of weak received signal strength</a:t>
            </a:r>
          </a:p>
          <a:p>
            <a:pPr marL="396875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Fading</a:t>
            </a:r>
          </a:p>
          <a:p>
            <a:pPr marL="396875" indent="-285750">
              <a:lnSpc>
                <a:spcPct val="150000"/>
              </a:lnSpc>
            </a:pPr>
            <a:r>
              <a:rPr lang="en-US" dirty="0" smtClean="0"/>
              <a:t>      When no clear line-of-sight path exists, signals are received that are reflections off</a:t>
            </a:r>
            <a:br>
              <a:rPr lang="en-US" dirty="0" smtClean="0"/>
            </a:br>
            <a:r>
              <a:rPr lang="en-US" dirty="0" smtClean="0"/>
              <a:t>obstructions and diffractions around obstructions, multipath signals can be received that interfere with each other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04800" y="4909572"/>
            <a:ext cx="84582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6875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For fixed Wireless Channel , modeling of random unpredictable channel must be characterized in a statistical fashion</a:t>
            </a:r>
          </a:p>
          <a:p>
            <a:pPr marL="396875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Field measurements often needed to characterize radio channel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431268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Solution 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p"/>
      <p:bldP spid="20" grpId="0" build="p"/>
      <p:bldP spid="2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-51329" y="65325"/>
            <a:ext cx="9195329" cy="6879195"/>
            <a:chOff x="-51329" y="65325"/>
            <a:chExt cx="9195329" cy="687919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-51329" y="404838"/>
              <a:ext cx="9195329" cy="6539682"/>
              <a:chOff x="-405307" y="776786"/>
              <a:chExt cx="14728109" cy="8245200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405307" y="1232011"/>
                <a:ext cx="14728109" cy="7789975"/>
                <a:chOff x="-405307" y="1232011"/>
                <a:chExt cx="14728109" cy="7789975"/>
              </a:xfrm>
            </p:grpSpPr>
            <p:sp>
              <p:nvSpPr>
                <p:cNvPr id="12" name="Half Frame 11"/>
                <p:cNvSpPr/>
                <p:nvPr/>
              </p:nvSpPr>
              <p:spPr>
                <a:xfrm rot="16200000">
                  <a:off x="-275467" y="7245901"/>
                  <a:ext cx="1204914" cy="146459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72888" y="7687231"/>
                  <a:ext cx="1204916" cy="146459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1"/>
            <a:ext cx="8610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Transmission path between </a:t>
            </a:r>
            <a:r>
              <a:rPr lang="en-US" sz="3200" dirty="0" err="1" smtClean="0">
                <a:solidFill>
                  <a:schemeClr val="bg1"/>
                </a:solidFill>
              </a:rPr>
              <a:t>Tx</a:t>
            </a:r>
            <a:r>
              <a:rPr lang="en-US" sz="3200" dirty="0" smtClean="0">
                <a:solidFill>
                  <a:schemeClr val="bg1"/>
                </a:solidFill>
              </a:rPr>
              <a:t> and Rx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0" y="8001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9600" y="838200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Line of Sight (LOS)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9218" name="Picture 2" descr="See the source ima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990600"/>
            <a:ext cx="4444999" cy="2286000"/>
          </a:xfrm>
          <a:prstGeom prst="rect">
            <a:avLst/>
          </a:prstGeom>
          <a:noFill/>
        </p:spPr>
      </p:pic>
      <p:sp>
        <p:nvSpPr>
          <p:cNvPr id="9220" name="AutoShape 4" descr="See the source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22" name="Picture 6" descr="See the source imag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24200" y="3848100"/>
            <a:ext cx="4724400" cy="2857500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/>
        </p:nvSpPr>
        <p:spPr>
          <a:xfrm>
            <a:off x="457200" y="3352800"/>
            <a:ext cx="2474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Non Line of Sight (NLOS)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7026491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81000" y="1"/>
            <a:ext cx="8991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Mechanisms that affect the radio propagation 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914400"/>
            <a:ext cx="853440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Reflection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Diffraction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Scattering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52400" y="2438400"/>
            <a:ext cx="83058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In urban areas, there is no direct line-of-sight path between the transmitter and the receiver, and where the presence of high- rise buildings causes severe diffraction loss  Multiple reflections cause multi-path fading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8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0" y="914400"/>
            <a:ext cx="8686800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163" indent="-284163"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i="1" dirty="0" smtClean="0"/>
              <a:t>Reflections </a:t>
            </a:r>
            <a:r>
              <a:rPr lang="en-US" dirty="0" smtClean="0"/>
              <a:t>arise when the plane waves are incident upon a surface with dimensions that are very large compared to the wavelength </a:t>
            </a:r>
          </a:p>
          <a:p>
            <a:pPr marL="284163" indent="-284163"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i="1" dirty="0" smtClean="0"/>
              <a:t>Diffraction</a:t>
            </a:r>
            <a:r>
              <a:rPr lang="en-US" dirty="0" smtClean="0"/>
              <a:t> occurs according to Huygens's principle when there is an obstruction between the transmitter and receiver antennas, and secondary waves are generated behind the obstructing body</a:t>
            </a:r>
          </a:p>
          <a:p>
            <a:pPr marL="284163" indent="-284163"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i="1" dirty="0" smtClean="0"/>
              <a:t>Scattering </a:t>
            </a:r>
            <a:r>
              <a:rPr lang="en-US" dirty="0" smtClean="0"/>
              <a:t>occurs when the plane waves are incident upon an object whose dimensions are on the order of a wavelength or less, and causes the energy to be redirected in many directions.</a:t>
            </a:r>
          </a:p>
          <a:p>
            <a:pPr marL="741363" lvl="1" indent="-284163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 smtClean="0"/>
              <a:t>Scattering is produced by small </a:t>
            </a:r>
            <a:r>
              <a:rPr lang="en-US" dirty="0" err="1" smtClean="0"/>
              <a:t>objcts</a:t>
            </a:r>
            <a:r>
              <a:rPr lang="en-US" dirty="0" smtClean="0"/>
              <a:t> , rough surfaces and other </a:t>
            </a:r>
            <a:r>
              <a:rPr lang="en-US" dirty="0" err="1" smtClean="0"/>
              <a:t>irregularitirs</a:t>
            </a:r>
            <a:r>
              <a:rPr lang="en-US" dirty="0" smtClean="0"/>
              <a:t> in channel and causes the transmitted energy to be radiated in many directions. </a:t>
            </a:r>
            <a:r>
              <a:rPr lang="en-US" dirty="0" err="1" smtClean="0"/>
              <a:t>E.g</a:t>
            </a:r>
            <a:r>
              <a:rPr lang="en-US" dirty="0" smtClean="0"/>
              <a:t> lamp post and street signs may cause scattering</a:t>
            </a:r>
          </a:p>
          <a:p>
            <a:pPr marL="284163" indent="-284163">
              <a:lnSpc>
                <a:spcPct val="150000"/>
              </a:lnSpc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62" name="Rectangle 61"/>
          <p:cNvSpPr/>
          <p:nvPr/>
        </p:nvSpPr>
        <p:spPr>
          <a:xfrm>
            <a:off x="0" y="0"/>
            <a:ext cx="8534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Mechanisms that affect the radio propagation 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1"/>
            <a:ext cx="7848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Mobile Radio Propagation mechanisms 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" y="685800"/>
            <a:ext cx="8534400" cy="545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 relative importance of these three propagation mechanisms depends on the particular propagation scenario. As a result of the above three mechanisms, macro cellular radio propagation can be roughly characterized by three nearly independent phenomenon</a:t>
            </a:r>
          </a:p>
          <a:p>
            <a:pPr marL="568325" indent="-395288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Path loss variation with distance (Large Scale Propagation )</a:t>
            </a:r>
          </a:p>
          <a:p>
            <a:pPr marL="568325" indent="-395288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Slow log-normal shadowing (Medium Scale Propagation )</a:t>
            </a:r>
          </a:p>
          <a:p>
            <a:pPr marL="568325" indent="-395288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Fast multipath fading. (Small Scale Propagation )</a:t>
            </a:r>
            <a:br>
              <a:rPr lang="en-US" dirty="0" smtClean="0"/>
            </a:b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Each of these phenomenon is caused by a different underlying physical principle and each must be accounted for when designing and evaluating the performance of a cellular system.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219200"/>
            <a:ext cx="692897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0" y="1"/>
            <a:ext cx="7848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Mobile Radio Propagation mechanisms 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5639&quot;&gt;&lt;/object&gt;&lt;object type=&quot;2&quot; unique_id=&quot;15640&quot;&gt;&lt;object type=&quot;3&quot; unique_id=&quot;15641&quot;&gt;&lt;property id=&quot;20148&quot; value=&quot;5&quot;/&gt;&lt;property id=&quot;20300&quot; value=&quot;Slide 1 - &amp;quot;Wireless and Mobile Communication (UEC 804) &amp;quot;&quot;/&gt;&lt;property id=&quot;20307&quot; value=&quot;257&quot;/&gt;&lt;/object&gt;&lt;object type=&quot;3&quot; unique_id=&quot;15642&quot;&gt;&lt;property id=&quot;20148&quot; value=&quot;5&quot;/&gt;&lt;property id=&quot;20300&quot; value=&quot;Slide 2&quot;/&gt;&lt;property id=&quot;20307&quot; value=&quot;258&quot;/&gt;&lt;/object&gt;&lt;object type=&quot;3&quot; unique_id=&quot;15783&quot;&gt;&lt;property id=&quot;20148&quot; value=&quot;5&quot;/&gt;&lt;property id=&quot;20300&quot; value=&quot;Slide 13&quot;/&gt;&lt;property id=&quot;20307&quot; value=&quot;267&quot;/&gt;&lt;/object&gt;&lt;object type=&quot;3&quot; unique_id=&quot;17791&quot;&gt;&lt;property id=&quot;20148&quot; value=&quot;5&quot;/&gt;&lt;property id=&quot;20300&quot; value=&quot;Slide 4&quot;/&gt;&lt;property id=&quot;20307&quot; value=&quot;273&quot;/&gt;&lt;/object&gt;&lt;object type=&quot;3&quot; unique_id=&quot;17792&quot;&gt;&lt;property id=&quot;20148&quot; value=&quot;5&quot;/&gt;&lt;property id=&quot;20300&quot; value=&quot;Slide 7&quot;/&gt;&lt;property id=&quot;20307&quot; value=&quot;274&quot;/&gt;&lt;/object&gt;&lt;object type=&quot;3&quot; unique_id=&quot;17793&quot;&gt;&lt;property id=&quot;20148&quot; value=&quot;5&quot;/&gt;&lt;property id=&quot;20300&quot; value=&quot;Slide 8&quot;/&gt;&lt;property id=&quot;20307&quot; value=&quot;275&quot;/&gt;&lt;/object&gt;&lt;object type=&quot;3&quot; unique_id=&quot;17794&quot;&gt;&lt;property id=&quot;20148&quot; value=&quot;5&quot;/&gt;&lt;property id=&quot;20300&quot; value=&quot;Slide 9&quot;/&gt;&lt;property id=&quot;20307&quot; value=&quot;276&quot;/&gt;&lt;/object&gt;&lt;object type=&quot;3&quot; unique_id=&quot;18610&quot;&gt;&lt;property id=&quot;20148&quot; value=&quot;5&quot;/&gt;&lt;property id=&quot;20300&quot; value=&quot;Slide 3&quot;/&gt;&lt;property id=&quot;20307&quot; value=&quot;280&quot;/&gt;&lt;/object&gt;&lt;object type=&quot;3&quot; unique_id=&quot;18668&quot;&gt;&lt;property id=&quot;20148&quot; value=&quot;5&quot;/&gt;&lt;property id=&quot;20300&quot; value=&quot;Slide 5&quot;/&gt;&lt;property id=&quot;20307&quot; value=&quot;281&quot;/&gt;&lt;/object&gt;&lt;object type=&quot;3&quot; unique_id=&quot;18819&quot;&gt;&lt;property id=&quot;20148&quot; value=&quot;5&quot;/&gt;&lt;property id=&quot;20300&quot; value=&quot;Slide 11&quot;/&gt;&lt;property id=&quot;20307&quot; value=&quot;283&quot;/&gt;&lt;/object&gt;&lt;object type=&quot;3&quot; unique_id=&quot;18820&quot;&gt;&lt;property id=&quot;20148&quot; value=&quot;5&quot;/&gt;&lt;property id=&quot;20300&quot; value=&quot;Slide 12&quot;/&gt;&lt;property id=&quot;20307&quot; value=&quot;284&quot;/&gt;&lt;/object&gt;&lt;object type=&quot;3&quot; unique_id=&quot;18821&quot;&gt;&lt;property id=&quot;20148&quot; value=&quot;5&quot;/&gt;&lt;property id=&quot;20300&quot; value=&quot;Slide 10&quot;/&gt;&lt;property id=&quot;20307&quot; value=&quot;282&quot;/&gt;&lt;/object&gt;&lt;object type=&quot;3&quot; unique_id=&quot;19377&quot;&gt;&lt;property id=&quot;20148&quot; value=&quot;5&quot;/&gt;&lt;property id=&quot;20300&quot; value=&quot;Slide 6&quot;/&gt;&lt;property id=&quot;20307&quot; value=&quot;285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7037</TotalTime>
  <Words>552</Words>
  <Application>Microsoft Office PowerPoint</Application>
  <PresentationFormat>On-screen Show (4:3)</PresentationFormat>
  <Paragraphs>87</Paragraphs>
  <Slides>13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Wireless and Mobile Communication (UEC 804)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</dc:title>
  <dc:creator>Surbhi Sharma</dc:creator>
  <cp:lastModifiedBy>Surbhi Sharma</cp:lastModifiedBy>
  <cp:revision>46</cp:revision>
  <dcterms:created xsi:type="dcterms:W3CDTF">2020-06-07T16:43:59Z</dcterms:created>
  <dcterms:modified xsi:type="dcterms:W3CDTF">2020-09-16T16:00:44Z</dcterms:modified>
</cp:coreProperties>
</file>
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64" r:id="rId2"/>
    <p:sldId id="265" r:id="rId3"/>
    <p:sldId id="266" r:id="rId4"/>
    <p:sldId id="257" r:id="rId5"/>
    <p:sldId id="258" r:id="rId6"/>
    <p:sldId id="259" r:id="rId7"/>
    <p:sldId id="260" r:id="rId8"/>
    <p:sldId id="263" r:id="rId9"/>
  </p:sldIdLst>
  <p:sldSz cx="9144000" cy="6858000" type="screen4x3"/>
  <p:notesSz cx="6858000" cy="91440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0" d="100"/>
          <a:sy n="80" d="100"/>
        </p:scale>
        <p:origin x="-1445" y="-7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5F3A44-281C-4DFE-BE29-37F60280B1C4}" type="datetimeFigureOut">
              <a:rPr lang="en-US" smtClean="0"/>
              <a:pPr/>
              <a:t>10/5/2020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AFD524-B897-4139-B35E-CF2BEE64CCA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A376728-E605-4C9D-BB71-97F5CA16A84A}" type="slidenum">
              <a:rPr lang="en-US" smtClean="0"/>
              <a:pPr/>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ED08DFA-111D-4735-BA0B-21FFF8677B92}" type="datetimeFigureOut">
              <a:rPr lang="en-US" smtClean="0"/>
              <a:pPr/>
              <a:t>10/5/2020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E152D-9E01-458C-8AFF-1DC02980D8B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D08DFA-111D-4735-BA0B-21FFF8677B92}" type="datetimeFigureOut">
              <a:rPr lang="en-US" smtClean="0"/>
              <a:pPr/>
              <a:t>10/5/2020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E152D-9E01-458C-8AFF-1DC02980D8B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D08DFA-111D-4735-BA0B-21FFF8677B92}" type="datetimeFigureOut">
              <a:rPr lang="en-US" smtClean="0"/>
              <a:pPr/>
              <a:t>10/5/2020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E152D-9E01-458C-8AFF-1DC02980D8B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ED08DFA-111D-4735-BA0B-21FFF8677B92}" type="datetimeFigureOut">
              <a:rPr lang="en-US" smtClean="0"/>
              <a:pPr/>
              <a:t>10/5/2020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7E152D-9E01-458C-8AFF-1DC02980D8B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ED08DFA-111D-4735-BA0B-21FFF8677B92}" type="datetimeFigureOut">
              <a:rPr lang="en-US" smtClean="0"/>
              <a:pPr/>
              <a:t>10/5/2020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7E152D-9E01-458C-8AFF-1DC02980D8B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ED08DFA-111D-4735-BA0B-21FFF8677B92}" type="datetimeFigureOut">
              <a:rPr lang="en-US" smtClean="0"/>
              <a:pPr/>
              <a:t>10/5/2020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7E152D-9E01-458C-8AFF-1DC02980D8B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D08DFA-111D-4735-BA0B-21FFF8677B92}" type="datetimeFigureOut">
              <a:rPr lang="en-US" smtClean="0"/>
              <a:pPr/>
              <a:t>10/5/2020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7E152D-9E01-458C-8AFF-1DC02980D8B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D08DFA-111D-4735-BA0B-21FFF8677B92}" type="datetimeFigureOut">
              <a:rPr lang="en-US" smtClean="0"/>
              <a:pPr/>
              <a:t>10/5/2020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7E152D-9E01-458C-8AFF-1DC02980D8B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D08DFA-111D-4735-BA0B-21FFF8677B92}" type="datetimeFigureOut">
              <a:rPr lang="en-US" smtClean="0"/>
              <a:pPr/>
              <a:t>10/5/2020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7E152D-9E01-458C-8AFF-1DC02980D8B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D08DFA-111D-4735-BA0B-21FFF8677B92}" type="datetimeFigureOut">
              <a:rPr lang="en-US" smtClean="0"/>
              <a:pPr/>
              <a:t>10/5/2020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E152D-9E01-458C-8AFF-1DC02980D8B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D08DFA-111D-4735-BA0B-21FFF8677B92}" type="datetimeFigureOut">
              <a:rPr lang="en-US" smtClean="0"/>
              <a:pPr/>
              <a:t>10/5/2020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E152D-9E01-458C-8AFF-1DC02980D8B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D08DFA-111D-4735-BA0B-21FFF8677B92}" type="datetimeFigureOut">
              <a:rPr lang="en-US" smtClean="0"/>
              <a:pPr/>
              <a:t>10/5/2020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7E152D-9E01-458C-8AFF-1DC02980D8B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b="0" i="0" u="none"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b="0" i="0" u="none"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39775"/>
            <a:ext cx="7772400" cy="1470025"/>
          </a:xfrm>
        </p:spPr>
        <p:txBody>
          <a:bodyPr>
            <a:normAutofit fontScale="90000"/>
          </a:bodyPr>
          <a:lstStyle/>
          <a:p>
            <a:r>
              <a:rPr lang="en-US" dirty="0" smtClean="0"/>
              <a:t>Wireless and Mobile Communication</a:t>
            </a:r>
            <a:br>
              <a:rPr lang="en-US" dirty="0" smtClean="0"/>
            </a:br>
            <a:r>
              <a:rPr lang="en-US" dirty="0" smtClean="0"/>
              <a:t>(UEC 804) </a:t>
            </a:r>
            <a:endParaRPr lang="en-US" dirty="0"/>
          </a:p>
        </p:txBody>
      </p:sp>
      <p:grpSp>
        <p:nvGrpSpPr>
          <p:cNvPr id="3" name="Group 4"/>
          <p:cNvGrpSpPr/>
          <p:nvPr/>
        </p:nvGrpSpPr>
        <p:grpSpPr>
          <a:xfrm>
            <a:off x="0" y="65325"/>
            <a:ext cx="8991600" cy="6158741"/>
            <a:chOff x="0" y="65325"/>
            <a:chExt cx="8991600" cy="6158741"/>
          </a:xfrm>
        </p:grpSpPr>
        <p:sp>
          <p:nvSpPr>
            <p:cNvPr id="6"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0"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4" name="Group 4"/>
            <p:cNvGrpSpPr/>
            <p:nvPr/>
          </p:nvGrpSpPr>
          <p:grpSpPr>
            <a:xfrm>
              <a:off x="333635" y="685800"/>
              <a:ext cx="8505563" cy="5538266"/>
              <a:chOff x="211286" y="1131023"/>
              <a:chExt cx="13623320" cy="6982618"/>
            </a:xfrm>
          </p:grpSpPr>
          <p:grpSp>
            <p:nvGrpSpPr>
              <p:cNvPr id="5" name="Group 44"/>
              <p:cNvGrpSpPr/>
              <p:nvPr/>
            </p:nvGrpSpPr>
            <p:grpSpPr>
              <a:xfrm>
                <a:off x="211286" y="1586248"/>
                <a:ext cx="13623320" cy="6527393"/>
                <a:chOff x="211286" y="1586248"/>
                <a:chExt cx="13623320" cy="6527393"/>
              </a:xfrm>
            </p:grpSpPr>
            <p:sp>
              <p:nvSpPr>
                <p:cNvPr id="10" name="Half Frame 9"/>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1" name="Half Frame 10"/>
                <p:cNvSpPr/>
                <p:nvPr/>
              </p:nvSpPr>
              <p:spPr>
                <a:xfrm rot="16200000">
                  <a:off x="272317" y="6175105"/>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5400000">
                  <a:off x="12337403" y="1525217"/>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16200000">
                  <a:off x="720674" y="6616438"/>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9" name="Half Frame 7"/>
              <p:cNvSpPr/>
              <p:nvPr/>
            </p:nvSpPr>
            <p:spPr>
              <a:xfrm rot="5400000">
                <a:off x="12013153" y="1022867"/>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4" name="TextBox 13"/>
          <p:cNvSpPr txBox="1"/>
          <p:nvPr/>
        </p:nvSpPr>
        <p:spPr>
          <a:xfrm>
            <a:off x="1143000" y="4743271"/>
            <a:ext cx="6858000" cy="1200329"/>
          </a:xfrm>
          <a:prstGeom prst="rect">
            <a:avLst/>
          </a:prstGeom>
          <a:noFill/>
        </p:spPr>
        <p:txBody>
          <a:bodyPr wrap="square" rtlCol="0">
            <a:spAutoFit/>
          </a:bodyPr>
          <a:lstStyle/>
          <a:p>
            <a:pPr algn="ctr"/>
            <a:r>
              <a:rPr lang="en-US" dirty="0" smtClean="0">
                <a:solidFill>
                  <a:srgbClr val="C00000"/>
                </a:solidFill>
              </a:rPr>
              <a:t>Reference Text book</a:t>
            </a:r>
          </a:p>
          <a:p>
            <a:pPr algn="ctr"/>
            <a:r>
              <a:rPr lang="en-US" dirty="0" smtClean="0">
                <a:solidFill>
                  <a:srgbClr val="C00000"/>
                </a:solidFill>
              </a:rPr>
              <a:t>“Wireless communication_ principles and practices” (Second </a:t>
            </a:r>
            <a:r>
              <a:rPr lang="en-US" dirty="0">
                <a:solidFill>
                  <a:srgbClr val="C00000"/>
                </a:solidFill>
              </a:rPr>
              <a:t>E</a:t>
            </a:r>
            <a:r>
              <a:rPr lang="en-US" dirty="0" smtClean="0">
                <a:solidFill>
                  <a:srgbClr val="C00000"/>
                </a:solidFill>
              </a:rPr>
              <a:t>dition )</a:t>
            </a:r>
          </a:p>
          <a:p>
            <a:pPr algn="ctr"/>
            <a:r>
              <a:rPr lang="en-US" dirty="0" smtClean="0">
                <a:solidFill>
                  <a:srgbClr val="C00000"/>
                </a:solidFill>
              </a:rPr>
              <a:t>Author: Theodore s Rapport</a:t>
            </a:r>
          </a:p>
          <a:p>
            <a:pPr algn="ctr"/>
            <a:r>
              <a:rPr lang="en-US" dirty="0" smtClean="0">
                <a:solidFill>
                  <a:srgbClr val="C00000"/>
                </a:solidFill>
              </a:rPr>
              <a:t>Publisher: Prentice Hall (2002)</a:t>
            </a:r>
            <a:endParaRPr lang="en-US" dirty="0">
              <a:solidFill>
                <a:srgbClr val="C00000"/>
              </a:solidFill>
            </a:endParaRPr>
          </a:p>
        </p:txBody>
      </p:sp>
      <p:sp>
        <p:nvSpPr>
          <p:cNvPr id="15" name="Slide Number Placeholder 14"/>
          <p:cNvSpPr>
            <a:spLocks noGrp="1"/>
          </p:cNvSpPr>
          <p:nvPr>
            <p:ph type="sldNum" sz="quarter" idx="12"/>
          </p:nvPr>
        </p:nvSpPr>
        <p:spPr/>
        <p:txBody>
          <a:bodyPr/>
          <a:lstStyle/>
          <a:p>
            <a:fld id="{4846ABB7-46DB-4F16-AB8B-BFEDDDD52D19}"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438400" y="2286000"/>
            <a:ext cx="5562600" cy="1447800"/>
          </a:xfrm>
        </p:spPr>
        <p:txBody>
          <a:bodyPr/>
          <a:lstStyle/>
          <a:p>
            <a:pPr>
              <a:buNone/>
            </a:pPr>
            <a:r>
              <a:rPr lang="en-US" sz="6600" dirty="0" smtClean="0">
                <a:solidFill>
                  <a:srgbClr val="C00000"/>
                </a:solidFill>
              </a:rPr>
              <a:t>MODULE -IV</a:t>
            </a:r>
            <a:endParaRPr lang="en-US" dirty="0">
              <a:solidFill>
                <a:srgbClr val="C00000"/>
              </a:solidFill>
            </a:endParaRPr>
          </a:p>
        </p:txBody>
      </p:sp>
      <p:grpSp>
        <p:nvGrpSpPr>
          <p:cNvPr id="2" name="Group 14"/>
          <p:cNvGrpSpPr/>
          <p:nvPr/>
        </p:nvGrpSpPr>
        <p:grpSpPr>
          <a:xfrm>
            <a:off x="0" y="65325"/>
            <a:ext cx="8991600" cy="6158741"/>
            <a:chOff x="0" y="65325"/>
            <a:chExt cx="8991600" cy="6158741"/>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0"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4" name="Group 4"/>
            <p:cNvGrpSpPr/>
            <p:nvPr/>
          </p:nvGrpSpPr>
          <p:grpSpPr>
            <a:xfrm>
              <a:off x="333635" y="685800"/>
              <a:ext cx="8505565" cy="5538266"/>
              <a:chOff x="211286" y="1131023"/>
              <a:chExt cx="13623320" cy="6982618"/>
            </a:xfrm>
          </p:grpSpPr>
          <p:grpSp>
            <p:nvGrpSpPr>
              <p:cNvPr id="6" name="Group 44"/>
              <p:cNvGrpSpPr/>
              <p:nvPr/>
            </p:nvGrpSpPr>
            <p:grpSpPr>
              <a:xfrm>
                <a:off x="211286" y="1586248"/>
                <a:ext cx="13623320" cy="6527393"/>
                <a:chOff x="211286" y="1586248"/>
                <a:chExt cx="13623320" cy="6527393"/>
              </a:xfrm>
            </p:grpSpPr>
            <p:sp>
              <p:nvSpPr>
                <p:cNvPr id="11" name="Half Frame 10"/>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272317" y="6175105"/>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5400000">
                  <a:off x="12337403" y="1525217"/>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Half Frame 13"/>
                <p:cNvSpPr/>
                <p:nvPr/>
              </p:nvSpPr>
              <p:spPr>
                <a:xfrm rot="16200000">
                  <a:off x="720674" y="6616438"/>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10" name="Half Frame 7"/>
              <p:cNvSpPr/>
              <p:nvPr/>
            </p:nvSpPr>
            <p:spPr>
              <a:xfrm rot="5400000">
                <a:off x="12013153" y="1022867"/>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5" name="Slide Number Placeholder 14"/>
          <p:cNvSpPr>
            <a:spLocks noGrp="1"/>
          </p:cNvSpPr>
          <p:nvPr>
            <p:ph type="sldNum" sz="quarter" idx="12"/>
          </p:nvPr>
        </p:nvSpPr>
        <p:spPr/>
        <p:txBody>
          <a:bodyPr/>
          <a:lstStyle/>
          <a:p>
            <a:fld id="{4846ABB7-46DB-4F16-AB8B-BFEDDDD52D19}"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0" y="65325"/>
            <a:ext cx="8991600" cy="6792675"/>
            <a:chOff x="0" y="65325"/>
            <a:chExt cx="8991600" cy="6792675"/>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0"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3" name="Group 4"/>
            <p:cNvGrpSpPr/>
            <p:nvPr/>
          </p:nvGrpSpPr>
          <p:grpSpPr>
            <a:xfrm>
              <a:off x="0" y="685800"/>
              <a:ext cx="8839200" cy="6172200"/>
              <a:chOff x="-323094" y="1131023"/>
              <a:chExt cx="14157700" cy="7781879"/>
            </a:xfrm>
          </p:grpSpPr>
          <p:grpSp>
            <p:nvGrpSpPr>
              <p:cNvPr id="4" name="Group 44"/>
              <p:cNvGrpSpPr/>
              <p:nvPr/>
            </p:nvGrpSpPr>
            <p:grpSpPr>
              <a:xfrm>
                <a:off x="-323094" y="1586248"/>
                <a:ext cx="14157700" cy="7326654"/>
                <a:chOff x="-323094" y="1586248"/>
                <a:chExt cx="14157700" cy="7326654"/>
              </a:xfrm>
            </p:grpSpPr>
            <p:sp>
              <p:nvSpPr>
                <p:cNvPr id="11" name="Half Frame 10"/>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5400000">
                  <a:off x="12337403" y="1525217"/>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Half Frame 13"/>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10" name="Half Frame 7"/>
              <p:cNvSpPr/>
              <p:nvPr/>
            </p:nvSpPr>
            <p:spPr>
              <a:xfrm rot="5400000">
                <a:off x="12013153" y="1022867"/>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7" name="Slide Number Placeholder 16"/>
          <p:cNvSpPr>
            <a:spLocks noGrp="1"/>
          </p:cNvSpPr>
          <p:nvPr>
            <p:ph type="sldNum" sz="quarter" idx="12"/>
          </p:nvPr>
        </p:nvSpPr>
        <p:spPr/>
        <p:txBody>
          <a:bodyPr/>
          <a:lstStyle/>
          <a:p>
            <a:fld id="{4846ABB7-46DB-4F16-AB8B-BFEDDDD52D19}" type="slidenum">
              <a:rPr lang="en-US" smtClean="0"/>
              <a:pPr/>
              <a:t>3</a:t>
            </a:fld>
            <a:endParaRPr lang="en-US"/>
          </a:p>
        </p:txBody>
      </p:sp>
      <p:sp>
        <p:nvSpPr>
          <p:cNvPr id="22" name="Rectangle 21"/>
          <p:cNvSpPr/>
          <p:nvPr/>
        </p:nvSpPr>
        <p:spPr>
          <a:xfrm>
            <a:off x="457200" y="990600"/>
            <a:ext cx="7305205" cy="646331"/>
          </a:xfrm>
          <a:prstGeom prst="rect">
            <a:avLst/>
          </a:prstGeom>
        </p:spPr>
        <p:txBody>
          <a:bodyPr wrap="none">
            <a:spAutoFit/>
          </a:bodyPr>
          <a:lstStyle/>
          <a:p>
            <a:r>
              <a:rPr lang="en-US" sz="3600" dirty="0">
                <a:solidFill>
                  <a:srgbClr val="C00000"/>
                </a:solidFill>
                <a:ea typeface="+mj-ea"/>
                <a:cs typeface="+mj-cs"/>
              </a:rPr>
              <a:t>Topics </a:t>
            </a:r>
            <a:r>
              <a:rPr lang="en-US" sz="3600" dirty="0" smtClean="0">
                <a:solidFill>
                  <a:srgbClr val="C00000"/>
                </a:solidFill>
                <a:ea typeface="+mj-ea"/>
                <a:cs typeface="+mj-cs"/>
              </a:rPr>
              <a:t>covered  till now in this module</a:t>
            </a:r>
            <a:endParaRPr lang="en-US" dirty="0"/>
          </a:p>
        </p:txBody>
      </p:sp>
      <p:sp>
        <p:nvSpPr>
          <p:cNvPr id="23" name="TextBox 22"/>
          <p:cNvSpPr txBox="1"/>
          <p:nvPr/>
        </p:nvSpPr>
        <p:spPr>
          <a:xfrm>
            <a:off x="838200" y="1828800"/>
            <a:ext cx="4267200" cy="400110"/>
          </a:xfrm>
          <a:prstGeom prst="rect">
            <a:avLst/>
          </a:prstGeom>
          <a:noFill/>
        </p:spPr>
        <p:txBody>
          <a:bodyPr wrap="square" rtlCol="0">
            <a:spAutoFit/>
          </a:bodyPr>
          <a:lstStyle/>
          <a:p>
            <a:pPr indent="285750">
              <a:buFont typeface="Arial" pitchFamily="34" charset="0"/>
              <a:buChar char="•"/>
            </a:pPr>
            <a:r>
              <a:rPr lang="en-US" sz="2000" dirty="0" smtClean="0"/>
              <a:t>Propagation Basics</a:t>
            </a:r>
            <a:endParaRPr lang="en-US" sz="2000" dirty="0"/>
          </a:p>
        </p:txBody>
      </p:sp>
      <p:sp>
        <p:nvSpPr>
          <p:cNvPr id="15" name="Rectangle 14"/>
          <p:cNvSpPr/>
          <p:nvPr/>
        </p:nvSpPr>
        <p:spPr>
          <a:xfrm>
            <a:off x="457200" y="3429000"/>
            <a:ext cx="6377580" cy="646331"/>
          </a:xfrm>
          <a:prstGeom prst="rect">
            <a:avLst/>
          </a:prstGeom>
        </p:spPr>
        <p:txBody>
          <a:bodyPr wrap="none">
            <a:spAutoFit/>
          </a:bodyPr>
          <a:lstStyle/>
          <a:p>
            <a:r>
              <a:rPr lang="en-US" sz="3600" dirty="0">
                <a:solidFill>
                  <a:srgbClr val="C00000"/>
                </a:solidFill>
                <a:ea typeface="+mj-ea"/>
                <a:cs typeface="+mj-cs"/>
              </a:rPr>
              <a:t>Topics </a:t>
            </a:r>
            <a:r>
              <a:rPr lang="en-US" sz="3600" dirty="0" smtClean="0">
                <a:solidFill>
                  <a:srgbClr val="C00000"/>
                </a:solidFill>
                <a:ea typeface="+mj-ea"/>
                <a:cs typeface="+mj-cs"/>
              </a:rPr>
              <a:t>to be covered </a:t>
            </a:r>
            <a:r>
              <a:rPr lang="en-US" sz="3600" dirty="0">
                <a:solidFill>
                  <a:srgbClr val="C00000"/>
                </a:solidFill>
                <a:ea typeface="+mj-ea"/>
                <a:cs typeface="+mj-cs"/>
              </a:rPr>
              <a:t>in </a:t>
            </a:r>
            <a:r>
              <a:rPr lang="en-US" sz="3600" dirty="0" smtClean="0">
                <a:solidFill>
                  <a:srgbClr val="C00000"/>
                </a:solidFill>
                <a:ea typeface="+mj-ea"/>
                <a:cs typeface="+mj-cs"/>
              </a:rPr>
              <a:t>this video</a:t>
            </a:r>
            <a:endParaRPr lang="en-US" dirty="0"/>
          </a:p>
        </p:txBody>
      </p:sp>
      <p:sp>
        <p:nvSpPr>
          <p:cNvPr id="18" name="TextBox 17"/>
          <p:cNvSpPr txBox="1"/>
          <p:nvPr/>
        </p:nvSpPr>
        <p:spPr>
          <a:xfrm>
            <a:off x="838200" y="2209800"/>
            <a:ext cx="2743200" cy="369332"/>
          </a:xfrm>
          <a:prstGeom prst="rect">
            <a:avLst/>
          </a:prstGeom>
          <a:noFill/>
        </p:spPr>
        <p:txBody>
          <a:bodyPr wrap="square" rtlCol="0">
            <a:spAutoFit/>
          </a:bodyPr>
          <a:lstStyle/>
          <a:p>
            <a:pPr marL="233363" indent="-233363">
              <a:buFont typeface="Arial" pitchFamily="34" charset="0"/>
              <a:buChar char="•"/>
            </a:pPr>
            <a:r>
              <a:rPr lang="en-US" dirty="0" smtClean="0"/>
              <a:t> Antenna Basics</a:t>
            </a:r>
            <a:endParaRPr lang="en-US" dirty="0"/>
          </a:p>
        </p:txBody>
      </p:sp>
      <p:sp>
        <p:nvSpPr>
          <p:cNvPr id="16" name="TextBox 15"/>
          <p:cNvSpPr txBox="1"/>
          <p:nvPr/>
        </p:nvSpPr>
        <p:spPr>
          <a:xfrm>
            <a:off x="838200" y="2971800"/>
            <a:ext cx="2743200" cy="369332"/>
          </a:xfrm>
          <a:prstGeom prst="rect">
            <a:avLst/>
          </a:prstGeom>
          <a:noFill/>
        </p:spPr>
        <p:txBody>
          <a:bodyPr wrap="square" rtlCol="0">
            <a:spAutoFit/>
          </a:bodyPr>
          <a:lstStyle/>
          <a:p>
            <a:pPr marL="233363" indent="-233363">
              <a:buFont typeface="Arial" pitchFamily="34" charset="0"/>
              <a:buChar char="•"/>
            </a:pPr>
            <a:r>
              <a:rPr lang="en-US" dirty="0" smtClean="0"/>
              <a:t>Two Ray Model</a:t>
            </a:r>
            <a:endParaRPr lang="en-US" dirty="0"/>
          </a:p>
        </p:txBody>
      </p:sp>
      <p:sp>
        <p:nvSpPr>
          <p:cNvPr id="19" name="TextBox 18"/>
          <p:cNvSpPr txBox="1"/>
          <p:nvPr/>
        </p:nvSpPr>
        <p:spPr>
          <a:xfrm>
            <a:off x="838200" y="2602468"/>
            <a:ext cx="2743200" cy="369332"/>
          </a:xfrm>
          <a:prstGeom prst="rect">
            <a:avLst/>
          </a:prstGeom>
          <a:noFill/>
        </p:spPr>
        <p:txBody>
          <a:bodyPr wrap="square" rtlCol="0">
            <a:spAutoFit/>
          </a:bodyPr>
          <a:lstStyle/>
          <a:p>
            <a:pPr marL="233363" indent="-233363">
              <a:buFont typeface="Arial" pitchFamily="34" charset="0"/>
              <a:buChar char="•"/>
            </a:pPr>
            <a:r>
              <a:rPr lang="en-US" dirty="0" smtClean="0"/>
              <a:t> Reflection </a:t>
            </a:r>
            <a:endParaRPr lang="en-US" dirty="0"/>
          </a:p>
        </p:txBody>
      </p:sp>
      <p:sp>
        <p:nvSpPr>
          <p:cNvPr id="20" name="TextBox 19"/>
          <p:cNvSpPr txBox="1"/>
          <p:nvPr/>
        </p:nvSpPr>
        <p:spPr>
          <a:xfrm>
            <a:off x="838200" y="3276600"/>
            <a:ext cx="2743200" cy="369332"/>
          </a:xfrm>
          <a:prstGeom prst="rect">
            <a:avLst/>
          </a:prstGeom>
          <a:noFill/>
        </p:spPr>
        <p:txBody>
          <a:bodyPr wrap="square" rtlCol="0">
            <a:spAutoFit/>
          </a:bodyPr>
          <a:lstStyle/>
          <a:p>
            <a:pPr marL="233363" indent="-233363">
              <a:buFont typeface="Arial" pitchFamily="34" charset="0"/>
              <a:buChar char="•"/>
            </a:pPr>
            <a:r>
              <a:rPr lang="en-US" dirty="0" smtClean="0"/>
              <a:t>Diffraction</a:t>
            </a:r>
            <a:endParaRPr lang="en-US" dirty="0"/>
          </a:p>
        </p:txBody>
      </p:sp>
      <p:sp>
        <p:nvSpPr>
          <p:cNvPr id="21" name="TextBox 20"/>
          <p:cNvSpPr txBox="1"/>
          <p:nvPr/>
        </p:nvSpPr>
        <p:spPr>
          <a:xfrm>
            <a:off x="838200" y="4267200"/>
            <a:ext cx="2743200" cy="369332"/>
          </a:xfrm>
          <a:prstGeom prst="rect">
            <a:avLst/>
          </a:prstGeom>
          <a:noFill/>
        </p:spPr>
        <p:txBody>
          <a:bodyPr wrap="square" rtlCol="0">
            <a:spAutoFit/>
          </a:bodyPr>
          <a:lstStyle/>
          <a:p>
            <a:pPr marL="233363" indent="-233363">
              <a:buFont typeface="Arial" pitchFamily="34" charset="0"/>
              <a:buChar char="•"/>
            </a:pPr>
            <a:r>
              <a:rPr lang="en-US" dirty="0" smtClean="0"/>
              <a:t>Scattering</a:t>
            </a:r>
            <a:endParaRPr lang="en-US"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AFEC7BA-A2BA-47BD-A280-13B94C2767F5}" type="slidenum">
              <a:rPr lang="en-US" smtClean="0"/>
              <a:pPr/>
              <a:t>4</a:t>
            </a:fld>
            <a:endParaRPr lang="en-US"/>
          </a:p>
        </p:txBody>
      </p:sp>
      <p:grpSp>
        <p:nvGrpSpPr>
          <p:cNvPr id="3" name="Group 14"/>
          <p:cNvGrpSpPr/>
          <p:nvPr/>
        </p:nvGrpSpPr>
        <p:grpSpPr>
          <a:xfrm>
            <a:off x="0" y="65325"/>
            <a:ext cx="9144000" cy="6792675"/>
            <a:chOff x="0" y="65325"/>
            <a:chExt cx="9144000" cy="6792675"/>
          </a:xfrm>
        </p:grpSpPr>
        <p:sp>
          <p:nvSpPr>
            <p:cNvPr id="4"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5" name="Group 4"/>
            <p:cNvGrpSpPr/>
            <p:nvPr/>
          </p:nvGrpSpPr>
          <p:grpSpPr>
            <a:xfrm>
              <a:off x="0" y="404838"/>
              <a:ext cx="9143997" cy="6453162"/>
              <a:chOff x="-323094" y="776786"/>
              <a:chExt cx="14645896" cy="8136116"/>
            </a:xfrm>
          </p:grpSpPr>
          <p:grpSp>
            <p:nvGrpSpPr>
              <p:cNvPr id="6" name="Group 44"/>
              <p:cNvGrpSpPr/>
              <p:nvPr/>
            </p:nvGrpSpPr>
            <p:grpSpPr>
              <a:xfrm>
                <a:off x="-323094" y="1232011"/>
                <a:ext cx="14645896" cy="7680891"/>
                <a:chOff x="-323094" y="1232011"/>
                <a:chExt cx="14645896" cy="7680891"/>
              </a:xfrm>
            </p:grpSpPr>
            <p:sp>
              <p:nvSpPr>
                <p:cNvPr id="8" name="Half Frame 7"/>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9" name="Half Frame 8"/>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0" name="Half Frame 9"/>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1" name="Half Frame 10"/>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7"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2" name="Rectangle 11"/>
          <p:cNvSpPr/>
          <p:nvPr/>
        </p:nvSpPr>
        <p:spPr>
          <a:xfrm>
            <a:off x="990600" y="1"/>
            <a:ext cx="7467600" cy="584775"/>
          </a:xfrm>
          <a:prstGeom prst="rect">
            <a:avLst/>
          </a:prstGeom>
        </p:spPr>
        <p:txBody>
          <a:bodyPr wrap="square">
            <a:spAutoFit/>
          </a:bodyPr>
          <a:lstStyle/>
          <a:p>
            <a:pPr algn="ctr"/>
            <a:r>
              <a:rPr lang="en-US" sz="3200" b="1" dirty="0" smtClean="0">
                <a:solidFill>
                  <a:schemeClr val="bg1"/>
                </a:solidFill>
              </a:rPr>
              <a:t>Scattering</a:t>
            </a:r>
            <a:endParaRPr lang="en-US" sz="3200" b="1" dirty="0">
              <a:solidFill>
                <a:schemeClr val="bg1"/>
              </a:solidFill>
            </a:endParaRPr>
          </a:p>
        </p:txBody>
      </p:sp>
      <p:sp>
        <p:nvSpPr>
          <p:cNvPr id="14" name="Rectangle 13"/>
          <p:cNvSpPr/>
          <p:nvPr/>
        </p:nvSpPr>
        <p:spPr>
          <a:xfrm>
            <a:off x="457200" y="762000"/>
            <a:ext cx="7924800" cy="5247077"/>
          </a:xfrm>
          <a:prstGeom prst="rect">
            <a:avLst/>
          </a:prstGeom>
        </p:spPr>
        <p:txBody>
          <a:bodyPr wrap="square">
            <a:spAutoFit/>
          </a:bodyPr>
          <a:lstStyle/>
          <a:p>
            <a:pPr>
              <a:lnSpc>
                <a:spcPct val="150000"/>
              </a:lnSpc>
              <a:buFont typeface="Wingdings" pitchFamily="2" charset="2"/>
              <a:buChar char="Ø"/>
            </a:pPr>
            <a:r>
              <a:rPr lang="en-US" sz="2600" dirty="0" smtClean="0"/>
              <a:t>Scattering occurs when the medium through which the wave travels consists of objects with dimensions that are small compared to the wavelength, and where the number of obstacles per unit volume is large. </a:t>
            </a:r>
          </a:p>
          <a:p>
            <a:pPr>
              <a:lnSpc>
                <a:spcPct val="150000"/>
              </a:lnSpc>
              <a:buFont typeface="Wingdings" pitchFamily="2" charset="2"/>
              <a:buChar char="Ø"/>
            </a:pPr>
            <a:r>
              <a:rPr lang="en-US" sz="2600" dirty="0" smtClean="0"/>
              <a:t>Scattered waves are produced by </a:t>
            </a:r>
          </a:p>
          <a:p>
            <a:pPr marL="685800" indent="-228600">
              <a:lnSpc>
                <a:spcPct val="150000"/>
              </a:lnSpc>
              <a:buFont typeface="Wingdings" pitchFamily="2" charset="2"/>
              <a:buChar char="§"/>
            </a:pPr>
            <a:r>
              <a:rPr lang="en-US" sz="2600" dirty="0"/>
              <a:t>	</a:t>
            </a:r>
            <a:r>
              <a:rPr lang="en-US" sz="2200" dirty="0" smtClean="0"/>
              <a:t> rough surfaces,</a:t>
            </a:r>
          </a:p>
          <a:p>
            <a:pPr marL="457200">
              <a:lnSpc>
                <a:spcPct val="150000"/>
              </a:lnSpc>
              <a:buFont typeface="Wingdings" pitchFamily="2" charset="2"/>
              <a:buChar char="§"/>
            </a:pPr>
            <a:r>
              <a:rPr lang="en-US" sz="2200" dirty="0"/>
              <a:t>	</a:t>
            </a:r>
            <a:r>
              <a:rPr lang="en-US" sz="2200" dirty="0" smtClean="0"/>
              <a:t> small objects, </a:t>
            </a:r>
          </a:p>
          <a:p>
            <a:pPr marL="514350" indent="-57150">
              <a:lnSpc>
                <a:spcPct val="150000"/>
              </a:lnSpc>
              <a:buFont typeface="Wingdings" pitchFamily="2" charset="2"/>
              <a:buChar char="§"/>
            </a:pPr>
            <a:r>
              <a:rPr lang="en-US" sz="2200" dirty="0"/>
              <a:t>	</a:t>
            </a:r>
            <a:r>
              <a:rPr lang="en-US" sz="2200" dirty="0" smtClean="0"/>
              <a:t>or by other irregularities in the channel. </a:t>
            </a:r>
          </a:p>
          <a:p>
            <a:pPr>
              <a:lnSpc>
                <a:spcPct val="150000"/>
              </a:lnSpc>
              <a:buFont typeface="Wingdings" pitchFamily="2" charset="2"/>
              <a:buChar char="Ø"/>
            </a:pPr>
            <a:r>
              <a:rPr lang="en-US" sz="2600" dirty="0" smtClean="0"/>
              <a:t> Scattering is caused by trees, lamp posts, towers, etc.</a:t>
            </a:r>
            <a:endParaRPr lang="en-US"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20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20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fade">
                                      <p:cBhvr>
                                        <p:cTn id="17" dur="20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fade">
                                      <p:cBhvr>
                                        <p:cTn id="22" dur="2000"/>
                                        <p:tgtEl>
                                          <p:spTgt spid="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animEffect transition="in" filter="fade">
                                      <p:cBhvr>
                                        <p:cTn id="27" dur="2000"/>
                                        <p:tgtEl>
                                          <p:spTgt spid="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xEl>
                                              <p:pRg st="5" end="5"/>
                                            </p:txEl>
                                          </p:spTgt>
                                        </p:tgtEl>
                                        <p:attrNameLst>
                                          <p:attrName>style.visibility</p:attrName>
                                        </p:attrNameLst>
                                      </p:cBhvr>
                                      <p:to>
                                        <p:strVal val="visible"/>
                                      </p:to>
                                    </p:set>
                                    <p:animEffect transition="in" filter="fade">
                                      <p:cBhvr>
                                        <p:cTn id="32" dur="2000"/>
                                        <p:tgtEl>
                                          <p:spTgt spid="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AFEC7BA-A2BA-47BD-A280-13B94C2767F5}" type="slidenum">
              <a:rPr lang="en-US" smtClean="0"/>
              <a:pPr/>
              <a:t>5</a:t>
            </a:fld>
            <a:endParaRPr lang="en-US"/>
          </a:p>
        </p:txBody>
      </p:sp>
      <p:grpSp>
        <p:nvGrpSpPr>
          <p:cNvPr id="3" name="Group 14"/>
          <p:cNvGrpSpPr/>
          <p:nvPr/>
        </p:nvGrpSpPr>
        <p:grpSpPr>
          <a:xfrm>
            <a:off x="0" y="65325"/>
            <a:ext cx="9144000" cy="6792675"/>
            <a:chOff x="0" y="65325"/>
            <a:chExt cx="9144000" cy="6792675"/>
          </a:xfrm>
        </p:grpSpPr>
        <p:sp>
          <p:nvSpPr>
            <p:cNvPr id="4"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5" name="Group 4"/>
            <p:cNvGrpSpPr/>
            <p:nvPr/>
          </p:nvGrpSpPr>
          <p:grpSpPr>
            <a:xfrm>
              <a:off x="0" y="404838"/>
              <a:ext cx="9143997" cy="6453162"/>
              <a:chOff x="-323094" y="776786"/>
              <a:chExt cx="14645896" cy="8136116"/>
            </a:xfrm>
          </p:grpSpPr>
          <p:grpSp>
            <p:nvGrpSpPr>
              <p:cNvPr id="6" name="Group 44"/>
              <p:cNvGrpSpPr/>
              <p:nvPr/>
            </p:nvGrpSpPr>
            <p:grpSpPr>
              <a:xfrm>
                <a:off x="-323094" y="1232011"/>
                <a:ext cx="14645896" cy="7680891"/>
                <a:chOff x="-323094" y="1232011"/>
                <a:chExt cx="14645896" cy="7680891"/>
              </a:xfrm>
            </p:grpSpPr>
            <p:sp>
              <p:nvSpPr>
                <p:cNvPr id="8" name="Half Frame 7"/>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9" name="Half Frame 8"/>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0" name="Half Frame 9"/>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1" name="Half Frame 10"/>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7"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2" name="Rectangle 11"/>
          <p:cNvSpPr/>
          <p:nvPr/>
        </p:nvSpPr>
        <p:spPr>
          <a:xfrm>
            <a:off x="990600" y="1"/>
            <a:ext cx="7467600" cy="1077218"/>
          </a:xfrm>
          <a:prstGeom prst="rect">
            <a:avLst/>
          </a:prstGeom>
        </p:spPr>
        <p:txBody>
          <a:bodyPr wrap="square">
            <a:spAutoFit/>
          </a:bodyPr>
          <a:lstStyle/>
          <a:p>
            <a:pPr algn="ctr"/>
            <a:r>
              <a:rPr lang="en-US" sz="3200" b="1" dirty="0" smtClean="0">
                <a:solidFill>
                  <a:schemeClr val="bg1"/>
                </a:solidFill>
              </a:rPr>
              <a:t>Scattering</a:t>
            </a:r>
          </a:p>
          <a:p>
            <a:pPr algn="ctr"/>
            <a:endParaRPr lang="en-US" sz="3200" b="1" dirty="0">
              <a:solidFill>
                <a:schemeClr val="bg1"/>
              </a:solidFill>
            </a:endParaRPr>
          </a:p>
        </p:txBody>
      </p:sp>
      <p:sp>
        <p:nvSpPr>
          <p:cNvPr id="13" name="Rectangle 12"/>
          <p:cNvSpPr/>
          <p:nvPr/>
        </p:nvSpPr>
        <p:spPr>
          <a:xfrm>
            <a:off x="533400" y="914400"/>
            <a:ext cx="8001000" cy="5078313"/>
          </a:xfrm>
          <a:prstGeom prst="rect">
            <a:avLst/>
          </a:prstGeom>
        </p:spPr>
        <p:txBody>
          <a:bodyPr wrap="square">
            <a:spAutoFit/>
          </a:bodyPr>
          <a:lstStyle/>
          <a:p>
            <a:pPr marL="514350" indent="-514350" algn="just">
              <a:lnSpc>
                <a:spcPct val="150000"/>
              </a:lnSpc>
              <a:buFont typeface="Wingdings" pitchFamily="2" charset="2"/>
              <a:buChar char="Ø"/>
            </a:pPr>
            <a:r>
              <a:rPr lang="en-US" sz="2400" dirty="0" smtClean="0"/>
              <a:t>Received signal strength is often </a:t>
            </a:r>
            <a:r>
              <a:rPr lang="en-US" sz="2400" b="1" dirty="0" smtClean="0"/>
              <a:t>stronger</a:t>
            </a:r>
            <a:r>
              <a:rPr lang="en-US" sz="2400" dirty="0" smtClean="0"/>
              <a:t> than that predicted by reflection/diffraction models alone </a:t>
            </a:r>
          </a:p>
          <a:p>
            <a:pPr marL="514350" indent="-514350" algn="just">
              <a:lnSpc>
                <a:spcPct val="150000"/>
              </a:lnSpc>
              <a:buFont typeface="Wingdings" pitchFamily="2" charset="2"/>
              <a:buChar char="Ø"/>
            </a:pPr>
            <a:r>
              <a:rPr lang="en-US" sz="2400" dirty="0" smtClean="0"/>
              <a:t>The EM wave incident upon a rough or complex surface is scattered in many directions and </a:t>
            </a:r>
            <a:r>
              <a:rPr lang="en-US" sz="2400" b="1" dirty="0" smtClean="0"/>
              <a:t>provides more energy at a receiver </a:t>
            </a:r>
          </a:p>
          <a:p>
            <a:pPr marL="971550" lvl="1" indent="-514350" algn="just">
              <a:lnSpc>
                <a:spcPct val="150000"/>
              </a:lnSpc>
              <a:buFont typeface="Arial" pitchFamily="34" charset="0"/>
              <a:buChar char="•"/>
            </a:pPr>
            <a:r>
              <a:rPr lang="en-US" sz="2400" dirty="0" smtClean="0"/>
              <a:t>Energy that would have been absorbed is instead reflected to the Rx. </a:t>
            </a:r>
          </a:p>
          <a:p>
            <a:pPr marL="514350" indent="-514350" algn="just">
              <a:lnSpc>
                <a:spcPct val="150000"/>
              </a:lnSpc>
              <a:buFont typeface="Wingdings" pitchFamily="2" charset="2"/>
              <a:buChar char="Ø"/>
            </a:pPr>
            <a:r>
              <a:rPr lang="en-US" sz="2400" dirty="0" smtClean="0"/>
              <a:t> flat surface → EM reflection (one direction) </a:t>
            </a:r>
          </a:p>
          <a:p>
            <a:pPr marL="514350" indent="-514350" algn="just">
              <a:lnSpc>
                <a:spcPct val="150000"/>
              </a:lnSpc>
              <a:buFont typeface="Wingdings" pitchFamily="2" charset="2"/>
              <a:buChar char="Ø"/>
            </a:pPr>
            <a:r>
              <a:rPr lang="en-US" sz="2400" dirty="0" smtClean="0"/>
              <a:t> Rough surface → EM scattering (many directions)</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20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2000"/>
                                        <p:tgtEl>
                                          <p:spTgt spid="1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animEffect transition="in" filter="fade">
                                      <p:cBhvr>
                                        <p:cTn id="15" dur="2000"/>
                                        <p:tgtEl>
                                          <p:spTgt spid="1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xEl>
                                              <p:pRg st="3" end="3"/>
                                            </p:txEl>
                                          </p:spTgt>
                                        </p:tgtEl>
                                        <p:attrNameLst>
                                          <p:attrName>style.visibility</p:attrName>
                                        </p:attrNameLst>
                                      </p:cBhvr>
                                      <p:to>
                                        <p:strVal val="visible"/>
                                      </p:to>
                                    </p:set>
                                    <p:animEffect transition="in" filter="fade">
                                      <p:cBhvr>
                                        <p:cTn id="20" dur="2000"/>
                                        <p:tgtEl>
                                          <p:spTgt spid="1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3">
                                            <p:txEl>
                                              <p:pRg st="4" end="4"/>
                                            </p:txEl>
                                          </p:spTgt>
                                        </p:tgtEl>
                                        <p:attrNameLst>
                                          <p:attrName>style.visibility</p:attrName>
                                        </p:attrNameLst>
                                      </p:cBhvr>
                                      <p:to>
                                        <p:strVal val="visible"/>
                                      </p:to>
                                    </p:set>
                                    <p:animEffect transition="in" filter="fade">
                                      <p:cBhvr>
                                        <p:cTn id="25" dur="20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AFEC7BA-A2BA-47BD-A280-13B94C2767F5}" type="slidenum">
              <a:rPr lang="en-US" smtClean="0"/>
              <a:pPr/>
              <a:t>6</a:t>
            </a:fld>
            <a:endParaRPr lang="en-US"/>
          </a:p>
        </p:txBody>
      </p:sp>
      <p:grpSp>
        <p:nvGrpSpPr>
          <p:cNvPr id="3" name="Group 14"/>
          <p:cNvGrpSpPr/>
          <p:nvPr/>
        </p:nvGrpSpPr>
        <p:grpSpPr>
          <a:xfrm>
            <a:off x="0" y="65325"/>
            <a:ext cx="9144000" cy="6792675"/>
            <a:chOff x="0" y="65325"/>
            <a:chExt cx="9144000" cy="6792675"/>
          </a:xfrm>
        </p:grpSpPr>
        <p:sp>
          <p:nvSpPr>
            <p:cNvPr id="4"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5" name="Group 4"/>
            <p:cNvGrpSpPr/>
            <p:nvPr/>
          </p:nvGrpSpPr>
          <p:grpSpPr>
            <a:xfrm>
              <a:off x="0" y="404838"/>
              <a:ext cx="9143997" cy="6453162"/>
              <a:chOff x="-323094" y="776786"/>
              <a:chExt cx="14645896" cy="8136116"/>
            </a:xfrm>
          </p:grpSpPr>
          <p:grpSp>
            <p:nvGrpSpPr>
              <p:cNvPr id="6" name="Group 44"/>
              <p:cNvGrpSpPr/>
              <p:nvPr/>
            </p:nvGrpSpPr>
            <p:grpSpPr>
              <a:xfrm>
                <a:off x="-323094" y="1232011"/>
                <a:ext cx="14645896" cy="7680891"/>
                <a:chOff x="-323094" y="1232011"/>
                <a:chExt cx="14645896" cy="7680891"/>
              </a:xfrm>
            </p:grpSpPr>
            <p:sp>
              <p:nvSpPr>
                <p:cNvPr id="8" name="Half Frame 7"/>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9" name="Half Frame 8"/>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0" name="Half Frame 9"/>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1" name="Half Frame 10"/>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7"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2" name="Rectangle 11"/>
          <p:cNvSpPr/>
          <p:nvPr/>
        </p:nvSpPr>
        <p:spPr>
          <a:xfrm>
            <a:off x="990600" y="1"/>
            <a:ext cx="7467600" cy="1077218"/>
          </a:xfrm>
          <a:prstGeom prst="rect">
            <a:avLst/>
          </a:prstGeom>
        </p:spPr>
        <p:txBody>
          <a:bodyPr wrap="square">
            <a:spAutoFit/>
          </a:bodyPr>
          <a:lstStyle/>
          <a:p>
            <a:pPr algn="ctr"/>
            <a:r>
              <a:rPr lang="en-US" sz="3200" b="1" dirty="0" smtClean="0">
                <a:solidFill>
                  <a:schemeClr val="bg1"/>
                </a:solidFill>
              </a:rPr>
              <a:t>Scattering</a:t>
            </a:r>
          </a:p>
          <a:p>
            <a:pPr algn="ctr"/>
            <a:endParaRPr lang="en-US" sz="3200" b="1" dirty="0">
              <a:solidFill>
                <a:schemeClr val="bg1"/>
              </a:solidFill>
            </a:endParaRPr>
          </a:p>
        </p:txBody>
      </p:sp>
      <p:sp>
        <p:nvSpPr>
          <p:cNvPr id="13" name="Rectangle 12"/>
          <p:cNvSpPr/>
          <p:nvPr/>
        </p:nvSpPr>
        <p:spPr>
          <a:xfrm>
            <a:off x="381000" y="381000"/>
            <a:ext cx="8305800" cy="6186309"/>
          </a:xfrm>
          <a:prstGeom prst="rect">
            <a:avLst/>
          </a:prstGeom>
        </p:spPr>
        <p:txBody>
          <a:bodyPr wrap="square">
            <a:spAutoFit/>
          </a:bodyPr>
          <a:lstStyle/>
          <a:p>
            <a:pPr marL="285750" indent="-285750" algn="just">
              <a:lnSpc>
                <a:spcPct val="150000"/>
              </a:lnSpc>
              <a:buFont typeface="Wingdings" pitchFamily="2" charset="2"/>
              <a:buChar char="Ø"/>
            </a:pPr>
            <a:r>
              <a:rPr lang="en-US" sz="2200" dirty="0" smtClean="0"/>
              <a:t>Rayleigh criterion: used for testing surface roughness. A surface is considered smooth if its min to max protuberance (bumps) h is less than critical height </a:t>
            </a:r>
            <a:r>
              <a:rPr lang="en-US" sz="2200" dirty="0" err="1" smtClean="0"/>
              <a:t>h</a:t>
            </a:r>
            <a:r>
              <a:rPr lang="en-US" sz="2200" baseline="-25000" dirty="0" err="1" smtClean="0"/>
              <a:t>c</a:t>
            </a:r>
            <a:r>
              <a:rPr lang="en-US" sz="2200" dirty="0" smtClean="0"/>
              <a:t>  </a:t>
            </a:r>
          </a:p>
          <a:p>
            <a:pPr marL="285750" indent="-285750" algn="just">
              <a:lnSpc>
                <a:spcPct val="150000"/>
              </a:lnSpc>
            </a:pPr>
            <a:r>
              <a:rPr lang="en-US" sz="2200" dirty="0"/>
              <a:t>	</a:t>
            </a:r>
            <a:r>
              <a:rPr lang="en-US" sz="2200" dirty="0" smtClean="0"/>
              <a:t>		where </a:t>
            </a:r>
            <a:r>
              <a:rPr lang="en-US" sz="2200" dirty="0" err="1" smtClean="0"/>
              <a:t>h</a:t>
            </a:r>
            <a:r>
              <a:rPr lang="en-US" sz="2200" baseline="-25000" dirty="0" err="1" smtClean="0"/>
              <a:t>c</a:t>
            </a:r>
            <a:r>
              <a:rPr lang="en-US" sz="2200" dirty="0" smtClean="0"/>
              <a:t> = λ/8 sin</a:t>
            </a:r>
            <a:r>
              <a:rPr lang="el-GR" sz="2200" dirty="0" smtClean="0"/>
              <a:t>θ</a:t>
            </a:r>
            <a:r>
              <a:rPr lang="en-US" sz="2200" baseline="-25000" dirty="0" err="1" smtClean="0"/>
              <a:t>i</a:t>
            </a:r>
            <a:r>
              <a:rPr lang="en-US" sz="2200" dirty="0" smtClean="0"/>
              <a:t> </a:t>
            </a:r>
          </a:p>
          <a:p>
            <a:pPr marL="285750" indent="-285750" algn="just">
              <a:lnSpc>
                <a:spcPct val="150000"/>
              </a:lnSpc>
              <a:buFont typeface="Wingdings" pitchFamily="2" charset="2"/>
              <a:buChar char="Ø"/>
            </a:pPr>
            <a:r>
              <a:rPr lang="en-US" sz="2200" dirty="0" smtClean="0"/>
              <a:t>Scattering path loss factor </a:t>
            </a:r>
            <a:r>
              <a:rPr lang="en-US" sz="2200" dirty="0" err="1" smtClean="0"/>
              <a:t>ρs</a:t>
            </a:r>
            <a:r>
              <a:rPr lang="en-US" sz="2200" dirty="0" smtClean="0"/>
              <a:t> is given by </a:t>
            </a:r>
          </a:p>
          <a:p>
            <a:pPr marL="285750" indent="-285750" algn="just">
              <a:lnSpc>
                <a:spcPct val="150000"/>
              </a:lnSpc>
            </a:pPr>
            <a:r>
              <a:rPr lang="en-US" sz="2200" dirty="0" smtClean="0"/>
              <a:t>			</a:t>
            </a:r>
            <a:r>
              <a:rPr lang="en-US" sz="2200" dirty="0" err="1" smtClean="0"/>
              <a:t>ρ</a:t>
            </a:r>
            <a:r>
              <a:rPr lang="en-US" sz="2200" baseline="-25000" dirty="0" err="1" smtClean="0"/>
              <a:t>s</a:t>
            </a:r>
            <a:r>
              <a:rPr lang="en-US" sz="2200" dirty="0" smtClean="0"/>
              <a:t> =exp[-8[(π*</a:t>
            </a:r>
            <a:r>
              <a:rPr lang="en-US" sz="2200" dirty="0" err="1" smtClean="0"/>
              <a:t>σ</a:t>
            </a:r>
            <a:r>
              <a:rPr lang="en-US" sz="2200" baseline="-25000" dirty="0" err="1" smtClean="0"/>
              <a:t>h</a:t>
            </a:r>
            <a:r>
              <a:rPr lang="en-US" sz="2200" dirty="0" smtClean="0"/>
              <a:t> *sin</a:t>
            </a:r>
            <a:r>
              <a:rPr lang="el-GR" sz="2200" dirty="0" smtClean="0"/>
              <a:t> θ</a:t>
            </a:r>
            <a:r>
              <a:rPr lang="en-US" sz="2200" baseline="-25000" dirty="0" err="1" smtClean="0"/>
              <a:t>i</a:t>
            </a:r>
            <a:r>
              <a:rPr lang="en-US" sz="2200" dirty="0" smtClean="0"/>
              <a:t> )/ λ] 2 ] </a:t>
            </a:r>
          </a:p>
          <a:p>
            <a:pPr marL="285750" indent="-285750" algn="just">
              <a:lnSpc>
                <a:spcPct val="150000"/>
              </a:lnSpc>
              <a:buFont typeface="Wingdings" pitchFamily="2" charset="2"/>
              <a:buChar char="Ø"/>
            </a:pPr>
            <a:r>
              <a:rPr lang="en-US" sz="2200" dirty="0" smtClean="0"/>
              <a:t>Where h is surface height and </a:t>
            </a:r>
            <a:r>
              <a:rPr lang="en-US" sz="2200" dirty="0" err="1" smtClean="0"/>
              <a:t>σ</a:t>
            </a:r>
            <a:r>
              <a:rPr lang="en-US" sz="2200" baseline="-25000" dirty="0" err="1" smtClean="0"/>
              <a:t>h</a:t>
            </a:r>
            <a:r>
              <a:rPr lang="en-US" sz="2200" dirty="0" smtClean="0"/>
              <a:t> is standard deviation of surface height about mean surface height.</a:t>
            </a:r>
          </a:p>
          <a:p>
            <a:pPr marL="285750" indent="-285750" algn="just">
              <a:lnSpc>
                <a:spcPct val="150000"/>
              </a:lnSpc>
              <a:buFont typeface="Wingdings" pitchFamily="2" charset="2"/>
              <a:buChar char="Ø"/>
            </a:pPr>
            <a:r>
              <a:rPr lang="en-US" sz="2200" dirty="0" smtClean="0"/>
              <a:t> For rough surface, the flat surface reflection coefficient is multiplied by scattering loss factor </a:t>
            </a:r>
            <a:r>
              <a:rPr lang="en-US" sz="2200" dirty="0" err="1" smtClean="0"/>
              <a:t>ρs</a:t>
            </a:r>
            <a:r>
              <a:rPr lang="en-US" sz="2200" dirty="0" smtClean="0"/>
              <a:t> to account for diminished electric field</a:t>
            </a:r>
          </a:p>
          <a:p>
            <a:pPr marL="285750" indent="-285750" algn="just">
              <a:lnSpc>
                <a:spcPct val="150000"/>
              </a:lnSpc>
              <a:buFont typeface="Wingdings" pitchFamily="2" charset="2"/>
              <a:buChar char="Ø"/>
            </a:pPr>
            <a:r>
              <a:rPr lang="en-US" sz="2200" dirty="0" smtClean="0"/>
              <a:t>Reflected E-fields for h&gt; </a:t>
            </a:r>
            <a:r>
              <a:rPr lang="en-US" sz="2200" dirty="0" err="1" smtClean="0"/>
              <a:t>hc</a:t>
            </a:r>
            <a:r>
              <a:rPr lang="en-US" sz="2200" dirty="0" smtClean="0"/>
              <a:t> for rough surface can be calculated as </a:t>
            </a:r>
            <a:r>
              <a:rPr lang="en-US" sz="2200" dirty="0" err="1" smtClean="0"/>
              <a:t>Г</a:t>
            </a:r>
            <a:r>
              <a:rPr lang="en-US" sz="2200" baseline="-25000" dirty="0" err="1" smtClean="0"/>
              <a:t>rough</a:t>
            </a:r>
            <a:r>
              <a:rPr lang="en-US" sz="2200" dirty="0" smtClean="0"/>
              <a:t>= </a:t>
            </a:r>
            <a:r>
              <a:rPr lang="en-US" sz="2200" dirty="0" err="1" smtClean="0"/>
              <a:t>ρ</a:t>
            </a:r>
            <a:r>
              <a:rPr lang="en-US" sz="2200" baseline="-25000" dirty="0" err="1" smtClean="0"/>
              <a:t>s</a:t>
            </a:r>
            <a:r>
              <a:rPr lang="en-US" sz="2200" dirty="0" err="1" smtClean="0"/>
              <a:t>Г</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20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20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20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20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20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fade">
                                      <p:cBhvr>
                                        <p:cTn id="32" dur="2000"/>
                                        <p:tgtEl>
                                          <p:spTgt spid="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xEl>
                                              <p:pRg st="6" end="6"/>
                                            </p:txEl>
                                          </p:spTgt>
                                        </p:tgtEl>
                                        <p:attrNameLst>
                                          <p:attrName>style.visibility</p:attrName>
                                        </p:attrNameLst>
                                      </p:cBhvr>
                                      <p:to>
                                        <p:strVal val="visible"/>
                                      </p:to>
                                    </p:set>
                                    <p:animEffect transition="in" filter="fade">
                                      <p:cBhvr>
                                        <p:cTn id="37" dur="2000"/>
                                        <p:tgtEl>
                                          <p:spTgt spid="1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AFEC7BA-A2BA-47BD-A280-13B94C2767F5}" type="slidenum">
              <a:rPr lang="en-US" smtClean="0"/>
              <a:pPr/>
              <a:t>7</a:t>
            </a:fld>
            <a:endParaRPr lang="en-US"/>
          </a:p>
        </p:txBody>
      </p:sp>
      <p:grpSp>
        <p:nvGrpSpPr>
          <p:cNvPr id="3" name="Group 14"/>
          <p:cNvGrpSpPr/>
          <p:nvPr/>
        </p:nvGrpSpPr>
        <p:grpSpPr>
          <a:xfrm>
            <a:off x="0" y="65325"/>
            <a:ext cx="9144000" cy="6792675"/>
            <a:chOff x="0" y="65325"/>
            <a:chExt cx="9144000" cy="6792675"/>
          </a:xfrm>
        </p:grpSpPr>
        <p:sp>
          <p:nvSpPr>
            <p:cNvPr id="4"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5" name="Group 4"/>
            <p:cNvGrpSpPr/>
            <p:nvPr/>
          </p:nvGrpSpPr>
          <p:grpSpPr>
            <a:xfrm>
              <a:off x="0" y="404838"/>
              <a:ext cx="9143997" cy="6453162"/>
              <a:chOff x="-323094" y="776786"/>
              <a:chExt cx="14645896" cy="8136116"/>
            </a:xfrm>
          </p:grpSpPr>
          <p:grpSp>
            <p:nvGrpSpPr>
              <p:cNvPr id="6" name="Group 44"/>
              <p:cNvGrpSpPr/>
              <p:nvPr/>
            </p:nvGrpSpPr>
            <p:grpSpPr>
              <a:xfrm>
                <a:off x="-323094" y="1232011"/>
                <a:ext cx="14645896" cy="7680891"/>
                <a:chOff x="-323094" y="1232011"/>
                <a:chExt cx="14645896" cy="7680891"/>
              </a:xfrm>
            </p:grpSpPr>
            <p:sp>
              <p:nvSpPr>
                <p:cNvPr id="8" name="Half Frame 7"/>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9" name="Half Frame 8"/>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0" name="Half Frame 9"/>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1" name="Half Frame 10"/>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7"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2" name="Rectangle 11"/>
          <p:cNvSpPr/>
          <p:nvPr/>
        </p:nvSpPr>
        <p:spPr>
          <a:xfrm>
            <a:off x="990600" y="1"/>
            <a:ext cx="7467600" cy="584775"/>
          </a:xfrm>
          <a:prstGeom prst="rect">
            <a:avLst/>
          </a:prstGeom>
        </p:spPr>
        <p:txBody>
          <a:bodyPr wrap="square">
            <a:spAutoFit/>
          </a:bodyPr>
          <a:lstStyle/>
          <a:p>
            <a:pPr algn="ctr"/>
            <a:r>
              <a:rPr lang="en-US" sz="3200" b="1" dirty="0" smtClean="0">
                <a:solidFill>
                  <a:schemeClr val="bg1"/>
                </a:solidFill>
              </a:rPr>
              <a:t>Scattering</a:t>
            </a:r>
          </a:p>
        </p:txBody>
      </p:sp>
      <p:pic>
        <p:nvPicPr>
          <p:cNvPr id="1026" name="Picture 2"/>
          <p:cNvPicPr>
            <a:picLocks noChangeAspect="1" noChangeArrowheads="1"/>
          </p:cNvPicPr>
          <p:nvPr/>
        </p:nvPicPr>
        <p:blipFill>
          <a:blip r:embed="rId2"/>
          <a:srcRect/>
          <a:stretch>
            <a:fillRect/>
          </a:stretch>
        </p:blipFill>
        <p:spPr bwMode="auto">
          <a:xfrm>
            <a:off x="1062038" y="1433513"/>
            <a:ext cx="7019925" cy="399097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026"/>
                                        </p:tgtEl>
                                        <p:attrNameLst>
                                          <p:attrName>style.visibility</p:attrName>
                                        </p:attrNameLst>
                                      </p:cBhvr>
                                      <p:to>
                                        <p:strVal val="visible"/>
                                      </p:to>
                                    </p:set>
                                    <p:animEffect transition="in" filter="fade">
                                      <p:cBhvr>
                                        <p:cTn id="16" dur="2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a:xfrm>
            <a:off x="76200" y="65325"/>
            <a:ext cx="9067800" cy="6855826"/>
            <a:chOff x="0" y="65325"/>
            <a:chExt cx="9067800" cy="6432478"/>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0"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3" name="Group 4"/>
            <p:cNvGrpSpPr/>
            <p:nvPr/>
          </p:nvGrpSpPr>
          <p:grpSpPr>
            <a:xfrm>
              <a:off x="0" y="504496"/>
              <a:ext cx="9067798" cy="5993307"/>
              <a:chOff x="-323093" y="902435"/>
              <a:chExt cx="14523851" cy="7556333"/>
            </a:xfrm>
          </p:grpSpPr>
          <p:grpSp>
            <p:nvGrpSpPr>
              <p:cNvPr id="4" name="Group 44"/>
              <p:cNvGrpSpPr/>
              <p:nvPr/>
            </p:nvGrpSpPr>
            <p:grpSpPr>
              <a:xfrm>
                <a:off x="-323093" y="1357660"/>
                <a:ext cx="14523851" cy="7101108"/>
                <a:chOff x="-323093" y="1357660"/>
                <a:chExt cx="14523851" cy="7101108"/>
              </a:xfrm>
            </p:grpSpPr>
            <p:sp>
              <p:nvSpPr>
                <p:cNvPr id="9" name="Half Frame 8"/>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0" name="Half Frame 9"/>
                <p:cNvSpPr/>
                <p:nvPr/>
              </p:nvSpPr>
              <p:spPr>
                <a:xfrm rot="16200000">
                  <a:off x="-262063" y="6520234"/>
                  <a:ext cx="1436173" cy="1558233"/>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1" name="Half Frame 10"/>
                <p:cNvSpPr/>
                <p:nvPr/>
              </p:nvSpPr>
              <p:spPr>
                <a:xfrm rot="5400000">
                  <a:off x="12703555" y="1296630"/>
                  <a:ext cx="1436173" cy="1558233"/>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186294" y="6961565"/>
                  <a:ext cx="1436173" cy="1558233"/>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8" name="Half Frame 7"/>
              <p:cNvSpPr/>
              <p:nvPr/>
            </p:nvSpPr>
            <p:spPr>
              <a:xfrm rot="5400000">
                <a:off x="12379305" y="794279"/>
                <a:ext cx="1341921" cy="1558233"/>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pic>
        <p:nvPicPr>
          <p:cNvPr id="16" name="image96.png"/>
          <p:cNvPicPr/>
          <p:nvPr/>
        </p:nvPicPr>
        <p:blipFill>
          <a:blip r:embed="rId3">
            <a:extLst/>
          </a:blip>
          <a:stretch>
            <a:fillRect/>
          </a:stretch>
        </p:blipFill>
        <p:spPr>
          <a:xfrm>
            <a:off x="915892" y="1482242"/>
            <a:ext cx="6991913" cy="3928567"/>
          </a:xfrm>
          <a:prstGeom prst="rect">
            <a:avLst/>
          </a:prstGeom>
          <a:ln w="12700">
            <a:miter lim="400000"/>
          </a:ln>
        </p:spPr>
      </p:pic>
      <p:sp>
        <p:nvSpPr>
          <p:cNvPr id="13" name="Slide Number Placeholder 12"/>
          <p:cNvSpPr>
            <a:spLocks noGrp="1"/>
          </p:cNvSpPr>
          <p:nvPr>
            <p:ph type="sldNum" sz="quarter" idx="12"/>
          </p:nvPr>
        </p:nvSpPr>
        <p:spPr/>
        <p:txBody>
          <a:bodyPr/>
          <a:lstStyle/>
          <a:p>
            <a:fld id="{4846ABB7-46DB-4F16-AB8B-BFEDDDD52D19}" type="slidenum">
              <a:rPr lang="en-US" smtClean="0"/>
              <a:pPr/>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0"/>
  <p:tag name="MMPROD_UIDATA" val="&lt;database version=&quot;11.0&quot;&gt;&lt;object type=&quot;1&quot; unique_id=&quot;10001&quot;&gt;&lt;object type=&quot;2&quot; unique_id=&quot;22911&quot;&gt;&lt;object type=&quot;3&quot; unique_id=&quot;22912&quot;&gt;&lt;property id=&quot;20148&quot; value=&quot;5&quot;/&gt;&lt;property id=&quot;20300&quot; value=&quot;Slide 1 - &amp;quot;Wireless and Mobile Communication (UEC 804) &amp;quot;&quot;/&gt;&lt;property id=&quot;20307&quot; value=&quot;264&quot;/&gt;&lt;/object&gt;&lt;object type=&quot;3&quot; unique_id=&quot;22913&quot;&gt;&lt;property id=&quot;20148&quot; value=&quot;5&quot;/&gt;&lt;property id=&quot;20300&quot; value=&quot;Slide 2&quot;/&gt;&lt;property id=&quot;20307&quot; value=&quot;265&quot;/&gt;&lt;/object&gt;&lt;object type=&quot;3&quot; unique_id=&quot;22914&quot;&gt;&lt;property id=&quot;20148&quot; value=&quot;5&quot;/&gt;&lt;property id=&quot;20300&quot; value=&quot;Slide 3&quot;/&gt;&lt;property id=&quot;20307&quot; value=&quot;266&quot;/&gt;&lt;/object&gt;&lt;object type=&quot;3&quot; unique_id=&quot;22915&quot;&gt;&lt;property id=&quot;20148&quot; value=&quot;5&quot;/&gt;&lt;property id=&quot;20300&quot; value=&quot;Slide 4&quot;/&gt;&lt;property id=&quot;20307&quot; value=&quot;257&quot;/&gt;&lt;/object&gt;&lt;object type=&quot;3&quot; unique_id=&quot;22916&quot;&gt;&lt;property id=&quot;20148&quot; value=&quot;5&quot;/&gt;&lt;property id=&quot;20300&quot; value=&quot;Slide 5&quot;/&gt;&lt;property id=&quot;20307&quot; value=&quot;258&quot;/&gt;&lt;/object&gt;&lt;object type=&quot;3&quot; unique_id=&quot;22917&quot;&gt;&lt;property id=&quot;20148&quot; value=&quot;5&quot;/&gt;&lt;property id=&quot;20300&quot; value=&quot;Slide 6&quot;/&gt;&lt;property id=&quot;20307&quot; value=&quot;259&quot;/&gt;&lt;/object&gt;&lt;object type=&quot;3&quot; unique_id=&quot;22918&quot;&gt;&lt;property id=&quot;20148&quot; value=&quot;5&quot;/&gt;&lt;property id=&quot;20300&quot; value=&quot;Slide 7&quot;/&gt;&lt;property id=&quot;20307&quot; value=&quot;260&quot;/&gt;&lt;/object&gt;&lt;object type=&quot;3&quot; unique_id=&quot;22921&quot;&gt;&lt;property id=&quot;20148&quot; value=&quot;5&quot;/&gt;&lt;property id=&quot;20300&quot; value=&quot;Slide 8&quot;/&gt;&lt;property id=&quot;20307&quot; value=&quot;263&quot;/&gt;&lt;/object&gt;&lt;/object&gt;&lt;object type=&quot;8&quot; unique_id=&quot;22933&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TotalTime>
  <Words>211</Words>
  <Application>Microsoft Office PowerPoint</Application>
  <PresentationFormat>On-screen Show (4:3)</PresentationFormat>
  <Paragraphs>45</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Wireless and Mobile Communication (UEC 804) </vt:lpstr>
      <vt:lpstr>Slide 2</vt:lpstr>
      <vt:lpstr>Slide 3</vt:lpstr>
      <vt:lpstr>Slide 4</vt:lpstr>
      <vt:lpstr>Slide 5</vt:lpstr>
      <vt:lpstr>Slide 6</vt:lpstr>
      <vt:lpstr>Slide 7</vt:lpstr>
      <vt:lpstr>Slide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Wireless and Mobile Communication (UEC 804) </dc:title>
  <dc:creator>Surbhi Sharma</dc:creator>
  <cp:lastModifiedBy>Surbhi Sharma</cp:lastModifiedBy>
  <cp:revision>4</cp:revision>
  <dcterms:created xsi:type="dcterms:W3CDTF">2020-09-23T14:13:48Z</dcterms:created>
  <dcterms:modified xsi:type="dcterms:W3CDTF">2020-10-05T05:16:26Z</dcterms:modified>
</cp:coreProperties>
</file>
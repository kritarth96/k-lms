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475" r:id="rId2"/>
    <p:sldId id="476" r:id="rId3"/>
    <p:sldId id="478" r:id="rId4"/>
    <p:sldId id="479" r:id="rId5"/>
    <p:sldId id="481" r:id="rId6"/>
    <p:sldId id="484" r:id="rId7"/>
    <p:sldId id="485" r:id="rId8"/>
    <p:sldId id="480" r:id="rId9"/>
    <p:sldId id="482" r:id="rId10"/>
    <p:sldId id="492" r:id="rId11"/>
    <p:sldId id="486" r:id="rId12"/>
    <p:sldId id="487" r:id="rId13"/>
    <p:sldId id="488" r:id="rId14"/>
    <p:sldId id="489" r:id="rId15"/>
    <p:sldId id="490" r:id="rId16"/>
    <p:sldId id="491" r:id="rId1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D3B2"/>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6" d="100"/>
          <a:sy n="46" d="100"/>
        </p:scale>
        <p:origin x="874"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ECA2C06-48EA-444B-B9BC-9DB7AAF658DE}" type="slidenum">
              <a:rPr lang="en-US" altLang="en-US"/>
              <a:pPr/>
              <a:t>‹#›</a:t>
            </a:fld>
            <a:endParaRPr lang="en-US" altLang="en-US"/>
          </a:p>
        </p:txBody>
      </p:sp>
    </p:spTree>
    <p:extLst>
      <p:ext uri="{BB962C8B-B14F-4D97-AF65-F5344CB8AC3E}">
        <p14:creationId xmlns:p14="http://schemas.microsoft.com/office/powerpoint/2010/main" val="3811059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6C1B88AE-A3C3-4D8D-9F8A-519F4C44DA0F}"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9E616A62-86D7-437F-94CD-618077AE3B6F}" type="slidenum">
              <a:rPr lang="en-US" altLang="en-US"/>
              <a:pPr/>
              <a:t>‹#›</a:t>
            </a:fld>
            <a:endParaRPr lang="en-US" altLang="en-US"/>
          </a:p>
        </p:txBody>
      </p:sp>
    </p:spTree>
    <p:extLst>
      <p:ext uri="{BB962C8B-B14F-4D97-AF65-F5344CB8AC3E}">
        <p14:creationId xmlns:p14="http://schemas.microsoft.com/office/powerpoint/2010/main" val="373919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930E37C-F364-4050-AAD7-C22EEAF077E7}"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B7FCB056-FB42-45E8-8E76-4D14E449FAF4}" type="slidenum">
              <a:rPr lang="en-US" altLang="en-US"/>
              <a:pPr/>
              <a:t>‹#›</a:t>
            </a:fld>
            <a:endParaRPr lang="en-US" altLang="en-US"/>
          </a:p>
        </p:txBody>
      </p:sp>
    </p:spTree>
    <p:extLst>
      <p:ext uri="{BB962C8B-B14F-4D97-AF65-F5344CB8AC3E}">
        <p14:creationId xmlns:p14="http://schemas.microsoft.com/office/powerpoint/2010/main" val="2115650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2230CFC-E9C9-483B-8829-AE6C01B14053}"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79DB0094-847B-40FE-8075-AE7E1A86F6A1}" type="slidenum">
              <a:rPr lang="en-US" altLang="en-US"/>
              <a:pPr/>
              <a:t>‹#›</a:t>
            </a:fld>
            <a:endParaRPr lang="en-US" altLang="en-US"/>
          </a:p>
        </p:txBody>
      </p:sp>
    </p:spTree>
    <p:extLst>
      <p:ext uri="{BB962C8B-B14F-4D97-AF65-F5344CB8AC3E}">
        <p14:creationId xmlns:p14="http://schemas.microsoft.com/office/powerpoint/2010/main" val="2984733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19A3F39A-5137-4B5F-ADB4-573C3237F1D6}"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8FF267B8-7F74-423C-B4D2-FEA9FCA2EF1C}" type="slidenum">
              <a:rPr lang="en-US" altLang="en-US"/>
              <a:pPr/>
              <a:t>‹#›</a:t>
            </a:fld>
            <a:endParaRPr lang="en-US" altLang="en-US"/>
          </a:p>
        </p:txBody>
      </p:sp>
    </p:spTree>
    <p:extLst>
      <p:ext uri="{BB962C8B-B14F-4D97-AF65-F5344CB8AC3E}">
        <p14:creationId xmlns:p14="http://schemas.microsoft.com/office/powerpoint/2010/main" val="77274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F99D9F2D-822C-444A-B2D8-1DA876E06AF1}" type="datetime1">
              <a:rPr lang="en-US"/>
              <a:pPr>
                <a:defRPr/>
              </a:pPr>
              <a:t>12/4/2024</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9" name="Rectangle 6"/>
          <p:cNvSpPr>
            <a:spLocks noGrp="1" noChangeArrowheads="1"/>
          </p:cNvSpPr>
          <p:nvPr>
            <p:ph type="sldNum" sz="quarter" idx="12"/>
          </p:nvPr>
        </p:nvSpPr>
        <p:spPr>
          <a:ln/>
        </p:spPr>
        <p:txBody>
          <a:bodyPr/>
          <a:lstStyle>
            <a:lvl1pPr>
              <a:defRPr/>
            </a:lvl1pPr>
          </a:lstStyle>
          <a:p>
            <a:fld id="{EAC0B7D7-301D-431B-9398-1CAA57139677}" type="slidenum">
              <a:rPr lang="en-US" altLang="en-US"/>
              <a:pPr/>
              <a:t>‹#›</a:t>
            </a:fld>
            <a:endParaRPr lang="en-US" altLang="en-US"/>
          </a:p>
        </p:txBody>
      </p:sp>
    </p:spTree>
    <p:extLst>
      <p:ext uri="{BB962C8B-B14F-4D97-AF65-F5344CB8AC3E}">
        <p14:creationId xmlns:p14="http://schemas.microsoft.com/office/powerpoint/2010/main" val="327766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4A47F092-CB28-406F-8F4D-A9CB9C6DDF6E}" type="datetime1">
              <a:rPr lang="en-US"/>
              <a:pPr>
                <a:defRPr/>
              </a:pPr>
              <a:t>12/4/2024</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5" name="Rectangle 6"/>
          <p:cNvSpPr>
            <a:spLocks noGrp="1" noChangeArrowheads="1"/>
          </p:cNvSpPr>
          <p:nvPr>
            <p:ph type="sldNum" sz="quarter" idx="12"/>
          </p:nvPr>
        </p:nvSpPr>
        <p:spPr>
          <a:ln/>
        </p:spPr>
        <p:txBody>
          <a:bodyPr/>
          <a:lstStyle>
            <a:lvl1pPr>
              <a:defRPr/>
            </a:lvl1pPr>
          </a:lstStyle>
          <a:p>
            <a:fld id="{1B99854B-65BC-43BE-A440-239932B51D95}" type="slidenum">
              <a:rPr lang="en-US" altLang="en-US"/>
              <a:pPr/>
              <a:t>‹#›</a:t>
            </a:fld>
            <a:endParaRPr lang="en-US" altLang="en-US"/>
          </a:p>
        </p:txBody>
      </p:sp>
    </p:spTree>
    <p:extLst>
      <p:ext uri="{BB962C8B-B14F-4D97-AF65-F5344CB8AC3E}">
        <p14:creationId xmlns:p14="http://schemas.microsoft.com/office/powerpoint/2010/main" val="123702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9007E84-0DE2-4EBA-A409-4F43CD132524}" type="datetime1">
              <a:rPr lang="en-US"/>
              <a:pPr>
                <a:defRPr/>
              </a:pPr>
              <a:t>12/4/2024</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4" name="Rectangle 6"/>
          <p:cNvSpPr>
            <a:spLocks noGrp="1" noChangeArrowheads="1"/>
          </p:cNvSpPr>
          <p:nvPr>
            <p:ph type="sldNum" sz="quarter" idx="12"/>
          </p:nvPr>
        </p:nvSpPr>
        <p:spPr>
          <a:ln/>
        </p:spPr>
        <p:txBody>
          <a:bodyPr/>
          <a:lstStyle>
            <a:lvl1pPr>
              <a:defRPr/>
            </a:lvl1pPr>
          </a:lstStyle>
          <a:p>
            <a:fld id="{F31F4165-8E61-41BD-BC99-D27EFE7336C0}" type="slidenum">
              <a:rPr lang="en-US" altLang="en-US"/>
              <a:pPr/>
              <a:t>‹#›</a:t>
            </a:fld>
            <a:endParaRPr lang="en-US" altLang="en-US"/>
          </a:p>
        </p:txBody>
      </p:sp>
    </p:spTree>
    <p:extLst>
      <p:ext uri="{BB962C8B-B14F-4D97-AF65-F5344CB8AC3E}">
        <p14:creationId xmlns:p14="http://schemas.microsoft.com/office/powerpoint/2010/main" val="2001470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4766733" y="273055"/>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C8E5DB6-A284-4473-8D52-2F93B221A663}"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465AC913-5F39-4B24-BFD0-B77263A5C7A7}" type="slidenum">
              <a:rPr lang="en-US" altLang="en-US"/>
              <a:pPr/>
              <a:t>‹#›</a:t>
            </a:fld>
            <a:endParaRPr lang="en-US" altLang="en-US"/>
          </a:p>
        </p:txBody>
      </p:sp>
    </p:spTree>
    <p:extLst>
      <p:ext uri="{BB962C8B-B14F-4D97-AF65-F5344CB8AC3E}">
        <p14:creationId xmlns:p14="http://schemas.microsoft.com/office/powerpoint/2010/main" val="117328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922AB68A-FDA8-4C6A-8D84-B7BB18575DE0}"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9E063986-ACC6-45AD-BDD0-5F965E3788AA}" type="slidenum">
              <a:rPr lang="en-US" altLang="en-US"/>
              <a:pPr/>
              <a:t>‹#›</a:t>
            </a:fld>
            <a:endParaRPr lang="en-US" altLang="en-US"/>
          </a:p>
        </p:txBody>
      </p:sp>
    </p:spTree>
    <p:extLst>
      <p:ext uri="{BB962C8B-B14F-4D97-AF65-F5344CB8AC3E}">
        <p14:creationId xmlns:p14="http://schemas.microsoft.com/office/powerpoint/2010/main" val="249145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AD4280E-22ED-4EE1-B707-2A227E6C5DF4}"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C7C7317-8101-4973-AC7E-BD1AD42ECD8E}" type="slidenum">
              <a:rPr lang="en-US" altLang="en-US"/>
              <a:pPr/>
              <a:t>‹#›</a:t>
            </a:fld>
            <a:endParaRPr lang="en-US" altLang="en-US"/>
          </a:p>
        </p:txBody>
      </p:sp>
    </p:spTree>
    <p:extLst>
      <p:ext uri="{BB962C8B-B14F-4D97-AF65-F5344CB8AC3E}">
        <p14:creationId xmlns:p14="http://schemas.microsoft.com/office/powerpoint/2010/main" val="2329808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DE5ACD89-3346-458A-A6CB-1C441E96DBEA}"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E98E295A-1F21-45D2-9B8C-DF51B8F8C321}" type="slidenum">
              <a:rPr lang="en-US" altLang="en-US"/>
              <a:pPr/>
              <a:t>‹#›</a:t>
            </a:fld>
            <a:endParaRPr lang="en-US" altLang="en-US"/>
          </a:p>
        </p:txBody>
      </p:sp>
    </p:spTree>
    <p:extLst>
      <p:ext uri="{BB962C8B-B14F-4D97-AF65-F5344CB8AC3E}">
        <p14:creationId xmlns:p14="http://schemas.microsoft.com/office/powerpoint/2010/main" val="2714674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09600" y="1600205"/>
            <a:ext cx="109728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6B3C3EC6-FBA6-45B6-B3D5-58AC3D9E5AB4}"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F6CEE9F-ABAF-4D64-B423-0B2F034D9054}" type="slidenum">
              <a:rPr lang="en-US" altLang="en-US"/>
              <a:pPr/>
              <a:t>‹#›</a:t>
            </a:fld>
            <a:endParaRPr lang="en-US" altLang="en-US"/>
          </a:p>
        </p:txBody>
      </p:sp>
    </p:spTree>
    <p:extLst>
      <p:ext uri="{BB962C8B-B14F-4D97-AF65-F5344CB8AC3E}">
        <p14:creationId xmlns:p14="http://schemas.microsoft.com/office/powerpoint/2010/main" val="2994735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50">
                <a:latin typeface="Arial" charset="0"/>
              </a:defRPr>
            </a:lvl1pPr>
          </a:lstStyle>
          <a:p>
            <a:pPr>
              <a:defRPr/>
            </a:pPr>
            <a:fld id="{97959B4A-5782-4BCA-8A5F-9502DE7283C4}" type="datetime1">
              <a:rPr lang="en-US"/>
              <a:pPr>
                <a:defRPr/>
              </a:pPr>
              <a:t>12/4/2024</a:t>
            </a:fld>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r>
              <a:rPr lang="en-US"/>
              <a:t>Paper No – 50; Session No - 41</a:t>
            </a: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6855D25F-EAF1-44F4-B045-AF33E30AA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181350" y="1085851"/>
            <a:ext cx="5829300" cy="1103313"/>
          </a:xfrm>
        </p:spPr>
        <p:txBody>
          <a:bodyPr/>
          <a:lstStyle/>
          <a:p>
            <a:r>
              <a:rPr lang="en-US" altLang="en-US" sz="2700" b="1" dirty="0">
                <a:solidFill>
                  <a:srgbClr val="00B0F0"/>
                </a:solidFill>
              </a:rPr>
              <a:t>5G WIRELESS COMMUNICATION </a:t>
            </a:r>
            <a:br>
              <a:rPr lang="en-US" altLang="en-US" sz="2700" b="1" dirty="0">
                <a:solidFill>
                  <a:srgbClr val="00B0F0"/>
                </a:solidFill>
              </a:rPr>
            </a:br>
            <a:r>
              <a:rPr lang="en-US" altLang="en-US" sz="2700" b="1" dirty="0">
                <a:solidFill>
                  <a:srgbClr val="00B0F0"/>
                </a:solidFill>
              </a:rPr>
              <a:t>(UEC 719) </a:t>
            </a:r>
          </a:p>
        </p:txBody>
      </p:sp>
      <p:sp>
        <p:nvSpPr>
          <p:cNvPr id="2051" name="Slide Number Placeholder 14"/>
          <p:cNvSpPr>
            <a:spLocks noGrp="1"/>
          </p:cNvSpPr>
          <p:nvPr>
            <p:ph type="sldNum" sz="quarter" idx="12"/>
          </p:nvPr>
        </p:nvSpPr>
        <p:spPr>
          <a:xfrm>
            <a:off x="7581900" y="5624514"/>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84DA2316-809F-4484-8675-B1A5134D60BD}" type="slidenum">
              <a:rPr lang="en-US" altLang="en-US" sz="1000"/>
              <a:pPr>
                <a:spcBef>
                  <a:spcPct val="0"/>
                </a:spcBef>
                <a:buFontTx/>
                <a:buNone/>
              </a:pPr>
              <a:t>1</a:t>
            </a:fld>
            <a:endParaRPr lang="en-US" altLang="en-US" sz="1000"/>
          </a:p>
        </p:txBody>
      </p:sp>
      <p:sp>
        <p:nvSpPr>
          <p:cNvPr id="3" name="TextBox 2"/>
          <p:cNvSpPr txBox="1"/>
          <p:nvPr/>
        </p:nvSpPr>
        <p:spPr>
          <a:xfrm>
            <a:off x="4344989" y="2935288"/>
            <a:ext cx="3348037" cy="1846262"/>
          </a:xfrm>
          <a:prstGeom prst="rect">
            <a:avLst/>
          </a:prstGeom>
          <a:noFill/>
        </p:spPr>
        <p:txBody>
          <a:bodyPr wrap="none">
            <a:spAutoFit/>
          </a:bodyPr>
          <a:lstStyle/>
          <a:p>
            <a:pPr algn="ctr" eaLnBrk="1" hangingPunct="1">
              <a:defRPr/>
            </a:pPr>
            <a:r>
              <a:rPr lang="en-US" sz="3000" dirty="0">
                <a:solidFill>
                  <a:srgbClr val="FF0000"/>
                </a:solidFill>
                <a:latin typeface="+mj-lt"/>
                <a:ea typeface="+mj-ea"/>
                <a:cs typeface="+mj-cs"/>
              </a:rPr>
              <a:t>Course Instructor  </a:t>
            </a:r>
          </a:p>
          <a:p>
            <a:pPr algn="ctr" eaLnBrk="1" hangingPunct="1">
              <a:defRPr/>
            </a:pPr>
            <a:r>
              <a:rPr lang="en-US" sz="2100" dirty="0">
                <a:latin typeface="+mj-lt"/>
                <a:ea typeface="+mj-ea"/>
                <a:cs typeface="+mj-cs"/>
              </a:rPr>
              <a:t>Dr. Hem </a:t>
            </a:r>
            <a:r>
              <a:rPr lang="en-US" sz="2100" dirty="0" err="1">
                <a:latin typeface="+mj-lt"/>
                <a:ea typeface="+mj-ea"/>
                <a:cs typeface="+mj-cs"/>
              </a:rPr>
              <a:t>Dutt</a:t>
            </a:r>
            <a:r>
              <a:rPr lang="en-US" sz="2100" dirty="0">
                <a:latin typeface="+mj-lt"/>
                <a:ea typeface="+mj-ea"/>
                <a:cs typeface="+mj-cs"/>
              </a:rPr>
              <a:t> Joshi</a:t>
            </a:r>
          </a:p>
          <a:p>
            <a:pPr algn="ctr" eaLnBrk="1" hangingPunct="1">
              <a:defRPr/>
            </a:pPr>
            <a:r>
              <a:rPr lang="en-US" sz="2100" dirty="0">
                <a:latin typeface="+mj-lt"/>
                <a:ea typeface="+mj-ea"/>
                <a:cs typeface="+mj-cs"/>
              </a:rPr>
              <a:t>Dr. </a:t>
            </a:r>
            <a:r>
              <a:rPr lang="en-US" sz="2100" dirty="0" err="1">
                <a:latin typeface="+mj-lt"/>
                <a:ea typeface="+mj-ea"/>
                <a:cs typeface="+mj-cs"/>
              </a:rPr>
              <a:t>Surbhi</a:t>
            </a:r>
            <a:r>
              <a:rPr lang="en-US" sz="2100" dirty="0">
                <a:latin typeface="+mj-lt"/>
                <a:ea typeface="+mj-ea"/>
                <a:cs typeface="+mj-cs"/>
              </a:rPr>
              <a:t> Sharma</a:t>
            </a:r>
          </a:p>
          <a:p>
            <a:pPr algn="ctr" eaLnBrk="1" hangingPunct="1">
              <a:defRPr/>
            </a:pPr>
            <a:r>
              <a:rPr lang="en-US" sz="2100" dirty="0">
                <a:latin typeface="+mj-lt"/>
                <a:ea typeface="+mj-ea"/>
                <a:cs typeface="+mj-cs"/>
              </a:rPr>
              <a:t>Associate Professor, </a:t>
            </a:r>
          </a:p>
          <a:p>
            <a:pPr algn="ctr" eaLnBrk="1" hangingPunct="1">
              <a:defRPr/>
            </a:pPr>
            <a:r>
              <a:rPr lang="en-US" sz="2100" dirty="0">
                <a:latin typeface="+mj-lt"/>
                <a:ea typeface="+mj-ea"/>
                <a:cs typeface="+mj-cs"/>
              </a:rPr>
              <a:t>TIET, Patiala</a:t>
            </a:r>
            <a:endParaRPr lang="en-IN" sz="2100" dirty="0">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381895" y="1752601"/>
            <a:ext cx="5029200" cy="1749425"/>
          </a:xfrm>
        </p:spPr>
        <p:txBody>
          <a:bodyPr>
            <a:normAutofit fontScale="47500" lnSpcReduction="20000"/>
          </a:bodyPr>
          <a:lstStyle/>
          <a:p>
            <a:pPr algn="ctr">
              <a:buFontTx/>
              <a:buNone/>
              <a:defRPr/>
            </a:pPr>
            <a:r>
              <a:rPr lang="en-US" sz="6000" dirty="0">
                <a:solidFill>
                  <a:srgbClr val="00B0F0"/>
                </a:solidFill>
              </a:rPr>
              <a:t>Lecture</a:t>
            </a:r>
          </a:p>
          <a:p>
            <a:pPr algn="ctr">
              <a:buFontTx/>
              <a:buNone/>
              <a:defRPr/>
            </a:pPr>
            <a:endParaRPr lang="en-US" sz="4950" dirty="0">
              <a:solidFill>
                <a:srgbClr val="C00000"/>
              </a:solidFill>
            </a:endParaRPr>
          </a:p>
          <a:p>
            <a:pPr algn="ctr">
              <a:buFontTx/>
              <a:buNone/>
              <a:defRPr/>
            </a:pPr>
            <a:r>
              <a:rPr lang="en-US" sz="5700" dirty="0">
                <a:solidFill>
                  <a:srgbClr val="C00000"/>
                </a:solidFill>
              </a:rPr>
              <a:t>5G </a:t>
            </a:r>
            <a:r>
              <a:rPr lang="en-US" sz="5700" dirty="0" smtClean="0">
                <a:solidFill>
                  <a:srgbClr val="C00000"/>
                </a:solidFill>
              </a:rPr>
              <a:t>Core Network Architecture</a:t>
            </a:r>
            <a:endParaRPr lang="en-US" sz="1725" dirty="0">
              <a:solidFill>
                <a:srgbClr val="C00000"/>
              </a:solidFill>
            </a:endParaRPr>
          </a:p>
        </p:txBody>
      </p:sp>
      <p:sp>
        <p:nvSpPr>
          <p:cNvPr id="3075" name="Slide Number Placeholder 14"/>
          <p:cNvSpPr>
            <a:spLocks noGrp="1"/>
          </p:cNvSpPr>
          <p:nvPr>
            <p:ph type="sldNum" sz="quarter" idx="12"/>
          </p:nvPr>
        </p:nvSpPr>
        <p:spPr>
          <a:xfrm>
            <a:off x="7581900" y="5624514"/>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28270C2B-F570-482D-B7D8-379B0AD8AD3A}" type="slidenum">
              <a:rPr lang="en-US" altLang="en-US" sz="1000"/>
              <a:pPr>
                <a:spcBef>
                  <a:spcPct val="0"/>
                </a:spcBef>
                <a:buFontTx/>
                <a:buNone/>
              </a:pPr>
              <a:t>2</a:t>
            </a:fld>
            <a:endParaRPr lang="en-US" altLang="en-US" sz="1000"/>
          </a:p>
        </p:txBody>
      </p:sp>
      <p:sp>
        <p:nvSpPr>
          <p:cNvPr id="4" name="Rectangle 3"/>
          <p:cNvSpPr/>
          <p:nvPr/>
        </p:nvSpPr>
        <p:spPr>
          <a:xfrm>
            <a:off x="4606724" y="3733801"/>
            <a:ext cx="2579553" cy="492443"/>
          </a:xfrm>
          <a:prstGeom prst="rect">
            <a:avLst/>
          </a:prstGeom>
        </p:spPr>
        <p:txBody>
          <a:bodyPr wrap="none">
            <a:spAutoFit/>
          </a:bodyPr>
          <a:lstStyle/>
          <a:p>
            <a:pPr algn="ctr">
              <a:buFontTx/>
              <a:buNone/>
              <a:defRPr/>
            </a:pPr>
            <a:r>
              <a:rPr lang="en-US" sz="2600" dirty="0" smtClean="0">
                <a:solidFill>
                  <a:srgbClr val="C00000"/>
                </a:solidFill>
              </a:rPr>
              <a:t>Reference Point</a:t>
            </a:r>
            <a:endParaRPr lang="en-US" sz="2600" dirty="0">
              <a:solidFill>
                <a:srgbClr val="C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3400" y="1676400"/>
            <a:ext cx="11116456" cy="1676400"/>
          </a:xfrm>
          <a:prstGeom prst="rect">
            <a:avLst/>
          </a:prstGeom>
        </p:spPr>
      </p:pic>
    </p:spTree>
    <p:extLst>
      <p:ext uri="{BB962C8B-B14F-4D97-AF65-F5344CB8AC3E}">
        <p14:creationId xmlns:p14="http://schemas.microsoft.com/office/powerpoint/2010/main" val="3871674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8600" y="228600"/>
            <a:ext cx="11582400" cy="6400800"/>
          </a:xfrm>
          <a:prstGeom prst="rect">
            <a:avLst/>
          </a:prstGeom>
        </p:spPr>
      </p:pic>
      <p:sp>
        <p:nvSpPr>
          <p:cNvPr id="4" name="TextBox 3"/>
          <p:cNvSpPr txBox="1"/>
          <p:nvPr/>
        </p:nvSpPr>
        <p:spPr>
          <a:xfrm flipH="1">
            <a:off x="2743200" y="5105400"/>
            <a:ext cx="2545082" cy="646331"/>
          </a:xfrm>
          <a:prstGeom prst="rect">
            <a:avLst/>
          </a:prstGeom>
          <a:noFill/>
        </p:spPr>
        <p:txBody>
          <a:bodyPr wrap="square" rtlCol="0">
            <a:spAutoFit/>
          </a:bodyPr>
          <a:lstStyle/>
          <a:p>
            <a:pPr algn="ctr"/>
            <a:r>
              <a:rPr lang="en-US" dirty="0" smtClean="0"/>
              <a:t>Next Generation</a:t>
            </a:r>
          </a:p>
          <a:p>
            <a:pPr algn="ctr"/>
            <a:r>
              <a:rPr lang="en-US" dirty="0" smtClean="0"/>
              <a:t> Radio Access Network </a:t>
            </a:r>
            <a:endParaRPr lang="en-IN" dirty="0"/>
          </a:p>
        </p:txBody>
      </p:sp>
    </p:spTree>
    <p:extLst>
      <p:ext uri="{BB962C8B-B14F-4D97-AF65-F5344CB8AC3E}">
        <p14:creationId xmlns:p14="http://schemas.microsoft.com/office/powerpoint/2010/main" val="11279307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43400" y="20782"/>
            <a:ext cx="4216219" cy="523220"/>
          </a:xfrm>
          <a:prstGeom prst="rect">
            <a:avLst/>
          </a:prstGeom>
        </p:spPr>
        <p:txBody>
          <a:bodyPr wrap="none">
            <a:spAutoFit/>
          </a:bodyPr>
          <a:lstStyle/>
          <a:p>
            <a:r>
              <a:rPr lang="en-IN" sz="2800" b="1" dirty="0">
                <a:solidFill>
                  <a:srgbClr val="FF0000"/>
                </a:solidFill>
                <a:latin typeface="Times New Roman" panose="02020603050405020304" pitchFamily="18" charset="0"/>
              </a:rPr>
              <a:t>5G CORE ATTRIBUTES </a:t>
            </a:r>
            <a:endParaRPr lang="en-IN" sz="2800" dirty="0">
              <a:solidFill>
                <a:srgbClr val="FF0000"/>
              </a:solidFill>
            </a:endParaRPr>
          </a:p>
        </p:txBody>
      </p:sp>
      <p:sp>
        <p:nvSpPr>
          <p:cNvPr id="3" name="Rectangle 2"/>
          <p:cNvSpPr/>
          <p:nvPr/>
        </p:nvSpPr>
        <p:spPr>
          <a:xfrm>
            <a:off x="152400" y="544002"/>
            <a:ext cx="11582400" cy="3416320"/>
          </a:xfrm>
          <a:prstGeom prst="rect">
            <a:avLst/>
          </a:prstGeom>
        </p:spPr>
        <p:txBody>
          <a:bodyPr wrap="square">
            <a:spAutoFit/>
          </a:bodyPr>
          <a:lstStyle/>
          <a:p>
            <a:pPr algn="just"/>
            <a:r>
              <a:rPr lang="en-US" sz="2400" dirty="0" smtClean="0">
                <a:solidFill>
                  <a:srgbClr val="000000"/>
                </a:solidFill>
                <a:latin typeface="Calibri" panose="020F0502020204030204" pitchFamily="34" charset="0"/>
                <a:cs typeface="Calibri" panose="020F0502020204030204" pitchFamily="34" charset="0"/>
              </a:rPr>
              <a:t>The </a:t>
            </a:r>
            <a:r>
              <a:rPr lang="en-US" sz="2400" dirty="0">
                <a:solidFill>
                  <a:srgbClr val="000000"/>
                </a:solidFill>
                <a:latin typeface="Calibri" panose="020F0502020204030204" pitchFamily="34" charset="0"/>
                <a:cs typeface="Calibri" panose="020F0502020204030204" pitchFamily="34" charset="0"/>
              </a:rPr>
              <a:t>5G core network is aimed to be: </a:t>
            </a:r>
            <a:endParaRPr lang="en-US" sz="2400" dirty="0" smtClean="0">
              <a:solidFill>
                <a:srgbClr val="000000"/>
              </a:solidFill>
              <a:latin typeface="Calibri" panose="020F0502020204030204" pitchFamily="34" charset="0"/>
              <a:cs typeface="Calibri" panose="020F0502020204030204" pitchFamily="34" charset="0"/>
            </a:endParaRPr>
          </a:p>
          <a:p>
            <a:pPr marL="342900" indent="-342900" algn="just">
              <a:buFont typeface="+mj-lt"/>
              <a:buAutoNum type="alphaLcParenR"/>
            </a:pPr>
            <a:r>
              <a:rPr lang="en-US" sz="2400" b="1" dirty="0" smtClean="0">
                <a:solidFill>
                  <a:srgbClr val="FF0000"/>
                </a:solidFill>
                <a:latin typeface="Calibri" panose="020F0502020204030204" pitchFamily="34" charset="0"/>
                <a:cs typeface="Calibri" panose="020F0502020204030204" pitchFamily="34" charset="0"/>
              </a:rPr>
              <a:t>Flexible</a:t>
            </a:r>
            <a:r>
              <a:rPr lang="en-US" sz="2400" b="1" dirty="0">
                <a:solidFill>
                  <a:srgbClr val="FF0000"/>
                </a:solidFill>
                <a:latin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cs typeface="Calibri" panose="020F0502020204030204" pitchFamily="34" charset="0"/>
              </a:rPr>
              <a:t> 5G Core should be able to flexibly add new services and configure the network on a shared infrastructure. </a:t>
            </a:r>
            <a:endParaRPr lang="en-US" sz="2400" dirty="0" smtClean="0">
              <a:solidFill>
                <a:srgbClr val="000000"/>
              </a:solidFill>
              <a:latin typeface="Calibri" panose="020F0502020204030204" pitchFamily="34" charset="0"/>
              <a:cs typeface="Calibri" panose="020F0502020204030204" pitchFamily="34" charset="0"/>
            </a:endParaRPr>
          </a:p>
          <a:p>
            <a:pPr marL="342900" indent="-342900" algn="just">
              <a:buFont typeface="+mj-lt"/>
              <a:buAutoNum type="alphaLcParenR"/>
            </a:pPr>
            <a:r>
              <a:rPr lang="en-US" sz="2400" b="1" dirty="0" smtClean="0">
                <a:solidFill>
                  <a:srgbClr val="FF0000"/>
                </a:solidFill>
                <a:latin typeface="Calibri" panose="020F0502020204030204" pitchFamily="34" charset="0"/>
                <a:cs typeface="Calibri" panose="020F0502020204030204" pitchFamily="34" charset="0"/>
              </a:rPr>
              <a:t>Agile</a:t>
            </a:r>
            <a:r>
              <a:rPr lang="en-US" sz="2400" b="1" dirty="0">
                <a:solidFill>
                  <a:srgbClr val="FF0000"/>
                </a:solidFill>
                <a:latin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cs typeface="Calibri" panose="020F0502020204030204" pitchFamily="34" charset="0"/>
              </a:rPr>
              <a:t> The 5G Core should shorten the service implementation time from hours to minutes and delivers faster time-to-market (TTM) for new services from months to days. </a:t>
            </a:r>
            <a:endParaRPr lang="en-US" sz="2400" dirty="0" smtClean="0">
              <a:solidFill>
                <a:srgbClr val="000000"/>
              </a:solidFill>
              <a:latin typeface="Calibri" panose="020F0502020204030204" pitchFamily="34" charset="0"/>
              <a:cs typeface="Calibri" panose="020F0502020204030204" pitchFamily="34" charset="0"/>
            </a:endParaRPr>
          </a:p>
          <a:p>
            <a:pPr marL="342900" indent="-342900" algn="just">
              <a:buFont typeface="+mj-lt"/>
              <a:buAutoNum type="alphaLcParenR"/>
            </a:pPr>
            <a:r>
              <a:rPr lang="en-US" sz="2400" b="1" dirty="0" smtClean="0">
                <a:solidFill>
                  <a:srgbClr val="FF0000"/>
                </a:solidFill>
                <a:latin typeface="Calibri" panose="020F0502020204030204" pitchFamily="34" charset="0"/>
                <a:cs typeface="Calibri" panose="020F0502020204030204" pitchFamily="34" charset="0"/>
              </a:rPr>
              <a:t>Scalable</a:t>
            </a:r>
            <a:r>
              <a:rPr lang="en-US" sz="2400" b="1" dirty="0">
                <a:solidFill>
                  <a:srgbClr val="FF0000"/>
                </a:solidFill>
                <a:latin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cs typeface="Calibri" panose="020F0502020204030204" pitchFamily="34" charset="0"/>
              </a:rPr>
              <a:t> 5G Core should be scalable rapidly and highly with telco-grade reliability. </a:t>
            </a:r>
            <a:endParaRPr lang="en-US" sz="2400" dirty="0" smtClean="0">
              <a:solidFill>
                <a:srgbClr val="000000"/>
              </a:solidFill>
              <a:latin typeface="Calibri" panose="020F0502020204030204" pitchFamily="34" charset="0"/>
              <a:cs typeface="Calibri" panose="020F0502020204030204" pitchFamily="34" charset="0"/>
            </a:endParaRPr>
          </a:p>
          <a:p>
            <a:pPr marL="342900" indent="-342900" algn="just">
              <a:buFont typeface="+mj-lt"/>
              <a:buAutoNum type="alphaLcParenR"/>
            </a:pPr>
            <a:r>
              <a:rPr lang="en-US" sz="2400" b="1" dirty="0" smtClean="0">
                <a:solidFill>
                  <a:srgbClr val="FF0000"/>
                </a:solidFill>
                <a:latin typeface="Calibri" panose="020F0502020204030204" pitchFamily="34" charset="0"/>
                <a:cs typeface="Calibri" panose="020F0502020204030204" pitchFamily="34" charset="0"/>
              </a:rPr>
              <a:t>Tunable</a:t>
            </a:r>
            <a:r>
              <a:rPr lang="en-US" sz="2400" b="1" dirty="0">
                <a:solidFill>
                  <a:srgbClr val="FF0000"/>
                </a:solidFill>
                <a:latin typeface="Calibri" panose="020F0502020204030204" pitchFamily="34" charset="0"/>
                <a:cs typeface="Calibri" panose="020F0502020204030204" pitchFamily="34" charset="0"/>
              </a:rPr>
              <a:t>: </a:t>
            </a:r>
            <a:r>
              <a:rPr lang="en-US" sz="2400" dirty="0">
                <a:solidFill>
                  <a:srgbClr val="000000"/>
                </a:solidFill>
                <a:latin typeface="Calibri" panose="020F0502020204030204" pitchFamily="34" charset="0"/>
                <a:cs typeface="Calibri" panose="020F0502020204030204" pitchFamily="34" charset="0"/>
              </a:rPr>
              <a:t>5G Core should be able to quickly adapt and </a:t>
            </a:r>
            <a:r>
              <a:rPr lang="en-US" sz="2400" dirty="0" err="1">
                <a:solidFill>
                  <a:srgbClr val="000000"/>
                </a:solidFill>
                <a:latin typeface="Calibri" panose="020F0502020204030204" pitchFamily="34" charset="0"/>
                <a:cs typeface="Calibri" panose="020F0502020204030204" pitchFamily="34" charset="0"/>
              </a:rPr>
              <a:t>optimise</a:t>
            </a:r>
            <a:r>
              <a:rPr lang="en-US" sz="2400" dirty="0">
                <a:solidFill>
                  <a:srgbClr val="000000"/>
                </a:solidFill>
                <a:latin typeface="Calibri" panose="020F0502020204030204" pitchFamily="34" charset="0"/>
                <a:cs typeface="Calibri" panose="020F0502020204030204" pitchFamily="34" charset="0"/>
              </a:rPr>
              <a:t> the network according to operating conditions. It should also support cost-efficient migration from 4G to 5G based on access agnostic common core. </a:t>
            </a:r>
          </a:p>
        </p:txBody>
      </p:sp>
      <p:sp>
        <p:nvSpPr>
          <p:cNvPr id="4" name="Rectangle 3"/>
          <p:cNvSpPr/>
          <p:nvPr/>
        </p:nvSpPr>
        <p:spPr>
          <a:xfrm>
            <a:off x="126076" y="3964478"/>
            <a:ext cx="11582400" cy="2677656"/>
          </a:xfrm>
          <a:prstGeom prst="rect">
            <a:avLst/>
          </a:prstGeom>
        </p:spPr>
        <p:txBody>
          <a:bodyPr wrap="square">
            <a:spAutoFit/>
          </a:bodyPr>
          <a:lstStyle/>
          <a:p>
            <a:pPr algn="just"/>
            <a:r>
              <a:rPr lang="en-US" sz="2400" dirty="0">
                <a:solidFill>
                  <a:srgbClr val="000000"/>
                </a:solidFill>
                <a:latin typeface="Calibri" panose="020F0502020204030204" pitchFamily="34" charset="0"/>
                <a:cs typeface="Calibri" panose="020F0502020204030204" pitchFamily="34" charset="0"/>
              </a:rPr>
              <a:t>To achieve these aims, the key 5GC design principles are</a:t>
            </a:r>
            <a:r>
              <a:rPr lang="en-US" sz="2400" dirty="0" smtClean="0">
                <a:solidFill>
                  <a:srgbClr val="000000"/>
                </a:solidFill>
                <a:latin typeface="Calibri" panose="020F0502020204030204" pitchFamily="34" charset="0"/>
                <a:cs typeface="Calibri" panose="020F0502020204030204" pitchFamily="34" charset="0"/>
              </a:rPr>
              <a:t>:</a:t>
            </a:r>
          </a:p>
          <a:p>
            <a:pPr algn="just"/>
            <a:endParaRPr lang="en-US" sz="2400" dirty="0">
              <a:solidFill>
                <a:srgbClr val="000000"/>
              </a:solidFill>
              <a:latin typeface="Calibri" panose="020F0502020204030204" pitchFamily="34" charset="0"/>
              <a:cs typeface="Calibri" panose="020F0502020204030204" pitchFamily="34" charset="0"/>
            </a:endParaRPr>
          </a:p>
          <a:p>
            <a:pPr marL="342900" indent="-342900" algn="just">
              <a:buFont typeface="+mj-lt"/>
              <a:buAutoNum type="alphaLcParenR"/>
            </a:pPr>
            <a:r>
              <a:rPr lang="en-US" sz="2400" b="1" dirty="0">
                <a:solidFill>
                  <a:srgbClr val="FF0000"/>
                </a:solidFill>
                <a:latin typeface="Calibri" panose="020F0502020204030204" pitchFamily="34" charset="0"/>
                <a:cs typeface="Calibri" panose="020F0502020204030204" pitchFamily="34" charset="0"/>
              </a:rPr>
              <a:t>Network slicing: </a:t>
            </a:r>
            <a:r>
              <a:rPr lang="en-US" sz="2400" dirty="0">
                <a:solidFill>
                  <a:srgbClr val="000000"/>
                </a:solidFill>
                <a:latin typeface="Calibri" panose="020F0502020204030204" pitchFamily="34" charset="0"/>
                <a:cs typeface="Calibri" panose="020F0502020204030204" pitchFamily="34" charset="0"/>
              </a:rPr>
              <a:t>This feature enables independent scalability and decoupled technical evolution and flexible deployments &amp; configuration of the network as per the needs of the different services</a:t>
            </a:r>
            <a:r>
              <a:rPr lang="en-US" sz="2400" dirty="0" smtClean="0">
                <a:solidFill>
                  <a:srgbClr val="000000"/>
                </a:solidFill>
                <a:latin typeface="Calibri" panose="020F0502020204030204" pitchFamily="34" charset="0"/>
                <a:cs typeface="Calibri" panose="020F0502020204030204" pitchFamily="34" charset="0"/>
              </a:rPr>
              <a:t>.</a:t>
            </a:r>
          </a:p>
          <a:p>
            <a:pPr marL="342900" indent="-342900" algn="just">
              <a:buFont typeface="+mj-lt"/>
              <a:buAutoNum type="alphaLcParenR"/>
            </a:pPr>
            <a:r>
              <a:rPr lang="en-US" sz="2400" b="1" dirty="0">
                <a:solidFill>
                  <a:srgbClr val="FF0000"/>
                </a:solidFill>
                <a:latin typeface="Calibri" panose="020F0502020204030204" pitchFamily="34" charset="0"/>
                <a:cs typeface="Calibri" panose="020F0502020204030204" pitchFamily="34" charset="0"/>
              </a:rPr>
              <a:t>Modular function design: </a:t>
            </a:r>
            <a:r>
              <a:rPr lang="en-US" sz="2400" dirty="0">
                <a:latin typeface="Calibri" panose="020F0502020204030204" pitchFamily="34" charset="0"/>
                <a:cs typeface="Calibri" panose="020F0502020204030204" pitchFamily="34" charset="0"/>
              </a:rPr>
              <a:t>This is a form of functional disaggregation such that a function composed of multiple modules can be created according to the use case's requirements</a:t>
            </a:r>
            <a:r>
              <a:rPr lang="en-US" sz="2400" dirty="0" smtClean="0">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09923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04800"/>
            <a:ext cx="11582400" cy="6370975"/>
          </a:xfrm>
          <a:prstGeom prst="rect">
            <a:avLst/>
          </a:prstGeom>
        </p:spPr>
        <p:txBody>
          <a:bodyPr wrap="square">
            <a:spAutoFit/>
          </a:bodyPr>
          <a:lstStyle/>
          <a:p>
            <a:pPr marL="342900" indent="-342900" algn="just">
              <a:buFont typeface="+mj-lt"/>
              <a:buAutoNum type="alphaLcParenR" startAt="2"/>
            </a:pPr>
            <a:r>
              <a:rPr lang="en-US" sz="2400" b="1" dirty="0" smtClean="0">
                <a:solidFill>
                  <a:srgbClr val="FF0000"/>
                </a:solidFill>
                <a:latin typeface="Calibri" panose="020F0502020204030204" pitchFamily="34" charset="0"/>
                <a:cs typeface="Calibri" panose="020F0502020204030204" pitchFamily="34" charset="0"/>
              </a:rPr>
              <a:t>Unified </a:t>
            </a:r>
            <a:r>
              <a:rPr lang="en-US" sz="2400" b="1" dirty="0">
                <a:solidFill>
                  <a:srgbClr val="FF0000"/>
                </a:solidFill>
                <a:latin typeface="Calibri" panose="020F0502020204030204" pitchFamily="34" charset="0"/>
                <a:cs typeface="Calibri" panose="020F0502020204030204" pitchFamily="34" charset="0"/>
              </a:rPr>
              <a:t>authentication framework : </a:t>
            </a:r>
            <a:r>
              <a:rPr lang="en-US" sz="2400" dirty="0">
                <a:latin typeface="Calibri" panose="020F0502020204030204" pitchFamily="34" charset="0"/>
                <a:cs typeface="Calibri" panose="020F0502020204030204" pitchFamily="34" charset="0"/>
              </a:rPr>
              <a:t>This is useful in multi-access core, for efficiency and to enable operators to offer "follow-the-user" services, independently of access method.</a:t>
            </a:r>
          </a:p>
          <a:p>
            <a:pPr marL="342900" indent="-342900" algn="just">
              <a:buFont typeface="+mj-lt"/>
              <a:buAutoNum type="alphaLcParenR" startAt="2"/>
            </a:pPr>
            <a:r>
              <a:rPr lang="en-US" sz="2400" b="1" dirty="0" smtClean="0">
                <a:solidFill>
                  <a:srgbClr val="FF0000"/>
                </a:solidFill>
                <a:latin typeface="Calibri" panose="020F0502020204030204" pitchFamily="34" charset="0"/>
                <a:cs typeface="Calibri" panose="020F0502020204030204" pitchFamily="34" charset="0"/>
              </a:rPr>
              <a:t>“Stateless</a:t>
            </a:r>
            <a:r>
              <a:rPr lang="en-US" sz="2400" b="1" dirty="0">
                <a:solidFill>
                  <a:srgbClr val="FF0000"/>
                </a:solidFill>
                <a:latin typeface="Calibri" panose="020F0502020204030204" pitchFamily="34" charset="0"/>
                <a:cs typeface="Calibri" panose="020F0502020204030204" pitchFamily="34" charset="0"/>
              </a:rPr>
              <a:t>" network functions: </a:t>
            </a:r>
            <a:r>
              <a:rPr lang="en-US" sz="2400" dirty="0">
                <a:latin typeface="Calibri" panose="020F0502020204030204" pitchFamily="34" charset="0"/>
                <a:cs typeface="Calibri" panose="020F0502020204030204" pitchFamily="34" charset="0"/>
              </a:rPr>
              <a:t>With this feature, the "compute" resource is decoupled from the "storage" resource. This concept is derived from cloud applications. It enables much more efficient creation and consumption of network resources.</a:t>
            </a:r>
          </a:p>
          <a:p>
            <a:pPr marL="342900" indent="-342900" algn="just">
              <a:buFont typeface="+mj-lt"/>
              <a:buAutoNum type="alphaLcParenR" startAt="2"/>
            </a:pPr>
            <a:r>
              <a:rPr lang="en-US" sz="2400" b="1" dirty="0" smtClean="0">
                <a:solidFill>
                  <a:srgbClr val="FF0000"/>
                </a:solidFill>
                <a:latin typeface="Calibri" panose="020F0502020204030204" pitchFamily="34" charset="0"/>
                <a:cs typeface="Calibri" panose="020F0502020204030204" pitchFamily="34" charset="0"/>
              </a:rPr>
              <a:t>Support </a:t>
            </a:r>
            <a:r>
              <a:rPr lang="en-US" sz="2400" b="1" dirty="0">
                <a:solidFill>
                  <a:srgbClr val="FF0000"/>
                </a:solidFill>
                <a:latin typeface="Calibri" panose="020F0502020204030204" pitchFamily="34" charset="0"/>
                <a:cs typeface="Calibri" panose="020F0502020204030204" pitchFamily="34" charset="0"/>
              </a:rPr>
              <a:t>for cloud native applications: </a:t>
            </a:r>
            <a:r>
              <a:rPr lang="en-US" sz="2400" dirty="0">
                <a:latin typeface="Calibri" panose="020F0502020204030204" pitchFamily="34" charset="0"/>
                <a:cs typeface="Calibri" panose="020F0502020204030204" pitchFamily="34" charset="0"/>
              </a:rPr>
              <a:t>This is further step from NFV (Network Function </a:t>
            </a:r>
            <a:r>
              <a:rPr lang="en-US" sz="2400" dirty="0" err="1">
                <a:latin typeface="Calibri" panose="020F0502020204030204" pitchFamily="34" charset="0"/>
                <a:cs typeface="Calibri" panose="020F0502020204030204" pitchFamily="34" charset="0"/>
              </a:rPr>
              <a:t>Virtualisation</a:t>
            </a:r>
            <a:r>
              <a:rPr lang="en-US" sz="2400" dirty="0">
                <a:latin typeface="Calibri" panose="020F0502020204030204" pitchFamily="34" charset="0"/>
                <a:cs typeface="Calibri" panose="020F0502020204030204" pitchFamily="34" charset="0"/>
              </a:rPr>
              <a:t>) and improves the scalability and efficient creation and consumption of network resources.</a:t>
            </a:r>
          </a:p>
          <a:p>
            <a:pPr marL="342900" indent="-342900" algn="just">
              <a:buFont typeface="+mj-lt"/>
              <a:buAutoNum type="alphaLcParenR" startAt="2"/>
            </a:pPr>
            <a:r>
              <a:rPr lang="en-US" sz="2400" b="1" dirty="0" smtClean="0">
                <a:solidFill>
                  <a:srgbClr val="FF0000"/>
                </a:solidFill>
                <a:latin typeface="Calibri" panose="020F0502020204030204" pitchFamily="34" charset="0"/>
                <a:cs typeface="Calibri" panose="020F0502020204030204" pitchFamily="34" charset="0"/>
              </a:rPr>
              <a:t>Network </a:t>
            </a:r>
            <a:r>
              <a:rPr lang="en-US" sz="2400" b="1" dirty="0">
                <a:solidFill>
                  <a:srgbClr val="FF0000"/>
                </a:solidFill>
                <a:latin typeface="Calibri" panose="020F0502020204030204" pitchFamily="34" charset="0"/>
                <a:cs typeface="Calibri" panose="020F0502020204030204" pitchFamily="34" charset="0"/>
              </a:rPr>
              <a:t>capability exposure: </a:t>
            </a:r>
            <a:r>
              <a:rPr lang="en-US" sz="2400" dirty="0">
                <a:latin typeface="Calibri" panose="020F0502020204030204" pitchFamily="34" charset="0"/>
                <a:cs typeface="Calibri" panose="020F0502020204030204" pitchFamily="34" charset="0"/>
              </a:rPr>
              <a:t>Exposing information about the network's capabilities to internal and external applications is very important where operators want to integrate 5G with vertical industry processes. Standardizing this interface makes integration easier for vertical customers, especially those with international operations and multi-operator relationships.</a:t>
            </a:r>
          </a:p>
          <a:p>
            <a:pPr marL="342900" indent="-342900" algn="just">
              <a:buFont typeface="+mj-lt"/>
              <a:buAutoNum type="alphaLcParenR" startAt="2"/>
            </a:pPr>
            <a:r>
              <a:rPr lang="en-US" sz="2400" b="1" dirty="0" smtClean="0">
                <a:solidFill>
                  <a:srgbClr val="FF0000"/>
                </a:solidFill>
                <a:latin typeface="Calibri" panose="020F0502020204030204" pitchFamily="34" charset="0"/>
                <a:cs typeface="Calibri" panose="020F0502020204030204" pitchFamily="34" charset="0"/>
              </a:rPr>
              <a:t>Support </a:t>
            </a:r>
            <a:r>
              <a:rPr lang="en-US" sz="2400" b="1" dirty="0">
                <a:solidFill>
                  <a:srgbClr val="FF0000"/>
                </a:solidFill>
                <a:latin typeface="Calibri" panose="020F0502020204030204" pitchFamily="34" charset="0"/>
                <a:cs typeface="Calibri" panose="020F0502020204030204" pitchFamily="34" charset="0"/>
              </a:rPr>
              <a:t>for mobile edge computing: </a:t>
            </a:r>
            <a:r>
              <a:rPr lang="en-US" sz="2400" dirty="0">
                <a:latin typeface="Calibri" panose="020F0502020204030204" pitchFamily="34" charset="0"/>
                <a:cs typeface="Calibri" panose="020F0502020204030204" pitchFamily="34" charset="0"/>
              </a:rPr>
              <a:t>This is to support access to low- latency services hosted in local data </a:t>
            </a:r>
            <a:r>
              <a:rPr lang="en-US" sz="2400" dirty="0" err="1">
                <a:latin typeface="Calibri" panose="020F0502020204030204" pitchFamily="34" charset="0"/>
                <a:cs typeface="Calibri" panose="020F0502020204030204" pitchFamily="34" charset="0"/>
              </a:rPr>
              <a:t>centres</a:t>
            </a:r>
            <a:r>
              <a:rPr lang="en-US" sz="2400" dirty="0">
                <a:latin typeface="Calibri" panose="020F0502020204030204" pitchFamily="34" charset="0"/>
                <a:cs typeface="Calibri" panose="020F0502020204030204" pitchFamily="34" charset="0"/>
              </a:rPr>
              <a:t>. Typically, user-plane functions might be deployed remotely i.e. near to the user, while the control plane is centralized. In very low-latency, mission- critical applications, the control plane may also be distributed.</a:t>
            </a:r>
          </a:p>
        </p:txBody>
      </p:sp>
    </p:spTree>
    <p:extLst>
      <p:ext uri="{BB962C8B-B14F-4D97-AF65-F5344CB8AC3E}">
        <p14:creationId xmlns:p14="http://schemas.microsoft.com/office/powerpoint/2010/main" val="346247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5916043" cy="461665"/>
          </a:xfrm>
          <a:prstGeom prst="rect">
            <a:avLst/>
          </a:prstGeom>
        </p:spPr>
        <p:txBody>
          <a:bodyPr wrap="none">
            <a:spAutoFit/>
          </a:bodyPr>
          <a:lstStyle/>
          <a:p>
            <a:r>
              <a:rPr lang="en-IN" sz="2400" b="1" dirty="0">
                <a:solidFill>
                  <a:srgbClr val="FF0000"/>
                </a:solidFill>
                <a:latin typeface="Times New Roman" panose="02020603050405020304" pitchFamily="18" charset="0"/>
              </a:rPr>
              <a:t>5G CORE NETWORK ARCHITECTURE </a:t>
            </a:r>
            <a:endParaRPr lang="en-IN" sz="2400" dirty="0">
              <a:solidFill>
                <a:srgbClr val="FF0000"/>
              </a:solidFill>
            </a:endParaRPr>
          </a:p>
        </p:txBody>
      </p:sp>
      <p:sp>
        <p:nvSpPr>
          <p:cNvPr id="4" name="Rectangle 3"/>
          <p:cNvSpPr/>
          <p:nvPr/>
        </p:nvSpPr>
        <p:spPr>
          <a:xfrm>
            <a:off x="228600" y="685800"/>
            <a:ext cx="11201400" cy="5509200"/>
          </a:xfrm>
          <a:prstGeom prst="rect">
            <a:avLst/>
          </a:prstGeom>
        </p:spPr>
        <p:txBody>
          <a:bodyPr wrap="square">
            <a:spAutoFit/>
          </a:bodyPr>
          <a:lstStyle/>
          <a:p>
            <a:pPr marL="285750" indent="-285750" algn="just">
              <a:buFont typeface="Arial" panose="020B0604020202020204" pitchFamily="34" charset="0"/>
              <a:buChar char="•"/>
            </a:pPr>
            <a:r>
              <a:rPr lang="en-US" sz="3200" dirty="0">
                <a:solidFill>
                  <a:srgbClr val="000000"/>
                </a:solidFill>
                <a:latin typeface="Calibri" panose="020F0502020204030204" pitchFamily="34" charset="0"/>
                <a:cs typeface="Calibri" panose="020F0502020204030204" pitchFamily="34" charset="0"/>
              </a:rPr>
              <a:t>The 5G core network architecture </a:t>
            </a:r>
            <a:r>
              <a:rPr lang="en-US" sz="3200" dirty="0" err="1">
                <a:solidFill>
                  <a:srgbClr val="000000"/>
                </a:solidFill>
                <a:latin typeface="Calibri" panose="020F0502020204030204" pitchFamily="34" charset="0"/>
                <a:cs typeface="Calibri" panose="020F0502020204030204" pitchFamily="34" charset="0"/>
              </a:rPr>
              <a:t>standardised</a:t>
            </a:r>
            <a:r>
              <a:rPr lang="en-US" sz="3200" dirty="0">
                <a:solidFill>
                  <a:srgbClr val="000000"/>
                </a:solidFill>
                <a:latin typeface="Calibri" panose="020F0502020204030204" pitchFamily="34" charset="0"/>
                <a:cs typeface="Calibri" panose="020F0502020204030204" pitchFamily="34" charset="0"/>
              </a:rPr>
              <a:t> by 3GPP, </a:t>
            </a:r>
            <a:endParaRPr lang="en-US" sz="3200" dirty="0" smtClean="0">
              <a:solidFill>
                <a:srgbClr val="000000"/>
              </a:solidFill>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US" sz="3200" dirty="0" smtClean="0">
              <a:solidFill>
                <a:srgbClr val="000000"/>
              </a:solidFill>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3200" dirty="0" smtClean="0">
                <a:solidFill>
                  <a:srgbClr val="000000"/>
                </a:solidFill>
                <a:latin typeface="Calibri" panose="020F0502020204030204" pitchFamily="34" charset="0"/>
                <a:cs typeface="Calibri" panose="020F0502020204030204" pitchFamily="34" charset="0"/>
              </a:rPr>
              <a:t>The </a:t>
            </a:r>
            <a:r>
              <a:rPr lang="en-US" sz="3200" dirty="0">
                <a:solidFill>
                  <a:srgbClr val="000000"/>
                </a:solidFill>
                <a:latin typeface="Calibri" panose="020F0502020204030204" pitchFamily="34" charset="0"/>
                <a:cs typeface="Calibri" panose="020F0502020204030204" pitchFamily="34" charset="0"/>
              </a:rPr>
              <a:t>new 5G core, as defined by 3GPP, utilizes cloud-aligned, service-based architecture (SBA) that spans across all 5G functions and interactions </a:t>
            </a:r>
            <a:r>
              <a:rPr lang="en-US" sz="3200" dirty="0" smtClean="0">
                <a:solidFill>
                  <a:srgbClr val="000000"/>
                </a:solidFill>
                <a:latin typeface="Calibri" panose="020F0502020204030204" pitchFamily="34" charset="0"/>
                <a:cs typeface="Calibri" panose="020F0502020204030204" pitchFamily="34" charset="0"/>
              </a:rPr>
              <a:t>including authentication, security, session management and aggregation of traffic from end devices.</a:t>
            </a:r>
          </a:p>
          <a:p>
            <a:pPr marL="285750" indent="-285750" algn="just">
              <a:buFont typeface="Arial" panose="020B0604020202020204" pitchFamily="34" charset="0"/>
              <a:buChar char="•"/>
            </a:pPr>
            <a:endParaRPr lang="en-US" sz="3200" dirty="0" smtClean="0">
              <a:solidFill>
                <a:srgbClr val="000000"/>
              </a:solidFill>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3200" dirty="0" smtClean="0">
                <a:solidFill>
                  <a:srgbClr val="000000"/>
                </a:solidFill>
                <a:latin typeface="Calibri" panose="020F0502020204030204" pitchFamily="34" charset="0"/>
                <a:cs typeface="Calibri" panose="020F0502020204030204" pitchFamily="34" charset="0"/>
              </a:rPr>
              <a:t>The 5G core further emphasizes NFV as an integral design concept with virtualized software functions capable of being deployed in the network</a:t>
            </a:r>
            <a:endParaRPr lang="en-IN"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87997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28600"/>
            <a:ext cx="11600677" cy="6324600"/>
          </a:xfrm>
          <a:prstGeom prst="rect">
            <a:avLst/>
          </a:prstGeom>
        </p:spPr>
      </p:pic>
    </p:spTree>
    <p:extLst>
      <p:ext uri="{BB962C8B-B14F-4D97-AF65-F5344CB8AC3E}">
        <p14:creationId xmlns:p14="http://schemas.microsoft.com/office/powerpoint/2010/main" val="33589819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0500" y="742950"/>
            <a:ext cx="11811000" cy="5962650"/>
          </a:xfrm>
          <a:prstGeom prst="rect">
            <a:avLst/>
          </a:prstGeom>
        </p:spPr>
      </p:pic>
      <p:pic>
        <p:nvPicPr>
          <p:cNvPr id="4" name="Picture 3"/>
          <p:cNvPicPr>
            <a:picLocks noChangeAspect="1"/>
          </p:cNvPicPr>
          <p:nvPr/>
        </p:nvPicPr>
        <p:blipFill>
          <a:blip r:embed="rId3"/>
          <a:stretch>
            <a:fillRect/>
          </a:stretch>
        </p:blipFill>
        <p:spPr>
          <a:xfrm>
            <a:off x="190500" y="122959"/>
            <a:ext cx="11487150" cy="715241"/>
          </a:xfrm>
          <a:prstGeom prst="rect">
            <a:avLst/>
          </a:prstGeom>
        </p:spPr>
      </p:pic>
    </p:spTree>
    <p:extLst>
      <p:ext uri="{BB962C8B-B14F-4D97-AF65-F5344CB8AC3E}">
        <p14:creationId xmlns:p14="http://schemas.microsoft.com/office/powerpoint/2010/main" val="6261704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304800"/>
            <a:ext cx="11597819" cy="6096000"/>
          </a:xfrm>
          <a:prstGeom prst="rect">
            <a:avLst/>
          </a:prstGeom>
        </p:spPr>
      </p:pic>
    </p:spTree>
    <p:extLst>
      <p:ext uri="{BB962C8B-B14F-4D97-AF65-F5344CB8AC3E}">
        <p14:creationId xmlns:p14="http://schemas.microsoft.com/office/powerpoint/2010/main" val="26286908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5916043" cy="461665"/>
          </a:xfrm>
          <a:prstGeom prst="rect">
            <a:avLst/>
          </a:prstGeom>
        </p:spPr>
        <p:txBody>
          <a:bodyPr wrap="none">
            <a:spAutoFit/>
          </a:bodyPr>
          <a:lstStyle/>
          <a:p>
            <a:r>
              <a:rPr lang="en-IN" sz="2400" b="1" dirty="0">
                <a:solidFill>
                  <a:srgbClr val="00B050"/>
                </a:solidFill>
                <a:latin typeface="Times New Roman" panose="02020603050405020304" pitchFamily="18" charset="0"/>
              </a:rPr>
              <a:t>5G CORE NETWORK ARCHITECTURE </a:t>
            </a:r>
            <a:endParaRPr lang="en-IN" sz="2400" dirty="0">
              <a:solidFill>
                <a:srgbClr val="00B050"/>
              </a:solidFill>
            </a:endParaRPr>
          </a:p>
        </p:txBody>
      </p:sp>
      <p:sp>
        <p:nvSpPr>
          <p:cNvPr id="4" name="Rectangle 3"/>
          <p:cNvSpPr/>
          <p:nvPr/>
        </p:nvSpPr>
        <p:spPr>
          <a:xfrm>
            <a:off x="152400" y="499072"/>
            <a:ext cx="11201400" cy="430887"/>
          </a:xfrm>
          <a:prstGeom prst="rect">
            <a:avLst/>
          </a:prstGeom>
        </p:spPr>
        <p:txBody>
          <a:bodyPr wrap="square">
            <a:spAutoFit/>
          </a:bodyPr>
          <a:lstStyle/>
          <a:p>
            <a:pPr algn="just"/>
            <a:r>
              <a:rPr lang="en-US" sz="2200" dirty="0">
                <a:solidFill>
                  <a:srgbClr val="000000"/>
                </a:solidFill>
                <a:latin typeface="Calibri" panose="020F0502020204030204" pitchFamily="34" charset="0"/>
                <a:cs typeface="Calibri" panose="020F0502020204030204" pitchFamily="34" charset="0"/>
              </a:rPr>
              <a:t>The primary Network Functions (NFs) and their </a:t>
            </a:r>
            <a:r>
              <a:rPr lang="en-US" sz="2200" dirty="0" smtClean="0">
                <a:solidFill>
                  <a:srgbClr val="000000"/>
                </a:solidFill>
                <a:latin typeface="Calibri" panose="020F0502020204030204" pitchFamily="34" charset="0"/>
                <a:cs typeface="Calibri" panose="020F0502020204030204" pitchFamily="34" charset="0"/>
              </a:rPr>
              <a:t>capabilities:</a:t>
            </a:r>
          </a:p>
        </p:txBody>
      </p:sp>
      <p:sp>
        <p:nvSpPr>
          <p:cNvPr id="5" name="Rectangle 4"/>
          <p:cNvSpPr/>
          <p:nvPr/>
        </p:nvSpPr>
        <p:spPr>
          <a:xfrm>
            <a:off x="152400" y="1143000"/>
            <a:ext cx="11582400" cy="5262979"/>
          </a:xfrm>
          <a:prstGeom prst="rect">
            <a:avLst/>
          </a:prstGeom>
        </p:spPr>
        <p:txBody>
          <a:bodyPr wrap="square">
            <a:spAutoFit/>
          </a:bodyPr>
          <a:lstStyle/>
          <a:p>
            <a:pPr marL="457200" indent="-457200" algn="just">
              <a:buFont typeface="+mj-lt"/>
              <a:buAutoNum type="alphaLcParenR"/>
            </a:pPr>
            <a:r>
              <a:rPr lang="en-US" sz="2400" b="1" dirty="0">
                <a:solidFill>
                  <a:srgbClr val="FF0000"/>
                </a:solidFill>
                <a:latin typeface="Calibri" panose="020F0502020204030204" pitchFamily="34" charset="0"/>
                <a:cs typeface="Calibri" panose="020F0502020204030204" pitchFamily="34" charset="0"/>
              </a:rPr>
              <a:t>Authentication Server Function (AUSF</a:t>
            </a:r>
            <a:r>
              <a:rPr lang="en-US" sz="2400" b="1" dirty="0" smtClean="0">
                <a:solidFill>
                  <a:srgbClr val="FF0000"/>
                </a:solidFill>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This acts as an authentication server. It contains mainly the EAP authentication server functionality and acts as storage for keys and provides keying material to the requester NF. </a:t>
            </a:r>
            <a:endParaRPr lang="en-US" sz="2400" dirty="0" smtClean="0">
              <a:latin typeface="Calibri" panose="020F0502020204030204" pitchFamily="34" charset="0"/>
              <a:cs typeface="Calibri" panose="020F0502020204030204" pitchFamily="34" charset="0"/>
            </a:endParaRPr>
          </a:p>
          <a:p>
            <a:pPr marL="457200" indent="-457200" algn="just">
              <a:buFont typeface="+mj-lt"/>
              <a:buAutoNum type="alphaLcParenR"/>
            </a:pPr>
            <a:endParaRPr lang="en-US" sz="2400" b="1" dirty="0">
              <a:solidFill>
                <a:srgbClr val="FF0000"/>
              </a:solidFill>
              <a:latin typeface="Calibri" panose="020F0502020204030204" pitchFamily="34" charset="0"/>
              <a:cs typeface="Calibri" panose="020F0502020204030204" pitchFamily="34" charset="0"/>
            </a:endParaRPr>
          </a:p>
          <a:p>
            <a:pPr marL="457200" indent="-457200" algn="just">
              <a:buFont typeface="+mj-lt"/>
              <a:buAutoNum type="alphaLcParenR"/>
            </a:pPr>
            <a:r>
              <a:rPr lang="en-US" sz="2400" b="1" dirty="0">
                <a:solidFill>
                  <a:srgbClr val="FF0000"/>
                </a:solidFill>
                <a:latin typeface="Calibri" panose="020F0502020204030204" pitchFamily="34" charset="0"/>
                <a:cs typeface="Calibri" panose="020F0502020204030204" pitchFamily="34" charset="0"/>
              </a:rPr>
              <a:t>Access and Mobility Management Function (AMF</a:t>
            </a:r>
            <a:r>
              <a:rPr lang="en-US" sz="2400" b="1" dirty="0" smtClean="0">
                <a:solidFill>
                  <a:srgbClr val="FF0000"/>
                </a:solidFill>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It carries out termination of NAS </a:t>
            </a:r>
            <a:r>
              <a:rPr lang="en-US" sz="2400" dirty="0" smtClean="0">
                <a:latin typeface="Calibri" panose="020F0502020204030204" pitchFamily="34" charset="0"/>
                <a:cs typeface="Calibri" panose="020F0502020204030204" pitchFamily="34" charset="0"/>
              </a:rPr>
              <a:t>signaling, </a:t>
            </a:r>
            <a:r>
              <a:rPr lang="en-US" sz="2400" dirty="0">
                <a:latin typeface="Calibri" panose="020F0502020204030204" pitchFamily="34" charset="0"/>
                <a:cs typeface="Calibri" panose="020F0502020204030204" pitchFamily="34" charset="0"/>
              </a:rPr>
              <a:t>NAS ciphering &amp; integrity protection, registration management, connection management, mobility management, access authentication and authorization, security context management. The AMF also includes the Network Slice Selection Function (NSSF) and acts as the termination point for RAN CP interfaces (N2</a:t>
            </a:r>
            <a:r>
              <a:rPr lang="en-US" sz="2400" dirty="0" smtClean="0">
                <a:latin typeface="Calibri" panose="020F0502020204030204" pitchFamily="34" charset="0"/>
                <a:cs typeface="Calibri" panose="020F0502020204030204" pitchFamily="34" charset="0"/>
              </a:rPr>
              <a:t>).</a:t>
            </a:r>
          </a:p>
          <a:p>
            <a:pPr marL="457200" indent="-457200" algn="just">
              <a:buFont typeface="+mj-lt"/>
              <a:buAutoNum type="alphaLcParenR"/>
            </a:pPr>
            <a:endParaRPr lang="en-US" sz="2400" b="1" dirty="0">
              <a:solidFill>
                <a:srgbClr val="FF0000"/>
              </a:solidFill>
              <a:latin typeface="Calibri" panose="020F0502020204030204" pitchFamily="34" charset="0"/>
              <a:cs typeface="Calibri" panose="020F0502020204030204" pitchFamily="34" charset="0"/>
            </a:endParaRPr>
          </a:p>
          <a:p>
            <a:pPr marL="457200" indent="-457200" algn="just">
              <a:buFont typeface="+mj-lt"/>
              <a:buAutoNum type="alphaLcParenR"/>
            </a:pPr>
            <a:r>
              <a:rPr lang="en-US" sz="2400" b="1" dirty="0">
                <a:solidFill>
                  <a:srgbClr val="FF0000"/>
                </a:solidFill>
                <a:latin typeface="Calibri" panose="020F0502020204030204" pitchFamily="34" charset="0"/>
                <a:cs typeface="Calibri" panose="020F0502020204030204" pitchFamily="34" charset="0"/>
              </a:rPr>
              <a:t>Session Management Function (SMF</a:t>
            </a:r>
            <a:r>
              <a:rPr lang="en-US" sz="2400" b="1" dirty="0" smtClean="0">
                <a:solidFill>
                  <a:srgbClr val="FF0000"/>
                </a:solidFill>
                <a:latin typeface="Calibri" panose="020F0502020204030204" pitchFamily="34" charset="0"/>
                <a:cs typeface="Calibri" panose="020F0502020204030204" pitchFamily="34" charset="0"/>
              </a:rPr>
              <a:t>): </a:t>
            </a: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carries out session management (session establishment, modification and release), UE IP address allocation &amp; management, DHCP functions, termination of NAS </a:t>
            </a:r>
            <a:r>
              <a:rPr lang="en-US" sz="2400" dirty="0" err="1">
                <a:latin typeface="Calibri" panose="020F0502020204030204" pitchFamily="34" charset="0"/>
                <a:cs typeface="Calibri" panose="020F0502020204030204" pitchFamily="34" charset="0"/>
              </a:rPr>
              <a:t>signalling</a:t>
            </a:r>
            <a:r>
              <a:rPr lang="en-US" sz="2400" dirty="0">
                <a:latin typeface="Calibri" panose="020F0502020204030204" pitchFamily="34" charset="0"/>
                <a:cs typeface="Calibri" panose="020F0502020204030204" pitchFamily="34" charset="0"/>
              </a:rPr>
              <a:t> related to session management, DL data notification and traffic steering configuration for UPF for proper traffic routing</a:t>
            </a:r>
            <a:r>
              <a:rPr lang="en-US" sz="2400" dirty="0" smtClean="0">
                <a:latin typeface="Calibri" panose="020F0502020204030204" pitchFamily="34" charset="0"/>
                <a:cs typeface="Calibri" panose="020F0502020204030204" pitchFamily="34" charset="0"/>
              </a:rPr>
              <a:t>.</a:t>
            </a:r>
            <a:endParaRPr lang="en-US" sz="2400" b="1" dirty="0" smtClean="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6999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5916043" cy="461665"/>
          </a:xfrm>
          <a:prstGeom prst="rect">
            <a:avLst/>
          </a:prstGeom>
        </p:spPr>
        <p:txBody>
          <a:bodyPr wrap="none">
            <a:spAutoFit/>
          </a:bodyPr>
          <a:lstStyle/>
          <a:p>
            <a:r>
              <a:rPr lang="en-IN" sz="2400" b="1" dirty="0">
                <a:solidFill>
                  <a:srgbClr val="00B050"/>
                </a:solidFill>
                <a:latin typeface="Times New Roman" panose="02020603050405020304" pitchFamily="18" charset="0"/>
              </a:rPr>
              <a:t>5G CORE NETWORK ARCHITECTURE </a:t>
            </a:r>
            <a:endParaRPr lang="en-IN" sz="2400" dirty="0">
              <a:solidFill>
                <a:srgbClr val="00B050"/>
              </a:solidFill>
            </a:endParaRPr>
          </a:p>
        </p:txBody>
      </p:sp>
      <p:sp>
        <p:nvSpPr>
          <p:cNvPr id="4" name="Rectangle 3"/>
          <p:cNvSpPr/>
          <p:nvPr/>
        </p:nvSpPr>
        <p:spPr>
          <a:xfrm>
            <a:off x="152400" y="499072"/>
            <a:ext cx="11201400" cy="430887"/>
          </a:xfrm>
          <a:prstGeom prst="rect">
            <a:avLst/>
          </a:prstGeom>
        </p:spPr>
        <p:txBody>
          <a:bodyPr wrap="square">
            <a:spAutoFit/>
          </a:bodyPr>
          <a:lstStyle/>
          <a:p>
            <a:pPr algn="just"/>
            <a:r>
              <a:rPr lang="en-US" sz="2200" dirty="0">
                <a:solidFill>
                  <a:srgbClr val="000000"/>
                </a:solidFill>
                <a:latin typeface="Calibri" panose="020F0502020204030204" pitchFamily="34" charset="0"/>
                <a:cs typeface="Calibri" panose="020F0502020204030204" pitchFamily="34" charset="0"/>
              </a:rPr>
              <a:t>The primary Network Functions (NFs) and their </a:t>
            </a:r>
            <a:r>
              <a:rPr lang="en-US" sz="2200" dirty="0" smtClean="0">
                <a:solidFill>
                  <a:srgbClr val="000000"/>
                </a:solidFill>
                <a:latin typeface="Calibri" panose="020F0502020204030204" pitchFamily="34" charset="0"/>
                <a:cs typeface="Calibri" panose="020F0502020204030204" pitchFamily="34" charset="0"/>
              </a:rPr>
              <a:t>capabilities:</a:t>
            </a:r>
          </a:p>
        </p:txBody>
      </p:sp>
      <p:sp>
        <p:nvSpPr>
          <p:cNvPr id="5" name="Rectangle 4"/>
          <p:cNvSpPr/>
          <p:nvPr/>
        </p:nvSpPr>
        <p:spPr>
          <a:xfrm>
            <a:off x="152400" y="1143000"/>
            <a:ext cx="11582400" cy="5262979"/>
          </a:xfrm>
          <a:prstGeom prst="rect">
            <a:avLst/>
          </a:prstGeom>
        </p:spPr>
        <p:txBody>
          <a:bodyPr wrap="square">
            <a:spAutoFit/>
          </a:bodyPr>
          <a:lstStyle/>
          <a:p>
            <a:pPr marL="457200" indent="-457200" algn="just">
              <a:buFont typeface="+mj-lt"/>
              <a:buAutoNum type="alphaLcParenR" startAt="4"/>
            </a:pPr>
            <a:r>
              <a:rPr lang="en-US" sz="2400" b="1" dirty="0">
                <a:solidFill>
                  <a:srgbClr val="FF0000"/>
                </a:solidFill>
                <a:latin typeface="Calibri" panose="020F0502020204030204" pitchFamily="34" charset="0"/>
                <a:cs typeface="Calibri" panose="020F0502020204030204" pitchFamily="34" charset="0"/>
              </a:rPr>
              <a:t>User Plane Function (UPF</a:t>
            </a:r>
            <a:r>
              <a:rPr lang="en-US" sz="2400" b="1" dirty="0" smtClean="0">
                <a:solidFill>
                  <a:srgbClr val="FF0000"/>
                </a:solidFill>
                <a:latin typeface="Calibri" panose="020F0502020204030204" pitchFamily="34" charset="0"/>
                <a:cs typeface="Calibri" panose="020F0502020204030204" pitchFamily="34" charset="0"/>
              </a:rPr>
              <a:t>): </a:t>
            </a:r>
          </a:p>
          <a:p>
            <a:pPr marL="800100" lvl="1"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carries out packet routing &amp; forwarding, packet inspection, </a:t>
            </a:r>
            <a:r>
              <a:rPr lang="en-US" sz="2400" dirty="0" err="1">
                <a:latin typeface="Calibri" panose="020F0502020204030204" pitchFamily="34" charset="0"/>
                <a:cs typeface="Calibri" panose="020F0502020204030204" pitchFamily="34" charset="0"/>
              </a:rPr>
              <a:t>QoS</a:t>
            </a:r>
            <a:r>
              <a:rPr lang="en-US" sz="2400" dirty="0">
                <a:latin typeface="Calibri" panose="020F0502020204030204" pitchFamily="34" charset="0"/>
                <a:cs typeface="Calibri" panose="020F0502020204030204" pitchFamily="34" charset="0"/>
              </a:rPr>
              <a:t> handling, acts as external PDU session point of interconnect to Data Network (DN), and is an anchor point for intra- &amp; inter-RAT mobility. </a:t>
            </a:r>
            <a:endParaRPr lang="en-US" sz="2400" dirty="0" smtClean="0">
              <a:latin typeface="Calibri" panose="020F0502020204030204" pitchFamily="34" charset="0"/>
              <a:cs typeface="Calibri" panose="020F0502020204030204" pitchFamily="34" charset="0"/>
            </a:endParaRPr>
          </a:p>
          <a:p>
            <a:pPr marL="457200" indent="-457200" algn="just">
              <a:buFont typeface="+mj-lt"/>
              <a:buAutoNum type="alphaLcParenR" startAt="4"/>
            </a:pPr>
            <a:endParaRPr lang="en-US" sz="2400" b="1" dirty="0">
              <a:solidFill>
                <a:srgbClr val="FF0000"/>
              </a:solidFill>
              <a:latin typeface="Calibri" panose="020F0502020204030204" pitchFamily="34" charset="0"/>
              <a:cs typeface="Calibri" panose="020F0502020204030204" pitchFamily="34" charset="0"/>
            </a:endParaRPr>
          </a:p>
          <a:p>
            <a:pPr marL="457200" indent="-457200" algn="just">
              <a:buFont typeface="+mj-lt"/>
              <a:buAutoNum type="alphaLcParenR" startAt="4"/>
            </a:pPr>
            <a:r>
              <a:rPr lang="en-US" sz="2400" b="1" dirty="0" smtClean="0">
                <a:solidFill>
                  <a:srgbClr val="FF0000"/>
                </a:solidFill>
                <a:latin typeface="Calibri" panose="020F0502020204030204" pitchFamily="34" charset="0"/>
                <a:cs typeface="Calibri" panose="020F0502020204030204" pitchFamily="34" charset="0"/>
              </a:rPr>
              <a:t>Network Exposure Function (NEF):</a:t>
            </a:r>
          </a:p>
          <a:p>
            <a:pPr marL="800100" lvl="1"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supports exposure of capabilities and events, secure provision of information </a:t>
            </a:r>
            <a:r>
              <a:rPr lang="en-US" sz="2400" dirty="0" smtClean="0">
                <a:latin typeface="Calibri" panose="020F0502020204030204" pitchFamily="34" charset="0"/>
                <a:cs typeface="Calibri" panose="020F0502020204030204" pitchFamily="34" charset="0"/>
              </a:rPr>
              <a:t>from </a:t>
            </a:r>
            <a:r>
              <a:rPr lang="en-US" sz="2400" dirty="0">
                <a:latin typeface="Calibri" panose="020F0502020204030204" pitchFamily="34" charset="0"/>
                <a:cs typeface="Calibri" panose="020F0502020204030204" pitchFamily="34" charset="0"/>
              </a:rPr>
              <a:t>external application to 3GPP network and translation of internal/external </a:t>
            </a:r>
            <a:r>
              <a:rPr lang="en-US" sz="2400" dirty="0" smtClean="0">
                <a:latin typeface="Calibri" panose="020F0502020204030204" pitchFamily="34" charset="0"/>
                <a:cs typeface="Calibri" panose="020F0502020204030204" pitchFamily="34" charset="0"/>
              </a:rPr>
              <a:t>information</a:t>
            </a:r>
            <a:r>
              <a:rPr lang="en-US" sz="2400" dirty="0">
                <a:latin typeface="Calibri" panose="020F0502020204030204" pitchFamily="34" charset="0"/>
                <a:cs typeface="Calibri" panose="020F0502020204030204" pitchFamily="34" charset="0"/>
              </a:rPr>
              <a:t>. </a:t>
            </a:r>
          </a:p>
          <a:p>
            <a:pPr marL="800100" lvl="1"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acts as an API gateway that allows external users, such as enterprises or partner </a:t>
            </a:r>
            <a:r>
              <a:rPr lang="en-US" sz="2400" dirty="0" smtClean="0">
                <a:latin typeface="Calibri" panose="020F0502020204030204" pitchFamily="34" charset="0"/>
                <a:cs typeface="Calibri" panose="020F0502020204030204" pitchFamily="34" charset="0"/>
              </a:rPr>
              <a:t>operators</a:t>
            </a:r>
            <a:r>
              <a:rPr lang="en-US" sz="2400" dirty="0">
                <a:latin typeface="Calibri" panose="020F0502020204030204" pitchFamily="34" charset="0"/>
                <a:cs typeface="Calibri" panose="020F0502020204030204" pitchFamily="34" charset="0"/>
              </a:rPr>
              <a:t>, the ability to monitor, provision and enforce application policy, for users </a:t>
            </a:r>
            <a:r>
              <a:rPr lang="en-US" sz="2400" dirty="0" smtClean="0">
                <a:latin typeface="Calibri" panose="020F0502020204030204" pitchFamily="34" charset="0"/>
                <a:cs typeface="Calibri" panose="020F0502020204030204" pitchFamily="34" charset="0"/>
              </a:rPr>
              <a:t>inside </a:t>
            </a:r>
            <a:r>
              <a:rPr lang="en-US" sz="2400" dirty="0">
                <a:latin typeface="Calibri" panose="020F0502020204030204" pitchFamily="34" charset="0"/>
                <a:cs typeface="Calibri" panose="020F0502020204030204" pitchFamily="34" charset="0"/>
              </a:rPr>
              <a:t>the operator network. Thus, it</a:t>
            </a:r>
          </a:p>
          <a:p>
            <a:pPr marL="800100" lvl="1"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Provides </a:t>
            </a:r>
            <a:r>
              <a:rPr lang="en-US" sz="2400" dirty="0">
                <a:latin typeface="Calibri" panose="020F0502020204030204" pitchFamily="34" charset="0"/>
                <a:cs typeface="Calibri" panose="020F0502020204030204" pitchFamily="34" charset="0"/>
              </a:rPr>
              <a:t>security when services or Application Functions (AF) access 5G Core </a:t>
            </a:r>
            <a:r>
              <a:rPr lang="en-US" sz="2400" dirty="0" smtClean="0">
                <a:latin typeface="Calibri" panose="020F0502020204030204" pitchFamily="34" charset="0"/>
                <a:cs typeface="Calibri" panose="020F0502020204030204" pitchFamily="34" charset="0"/>
              </a:rPr>
              <a:t>nodes</a:t>
            </a:r>
          </a:p>
          <a:p>
            <a:pPr marL="800100" lvl="1"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Acts </a:t>
            </a:r>
            <a:r>
              <a:rPr lang="en-US" sz="2400" dirty="0">
                <a:latin typeface="Calibri" panose="020F0502020204030204" pitchFamily="34" charset="0"/>
                <a:cs typeface="Calibri" panose="020F0502020204030204" pitchFamily="34" charset="0"/>
              </a:rPr>
              <a:t>as a proxy, or API aggregation point, or translator into the Core </a:t>
            </a:r>
            <a:r>
              <a:rPr lang="en-US" sz="2400" dirty="0" smtClean="0">
                <a:latin typeface="Calibri" panose="020F0502020204030204" pitchFamily="34" charset="0"/>
                <a:cs typeface="Calibri" panose="020F0502020204030204" pitchFamily="34" charset="0"/>
              </a:rPr>
              <a:t>Network</a:t>
            </a:r>
            <a:endParaRPr lang="en-US" sz="24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50944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5916043" cy="461665"/>
          </a:xfrm>
          <a:prstGeom prst="rect">
            <a:avLst/>
          </a:prstGeom>
        </p:spPr>
        <p:txBody>
          <a:bodyPr wrap="none">
            <a:spAutoFit/>
          </a:bodyPr>
          <a:lstStyle/>
          <a:p>
            <a:r>
              <a:rPr lang="en-IN" sz="2400" b="1" dirty="0">
                <a:solidFill>
                  <a:srgbClr val="00B050"/>
                </a:solidFill>
                <a:latin typeface="Times New Roman" panose="02020603050405020304" pitchFamily="18" charset="0"/>
              </a:rPr>
              <a:t>5G CORE NETWORK ARCHITECTURE </a:t>
            </a:r>
            <a:endParaRPr lang="en-IN" sz="2400" dirty="0">
              <a:solidFill>
                <a:srgbClr val="00B050"/>
              </a:solidFill>
            </a:endParaRPr>
          </a:p>
        </p:txBody>
      </p:sp>
      <p:sp>
        <p:nvSpPr>
          <p:cNvPr id="4" name="Rectangle 3"/>
          <p:cNvSpPr/>
          <p:nvPr/>
        </p:nvSpPr>
        <p:spPr>
          <a:xfrm>
            <a:off x="152400" y="499072"/>
            <a:ext cx="11201400" cy="430887"/>
          </a:xfrm>
          <a:prstGeom prst="rect">
            <a:avLst/>
          </a:prstGeom>
        </p:spPr>
        <p:txBody>
          <a:bodyPr wrap="square">
            <a:spAutoFit/>
          </a:bodyPr>
          <a:lstStyle/>
          <a:p>
            <a:pPr algn="just"/>
            <a:r>
              <a:rPr lang="en-US" sz="2200" dirty="0">
                <a:solidFill>
                  <a:srgbClr val="000000"/>
                </a:solidFill>
                <a:latin typeface="Calibri" panose="020F0502020204030204" pitchFamily="34" charset="0"/>
                <a:cs typeface="Calibri" panose="020F0502020204030204" pitchFamily="34" charset="0"/>
              </a:rPr>
              <a:t>The primary Network Functions (NFs) and their </a:t>
            </a:r>
            <a:r>
              <a:rPr lang="en-US" sz="2200" dirty="0" smtClean="0">
                <a:solidFill>
                  <a:srgbClr val="000000"/>
                </a:solidFill>
                <a:latin typeface="Calibri" panose="020F0502020204030204" pitchFamily="34" charset="0"/>
                <a:cs typeface="Calibri" panose="020F0502020204030204" pitchFamily="34" charset="0"/>
              </a:rPr>
              <a:t>capabilities:</a:t>
            </a:r>
          </a:p>
        </p:txBody>
      </p:sp>
      <p:sp>
        <p:nvSpPr>
          <p:cNvPr id="5" name="Rectangle 4"/>
          <p:cNvSpPr/>
          <p:nvPr/>
        </p:nvSpPr>
        <p:spPr>
          <a:xfrm>
            <a:off x="152400" y="1143000"/>
            <a:ext cx="11582400" cy="5262979"/>
          </a:xfrm>
          <a:prstGeom prst="rect">
            <a:avLst/>
          </a:prstGeom>
        </p:spPr>
        <p:txBody>
          <a:bodyPr wrap="square">
            <a:spAutoFit/>
          </a:bodyPr>
          <a:lstStyle/>
          <a:p>
            <a:pPr marL="457200" indent="-457200" algn="just">
              <a:buFont typeface="+mj-lt"/>
              <a:buAutoNum type="alphaLcParenR" startAt="6"/>
            </a:pPr>
            <a:r>
              <a:rPr lang="en-US" sz="2400" b="1" dirty="0">
                <a:solidFill>
                  <a:srgbClr val="FF0000"/>
                </a:solidFill>
                <a:latin typeface="Calibri" panose="020F0502020204030204" pitchFamily="34" charset="0"/>
                <a:cs typeface="Calibri" panose="020F0502020204030204" pitchFamily="34" charset="0"/>
              </a:rPr>
              <a:t>NF Repository Function (NRF</a:t>
            </a:r>
            <a:r>
              <a:rPr lang="en-US" sz="2400" b="1" dirty="0" smtClean="0">
                <a:solidFill>
                  <a:srgbClr val="FF0000"/>
                </a:solidFill>
                <a:latin typeface="Calibri" panose="020F0502020204030204" pitchFamily="34" charset="0"/>
                <a:cs typeface="Calibri" panose="020F0502020204030204" pitchFamily="34" charset="0"/>
              </a:rPr>
              <a:t>)</a:t>
            </a:r>
          </a:p>
          <a:p>
            <a:pPr marL="800100" lvl="1" indent="-342900" algn="just">
              <a:buFont typeface="Wingdings" panose="05000000000000000000" pitchFamily="2" charset="2"/>
              <a:buChar char="v"/>
            </a:pPr>
            <a:endParaRPr lang="en-US" sz="2400" dirty="0" smtClean="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The </a:t>
            </a:r>
            <a:r>
              <a:rPr lang="en-US" sz="2400" dirty="0">
                <a:latin typeface="Calibri" panose="020F0502020204030204" pitchFamily="34" charset="0"/>
                <a:cs typeface="Calibri" panose="020F0502020204030204" pitchFamily="34" charset="0"/>
              </a:rPr>
              <a:t>network repository function (NRF) discovers network function instances. When it receives an NF discovery request from a NF instance, it provides the discovered NF instances. It is not present in 4G. It maintains/supports</a:t>
            </a:r>
          </a:p>
          <a:p>
            <a:pPr marL="1257300" lvl="2"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Profiles </a:t>
            </a:r>
            <a:r>
              <a:rPr lang="en-US" sz="2400" dirty="0">
                <a:latin typeface="Calibri" panose="020F0502020204030204" pitchFamily="34" charset="0"/>
                <a:cs typeface="Calibri" panose="020F0502020204030204" pitchFamily="34" charset="0"/>
              </a:rPr>
              <a:t>of Network Function (NF) instances and their supported services within the network</a:t>
            </a:r>
          </a:p>
          <a:p>
            <a:pPr marL="1257300" lvl="2"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Service-Based </a:t>
            </a:r>
            <a:r>
              <a:rPr lang="en-US" sz="2400" dirty="0">
                <a:latin typeface="Calibri" panose="020F0502020204030204" pitchFamily="34" charset="0"/>
                <a:cs typeface="Calibri" panose="020F0502020204030204" pitchFamily="34" charset="0"/>
              </a:rPr>
              <a:t>Interfaces, Management &amp; Maintenance</a:t>
            </a:r>
          </a:p>
          <a:p>
            <a:pPr marL="800100" lvl="1" indent="-342900" algn="just">
              <a:buFont typeface="Wingdings" panose="05000000000000000000" pitchFamily="2" charset="2"/>
              <a:buChar char="v"/>
            </a:pPr>
            <a:endParaRPr lang="en-US" sz="2400" dirty="0" smtClean="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In </a:t>
            </a:r>
            <a:r>
              <a:rPr lang="en-US" sz="2400" dirty="0">
                <a:latin typeface="Calibri" panose="020F0502020204030204" pitchFamily="34" charset="0"/>
                <a:cs typeface="Calibri" panose="020F0502020204030204" pitchFamily="34" charset="0"/>
              </a:rPr>
              <a:t>the SBA, the NF Repository Function (NRF) provides service discovery between individual network functions. It maintains profiles of network function instances and their supported services (for example, function ID, function type, network slice identifiers, capacity information, supported services, and endpoint information such as IP addresses). In this sense, it is an important "pivot" in the </a:t>
            </a:r>
            <a:r>
              <a:rPr lang="en-US" sz="2400" dirty="0" smtClean="0">
                <a:latin typeface="Calibri" panose="020F0502020204030204" pitchFamily="34" charset="0"/>
                <a:cs typeface="Calibri" panose="020F0502020204030204" pitchFamily="34" charset="0"/>
              </a:rPr>
              <a:t>SBA.</a:t>
            </a:r>
          </a:p>
        </p:txBody>
      </p:sp>
    </p:spTree>
    <p:extLst>
      <p:ext uri="{BB962C8B-B14F-4D97-AF65-F5344CB8AC3E}">
        <p14:creationId xmlns:p14="http://schemas.microsoft.com/office/powerpoint/2010/main" val="31810005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51019" y="0"/>
            <a:ext cx="5916043" cy="461665"/>
          </a:xfrm>
          <a:prstGeom prst="rect">
            <a:avLst/>
          </a:prstGeom>
        </p:spPr>
        <p:txBody>
          <a:bodyPr wrap="none">
            <a:spAutoFit/>
          </a:bodyPr>
          <a:lstStyle/>
          <a:p>
            <a:r>
              <a:rPr lang="en-IN" sz="2400" b="1" dirty="0">
                <a:solidFill>
                  <a:srgbClr val="00B050"/>
                </a:solidFill>
                <a:latin typeface="Times New Roman" panose="02020603050405020304" pitchFamily="18" charset="0"/>
              </a:rPr>
              <a:t>5G CORE NETWORK ARCHITECTURE </a:t>
            </a:r>
            <a:endParaRPr lang="en-IN" sz="2400" dirty="0">
              <a:solidFill>
                <a:srgbClr val="00B050"/>
              </a:solidFill>
            </a:endParaRPr>
          </a:p>
        </p:txBody>
      </p:sp>
      <p:sp>
        <p:nvSpPr>
          <p:cNvPr id="5" name="Rectangle 4"/>
          <p:cNvSpPr/>
          <p:nvPr/>
        </p:nvSpPr>
        <p:spPr>
          <a:xfrm>
            <a:off x="152400" y="431185"/>
            <a:ext cx="11582400" cy="6370975"/>
          </a:xfrm>
          <a:prstGeom prst="rect">
            <a:avLst/>
          </a:prstGeom>
        </p:spPr>
        <p:txBody>
          <a:bodyPr wrap="square">
            <a:spAutoFit/>
          </a:bodyPr>
          <a:lstStyle/>
          <a:p>
            <a:pPr marL="457200" indent="-457200" algn="just">
              <a:buFont typeface="+mj-lt"/>
              <a:buAutoNum type="alphaLcParenR" startAt="6"/>
            </a:pPr>
            <a:r>
              <a:rPr lang="en-US" sz="2400" b="1" dirty="0">
                <a:solidFill>
                  <a:srgbClr val="FF0000"/>
                </a:solidFill>
                <a:latin typeface="Calibri" panose="020F0502020204030204" pitchFamily="34" charset="0"/>
                <a:cs typeface="Calibri" panose="020F0502020204030204" pitchFamily="34" charset="0"/>
              </a:rPr>
              <a:t>NF Repository Function (NRF</a:t>
            </a:r>
            <a:r>
              <a:rPr lang="en-US" sz="2400" b="1" dirty="0" smtClean="0">
                <a:solidFill>
                  <a:srgbClr val="FF0000"/>
                </a:solidFill>
                <a:latin typeface="Calibri" panose="020F0502020204030204" pitchFamily="34" charset="0"/>
                <a:cs typeface="Calibri" panose="020F0502020204030204" pitchFamily="34" charset="0"/>
              </a:rPr>
              <a:t>)</a:t>
            </a: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The </a:t>
            </a:r>
            <a:r>
              <a:rPr lang="en-US" sz="2400" dirty="0">
                <a:latin typeface="Calibri" panose="020F0502020204030204" pitchFamily="34" charset="0"/>
                <a:cs typeface="Calibri" panose="020F0502020204030204" pitchFamily="34" charset="0"/>
              </a:rPr>
              <a:t>NRF plays an important role in the establishment of a new session. Here, the SMF discovery and selection request is initiated by the AMF when a request to establish a data session is received from the UE. </a:t>
            </a:r>
            <a:endParaRPr lang="en-US" sz="2400" dirty="0" smtClean="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The </a:t>
            </a:r>
            <a:r>
              <a:rPr lang="en-US" sz="2400" dirty="0">
                <a:latin typeface="Calibri" panose="020F0502020204030204" pitchFamily="34" charset="0"/>
                <a:cs typeface="Calibri" panose="020F0502020204030204" pitchFamily="34" charset="0"/>
              </a:rPr>
              <a:t>NRF is used to assist the discovery and selection of the correct SMF. In a network slice context, the same process occurs: the AMF queries the NRF to select an SMF that is part of a Network Slice instance based on S-NSSAI, UE subscription profile and operator policy, when the UE requests a session to be set </a:t>
            </a:r>
            <a:r>
              <a:rPr lang="en-US" sz="2400" dirty="0" smtClean="0">
                <a:latin typeface="Calibri" panose="020F0502020204030204" pitchFamily="34" charset="0"/>
                <a:cs typeface="Calibri" panose="020F0502020204030204" pitchFamily="34" charset="0"/>
              </a:rPr>
              <a:t>up.</a:t>
            </a: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Control-plane functions communicate with one another, via the NRF, over service-based interfaces (using HTTP 2.0 transport). These are self-contained software modules that are reusable independently of each other and can be thought of as micro services. </a:t>
            </a: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The </a:t>
            </a:r>
            <a:r>
              <a:rPr lang="en-US" sz="2400" dirty="0">
                <a:latin typeface="Calibri" panose="020F0502020204030204" pitchFamily="34" charset="0"/>
                <a:cs typeface="Calibri" panose="020F0502020204030204" pitchFamily="34" charset="0"/>
              </a:rPr>
              <a:t>network function is either a producer or consumer of services </a:t>
            </a:r>
            <a:r>
              <a:rPr lang="en-US" sz="2400" dirty="0" smtClean="0">
                <a:latin typeface="Calibri" panose="020F0502020204030204" pitchFamily="34" charset="0"/>
                <a:cs typeface="Calibri" panose="020F0502020204030204" pitchFamily="34" charset="0"/>
              </a:rPr>
              <a:t>with </a:t>
            </a:r>
            <a:r>
              <a:rPr lang="en-US" sz="2400" dirty="0">
                <a:latin typeface="Calibri" panose="020F0502020204030204" pitchFamily="34" charset="0"/>
                <a:cs typeface="Calibri" panose="020F0502020204030204" pitchFamily="34" charset="0"/>
              </a:rPr>
              <a:t>two modes of interaction: either a consumer NF can request a response from a producer NF – for example, to request subscriber policy information; or it can subscribe to a producer and be notified if needed – for example, if a subscriber's state changes to inactive mode.</a:t>
            </a:r>
            <a:endParaRPr lang="en-US" sz="24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62802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258425"/>
            <a:ext cx="11582400" cy="6370975"/>
          </a:xfrm>
          <a:prstGeom prst="rect">
            <a:avLst/>
          </a:prstGeom>
        </p:spPr>
        <p:txBody>
          <a:bodyPr wrap="square">
            <a:spAutoFit/>
          </a:bodyPr>
          <a:lstStyle/>
          <a:p>
            <a:pPr marL="457200" indent="-457200" algn="just">
              <a:buFont typeface="+mj-lt"/>
              <a:buAutoNum type="alphaLcParenR" startAt="7"/>
            </a:pPr>
            <a:r>
              <a:rPr lang="en-US" sz="2400" b="1" dirty="0">
                <a:solidFill>
                  <a:srgbClr val="FF0000"/>
                </a:solidFill>
                <a:latin typeface="Calibri" panose="020F0502020204030204" pitchFamily="34" charset="0"/>
                <a:cs typeface="Calibri" panose="020F0502020204030204" pitchFamily="34" charset="0"/>
              </a:rPr>
              <a:t>Policy Control Function (PCF)</a:t>
            </a: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carries out unified policy framework, providing policy rules to CP functions, access subscription information for policy decisions in UDR. This provides a policy framework incorporating network slicing, roaming and mobility management. It has similarities with the existing Policy and Charging Rules Function - PCRF of 4G</a:t>
            </a:r>
            <a:r>
              <a:rPr lang="en-US" sz="2400" dirty="0" smtClean="0">
                <a:latin typeface="Calibri" panose="020F0502020204030204" pitchFamily="34" charset="0"/>
                <a:cs typeface="Calibri" panose="020F0502020204030204" pitchFamily="34" charset="0"/>
              </a:rPr>
              <a:t>.</a:t>
            </a:r>
          </a:p>
          <a:p>
            <a:pPr marL="457200" indent="-457200" algn="just">
              <a:buFont typeface="+mj-lt"/>
              <a:buAutoNum type="alphaLcParenR" startAt="7"/>
            </a:pPr>
            <a:r>
              <a:rPr lang="en-US" sz="2400" b="1" dirty="0" smtClean="0">
                <a:solidFill>
                  <a:srgbClr val="FF0000"/>
                </a:solidFill>
                <a:latin typeface="Calibri" panose="020F0502020204030204" pitchFamily="34" charset="0"/>
                <a:cs typeface="Calibri" panose="020F0502020204030204" pitchFamily="34" charset="0"/>
              </a:rPr>
              <a:t>Unified </a:t>
            </a:r>
            <a:r>
              <a:rPr lang="en-US" sz="2400" b="1" dirty="0">
                <a:solidFill>
                  <a:srgbClr val="FF0000"/>
                </a:solidFill>
                <a:latin typeface="Calibri" panose="020F0502020204030204" pitchFamily="34" charset="0"/>
                <a:cs typeface="Calibri" panose="020F0502020204030204" pitchFamily="34" charset="0"/>
              </a:rPr>
              <a:t>Data Management (UDM)</a:t>
            </a:r>
            <a:endParaRPr lang="en-US" sz="2400" dirty="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It </a:t>
            </a:r>
            <a:r>
              <a:rPr lang="en-US" sz="2400" dirty="0">
                <a:latin typeface="Calibri" panose="020F0502020204030204" pitchFamily="34" charset="0"/>
                <a:cs typeface="Calibri" panose="020F0502020204030204" pitchFamily="34" charset="0"/>
              </a:rPr>
              <a:t>stores subscriber data and profiles and carries out generation of Authentication and Key Agreement (AKA) credentials, user identification handling, access authorization, subscription management</a:t>
            </a:r>
            <a:r>
              <a:rPr lang="en-US" sz="2400" dirty="0" smtClean="0">
                <a:latin typeface="Calibri" panose="020F0502020204030204" pitchFamily="34" charset="0"/>
                <a:cs typeface="Calibri" panose="020F0502020204030204" pitchFamily="34" charset="0"/>
              </a:rPr>
              <a:t>.</a:t>
            </a:r>
          </a:p>
          <a:p>
            <a:pPr marL="457200" indent="-457200" algn="just">
              <a:buFont typeface="+mj-lt"/>
              <a:buAutoNum type="alphaLcParenR" startAt="7"/>
            </a:pPr>
            <a:r>
              <a:rPr lang="en-US" sz="2400" b="1" dirty="0" smtClean="0">
                <a:solidFill>
                  <a:srgbClr val="FF0000"/>
                </a:solidFill>
                <a:latin typeface="Calibri" panose="020F0502020204030204" pitchFamily="34" charset="0"/>
                <a:cs typeface="Calibri" panose="020F0502020204030204" pitchFamily="34" charset="0"/>
              </a:rPr>
              <a:t>Application </a:t>
            </a:r>
            <a:r>
              <a:rPr lang="en-US" sz="2400" b="1" dirty="0">
                <a:solidFill>
                  <a:srgbClr val="FF0000"/>
                </a:solidFill>
                <a:latin typeface="Calibri" panose="020F0502020204030204" pitchFamily="34" charset="0"/>
                <a:cs typeface="Calibri" panose="020F0502020204030204" pitchFamily="34" charset="0"/>
              </a:rPr>
              <a:t>Functions (AF)</a:t>
            </a:r>
            <a:endParaRPr lang="en-US" sz="2400" dirty="0" smtClean="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a:latin typeface="Calibri" panose="020F0502020204030204" pitchFamily="34" charset="0"/>
                <a:cs typeface="Calibri" panose="020F0502020204030204" pitchFamily="34" charset="0"/>
              </a:rPr>
              <a:t>The application function (AF) resembles an application server that can interact with the other control-plane NFs. AFs can exist for different application services, and can be owned by the network operator or by trusted third parties. For instance, the AF of an over-the-top application provider can influence routing, steering its traffic towards its external edge servers. For services considered to be trusted by the operator, the AF can access Network Functions directly whereas untrusted or third-party AFs would access the Network Functions through the NEF</a:t>
            </a:r>
          </a:p>
        </p:txBody>
      </p:sp>
    </p:spTree>
    <p:extLst>
      <p:ext uri="{BB962C8B-B14F-4D97-AF65-F5344CB8AC3E}">
        <p14:creationId xmlns:p14="http://schemas.microsoft.com/office/powerpoint/2010/main" val="11888321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258425"/>
            <a:ext cx="11582400" cy="6001643"/>
          </a:xfrm>
          <a:prstGeom prst="rect">
            <a:avLst/>
          </a:prstGeom>
        </p:spPr>
        <p:txBody>
          <a:bodyPr wrap="square">
            <a:spAutoFit/>
          </a:bodyPr>
          <a:lstStyle/>
          <a:p>
            <a:pPr marL="457200" indent="-457200" algn="just">
              <a:buFont typeface="+mj-lt"/>
              <a:buAutoNum type="alphaLcParenR" startAt="7"/>
            </a:pPr>
            <a:r>
              <a:rPr lang="en-US" sz="2400" b="1" dirty="0" smtClean="0">
                <a:solidFill>
                  <a:srgbClr val="FF0000"/>
                </a:solidFill>
                <a:latin typeface="Calibri" panose="020F0502020204030204" pitchFamily="34" charset="0"/>
                <a:cs typeface="Calibri" panose="020F0502020204030204" pitchFamily="34" charset="0"/>
              </a:rPr>
              <a:t>Data </a:t>
            </a:r>
            <a:r>
              <a:rPr lang="en-US" sz="2400" b="1" dirty="0">
                <a:solidFill>
                  <a:srgbClr val="FF0000"/>
                </a:solidFill>
                <a:latin typeface="Calibri" panose="020F0502020204030204" pitchFamily="34" charset="0"/>
                <a:cs typeface="Calibri" panose="020F0502020204030204" pitchFamily="34" charset="0"/>
              </a:rPr>
              <a:t>Network (DN)</a:t>
            </a:r>
          </a:p>
          <a:p>
            <a:pPr marL="800100" lvl="1" indent="-342900" algn="just">
              <a:buFont typeface="Wingdings" panose="05000000000000000000" pitchFamily="2" charset="2"/>
              <a:buChar char="v"/>
            </a:pPr>
            <a:r>
              <a:rPr lang="en-US" sz="2400" dirty="0">
                <a:latin typeface="Calibri" panose="020F0502020204030204" pitchFamily="34" charset="0"/>
                <a:cs typeface="Calibri" panose="020F0502020204030204" pitchFamily="34" charset="0"/>
              </a:rPr>
              <a:t>This refers to the external data network through which operator services, 3rd party services etc. can be accessed.</a:t>
            </a:r>
          </a:p>
          <a:p>
            <a:pPr marL="800100" lvl="1" indent="-342900" algn="just">
              <a:buFont typeface="Wingdings" panose="05000000000000000000" pitchFamily="2" charset="2"/>
              <a:buChar char="v"/>
            </a:pPr>
            <a:r>
              <a:rPr lang="en-US" sz="2400" dirty="0">
                <a:latin typeface="Calibri" panose="020F0502020204030204" pitchFamily="34" charset="0"/>
                <a:cs typeface="Calibri" panose="020F0502020204030204" pitchFamily="34" charset="0"/>
              </a:rPr>
              <a:t>This new representation of the 5G Core Architecture in terms of network functions (for example, Access Management Function (AMF)) within the control plane enables other authorized network functions to access their services. Communications with these nodes leverage HTTP based APIs, replacing protocols like Diameter. </a:t>
            </a:r>
            <a:endParaRPr lang="en-US" sz="2400" dirty="0" smtClean="0">
              <a:latin typeface="Calibri" panose="020F0502020204030204" pitchFamily="34" charset="0"/>
              <a:cs typeface="Calibri" panose="020F0502020204030204" pitchFamily="34" charset="0"/>
            </a:endParaRPr>
          </a:p>
          <a:p>
            <a:pPr marL="800100" lvl="1" indent="-342900" algn="just">
              <a:buFont typeface="Wingdings" panose="05000000000000000000" pitchFamily="2" charset="2"/>
              <a:buChar char="v"/>
            </a:pPr>
            <a:r>
              <a:rPr lang="en-US" sz="2400" dirty="0" smtClean="0">
                <a:latin typeface="Calibri" panose="020F0502020204030204" pitchFamily="34" charset="0"/>
                <a:cs typeface="Calibri" panose="020F0502020204030204" pitchFamily="34" charset="0"/>
              </a:rPr>
              <a:t>This </a:t>
            </a:r>
            <a:r>
              <a:rPr lang="en-US" sz="2400" dirty="0">
                <a:latin typeface="Calibri" panose="020F0502020204030204" pitchFamily="34" charset="0"/>
                <a:cs typeface="Calibri" panose="020F0502020204030204" pitchFamily="34" charset="0"/>
              </a:rPr>
              <a:t>represents a major shift in the telecom world with the adoption of stateless functions, interfaces based on APIs and signals a move towards the software world. The overall design and their potential benefits include:</a:t>
            </a:r>
          </a:p>
          <a:p>
            <a:pPr marL="1257300" lvl="2"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Flexible </a:t>
            </a:r>
            <a:r>
              <a:rPr lang="en-US" sz="2400" dirty="0">
                <a:latin typeface="Calibri" panose="020F0502020204030204" pitchFamily="34" charset="0"/>
                <a:cs typeface="Calibri" panose="020F0502020204030204" pitchFamily="34" charset="0"/>
              </a:rPr>
              <a:t>and extensible architecture</a:t>
            </a:r>
          </a:p>
          <a:p>
            <a:pPr marL="1257300" lvl="2"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Easier </a:t>
            </a:r>
            <a:r>
              <a:rPr lang="en-US" sz="2400" dirty="0">
                <a:latin typeface="Calibri" panose="020F0502020204030204" pitchFamily="34" charset="0"/>
                <a:cs typeface="Calibri" panose="020F0502020204030204" pitchFamily="34" charset="0"/>
              </a:rPr>
              <a:t>integration with third party software using Application Programming Interfaces (APIs)</a:t>
            </a:r>
          </a:p>
          <a:p>
            <a:pPr marL="1257300" lvl="2"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Multi-slice </a:t>
            </a:r>
            <a:r>
              <a:rPr lang="en-US" sz="2400" dirty="0">
                <a:latin typeface="Calibri" panose="020F0502020204030204" pitchFamily="34" charset="0"/>
                <a:cs typeface="Calibri" panose="020F0502020204030204" pitchFamily="34" charset="0"/>
              </a:rPr>
              <a:t>User Equipment (UE), single UE simultaneously connecting to multiple services over multiple slices with optimized access and mobility </a:t>
            </a:r>
            <a:r>
              <a:rPr lang="en-US" sz="2400" dirty="0" err="1">
                <a:latin typeface="Calibri" panose="020F0502020204030204" pitchFamily="34" charset="0"/>
                <a:cs typeface="Calibri" panose="020F0502020204030204" pitchFamily="34" charset="0"/>
              </a:rPr>
              <a:t>signalling</a:t>
            </a:r>
            <a:r>
              <a:rPr lang="en-US" sz="2400" dirty="0">
                <a:latin typeface="Calibri" panose="020F0502020204030204" pitchFamily="34" charset="0"/>
                <a:cs typeface="Calibri" panose="020F0502020204030204" pitchFamily="34" charset="0"/>
              </a:rPr>
              <a:t>.</a:t>
            </a:r>
          </a:p>
          <a:p>
            <a:pPr marL="1257300" lvl="2" indent="-342900" algn="just">
              <a:buFont typeface="Arial" panose="020B0604020202020204" pitchFamily="34" charset="0"/>
              <a:buChar char="•"/>
            </a:pPr>
            <a:r>
              <a:rPr lang="en-US" sz="2400" smtClean="0">
                <a:latin typeface="Calibri" panose="020F0502020204030204" pitchFamily="34" charset="0"/>
                <a:cs typeface="Calibri" panose="020F0502020204030204" pitchFamily="34" charset="0"/>
              </a:rPr>
              <a:t>Improved </a:t>
            </a:r>
            <a:r>
              <a:rPr lang="en-US" sz="2400" dirty="0" err="1">
                <a:latin typeface="Calibri" panose="020F0502020204030204" pitchFamily="34" charset="0"/>
                <a:cs typeface="Calibri" panose="020F0502020204030204" pitchFamily="34" charset="0"/>
              </a:rPr>
              <a:t>QoS</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321782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2703</TotalTime>
  <Words>1558</Words>
  <Application>Microsoft Office PowerPoint</Application>
  <PresentationFormat>Widescreen</PresentationFormat>
  <Paragraphs>81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Default Design</vt:lpstr>
      <vt:lpstr>5G WIRELESS COMMUNICATION  (UEC 719)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of Research</dc:title>
  <dc:creator>hemdutt.joshi</dc:creator>
  <cp:lastModifiedBy>Hemdutt Joshi</cp:lastModifiedBy>
  <cp:revision>375</cp:revision>
  <dcterms:created xsi:type="dcterms:W3CDTF">2007-08-08T07:13:51Z</dcterms:created>
  <dcterms:modified xsi:type="dcterms:W3CDTF">2024-12-04T15:16:30Z</dcterms:modified>
</cp:coreProperties>
</file>
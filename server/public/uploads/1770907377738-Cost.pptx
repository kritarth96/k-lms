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  <p:sldId id="277" r:id="rId5"/>
    <p:sldId id="278" r:id="rId6"/>
    <p:sldId id="279" r:id="rId7"/>
    <p:sldId id="280" r:id="rId8"/>
    <p:sldId id="283" r:id="rId9"/>
    <p:sldId id="300" r:id="rId10"/>
    <p:sldId id="302" r:id="rId11"/>
    <p:sldId id="28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91A1F-2902-4A80-E143-D98A3B352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2D8263-34D1-44A8-C79E-7127DD75CB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B9ED7-0C5B-0852-B833-556319781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18FD0-BD8B-4CB6-BDE3-EE8A04B696F9}" type="datetimeFigureOut">
              <a:rPr lang="en-IN" smtClean="0"/>
              <a:t>28-07-2024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67AD3-10AF-C89E-4A27-DD5C1CE1F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4F9D3-4293-1D76-5DEA-9B07BCCB9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93A19-E2EF-453C-926B-1E533C41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771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7B0F7-5BFD-AAEF-550B-7C02F5889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59AD4-DAF5-12D8-99EC-9068FBD4F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953C7-1325-58EC-410B-7C0C09E7E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18FD0-BD8B-4CB6-BDE3-EE8A04B696F9}" type="datetimeFigureOut">
              <a:rPr lang="en-IN" smtClean="0"/>
              <a:t>28-07-2024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61F0C-0611-652A-4372-4E6271238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8E5A6-F67E-343E-4A70-93F843CC7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93A19-E2EF-453C-926B-1E533C41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289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17BA1-70F3-9AB4-2EF2-AF75A7BFE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AF904-2260-7AB1-AD66-3043EA53F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C9342-24A9-6D0B-2A2D-01900B877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18FD0-BD8B-4CB6-BDE3-EE8A04B696F9}" type="datetimeFigureOut">
              <a:rPr lang="en-IN" smtClean="0"/>
              <a:t>28-07-2024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95137-215C-C365-6FB3-661D72056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18821-1A60-B049-7568-70D7E5CC1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93A19-E2EF-453C-926B-1E533C41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113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7BCA1-E9AB-13AD-0059-D7B71FC01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8D04C-8E1F-7996-F2F7-E7B93FEEE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451CB3-0EF5-C00F-2D55-FF8B3BAA35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DB3CAE-F1F2-4938-6119-1CBFD4E7F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18FD0-BD8B-4CB6-BDE3-EE8A04B696F9}" type="datetimeFigureOut">
              <a:rPr lang="en-IN" smtClean="0"/>
              <a:t>28-07-2024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BD6355-CF25-A6EC-A494-62FF77BD3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96C1F-51D1-AEE2-B07C-E936557D3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93A19-E2EF-453C-926B-1E533C41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660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16B14-C2B2-87F9-6BC5-9651C1FAB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7F4DF-B679-CA47-B0E5-A758BAEFE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FD7FB3-6545-4EDA-D68E-815436736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E64F49-D88C-7899-CC73-68499DD9FB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E16903-9BFD-E1A5-75E4-B34ABDC898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A2D666-D935-19C5-61D4-20E239364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18FD0-BD8B-4CB6-BDE3-EE8A04B696F9}" type="datetimeFigureOut">
              <a:rPr lang="en-IN" smtClean="0"/>
              <a:t>28-07-2024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0BA160-17A6-CEA2-075E-49904ABB3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66972D-67A2-E84C-9B98-22D30E976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93A19-E2EF-453C-926B-1E533C41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9601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0C209-7FDD-757A-7B93-DE1FF8E83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006C5-5F96-6FD1-6C35-2D0EB03EA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18FD0-BD8B-4CB6-BDE3-EE8A04B696F9}" type="datetimeFigureOut">
              <a:rPr lang="en-IN" smtClean="0"/>
              <a:t>28-07-2024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858CA7-F8F4-C1CB-1378-60D4D271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87845F-3B2E-B2BA-644B-8D8036651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93A19-E2EF-453C-926B-1E533C41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461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10D616-FC95-91EF-7845-27EAD1BC5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18FD0-BD8B-4CB6-BDE3-EE8A04B696F9}" type="datetimeFigureOut">
              <a:rPr lang="en-IN" smtClean="0"/>
              <a:t>28-07-2024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CDDF0C-043B-2FD1-7410-A9C61523B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09047-DE08-CC6F-488C-D40459520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93A19-E2EF-453C-926B-1E533C41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84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5D357-0EE9-BB13-9DFD-9F2AED95C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8D8BB-D703-8C72-3728-A84DAECF6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CDC791-6906-4507-242E-229DA3F599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14C44-8A11-5E35-542E-9704BE6F7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18FD0-BD8B-4CB6-BDE3-EE8A04B696F9}" type="datetimeFigureOut">
              <a:rPr lang="en-IN" smtClean="0"/>
              <a:t>28-07-2024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3457AC-9441-25C2-B1F3-7897465F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707595-2649-C98A-9F4F-F7DA08638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93A19-E2EF-453C-926B-1E533C41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698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ACF3A-690C-6035-092A-6302D4C47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7A0EE7-19B2-AC1A-B120-55E7347833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D38345-57DF-F72E-95EE-2B0961E9AA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772EFC-0D56-4D39-199D-2067BAD47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18FD0-BD8B-4CB6-BDE3-EE8A04B696F9}" type="datetimeFigureOut">
              <a:rPr lang="en-IN" smtClean="0"/>
              <a:t>28-07-2024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BAE8E6-74B0-371D-2724-EB222FF19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60AE23-6FD1-596E-2034-C974E293F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93A19-E2EF-453C-926B-1E533C41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36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A9C5E-995A-2DAA-6A4B-9E74ABF2F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EFD6A4-E913-A7C3-2FAB-68F92005A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9B581-D7CA-A2E3-833D-3BDCA7A5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18FD0-BD8B-4CB6-BDE3-EE8A04B696F9}" type="datetimeFigureOut">
              <a:rPr lang="en-IN" smtClean="0"/>
              <a:t>28-07-2024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66DAC-5D12-0384-BBBB-E2F99C298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94BAB-0A65-7BA3-C2DC-4E791A30D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93A19-E2EF-453C-926B-1E533C41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80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D20BCD-CAEC-BBB6-59FD-87034E7575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73EB40-6FBB-8582-2A09-F9CB9410D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80AAD-2279-E519-9EC8-2C9965856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18FD0-BD8B-4CB6-BDE3-EE8A04B696F9}" type="datetimeFigureOut">
              <a:rPr lang="en-IN" smtClean="0"/>
              <a:t>28-07-2024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75135-BB5F-35B8-E9C1-1802B3180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E43C7-AA87-9144-DEB8-BD7781AFE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93A19-E2EF-453C-926B-1E533C41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377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84FC5B-44E0-2248-4038-F12B7E6AD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13CC1-4677-C382-F01F-B61778D69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7AA08-79C5-26C2-8D53-1215794C65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D18FD0-BD8B-4CB6-BDE3-EE8A04B696F9}" type="datetimeFigureOut">
              <a:rPr lang="en-IN" smtClean="0"/>
              <a:t>28-07-2024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66385-DD21-D5CE-6658-461D1F9DCF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A957A-B059-55AC-D44A-43DF6B0839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93A19-E2EF-453C-926B-1E533C41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088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9739" y="207164"/>
            <a:ext cx="10315254" cy="951730"/>
          </a:xfrm>
          <a:prstGeom prst="rect">
            <a:avLst/>
          </a:prstGeom>
        </p:spPr>
        <p:txBody>
          <a:bodyPr vert="horz" wrap="square" lIns="0" tIns="393886" rIns="0" bIns="0" rtlCol="0" anchor="ctr">
            <a:spAutoFit/>
          </a:bodyPr>
          <a:lstStyle/>
          <a:p>
            <a:pPr marL="2430125">
              <a:lnSpc>
                <a:spcPct val="100000"/>
              </a:lnSpc>
              <a:spcBef>
                <a:spcPts val="84"/>
              </a:spcBef>
            </a:pPr>
            <a:r>
              <a:rPr lang="en-IN" sz="3600" b="1" dirty="0">
                <a:latin typeface="+mn-lt"/>
              </a:rPr>
              <a:t>Cost</a:t>
            </a:r>
            <a:r>
              <a:rPr lang="en-IN" sz="3600" b="1" spc="-31" dirty="0">
                <a:latin typeface="+mn-lt"/>
              </a:rPr>
              <a:t> </a:t>
            </a:r>
            <a:r>
              <a:rPr lang="en-IN" sz="3600" b="1" spc="-9" dirty="0">
                <a:latin typeface="+mn-lt"/>
              </a:rPr>
              <a:t>Analysis</a:t>
            </a:r>
            <a:endParaRPr sz="3600" b="1" spc="-9" dirty="0">
              <a:latin typeface="+mn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4256" y="1130157"/>
            <a:ext cx="9441951" cy="5417259"/>
          </a:xfrm>
          <a:prstGeom prst="rect">
            <a:avLst/>
          </a:prstGeom>
        </p:spPr>
        <p:txBody>
          <a:bodyPr vert="horz" wrap="square" lIns="0" tIns="88526" rIns="0" bIns="0" rtlCol="0">
            <a:spAutoFit/>
          </a:bodyPr>
          <a:lstStyle/>
          <a:p>
            <a:pPr marL="313221" indent="-302015">
              <a:lnSpc>
                <a:spcPct val="150000"/>
              </a:lnSpc>
              <a:spcBef>
                <a:spcPts val="697"/>
              </a:spcBef>
              <a:buFont typeface="Wingdings"/>
              <a:buChar char=""/>
              <a:tabLst>
                <a:tab pos="313221" algn="l"/>
              </a:tabLst>
            </a:pPr>
            <a:r>
              <a:rPr sz="2400" dirty="0">
                <a:latin typeface="Arial MT"/>
                <a:cs typeface="Arial MT"/>
              </a:rPr>
              <a:t>Types</a:t>
            </a:r>
            <a:r>
              <a:rPr sz="2400" spc="-31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8" dirty="0">
                <a:latin typeface="Arial MT"/>
                <a:cs typeface="Arial MT"/>
              </a:rPr>
              <a:t>Costs</a:t>
            </a:r>
            <a:endParaRPr sz="2400" dirty="0">
              <a:latin typeface="Arial MT"/>
              <a:cs typeface="Arial MT"/>
            </a:endParaRPr>
          </a:p>
          <a:p>
            <a:pPr marL="667346" lvl="1" indent="-253266">
              <a:lnSpc>
                <a:spcPct val="150000"/>
              </a:lnSpc>
              <a:spcBef>
                <a:spcPts val="441"/>
              </a:spcBef>
              <a:buChar char="–"/>
              <a:tabLst>
                <a:tab pos="667346" algn="l"/>
              </a:tabLst>
            </a:pPr>
            <a:r>
              <a:rPr sz="2400" spc="-9" dirty="0">
                <a:latin typeface="Arial MT"/>
                <a:cs typeface="Arial MT"/>
              </a:rPr>
              <a:t>Short-</a:t>
            </a:r>
            <a:r>
              <a:rPr sz="2400" spc="-22" dirty="0">
                <a:latin typeface="Arial MT"/>
                <a:cs typeface="Arial MT"/>
              </a:rPr>
              <a:t>Run</a:t>
            </a:r>
            <a:endParaRPr sz="2400" dirty="0">
              <a:latin typeface="Arial MT"/>
              <a:cs typeface="Arial MT"/>
            </a:endParaRPr>
          </a:p>
          <a:p>
            <a:pPr marL="1019229" lvl="2" indent="-201717">
              <a:lnSpc>
                <a:spcPct val="150000"/>
              </a:lnSpc>
              <a:spcBef>
                <a:spcPts val="424"/>
              </a:spcBef>
              <a:buChar char="•"/>
              <a:tabLst>
                <a:tab pos="1019229" algn="l"/>
              </a:tabLst>
            </a:pPr>
            <a:r>
              <a:rPr sz="2400" dirty="0">
                <a:latin typeface="Arial MT"/>
                <a:cs typeface="Arial MT"/>
              </a:rPr>
              <a:t>Fixed</a:t>
            </a:r>
            <a:r>
              <a:rPr sz="2400" spc="-26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8" dirty="0">
                <a:latin typeface="Arial MT"/>
                <a:cs typeface="Arial MT"/>
              </a:rPr>
              <a:t>(FC)</a:t>
            </a:r>
            <a:endParaRPr sz="2400" dirty="0">
              <a:latin typeface="Arial MT"/>
              <a:cs typeface="Arial MT"/>
            </a:endParaRPr>
          </a:p>
          <a:p>
            <a:pPr marL="1019229" lvl="2" indent="-201717">
              <a:lnSpc>
                <a:spcPct val="150000"/>
              </a:lnSpc>
              <a:spcBef>
                <a:spcPts val="410"/>
              </a:spcBef>
              <a:buChar char="•"/>
              <a:tabLst>
                <a:tab pos="1019229" algn="l"/>
              </a:tabLst>
            </a:pPr>
            <a:r>
              <a:rPr sz="2400" dirty="0">
                <a:latin typeface="Arial MT"/>
                <a:cs typeface="Arial MT"/>
              </a:rPr>
              <a:t>Sunk</a:t>
            </a:r>
            <a:r>
              <a:rPr sz="2400" spc="-31" dirty="0">
                <a:latin typeface="Arial MT"/>
                <a:cs typeface="Arial MT"/>
              </a:rPr>
              <a:t> </a:t>
            </a:r>
            <a:r>
              <a:rPr sz="2400" spc="-9" dirty="0">
                <a:latin typeface="Arial MT"/>
                <a:cs typeface="Arial MT"/>
              </a:rPr>
              <a:t>costs</a:t>
            </a:r>
            <a:endParaRPr sz="2400" dirty="0">
              <a:latin typeface="Arial MT"/>
              <a:cs typeface="Arial MT"/>
            </a:endParaRPr>
          </a:p>
          <a:p>
            <a:pPr marL="1019229" marR="226931" lvl="2" indent="-201717">
              <a:lnSpc>
                <a:spcPct val="150000"/>
              </a:lnSpc>
              <a:spcBef>
                <a:spcPts val="424"/>
              </a:spcBef>
              <a:buChar char="•"/>
              <a:tabLst>
                <a:tab pos="1019229" algn="l"/>
              </a:tabLst>
            </a:pPr>
            <a:r>
              <a:rPr sz="2400" spc="-9" dirty="0">
                <a:latin typeface="Arial MT"/>
                <a:cs typeface="Arial MT"/>
              </a:rPr>
              <a:t>Short-</a:t>
            </a:r>
            <a:r>
              <a:rPr sz="2400" dirty="0">
                <a:latin typeface="Arial MT"/>
                <a:cs typeface="Arial MT"/>
              </a:rPr>
              <a:t>run</a:t>
            </a:r>
            <a:r>
              <a:rPr sz="2400" spc="4" dirty="0">
                <a:latin typeface="Arial MT"/>
                <a:cs typeface="Arial MT"/>
              </a:rPr>
              <a:t> </a:t>
            </a:r>
            <a:r>
              <a:rPr sz="2400" spc="-9" dirty="0">
                <a:latin typeface="Arial MT"/>
                <a:cs typeface="Arial MT"/>
              </a:rPr>
              <a:t>variable </a:t>
            </a:r>
            <a:r>
              <a:rPr sz="2400" dirty="0">
                <a:latin typeface="Arial MT"/>
                <a:cs typeface="Arial MT"/>
              </a:rPr>
              <a:t>costs</a:t>
            </a:r>
            <a:r>
              <a:rPr sz="2400" spc="-31" dirty="0">
                <a:latin typeface="Arial MT"/>
                <a:cs typeface="Arial MT"/>
              </a:rPr>
              <a:t> </a:t>
            </a:r>
            <a:r>
              <a:rPr sz="2400" spc="-18" dirty="0">
                <a:latin typeface="Arial MT"/>
                <a:cs typeface="Arial MT"/>
              </a:rPr>
              <a:t>(VC)</a:t>
            </a:r>
            <a:endParaRPr sz="2400" dirty="0">
              <a:latin typeface="Arial MT"/>
              <a:cs typeface="Arial MT"/>
            </a:endParaRPr>
          </a:p>
          <a:p>
            <a:pPr marL="1019229" marR="4483" lvl="2" indent="-201717">
              <a:lnSpc>
                <a:spcPct val="150000"/>
              </a:lnSpc>
              <a:spcBef>
                <a:spcPts val="415"/>
              </a:spcBef>
              <a:buChar char="•"/>
              <a:tabLst>
                <a:tab pos="1019229" algn="l"/>
              </a:tabLst>
            </a:pPr>
            <a:r>
              <a:rPr sz="2400" spc="-9" dirty="0">
                <a:latin typeface="Arial MT"/>
                <a:cs typeface="Arial MT"/>
              </a:rPr>
              <a:t>Short-</a:t>
            </a:r>
            <a:r>
              <a:rPr sz="2400" dirty="0">
                <a:latin typeface="Arial MT"/>
                <a:cs typeface="Arial MT"/>
              </a:rPr>
              <a:t>run</a:t>
            </a:r>
            <a:r>
              <a:rPr sz="2400" spc="-31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total</a:t>
            </a:r>
            <a:r>
              <a:rPr sz="2400" spc="-18" dirty="0">
                <a:latin typeface="Arial MT"/>
                <a:cs typeface="Arial MT"/>
              </a:rPr>
              <a:t> costs (TC)</a:t>
            </a:r>
            <a:endParaRPr sz="2400" dirty="0">
              <a:latin typeface="Arial MT"/>
              <a:cs typeface="Arial MT"/>
            </a:endParaRPr>
          </a:p>
          <a:p>
            <a:pPr marL="667346" lvl="1" indent="-253266">
              <a:lnSpc>
                <a:spcPct val="150000"/>
              </a:lnSpc>
              <a:spcBef>
                <a:spcPts val="424"/>
              </a:spcBef>
              <a:buChar char="–"/>
              <a:tabLst>
                <a:tab pos="667346" algn="l"/>
              </a:tabLst>
            </a:pPr>
            <a:r>
              <a:rPr sz="2400" spc="-9" dirty="0">
                <a:latin typeface="Arial MT"/>
                <a:cs typeface="Arial MT"/>
              </a:rPr>
              <a:t>Long-</a:t>
            </a:r>
            <a:r>
              <a:rPr sz="2400" spc="-22" dirty="0">
                <a:latin typeface="Arial MT"/>
                <a:cs typeface="Arial MT"/>
              </a:rPr>
              <a:t>Run</a:t>
            </a:r>
            <a:endParaRPr sz="2400" dirty="0">
              <a:latin typeface="Arial MT"/>
              <a:cs typeface="Arial MT"/>
            </a:endParaRPr>
          </a:p>
          <a:p>
            <a:pPr marL="1019229" marR="786135" lvl="2" indent="-201717">
              <a:lnSpc>
                <a:spcPct val="150000"/>
              </a:lnSpc>
              <a:spcBef>
                <a:spcPts val="424"/>
              </a:spcBef>
              <a:buChar char="•"/>
              <a:tabLst>
                <a:tab pos="1019229" algn="l"/>
              </a:tabLst>
            </a:pP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26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costs</a:t>
            </a:r>
            <a:r>
              <a:rPr sz="2400" spc="-26" dirty="0">
                <a:latin typeface="Arial MT"/>
                <a:cs typeface="Arial MT"/>
              </a:rPr>
              <a:t> </a:t>
            </a:r>
            <a:r>
              <a:rPr sz="2400" spc="-22" dirty="0">
                <a:latin typeface="Arial MT"/>
                <a:cs typeface="Arial MT"/>
              </a:rPr>
              <a:t>are </a:t>
            </a:r>
            <a:r>
              <a:rPr sz="2400" spc="-9" dirty="0">
                <a:latin typeface="Arial MT"/>
                <a:cs typeface="Arial MT"/>
              </a:rPr>
              <a:t>variable</a:t>
            </a:r>
            <a:endParaRPr sz="2400" dirty="0">
              <a:latin typeface="Arial MT"/>
              <a:cs typeface="Arial MT"/>
            </a:endParaRPr>
          </a:p>
          <a:p>
            <a:pPr marL="1019229" lvl="2" indent="-201717">
              <a:lnSpc>
                <a:spcPct val="150000"/>
              </a:lnSpc>
              <a:spcBef>
                <a:spcPts val="410"/>
              </a:spcBef>
              <a:buChar char="•"/>
              <a:tabLst>
                <a:tab pos="1019229" algn="l"/>
              </a:tabLst>
            </a:pPr>
            <a:r>
              <a:rPr sz="2400" dirty="0">
                <a:latin typeface="Arial MT"/>
                <a:cs typeface="Arial MT"/>
              </a:rPr>
              <a:t>No</a:t>
            </a:r>
            <a:r>
              <a:rPr sz="2400" spc="-18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fixed</a:t>
            </a:r>
            <a:r>
              <a:rPr sz="2400" spc="-18" dirty="0">
                <a:latin typeface="Arial MT"/>
                <a:cs typeface="Arial MT"/>
              </a:rPr>
              <a:t> costs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8989564" y="6935043"/>
            <a:ext cx="342900" cy="194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 spc="-10"/>
              <a:t>5-</a:t>
            </a:r>
            <a:fld id="{81D60167-4931-47E6-BA6A-407CBD079E47}" type="slidenum">
              <a:rPr spc="-25" smtClean="0"/>
              <a:pPr marL="12700">
                <a:lnSpc>
                  <a:spcPts val="1410"/>
                </a:lnSpc>
              </a:pPr>
              <a:t>1</a:t>
            </a:fld>
            <a:endParaRPr spc="-2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386528"/>
            <a:ext cx="9278471" cy="1040895"/>
          </a:xfrm>
          <a:prstGeom prst="rect">
            <a:avLst/>
          </a:prstGeom>
        </p:spPr>
        <p:txBody>
          <a:bodyPr vert="horz" wrap="square" lIns="0" tIns="360268" rIns="0" bIns="0" rtlCol="0" anchor="ctr">
            <a:spAutoFit/>
          </a:bodyPr>
          <a:lstStyle/>
          <a:p>
            <a:pPr marL="1265772">
              <a:lnSpc>
                <a:spcPct val="100000"/>
              </a:lnSpc>
              <a:spcBef>
                <a:spcPts val="84"/>
              </a:spcBef>
            </a:pPr>
            <a:r>
              <a:rPr dirty="0"/>
              <a:t>Total</a:t>
            </a:r>
            <a:r>
              <a:rPr spc="-31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Variable</a:t>
            </a:r>
            <a:r>
              <a:rPr spc="-22" dirty="0"/>
              <a:t> </a:t>
            </a:r>
            <a:r>
              <a:rPr spc="-9" dirty="0"/>
              <a:t>Costs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39888" y="3019759"/>
            <a:ext cx="2147607" cy="309421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941" dirty="0">
                <a:solidFill>
                  <a:srgbClr val="FF0000"/>
                </a:solidFill>
                <a:latin typeface="Arial MT"/>
                <a:cs typeface="Arial MT"/>
              </a:rPr>
              <a:t>C(Q)</a:t>
            </a:r>
            <a:r>
              <a:rPr sz="1941" spc="-22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941" dirty="0">
                <a:latin typeface="Arial MT"/>
                <a:cs typeface="Arial MT"/>
              </a:rPr>
              <a:t>=</a:t>
            </a:r>
            <a:r>
              <a:rPr sz="1941" spc="-26" dirty="0">
                <a:latin typeface="Arial MT"/>
                <a:cs typeface="Arial MT"/>
              </a:rPr>
              <a:t> </a:t>
            </a:r>
            <a:r>
              <a:rPr sz="1941" dirty="0">
                <a:latin typeface="Arial MT"/>
                <a:cs typeface="Arial MT"/>
              </a:rPr>
              <a:t>VC(Q)</a:t>
            </a:r>
            <a:r>
              <a:rPr sz="1941" spc="-22" dirty="0">
                <a:latin typeface="Arial MT"/>
                <a:cs typeface="Arial MT"/>
              </a:rPr>
              <a:t> </a:t>
            </a:r>
            <a:r>
              <a:rPr sz="1941" dirty="0">
                <a:latin typeface="Arial MT"/>
                <a:cs typeface="Arial MT"/>
              </a:rPr>
              <a:t>+</a:t>
            </a:r>
            <a:r>
              <a:rPr sz="1941" spc="-13" dirty="0">
                <a:latin typeface="Arial MT"/>
                <a:cs typeface="Arial MT"/>
              </a:rPr>
              <a:t> </a:t>
            </a:r>
            <a:r>
              <a:rPr sz="1941" spc="-22" dirty="0">
                <a:solidFill>
                  <a:srgbClr val="009900"/>
                </a:solidFill>
                <a:latin typeface="Arial MT"/>
                <a:cs typeface="Arial MT"/>
              </a:rPr>
              <a:t>FC</a:t>
            </a:r>
            <a:endParaRPr sz="1941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36476" y="3611430"/>
            <a:ext cx="3080496" cy="60809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 marR="4483">
              <a:spcBef>
                <a:spcPts val="84"/>
              </a:spcBef>
              <a:tabLst>
                <a:tab pos="914448" algn="l"/>
              </a:tabLst>
            </a:pPr>
            <a:r>
              <a:rPr sz="1941" spc="-9" dirty="0">
                <a:latin typeface="Arial MT"/>
                <a:cs typeface="Arial MT"/>
              </a:rPr>
              <a:t>VC(Q):</a:t>
            </a:r>
            <a:r>
              <a:rPr sz="1941" dirty="0">
                <a:latin typeface="Arial MT"/>
                <a:cs typeface="Arial MT"/>
              </a:rPr>
              <a:t>	Costs</a:t>
            </a:r>
            <a:r>
              <a:rPr sz="1941" spc="-22" dirty="0">
                <a:latin typeface="Arial MT"/>
                <a:cs typeface="Arial MT"/>
              </a:rPr>
              <a:t> </a:t>
            </a:r>
            <a:r>
              <a:rPr sz="1941" dirty="0">
                <a:latin typeface="Arial MT"/>
                <a:cs typeface="Arial MT"/>
              </a:rPr>
              <a:t>that</a:t>
            </a:r>
            <a:r>
              <a:rPr sz="1941" spc="-18" dirty="0">
                <a:latin typeface="Arial MT"/>
                <a:cs typeface="Arial MT"/>
              </a:rPr>
              <a:t> </a:t>
            </a:r>
            <a:r>
              <a:rPr sz="1941" dirty="0">
                <a:latin typeface="Arial MT"/>
                <a:cs typeface="Arial MT"/>
              </a:rPr>
              <a:t>vary</a:t>
            </a:r>
            <a:r>
              <a:rPr sz="1941" spc="-18" dirty="0">
                <a:latin typeface="Arial MT"/>
                <a:cs typeface="Arial MT"/>
              </a:rPr>
              <a:t> with </a:t>
            </a:r>
            <a:r>
              <a:rPr sz="1941" spc="-9" dirty="0">
                <a:latin typeface="Arial MT"/>
                <a:cs typeface="Arial MT"/>
              </a:rPr>
              <a:t>output.</a:t>
            </a:r>
            <a:endParaRPr sz="1941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36476" y="4497590"/>
            <a:ext cx="2890557" cy="60809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 marR="4483">
              <a:spcBef>
                <a:spcPts val="84"/>
              </a:spcBef>
            </a:pPr>
            <a:r>
              <a:rPr sz="1941" dirty="0">
                <a:solidFill>
                  <a:srgbClr val="009900"/>
                </a:solidFill>
                <a:latin typeface="Arial MT"/>
                <a:cs typeface="Arial MT"/>
              </a:rPr>
              <a:t>FC:</a:t>
            </a:r>
            <a:r>
              <a:rPr sz="1941" spc="-26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1941" dirty="0">
                <a:solidFill>
                  <a:srgbClr val="009900"/>
                </a:solidFill>
                <a:latin typeface="Arial MT"/>
                <a:cs typeface="Arial MT"/>
              </a:rPr>
              <a:t>Costs</a:t>
            </a:r>
            <a:r>
              <a:rPr sz="1941" spc="-22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1941" dirty="0">
                <a:solidFill>
                  <a:srgbClr val="009900"/>
                </a:solidFill>
                <a:latin typeface="Arial MT"/>
                <a:cs typeface="Arial MT"/>
              </a:rPr>
              <a:t>that</a:t>
            </a:r>
            <a:r>
              <a:rPr sz="1941" spc="-26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1941" dirty="0">
                <a:solidFill>
                  <a:srgbClr val="009900"/>
                </a:solidFill>
                <a:latin typeface="Arial MT"/>
                <a:cs typeface="Arial MT"/>
              </a:rPr>
              <a:t>do</a:t>
            </a:r>
            <a:r>
              <a:rPr sz="1941" spc="-22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1941" dirty="0">
                <a:solidFill>
                  <a:srgbClr val="009900"/>
                </a:solidFill>
                <a:latin typeface="Arial MT"/>
                <a:cs typeface="Arial MT"/>
              </a:rPr>
              <a:t>not</a:t>
            </a:r>
            <a:r>
              <a:rPr sz="1941" spc="-22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1941" spc="-18" dirty="0">
                <a:solidFill>
                  <a:srgbClr val="009900"/>
                </a:solidFill>
                <a:latin typeface="Arial MT"/>
                <a:cs typeface="Arial MT"/>
              </a:rPr>
              <a:t>vary </a:t>
            </a:r>
            <a:r>
              <a:rPr sz="1941" dirty="0">
                <a:solidFill>
                  <a:srgbClr val="009900"/>
                </a:solidFill>
                <a:latin typeface="Arial MT"/>
                <a:cs typeface="Arial MT"/>
              </a:rPr>
              <a:t>with</a:t>
            </a:r>
            <a:r>
              <a:rPr sz="1941" spc="-22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1941" spc="-9" dirty="0">
                <a:solidFill>
                  <a:srgbClr val="009900"/>
                </a:solidFill>
                <a:latin typeface="Arial MT"/>
                <a:cs typeface="Arial MT"/>
              </a:rPr>
              <a:t>output.</a:t>
            </a:r>
            <a:endParaRPr sz="1941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264088" y="2029172"/>
            <a:ext cx="3462618" cy="3395382"/>
          </a:xfrm>
          <a:custGeom>
            <a:avLst/>
            <a:gdLst/>
            <a:ahLst/>
            <a:cxnLst/>
            <a:rect l="l" t="t" r="r" b="b"/>
            <a:pathLst>
              <a:path w="3924300" h="3848100">
                <a:moveTo>
                  <a:pt x="3924300" y="3810000"/>
                </a:moveTo>
                <a:lnTo>
                  <a:pt x="3848100" y="3771900"/>
                </a:lnTo>
                <a:lnTo>
                  <a:pt x="3848100" y="3805428"/>
                </a:lnTo>
                <a:lnTo>
                  <a:pt x="42672" y="3805428"/>
                </a:lnTo>
                <a:lnTo>
                  <a:pt x="42672" y="76200"/>
                </a:lnTo>
                <a:lnTo>
                  <a:pt x="76200" y="76200"/>
                </a:lnTo>
                <a:lnTo>
                  <a:pt x="38100" y="0"/>
                </a:lnTo>
                <a:lnTo>
                  <a:pt x="0" y="76200"/>
                </a:lnTo>
                <a:lnTo>
                  <a:pt x="33528" y="76200"/>
                </a:lnTo>
                <a:lnTo>
                  <a:pt x="33528" y="3810000"/>
                </a:lnTo>
                <a:lnTo>
                  <a:pt x="35052" y="3814572"/>
                </a:lnTo>
                <a:lnTo>
                  <a:pt x="41148" y="3814572"/>
                </a:lnTo>
                <a:lnTo>
                  <a:pt x="3848100" y="3814572"/>
                </a:lnTo>
                <a:lnTo>
                  <a:pt x="3848100" y="3848100"/>
                </a:lnTo>
                <a:lnTo>
                  <a:pt x="3864864" y="3839718"/>
                </a:lnTo>
                <a:lnTo>
                  <a:pt x="3924300" y="3810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" name="object 7"/>
          <p:cNvSpPr txBox="1"/>
          <p:nvPr/>
        </p:nvSpPr>
        <p:spPr>
          <a:xfrm>
            <a:off x="2126751" y="1814904"/>
            <a:ext cx="3690221" cy="934645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lnSpc>
                <a:spcPts val="2524"/>
              </a:lnSpc>
              <a:spcBef>
                <a:spcPts val="88"/>
              </a:spcBef>
              <a:tabLst>
                <a:tab pos="774367" algn="l"/>
                <a:tab pos="3260525" algn="l"/>
              </a:tabLst>
            </a:pPr>
            <a:r>
              <a:rPr sz="1941" spc="-9" dirty="0">
                <a:solidFill>
                  <a:srgbClr val="FF0000"/>
                </a:solidFill>
                <a:latin typeface="Arial MT"/>
                <a:cs typeface="Arial MT"/>
              </a:rPr>
              <a:t>C(Q):</a:t>
            </a:r>
            <a:r>
              <a:rPr sz="1941" dirty="0">
                <a:solidFill>
                  <a:srgbClr val="FF0000"/>
                </a:solidFill>
                <a:latin typeface="Arial MT"/>
                <a:cs typeface="Arial MT"/>
              </a:rPr>
              <a:t>	Minimum</a:t>
            </a:r>
            <a:r>
              <a:rPr sz="1941" spc="-4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941" dirty="0">
                <a:solidFill>
                  <a:srgbClr val="FF0000"/>
                </a:solidFill>
                <a:latin typeface="Arial MT"/>
                <a:cs typeface="Arial MT"/>
              </a:rPr>
              <a:t>total</a:t>
            </a:r>
            <a:r>
              <a:rPr sz="1941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941" dirty="0">
                <a:solidFill>
                  <a:srgbClr val="FF0000"/>
                </a:solidFill>
                <a:latin typeface="Arial MT"/>
                <a:cs typeface="Arial MT"/>
              </a:rPr>
              <a:t>cost</a:t>
            </a:r>
            <a:r>
              <a:rPr sz="1941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941" spc="-22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sz="1941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endParaRPr sz="3177" baseline="-6944" dirty="0">
              <a:latin typeface="Times New Roman"/>
              <a:cs typeface="Times New Roman"/>
            </a:endParaRPr>
          </a:p>
          <a:p>
            <a:pPr marL="33619" marR="396709">
              <a:lnSpc>
                <a:spcPts val="2330"/>
              </a:lnSpc>
              <a:spcBef>
                <a:spcPts val="57"/>
              </a:spcBef>
            </a:pPr>
            <a:r>
              <a:rPr sz="1941" dirty="0">
                <a:solidFill>
                  <a:srgbClr val="FF0000"/>
                </a:solidFill>
                <a:latin typeface="Arial MT"/>
                <a:cs typeface="Arial MT"/>
              </a:rPr>
              <a:t>producing</a:t>
            </a:r>
            <a:r>
              <a:rPr sz="1941" spc="-8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941" dirty="0">
                <a:solidFill>
                  <a:srgbClr val="FF0000"/>
                </a:solidFill>
                <a:latin typeface="Arial MT"/>
                <a:cs typeface="Arial MT"/>
              </a:rPr>
              <a:t>alternative</a:t>
            </a:r>
            <a:r>
              <a:rPr sz="1941" spc="-7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941" spc="-9" dirty="0">
                <a:solidFill>
                  <a:srgbClr val="FF0000"/>
                </a:solidFill>
                <a:latin typeface="Arial MT"/>
                <a:cs typeface="Arial MT"/>
              </a:rPr>
              <a:t>levels </a:t>
            </a:r>
            <a:r>
              <a:rPr sz="1941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sz="1941" spc="-1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941" spc="-9" dirty="0">
                <a:solidFill>
                  <a:srgbClr val="FF0000"/>
                </a:solidFill>
                <a:latin typeface="Arial MT"/>
                <a:cs typeface="Arial MT"/>
              </a:rPr>
              <a:t>output:</a:t>
            </a:r>
            <a:endParaRPr sz="1941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27238" y="5414680"/>
            <a:ext cx="179854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b="1" spc="-44" dirty="0">
                <a:latin typeface="Times New Roman"/>
                <a:cs typeface="Times New Roman"/>
              </a:rPr>
              <a:t>Q</a:t>
            </a:r>
            <a:endParaRPr sz="1588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285099" y="2621672"/>
            <a:ext cx="3374651" cy="2781860"/>
            <a:chOff x="5243512" y="2971228"/>
            <a:chExt cx="3824604" cy="3152775"/>
          </a:xfrm>
        </p:grpSpPr>
        <p:sp>
          <p:nvSpPr>
            <p:cNvPr id="10" name="object 10"/>
            <p:cNvSpPr/>
            <p:nvPr/>
          </p:nvSpPr>
          <p:spPr>
            <a:xfrm>
              <a:off x="5257800" y="5423916"/>
              <a:ext cx="3810000" cy="0"/>
            </a:xfrm>
            <a:custGeom>
              <a:avLst/>
              <a:gdLst/>
              <a:ahLst/>
              <a:cxnLst/>
              <a:rect l="l" t="t" r="r" b="b"/>
              <a:pathLst>
                <a:path w="3810000">
                  <a:moveTo>
                    <a:pt x="0" y="0"/>
                  </a:moveTo>
                  <a:lnTo>
                    <a:pt x="3809999" y="0"/>
                  </a:lnTo>
                </a:path>
              </a:pathLst>
            </a:custGeom>
            <a:ln w="28574">
              <a:solidFill>
                <a:srgbClr val="0098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5257800" y="2985516"/>
              <a:ext cx="3581400" cy="2438400"/>
            </a:xfrm>
            <a:custGeom>
              <a:avLst/>
              <a:gdLst/>
              <a:ahLst/>
              <a:cxnLst/>
              <a:rect l="l" t="t" r="r" b="b"/>
              <a:pathLst>
                <a:path w="3581400" h="2438400">
                  <a:moveTo>
                    <a:pt x="0" y="2438399"/>
                  </a:moveTo>
                  <a:lnTo>
                    <a:pt x="34292" y="2397111"/>
                  </a:lnTo>
                  <a:lnTo>
                    <a:pt x="68597" y="2355852"/>
                  </a:lnTo>
                  <a:lnTo>
                    <a:pt x="102929" y="2314661"/>
                  </a:lnTo>
                  <a:lnTo>
                    <a:pt x="137299" y="2273578"/>
                  </a:lnTo>
                  <a:lnTo>
                    <a:pt x="171723" y="2232642"/>
                  </a:lnTo>
                  <a:lnTo>
                    <a:pt x="206212" y="2191890"/>
                  </a:lnTo>
                  <a:lnTo>
                    <a:pt x="240779" y="2151362"/>
                  </a:lnTo>
                  <a:lnTo>
                    <a:pt x="275439" y="2111097"/>
                  </a:lnTo>
                  <a:lnTo>
                    <a:pt x="310203" y="2071133"/>
                  </a:lnTo>
                  <a:lnTo>
                    <a:pt x="345085" y="2031509"/>
                  </a:lnTo>
                  <a:lnTo>
                    <a:pt x="380099" y="1992264"/>
                  </a:lnTo>
                  <a:lnTo>
                    <a:pt x="415257" y="1953437"/>
                  </a:lnTo>
                  <a:lnTo>
                    <a:pt x="450572" y="1915067"/>
                  </a:lnTo>
                  <a:lnTo>
                    <a:pt x="486058" y="1877191"/>
                  </a:lnTo>
                  <a:lnTo>
                    <a:pt x="521727" y="1839850"/>
                  </a:lnTo>
                  <a:lnTo>
                    <a:pt x="557593" y="1803082"/>
                  </a:lnTo>
                  <a:lnTo>
                    <a:pt x="593669" y="1766925"/>
                  </a:lnTo>
                  <a:lnTo>
                    <a:pt x="629968" y="1731419"/>
                  </a:lnTo>
                  <a:lnTo>
                    <a:pt x="666503" y="1696603"/>
                  </a:lnTo>
                  <a:lnTo>
                    <a:pt x="703287" y="1662514"/>
                  </a:lnTo>
                  <a:lnTo>
                    <a:pt x="740333" y="1629192"/>
                  </a:lnTo>
                  <a:lnTo>
                    <a:pt x="777655" y="1596676"/>
                  </a:lnTo>
                  <a:lnTo>
                    <a:pt x="815265" y="1565004"/>
                  </a:lnTo>
                  <a:lnTo>
                    <a:pt x="853178" y="1534215"/>
                  </a:lnTo>
                  <a:lnTo>
                    <a:pt x="891404" y="1504348"/>
                  </a:lnTo>
                  <a:lnTo>
                    <a:pt x="929959" y="1475442"/>
                  </a:lnTo>
                  <a:lnTo>
                    <a:pt x="968855" y="1447536"/>
                  </a:lnTo>
                  <a:lnTo>
                    <a:pt x="1008105" y="1420668"/>
                  </a:lnTo>
                  <a:lnTo>
                    <a:pt x="1047722" y="1394877"/>
                  </a:lnTo>
                  <a:lnTo>
                    <a:pt x="1087719" y="1370202"/>
                  </a:lnTo>
                  <a:lnTo>
                    <a:pt x="1128110" y="1346682"/>
                  </a:lnTo>
                  <a:lnTo>
                    <a:pt x="1168907" y="1324355"/>
                  </a:lnTo>
                  <a:lnTo>
                    <a:pt x="1211940" y="1303177"/>
                  </a:lnTo>
                  <a:lnTo>
                    <a:pt x="1256033" y="1284368"/>
                  </a:lnTo>
                  <a:lnTo>
                    <a:pt x="1301106" y="1267767"/>
                  </a:lnTo>
                  <a:lnTo>
                    <a:pt x="1347076" y="1253215"/>
                  </a:lnTo>
                  <a:lnTo>
                    <a:pt x="1393862" y="1240548"/>
                  </a:lnTo>
                  <a:lnTo>
                    <a:pt x="1441384" y="1229607"/>
                  </a:lnTo>
                  <a:lnTo>
                    <a:pt x="1489559" y="1220230"/>
                  </a:lnTo>
                  <a:lnTo>
                    <a:pt x="1538307" y="1212257"/>
                  </a:lnTo>
                  <a:lnTo>
                    <a:pt x="1587546" y="1205525"/>
                  </a:lnTo>
                  <a:lnTo>
                    <a:pt x="1637195" y="1199874"/>
                  </a:lnTo>
                  <a:lnTo>
                    <a:pt x="1687172" y="1195142"/>
                  </a:lnTo>
                  <a:lnTo>
                    <a:pt x="1737397" y="1191169"/>
                  </a:lnTo>
                  <a:lnTo>
                    <a:pt x="1787787" y="1187793"/>
                  </a:lnTo>
                  <a:lnTo>
                    <a:pt x="1838261" y="1184853"/>
                  </a:lnTo>
                  <a:lnTo>
                    <a:pt x="1888738" y="1182189"/>
                  </a:lnTo>
                  <a:lnTo>
                    <a:pt x="1939138" y="1179638"/>
                  </a:lnTo>
                  <a:lnTo>
                    <a:pt x="1989377" y="1177040"/>
                  </a:lnTo>
                  <a:lnTo>
                    <a:pt x="2039376" y="1174233"/>
                  </a:lnTo>
                  <a:lnTo>
                    <a:pt x="2089052" y="1171057"/>
                  </a:lnTo>
                  <a:lnTo>
                    <a:pt x="2138325" y="1167350"/>
                  </a:lnTo>
                  <a:lnTo>
                    <a:pt x="2187113" y="1162952"/>
                  </a:lnTo>
                  <a:lnTo>
                    <a:pt x="2235334" y="1157700"/>
                  </a:lnTo>
                  <a:lnTo>
                    <a:pt x="2282908" y="1151435"/>
                  </a:lnTo>
                  <a:lnTo>
                    <a:pt x="2329753" y="1143994"/>
                  </a:lnTo>
                  <a:lnTo>
                    <a:pt x="2375788" y="1135216"/>
                  </a:lnTo>
                  <a:lnTo>
                    <a:pt x="2420931" y="1124941"/>
                  </a:lnTo>
                  <a:lnTo>
                    <a:pt x="2465101" y="1113008"/>
                  </a:lnTo>
                  <a:lnTo>
                    <a:pt x="2508216" y="1099254"/>
                  </a:lnTo>
                  <a:lnTo>
                    <a:pt x="2550196" y="1083520"/>
                  </a:lnTo>
                  <a:lnTo>
                    <a:pt x="2590959" y="1065643"/>
                  </a:lnTo>
                  <a:lnTo>
                    <a:pt x="2630423" y="1045463"/>
                  </a:lnTo>
                  <a:lnTo>
                    <a:pt x="2671992" y="1021071"/>
                  </a:lnTo>
                  <a:lnTo>
                    <a:pt x="2713419" y="993767"/>
                  </a:lnTo>
                  <a:lnTo>
                    <a:pt x="2754652" y="963783"/>
                  </a:lnTo>
                  <a:lnTo>
                    <a:pt x="2795636" y="931349"/>
                  </a:lnTo>
                  <a:lnTo>
                    <a:pt x="2836316" y="896697"/>
                  </a:lnTo>
                  <a:lnTo>
                    <a:pt x="2876640" y="860058"/>
                  </a:lnTo>
                  <a:lnTo>
                    <a:pt x="2916553" y="821662"/>
                  </a:lnTo>
                  <a:lnTo>
                    <a:pt x="2956001" y="781740"/>
                  </a:lnTo>
                  <a:lnTo>
                    <a:pt x="2994930" y="740524"/>
                  </a:lnTo>
                  <a:lnTo>
                    <a:pt x="3033286" y="698244"/>
                  </a:lnTo>
                  <a:lnTo>
                    <a:pt x="3071015" y="655132"/>
                  </a:lnTo>
                  <a:lnTo>
                    <a:pt x="3108063" y="611417"/>
                  </a:lnTo>
                  <a:lnTo>
                    <a:pt x="3144377" y="567332"/>
                  </a:lnTo>
                  <a:lnTo>
                    <a:pt x="3179902" y="523107"/>
                  </a:lnTo>
                  <a:lnTo>
                    <a:pt x="3214584" y="478973"/>
                  </a:lnTo>
                  <a:lnTo>
                    <a:pt x="3248369" y="435162"/>
                  </a:lnTo>
                  <a:lnTo>
                    <a:pt x="3281203" y="391903"/>
                  </a:lnTo>
                  <a:lnTo>
                    <a:pt x="3313032" y="349428"/>
                  </a:lnTo>
                  <a:lnTo>
                    <a:pt x="3343803" y="307968"/>
                  </a:lnTo>
                  <a:lnTo>
                    <a:pt x="3373461" y="267754"/>
                  </a:lnTo>
                  <a:lnTo>
                    <a:pt x="3401952" y="229017"/>
                  </a:lnTo>
                  <a:lnTo>
                    <a:pt x="3429223" y="191988"/>
                  </a:lnTo>
                  <a:lnTo>
                    <a:pt x="3455218" y="156897"/>
                  </a:lnTo>
                  <a:lnTo>
                    <a:pt x="3479885" y="123976"/>
                  </a:lnTo>
                  <a:lnTo>
                    <a:pt x="3503169" y="93456"/>
                  </a:lnTo>
                  <a:lnTo>
                    <a:pt x="3545374" y="40541"/>
                  </a:lnTo>
                  <a:lnTo>
                    <a:pt x="3564186" y="18608"/>
                  </a:lnTo>
                  <a:lnTo>
                    <a:pt x="3581399" y="0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5257800" y="3671316"/>
              <a:ext cx="3505200" cy="2438400"/>
            </a:xfrm>
            <a:custGeom>
              <a:avLst/>
              <a:gdLst/>
              <a:ahLst/>
              <a:cxnLst/>
              <a:rect l="l" t="t" r="r" b="b"/>
              <a:pathLst>
                <a:path w="3505200" h="2438400">
                  <a:moveTo>
                    <a:pt x="0" y="2438399"/>
                  </a:moveTo>
                  <a:lnTo>
                    <a:pt x="33573" y="2397111"/>
                  </a:lnTo>
                  <a:lnTo>
                    <a:pt x="67151" y="2355852"/>
                  </a:lnTo>
                  <a:lnTo>
                    <a:pt x="100748" y="2314661"/>
                  </a:lnTo>
                  <a:lnTo>
                    <a:pt x="134376" y="2273578"/>
                  </a:lnTo>
                  <a:lnTo>
                    <a:pt x="168051" y="2232642"/>
                  </a:lnTo>
                  <a:lnTo>
                    <a:pt x="201785" y="2191890"/>
                  </a:lnTo>
                  <a:lnTo>
                    <a:pt x="235592" y="2151362"/>
                  </a:lnTo>
                  <a:lnTo>
                    <a:pt x="269486" y="2111097"/>
                  </a:lnTo>
                  <a:lnTo>
                    <a:pt x="303480" y="2071133"/>
                  </a:lnTo>
                  <a:lnTo>
                    <a:pt x="337588" y="2031509"/>
                  </a:lnTo>
                  <a:lnTo>
                    <a:pt x="371824" y="1992264"/>
                  </a:lnTo>
                  <a:lnTo>
                    <a:pt x="406202" y="1953437"/>
                  </a:lnTo>
                  <a:lnTo>
                    <a:pt x="440735" y="1915067"/>
                  </a:lnTo>
                  <a:lnTo>
                    <a:pt x="475437" y="1877191"/>
                  </a:lnTo>
                  <a:lnTo>
                    <a:pt x="510321" y="1839850"/>
                  </a:lnTo>
                  <a:lnTo>
                    <a:pt x="545401" y="1803082"/>
                  </a:lnTo>
                  <a:lnTo>
                    <a:pt x="580691" y="1766925"/>
                  </a:lnTo>
                  <a:lnTo>
                    <a:pt x="616205" y="1731419"/>
                  </a:lnTo>
                  <a:lnTo>
                    <a:pt x="651956" y="1696603"/>
                  </a:lnTo>
                  <a:lnTo>
                    <a:pt x="687957" y="1662514"/>
                  </a:lnTo>
                  <a:lnTo>
                    <a:pt x="724224" y="1629192"/>
                  </a:lnTo>
                  <a:lnTo>
                    <a:pt x="760768" y="1596676"/>
                  </a:lnTo>
                  <a:lnTo>
                    <a:pt x="797605" y="1565004"/>
                  </a:lnTo>
                  <a:lnTo>
                    <a:pt x="834747" y="1534215"/>
                  </a:lnTo>
                  <a:lnTo>
                    <a:pt x="872208" y="1504348"/>
                  </a:lnTo>
                  <a:lnTo>
                    <a:pt x="910002" y="1475442"/>
                  </a:lnTo>
                  <a:lnTo>
                    <a:pt x="948143" y="1447536"/>
                  </a:lnTo>
                  <a:lnTo>
                    <a:pt x="986644" y="1420668"/>
                  </a:lnTo>
                  <a:lnTo>
                    <a:pt x="1025519" y="1394877"/>
                  </a:lnTo>
                  <a:lnTo>
                    <a:pt x="1064781" y="1370202"/>
                  </a:lnTo>
                  <a:lnTo>
                    <a:pt x="1104445" y="1346682"/>
                  </a:lnTo>
                  <a:lnTo>
                    <a:pt x="1144523" y="1324355"/>
                  </a:lnTo>
                  <a:lnTo>
                    <a:pt x="1186657" y="1303177"/>
                  </a:lnTo>
                  <a:lnTo>
                    <a:pt x="1229825" y="1284368"/>
                  </a:lnTo>
                  <a:lnTo>
                    <a:pt x="1273948" y="1267767"/>
                  </a:lnTo>
                  <a:lnTo>
                    <a:pt x="1318947" y="1253215"/>
                  </a:lnTo>
                  <a:lnTo>
                    <a:pt x="1364742" y="1240548"/>
                  </a:lnTo>
                  <a:lnTo>
                    <a:pt x="1411254" y="1229607"/>
                  </a:lnTo>
                  <a:lnTo>
                    <a:pt x="1458405" y="1220230"/>
                  </a:lnTo>
                  <a:lnTo>
                    <a:pt x="1506114" y="1212257"/>
                  </a:lnTo>
                  <a:lnTo>
                    <a:pt x="1554303" y="1205525"/>
                  </a:lnTo>
                  <a:lnTo>
                    <a:pt x="1602893" y="1199874"/>
                  </a:lnTo>
                  <a:lnTo>
                    <a:pt x="1651804" y="1195142"/>
                  </a:lnTo>
                  <a:lnTo>
                    <a:pt x="1700957" y="1191169"/>
                  </a:lnTo>
                  <a:lnTo>
                    <a:pt x="1750273" y="1187793"/>
                  </a:lnTo>
                  <a:lnTo>
                    <a:pt x="1799674" y="1184853"/>
                  </a:lnTo>
                  <a:lnTo>
                    <a:pt x="1849078" y="1182189"/>
                  </a:lnTo>
                  <a:lnTo>
                    <a:pt x="1898408" y="1179638"/>
                  </a:lnTo>
                  <a:lnTo>
                    <a:pt x="1947584" y="1177040"/>
                  </a:lnTo>
                  <a:lnTo>
                    <a:pt x="1996528" y="1174233"/>
                  </a:lnTo>
                  <a:lnTo>
                    <a:pt x="2045159" y="1171057"/>
                  </a:lnTo>
                  <a:lnTo>
                    <a:pt x="2093399" y="1167350"/>
                  </a:lnTo>
                  <a:lnTo>
                    <a:pt x="2141168" y="1162952"/>
                  </a:lnTo>
                  <a:lnTo>
                    <a:pt x="2188388" y="1157700"/>
                  </a:lnTo>
                  <a:lnTo>
                    <a:pt x="2234978" y="1151435"/>
                  </a:lnTo>
                  <a:lnTo>
                    <a:pt x="2280861" y="1143994"/>
                  </a:lnTo>
                  <a:lnTo>
                    <a:pt x="2325956" y="1135216"/>
                  </a:lnTo>
                  <a:lnTo>
                    <a:pt x="2370185" y="1124941"/>
                  </a:lnTo>
                  <a:lnTo>
                    <a:pt x="2413468" y="1113008"/>
                  </a:lnTo>
                  <a:lnTo>
                    <a:pt x="2455726" y="1099254"/>
                  </a:lnTo>
                  <a:lnTo>
                    <a:pt x="2496880" y="1083520"/>
                  </a:lnTo>
                  <a:lnTo>
                    <a:pt x="2536851" y="1065643"/>
                  </a:lnTo>
                  <a:lnTo>
                    <a:pt x="2575559" y="1045463"/>
                  </a:lnTo>
                  <a:lnTo>
                    <a:pt x="2617631" y="1020144"/>
                  </a:lnTo>
                  <a:lnTo>
                    <a:pt x="2659551" y="991711"/>
                  </a:lnTo>
                  <a:lnTo>
                    <a:pt x="2701260" y="960421"/>
                  </a:lnTo>
                  <a:lnTo>
                    <a:pt x="2742702" y="926529"/>
                  </a:lnTo>
                  <a:lnTo>
                    <a:pt x="2783817" y="890293"/>
                  </a:lnTo>
                  <a:lnTo>
                    <a:pt x="2824547" y="851970"/>
                  </a:lnTo>
                  <a:lnTo>
                    <a:pt x="2864834" y="811815"/>
                  </a:lnTo>
                  <a:lnTo>
                    <a:pt x="2904619" y="770086"/>
                  </a:lnTo>
                  <a:lnTo>
                    <a:pt x="2943845" y="727039"/>
                  </a:lnTo>
                  <a:lnTo>
                    <a:pt x="2982452" y="682930"/>
                  </a:lnTo>
                  <a:lnTo>
                    <a:pt x="3020383" y="638017"/>
                  </a:lnTo>
                  <a:lnTo>
                    <a:pt x="3057579" y="592556"/>
                  </a:lnTo>
                  <a:lnTo>
                    <a:pt x="3093982" y="546803"/>
                  </a:lnTo>
                  <a:lnTo>
                    <a:pt x="3129533" y="501014"/>
                  </a:lnTo>
                  <a:lnTo>
                    <a:pt x="3164175" y="455448"/>
                  </a:lnTo>
                  <a:lnTo>
                    <a:pt x="3197849" y="410360"/>
                  </a:lnTo>
                  <a:lnTo>
                    <a:pt x="3230496" y="366006"/>
                  </a:lnTo>
                  <a:lnTo>
                    <a:pt x="3262059" y="322644"/>
                  </a:lnTo>
                  <a:lnTo>
                    <a:pt x="3292479" y="280530"/>
                  </a:lnTo>
                  <a:lnTo>
                    <a:pt x="3321697" y="239921"/>
                  </a:lnTo>
                  <a:lnTo>
                    <a:pt x="3349656" y="201072"/>
                  </a:lnTo>
                  <a:lnTo>
                    <a:pt x="3376297" y="164242"/>
                  </a:lnTo>
                  <a:lnTo>
                    <a:pt x="3401562" y="129685"/>
                  </a:lnTo>
                  <a:lnTo>
                    <a:pt x="3425392" y="97660"/>
                  </a:lnTo>
                  <a:lnTo>
                    <a:pt x="3468515" y="42228"/>
                  </a:lnTo>
                  <a:lnTo>
                    <a:pt x="3487691" y="19335"/>
                  </a:lnTo>
                  <a:lnTo>
                    <a:pt x="3505199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182533" y="2321857"/>
            <a:ext cx="1393451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solidFill>
                  <a:srgbClr val="FF0000"/>
                </a:solidFill>
                <a:latin typeface="Times New Roman"/>
                <a:cs typeface="Times New Roman"/>
              </a:rPr>
              <a:t>C(Q)</a:t>
            </a:r>
            <a:r>
              <a:rPr sz="1588" spc="-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88" dirty="0">
                <a:latin typeface="Times New Roman"/>
                <a:cs typeface="Times New Roman"/>
              </a:rPr>
              <a:t>=</a:t>
            </a:r>
            <a:r>
              <a:rPr sz="1588" spc="-4" dirty="0">
                <a:latin typeface="Times New Roman"/>
                <a:cs typeface="Times New Roman"/>
              </a:rPr>
              <a:t> </a:t>
            </a:r>
            <a:r>
              <a:rPr sz="1588" dirty="0">
                <a:latin typeface="Times New Roman"/>
                <a:cs typeface="Times New Roman"/>
              </a:rPr>
              <a:t>VC</a:t>
            </a:r>
            <a:r>
              <a:rPr sz="1588" spc="-13" dirty="0">
                <a:latin typeface="Times New Roman"/>
                <a:cs typeface="Times New Roman"/>
              </a:rPr>
              <a:t> </a:t>
            </a:r>
            <a:r>
              <a:rPr sz="1588" dirty="0">
                <a:latin typeface="Times New Roman"/>
                <a:cs typeface="Times New Roman"/>
              </a:rPr>
              <a:t>+</a:t>
            </a:r>
            <a:r>
              <a:rPr sz="1588" spc="-9" dirty="0">
                <a:latin typeface="Times New Roman"/>
                <a:cs typeface="Times New Roman"/>
              </a:rPr>
              <a:t> </a:t>
            </a:r>
            <a:r>
              <a:rPr sz="1588" spc="-22" dirty="0">
                <a:solidFill>
                  <a:srgbClr val="009900"/>
                </a:solidFill>
                <a:latin typeface="Times New Roman"/>
                <a:cs typeface="Times New Roman"/>
              </a:rPr>
              <a:t>FC</a:t>
            </a:r>
            <a:endParaRPr sz="1588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8989564" y="6935043"/>
            <a:ext cx="342900" cy="194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 spc="-10"/>
              <a:t>5-</a:t>
            </a:r>
            <a:fld id="{81D60167-4931-47E6-BA6A-407CBD079E47}" type="slidenum">
              <a:rPr spc="-25" smtClean="0"/>
              <a:pPr marL="12700">
                <a:lnSpc>
                  <a:spcPts val="1410"/>
                </a:lnSpc>
              </a:pPr>
              <a:t>2</a:t>
            </a:fld>
            <a:endParaRPr spc="-22" dirty="0"/>
          </a:p>
        </p:txBody>
      </p:sp>
      <p:sp>
        <p:nvSpPr>
          <p:cNvPr id="14" name="object 14"/>
          <p:cNvSpPr txBox="1"/>
          <p:nvPr/>
        </p:nvSpPr>
        <p:spPr>
          <a:xfrm>
            <a:off x="9258297" y="2994210"/>
            <a:ext cx="582146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9" dirty="0">
                <a:latin typeface="Times New Roman"/>
                <a:cs typeface="Times New Roman"/>
              </a:rPr>
              <a:t>VC(Q)</a:t>
            </a:r>
            <a:endParaRPr sz="1588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460002" y="4473386"/>
            <a:ext cx="268941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22" dirty="0">
                <a:latin typeface="Times New Roman"/>
                <a:cs typeface="Times New Roman"/>
              </a:rPr>
              <a:t>FC</a:t>
            </a:r>
            <a:endParaRPr sz="1588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32725" y="5401233"/>
            <a:ext cx="123825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44" dirty="0">
                <a:latin typeface="Times New Roman"/>
                <a:cs typeface="Times New Roman"/>
              </a:rPr>
              <a:t>0</a:t>
            </a:r>
            <a:endParaRPr sz="1588">
              <a:latin typeface="Times New Roman"/>
              <a:cs typeface="Times New Roman"/>
            </a:endParaRPr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8B79234D-C5AB-3E21-7669-58B863477EC5}"/>
              </a:ext>
            </a:extLst>
          </p:cNvPr>
          <p:cNvSpPr txBox="1"/>
          <p:nvPr/>
        </p:nvSpPr>
        <p:spPr>
          <a:xfrm>
            <a:off x="5627033" y="1952090"/>
            <a:ext cx="634818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IN" sz="2118" dirty="0">
                <a:latin typeface="Times New Roman"/>
                <a:cs typeface="Times New Roman"/>
              </a:rPr>
              <a:t>Cost</a:t>
            </a:r>
            <a:endParaRPr sz="2118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386528"/>
            <a:ext cx="9278471" cy="1040895"/>
          </a:xfrm>
          <a:prstGeom prst="rect">
            <a:avLst/>
          </a:prstGeom>
        </p:spPr>
        <p:txBody>
          <a:bodyPr vert="horz" wrap="square" lIns="0" tIns="360268" rIns="0" bIns="0" rtlCol="0" anchor="ctr">
            <a:spAutoFit/>
          </a:bodyPr>
          <a:lstStyle/>
          <a:p>
            <a:pPr marL="1528004">
              <a:lnSpc>
                <a:spcPct val="100000"/>
              </a:lnSpc>
              <a:spcBef>
                <a:spcPts val="84"/>
              </a:spcBef>
            </a:pPr>
            <a:r>
              <a:rPr dirty="0"/>
              <a:t>Fixed</a:t>
            </a:r>
            <a:r>
              <a:rPr spc="-35" dirty="0"/>
              <a:t> </a:t>
            </a:r>
            <a:r>
              <a:rPr dirty="0"/>
              <a:t>and</a:t>
            </a:r>
            <a:r>
              <a:rPr spc="-22" dirty="0"/>
              <a:t> </a:t>
            </a:r>
            <a:r>
              <a:rPr dirty="0"/>
              <a:t>Sunk</a:t>
            </a:r>
            <a:r>
              <a:rPr spc="-13" dirty="0"/>
              <a:t> </a:t>
            </a:r>
            <a:r>
              <a:rPr spc="-9" dirty="0"/>
              <a:t>Costs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36476" y="2173939"/>
            <a:ext cx="2986928" cy="60809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 marR="4483">
              <a:spcBef>
                <a:spcPts val="84"/>
              </a:spcBef>
              <a:tabLst>
                <a:tab pos="544635" algn="l"/>
              </a:tabLst>
            </a:pPr>
            <a:r>
              <a:rPr sz="1941" spc="-22" dirty="0">
                <a:solidFill>
                  <a:srgbClr val="FF0000"/>
                </a:solidFill>
                <a:latin typeface="Arial MT"/>
                <a:cs typeface="Arial MT"/>
              </a:rPr>
              <a:t>FC:</a:t>
            </a:r>
            <a:r>
              <a:rPr sz="1941" dirty="0">
                <a:solidFill>
                  <a:srgbClr val="FF0000"/>
                </a:solidFill>
                <a:latin typeface="Arial MT"/>
                <a:cs typeface="Arial MT"/>
              </a:rPr>
              <a:t>	Costs</a:t>
            </a:r>
            <a:r>
              <a:rPr sz="1941" spc="-22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941" dirty="0">
                <a:solidFill>
                  <a:srgbClr val="FF0000"/>
                </a:solidFill>
                <a:latin typeface="Arial MT"/>
                <a:cs typeface="Arial MT"/>
              </a:rPr>
              <a:t>that</a:t>
            </a:r>
            <a:r>
              <a:rPr sz="1941" spc="-22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941" dirty="0">
                <a:solidFill>
                  <a:srgbClr val="FF0000"/>
                </a:solidFill>
                <a:latin typeface="Arial MT"/>
                <a:cs typeface="Arial MT"/>
              </a:rPr>
              <a:t>do</a:t>
            </a:r>
            <a:r>
              <a:rPr sz="1941" spc="-22" dirty="0">
                <a:solidFill>
                  <a:srgbClr val="FF0000"/>
                </a:solidFill>
                <a:latin typeface="Arial MT"/>
                <a:cs typeface="Arial MT"/>
              </a:rPr>
              <a:t> not </a:t>
            </a:r>
            <a:r>
              <a:rPr sz="1941" dirty="0">
                <a:solidFill>
                  <a:srgbClr val="FF0000"/>
                </a:solidFill>
                <a:latin typeface="Arial MT"/>
                <a:cs typeface="Arial MT"/>
              </a:rPr>
              <a:t>change</a:t>
            </a:r>
            <a:r>
              <a:rPr sz="1941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941" dirty="0">
                <a:solidFill>
                  <a:srgbClr val="FF0000"/>
                </a:solidFill>
                <a:latin typeface="Arial MT"/>
                <a:cs typeface="Arial MT"/>
              </a:rPr>
              <a:t>as</a:t>
            </a:r>
            <a:r>
              <a:rPr sz="1941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941" dirty="0">
                <a:solidFill>
                  <a:srgbClr val="FF0000"/>
                </a:solidFill>
                <a:latin typeface="Arial MT"/>
                <a:cs typeface="Arial MT"/>
              </a:rPr>
              <a:t>output</a:t>
            </a:r>
            <a:r>
              <a:rPr sz="1941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941" spc="-9" dirty="0">
                <a:solidFill>
                  <a:srgbClr val="FF0000"/>
                </a:solidFill>
                <a:latin typeface="Arial MT"/>
                <a:cs typeface="Arial MT"/>
              </a:rPr>
              <a:t>changes.</a:t>
            </a:r>
            <a:endParaRPr sz="1941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36476" y="3060101"/>
            <a:ext cx="3082178" cy="90676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 marR="4483">
              <a:spcBef>
                <a:spcPts val="84"/>
              </a:spcBef>
              <a:tabLst>
                <a:tab pos="1354303" algn="l"/>
              </a:tabLst>
            </a:pPr>
            <a:r>
              <a:rPr sz="1941" dirty="0">
                <a:latin typeface="Arial MT"/>
                <a:cs typeface="Arial MT"/>
              </a:rPr>
              <a:t>Sunk</a:t>
            </a:r>
            <a:r>
              <a:rPr sz="1941" spc="-26" dirty="0">
                <a:latin typeface="Arial MT"/>
                <a:cs typeface="Arial MT"/>
              </a:rPr>
              <a:t> </a:t>
            </a:r>
            <a:r>
              <a:rPr sz="1941" spc="-18" dirty="0">
                <a:latin typeface="Arial MT"/>
                <a:cs typeface="Arial MT"/>
              </a:rPr>
              <a:t>Cost:</a:t>
            </a:r>
            <a:r>
              <a:rPr sz="1941" dirty="0">
                <a:latin typeface="Arial MT"/>
                <a:cs typeface="Arial MT"/>
              </a:rPr>
              <a:t>	A</a:t>
            </a:r>
            <a:r>
              <a:rPr sz="1941" spc="-22" dirty="0">
                <a:latin typeface="Arial MT"/>
                <a:cs typeface="Arial MT"/>
              </a:rPr>
              <a:t> </a:t>
            </a:r>
            <a:r>
              <a:rPr sz="1941" dirty="0">
                <a:latin typeface="Arial MT"/>
                <a:cs typeface="Arial MT"/>
              </a:rPr>
              <a:t>cost</a:t>
            </a:r>
            <a:r>
              <a:rPr sz="1941" spc="-18" dirty="0">
                <a:latin typeface="Arial MT"/>
                <a:cs typeface="Arial MT"/>
              </a:rPr>
              <a:t> </a:t>
            </a:r>
            <a:r>
              <a:rPr sz="1941" dirty="0">
                <a:latin typeface="Arial MT"/>
                <a:cs typeface="Arial MT"/>
              </a:rPr>
              <a:t>that</a:t>
            </a:r>
            <a:r>
              <a:rPr sz="1941" spc="-18" dirty="0">
                <a:latin typeface="Arial MT"/>
                <a:cs typeface="Arial MT"/>
              </a:rPr>
              <a:t> </a:t>
            </a:r>
            <a:r>
              <a:rPr sz="1941" spc="-22" dirty="0">
                <a:latin typeface="Arial MT"/>
                <a:cs typeface="Arial MT"/>
              </a:rPr>
              <a:t>is </a:t>
            </a:r>
            <a:r>
              <a:rPr sz="1941" dirty="0">
                <a:latin typeface="Arial MT"/>
                <a:cs typeface="Arial MT"/>
              </a:rPr>
              <a:t>forever</a:t>
            </a:r>
            <a:r>
              <a:rPr sz="1941" spc="-35" dirty="0">
                <a:latin typeface="Arial MT"/>
                <a:cs typeface="Arial MT"/>
              </a:rPr>
              <a:t> </a:t>
            </a:r>
            <a:r>
              <a:rPr sz="1941" dirty="0">
                <a:latin typeface="Arial MT"/>
                <a:cs typeface="Arial MT"/>
              </a:rPr>
              <a:t>lost</a:t>
            </a:r>
            <a:r>
              <a:rPr sz="1941" spc="-26" dirty="0">
                <a:latin typeface="Arial MT"/>
                <a:cs typeface="Arial MT"/>
              </a:rPr>
              <a:t> </a:t>
            </a:r>
            <a:r>
              <a:rPr sz="1941" dirty="0">
                <a:latin typeface="Arial MT"/>
                <a:cs typeface="Arial MT"/>
              </a:rPr>
              <a:t>after</a:t>
            </a:r>
            <a:r>
              <a:rPr sz="1941" spc="-31" dirty="0">
                <a:latin typeface="Arial MT"/>
                <a:cs typeface="Arial MT"/>
              </a:rPr>
              <a:t> </a:t>
            </a:r>
            <a:r>
              <a:rPr sz="1941" dirty="0">
                <a:latin typeface="Arial MT"/>
                <a:cs typeface="Arial MT"/>
              </a:rPr>
              <a:t>it</a:t>
            </a:r>
            <a:r>
              <a:rPr sz="1941" spc="-26" dirty="0">
                <a:latin typeface="Arial MT"/>
                <a:cs typeface="Arial MT"/>
              </a:rPr>
              <a:t> </a:t>
            </a:r>
            <a:r>
              <a:rPr sz="1941" dirty="0">
                <a:latin typeface="Arial MT"/>
                <a:cs typeface="Arial MT"/>
              </a:rPr>
              <a:t>has</a:t>
            </a:r>
            <a:r>
              <a:rPr sz="1941" spc="-31" dirty="0">
                <a:latin typeface="Arial MT"/>
                <a:cs typeface="Arial MT"/>
              </a:rPr>
              <a:t> </a:t>
            </a:r>
            <a:r>
              <a:rPr sz="1941" spc="-18" dirty="0">
                <a:latin typeface="Arial MT"/>
                <a:cs typeface="Arial MT"/>
              </a:rPr>
              <a:t>been </a:t>
            </a:r>
            <a:r>
              <a:rPr sz="1941" spc="-9" dirty="0">
                <a:latin typeface="Arial MT"/>
                <a:cs typeface="Arial MT"/>
              </a:rPr>
              <a:t>paid.</a:t>
            </a:r>
            <a:endParaRPr sz="1941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36476" y="4243442"/>
            <a:ext cx="3014943" cy="120600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lnSpc>
                <a:spcPct val="99800"/>
              </a:lnSpc>
              <a:spcBef>
                <a:spcPts val="88"/>
              </a:spcBef>
            </a:pPr>
            <a:r>
              <a:rPr sz="1941" dirty="0">
                <a:latin typeface="Arial MT"/>
                <a:cs typeface="Arial MT"/>
              </a:rPr>
              <a:t>Decision</a:t>
            </a:r>
            <a:r>
              <a:rPr sz="1941" spc="-49" dirty="0">
                <a:latin typeface="Arial MT"/>
                <a:cs typeface="Arial MT"/>
              </a:rPr>
              <a:t> </a:t>
            </a:r>
            <a:r>
              <a:rPr sz="1941" dirty="0">
                <a:latin typeface="Arial MT"/>
                <a:cs typeface="Arial MT"/>
              </a:rPr>
              <a:t>makers</a:t>
            </a:r>
            <a:r>
              <a:rPr sz="1941" spc="-49" dirty="0">
                <a:latin typeface="Arial MT"/>
                <a:cs typeface="Arial MT"/>
              </a:rPr>
              <a:t> </a:t>
            </a:r>
            <a:r>
              <a:rPr sz="1941" spc="-9" dirty="0">
                <a:latin typeface="Arial MT"/>
                <a:cs typeface="Arial MT"/>
              </a:rPr>
              <a:t>should </a:t>
            </a:r>
            <a:r>
              <a:rPr sz="1941" dirty="0">
                <a:latin typeface="Arial MT"/>
                <a:cs typeface="Arial MT"/>
              </a:rPr>
              <a:t>ignore</a:t>
            </a:r>
            <a:r>
              <a:rPr sz="1941" spc="-31" dirty="0">
                <a:latin typeface="Arial MT"/>
                <a:cs typeface="Arial MT"/>
              </a:rPr>
              <a:t> </a:t>
            </a:r>
            <a:r>
              <a:rPr sz="1941" dirty="0">
                <a:latin typeface="Arial MT"/>
                <a:cs typeface="Arial MT"/>
              </a:rPr>
              <a:t>sunk</a:t>
            </a:r>
            <a:r>
              <a:rPr sz="1941" spc="-31" dirty="0">
                <a:latin typeface="Arial MT"/>
                <a:cs typeface="Arial MT"/>
              </a:rPr>
              <a:t> </a:t>
            </a:r>
            <a:r>
              <a:rPr sz="1941" dirty="0">
                <a:latin typeface="Arial MT"/>
                <a:cs typeface="Arial MT"/>
              </a:rPr>
              <a:t>costs</a:t>
            </a:r>
            <a:r>
              <a:rPr sz="1941" spc="-31" dirty="0">
                <a:latin typeface="Arial MT"/>
                <a:cs typeface="Arial MT"/>
              </a:rPr>
              <a:t> </a:t>
            </a:r>
            <a:r>
              <a:rPr sz="1941" spc="-22" dirty="0">
                <a:latin typeface="Arial MT"/>
                <a:cs typeface="Arial MT"/>
              </a:rPr>
              <a:t>to </a:t>
            </a:r>
            <a:r>
              <a:rPr sz="1941" dirty="0">
                <a:latin typeface="Arial MT"/>
                <a:cs typeface="Arial MT"/>
              </a:rPr>
              <a:t>maximize</a:t>
            </a:r>
            <a:r>
              <a:rPr sz="1941" spc="-35" dirty="0">
                <a:latin typeface="Arial MT"/>
                <a:cs typeface="Arial MT"/>
              </a:rPr>
              <a:t> </a:t>
            </a:r>
            <a:r>
              <a:rPr sz="1941" dirty="0">
                <a:latin typeface="Arial MT"/>
                <a:cs typeface="Arial MT"/>
              </a:rPr>
              <a:t>profit</a:t>
            </a:r>
            <a:r>
              <a:rPr sz="1941" spc="-35" dirty="0">
                <a:latin typeface="Arial MT"/>
                <a:cs typeface="Arial MT"/>
              </a:rPr>
              <a:t> </a:t>
            </a:r>
            <a:r>
              <a:rPr sz="1941" dirty="0">
                <a:latin typeface="Arial MT"/>
                <a:cs typeface="Arial MT"/>
              </a:rPr>
              <a:t>or</a:t>
            </a:r>
            <a:r>
              <a:rPr sz="1941" spc="-26" dirty="0">
                <a:latin typeface="Arial MT"/>
                <a:cs typeface="Arial MT"/>
              </a:rPr>
              <a:t> </a:t>
            </a:r>
            <a:r>
              <a:rPr sz="1941" spc="-9" dirty="0">
                <a:latin typeface="Arial MT"/>
                <a:cs typeface="Arial MT"/>
              </a:rPr>
              <a:t>minimize losses</a:t>
            </a:r>
            <a:endParaRPr sz="1941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331323" y="2286011"/>
            <a:ext cx="3462618" cy="3395382"/>
          </a:xfrm>
          <a:custGeom>
            <a:avLst/>
            <a:gdLst/>
            <a:ahLst/>
            <a:cxnLst/>
            <a:rect l="l" t="t" r="r" b="b"/>
            <a:pathLst>
              <a:path w="3924300" h="3848100">
                <a:moveTo>
                  <a:pt x="3924300" y="3810000"/>
                </a:moveTo>
                <a:lnTo>
                  <a:pt x="3848100" y="3771900"/>
                </a:lnTo>
                <a:lnTo>
                  <a:pt x="3848100" y="3805428"/>
                </a:lnTo>
                <a:lnTo>
                  <a:pt x="42672" y="3805428"/>
                </a:lnTo>
                <a:lnTo>
                  <a:pt x="42672" y="76200"/>
                </a:lnTo>
                <a:lnTo>
                  <a:pt x="76200" y="76200"/>
                </a:lnTo>
                <a:lnTo>
                  <a:pt x="38100" y="0"/>
                </a:lnTo>
                <a:lnTo>
                  <a:pt x="0" y="76200"/>
                </a:lnTo>
                <a:lnTo>
                  <a:pt x="33528" y="76200"/>
                </a:lnTo>
                <a:lnTo>
                  <a:pt x="33528" y="3810000"/>
                </a:lnTo>
                <a:lnTo>
                  <a:pt x="35052" y="3813048"/>
                </a:lnTo>
                <a:lnTo>
                  <a:pt x="38100" y="3814572"/>
                </a:lnTo>
                <a:lnTo>
                  <a:pt x="3848100" y="3814572"/>
                </a:lnTo>
                <a:lnTo>
                  <a:pt x="3848100" y="3848100"/>
                </a:lnTo>
                <a:lnTo>
                  <a:pt x="3864864" y="3839718"/>
                </a:lnTo>
                <a:lnTo>
                  <a:pt x="3924300" y="3810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" name="object 7"/>
          <p:cNvSpPr txBox="1"/>
          <p:nvPr/>
        </p:nvSpPr>
        <p:spPr>
          <a:xfrm>
            <a:off x="5578868" y="2044557"/>
            <a:ext cx="609580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IN" sz="2118" spc="-44" dirty="0">
                <a:latin typeface="Times New Roman"/>
                <a:cs typeface="Times New Roman"/>
              </a:rPr>
              <a:t>Cost</a:t>
            </a:r>
            <a:endParaRPr sz="2118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94485" y="5667485"/>
            <a:ext cx="232522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b="1" spc="-44" dirty="0">
                <a:latin typeface="Times New Roman"/>
                <a:cs typeface="Times New Roman"/>
              </a:rPr>
              <a:t>Q</a:t>
            </a:r>
            <a:endParaRPr sz="2118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64941" y="5042647"/>
            <a:ext cx="3361765" cy="0"/>
          </a:xfrm>
          <a:custGeom>
            <a:avLst/>
            <a:gdLst/>
            <a:ahLst/>
            <a:cxnLst/>
            <a:rect l="l" t="t" r="r" b="b"/>
            <a:pathLst>
              <a:path w="3810000">
                <a:moveTo>
                  <a:pt x="0" y="0"/>
                </a:moveTo>
                <a:lnTo>
                  <a:pt x="3809999" y="0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0" name="object 10"/>
          <p:cNvSpPr txBox="1"/>
          <p:nvPr/>
        </p:nvSpPr>
        <p:spPr>
          <a:xfrm>
            <a:off x="9527238" y="4728880"/>
            <a:ext cx="268941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22" dirty="0">
                <a:solidFill>
                  <a:srgbClr val="FF0000"/>
                </a:solidFill>
                <a:latin typeface="Times New Roman"/>
                <a:cs typeface="Times New Roman"/>
              </a:rPr>
              <a:t>FC</a:t>
            </a:r>
            <a:endParaRPr sz="1588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364941" y="2891118"/>
            <a:ext cx="3160059" cy="2756647"/>
          </a:xfrm>
          <a:custGeom>
            <a:avLst/>
            <a:gdLst/>
            <a:ahLst/>
            <a:cxnLst/>
            <a:rect l="l" t="t" r="r" b="b"/>
            <a:pathLst>
              <a:path w="3581400" h="3124200">
                <a:moveTo>
                  <a:pt x="0" y="2438399"/>
                </a:moveTo>
                <a:lnTo>
                  <a:pt x="34292" y="2396976"/>
                </a:lnTo>
                <a:lnTo>
                  <a:pt x="68597" y="2355600"/>
                </a:lnTo>
                <a:lnTo>
                  <a:pt x="102929" y="2314309"/>
                </a:lnTo>
                <a:lnTo>
                  <a:pt x="137299" y="2273141"/>
                </a:lnTo>
                <a:lnTo>
                  <a:pt x="171723" y="2232133"/>
                </a:lnTo>
                <a:lnTo>
                  <a:pt x="206212" y="2191324"/>
                </a:lnTo>
                <a:lnTo>
                  <a:pt x="240779" y="2150752"/>
                </a:lnTo>
                <a:lnTo>
                  <a:pt x="275439" y="2110454"/>
                </a:lnTo>
                <a:lnTo>
                  <a:pt x="310203" y="2070468"/>
                </a:lnTo>
                <a:lnTo>
                  <a:pt x="345085" y="2030834"/>
                </a:lnTo>
                <a:lnTo>
                  <a:pt x="380099" y="1991587"/>
                </a:lnTo>
                <a:lnTo>
                  <a:pt x="415257" y="1952767"/>
                </a:lnTo>
                <a:lnTo>
                  <a:pt x="450572" y="1914412"/>
                </a:lnTo>
                <a:lnTo>
                  <a:pt x="486058" y="1876558"/>
                </a:lnTo>
                <a:lnTo>
                  <a:pt x="521727" y="1839245"/>
                </a:lnTo>
                <a:lnTo>
                  <a:pt x="557593" y="1802510"/>
                </a:lnTo>
                <a:lnTo>
                  <a:pt x="593669" y="1766392"/>
                </a:lnTo>
                <a:lnTo>
                  <a:pt x="629968" y="1730927"/>
                </a:lnTo>
                <a:lnTo>
                  <a:pt x="666503" y="1696155"/>
                </a:lnTo>
                <a:lnTo>
                  <a:pt x="703287" y="1662112"/>
                </a:lnTo>
                <a:lnTo>
                  <a:pt x="740333" y="1628837"/>
                </a:lnTo>
                <a:lnTo>
                  <a:pt x="777655" y="1596369"/>
                </a:lnTo>
                <a:lnTo>
                  <a:pt x="815265" y="1564744"/>
                </a:lnTo>
                <a:lnTo>
                  <a:pt x="853178" y="1534001"/>
                </a:lnTo>
                <a:lnTo>
                  <a:pt x="891404" y="1504177"/>
                </a:lnTo>
                <a:lnTo>
                  <a:pt x="929959" y="1475312"/>
                </a:lnTo>
                <a:lnTo>
                  <a:pt x="968855" y="1447442"/>
                </a:lnTo>
                <a:lnTo>
                  <a:pt x="1008105" y="1420606"/>
                </a:lnTo>
                <a:lnTo>
                  <a:pt x="1047722" y="1394841"/>
                </a:lnTo>
                <a:lnTo>
                  <a:pt x="1087719" y="1370186"/>
                </a:lnTo>
                <a:lnTo>
                  <a:pt x="1128110" y="1346678"/>
                </a:lnTo>
                <a:lnTo>
                  <a:pt x="1168907" y="1324355"/>
                </a:lnTo>
                <a:lnTo>
                  <a:pt x="1211940" y="1303034"/>
                </a:lnTo>
                <a:lnTo>
                  <a:pt x="1256033" y="1284092"/>
                </a:lnTo>
                <a:lnTo>
                  <a:pt x="1301106" y="1267368"/>
                </a:lnTo>
                <a:lnTo>
                  <a:pt x="1347076" y="1252701"/>
                </a:lnTo>
                <a:lnTo>
                  <a:pt x="1393862" y="1239930"/>
                </a:lnTo>
                <a:lnTo>
                  <a:pt x="1441384" y="1228894"/>
                </a:lnTo>
                <a:lnTo>
                  <a:pt x="1489559" y="1219431"/>
                </a:lnTo>
                <a:lnTo>
                  <a:pt x="1538307" y="1211381"/>
                </a:lnTo>
                <a:lnTo>
                  <a:pt x="1587546" y="1204583"/>
                </a:lnTo>
                <a:lnTo>
                  <a:pt x="1637195" y="1198874"/>
                </a:lnTo>
                <a:lnTo>
                  <a:pt x="1687172" y="1194095"/>
                </a:lnTo>
                <a:lnTo>
                  <a:pt x="1737397" y="1190084"/>
                </a:lnTo>
                <a:lnTo>
                  <a:pt x="1787787" y="1186680"/>
                </a:lnTo>
                <a:lnTo>
                  <a:pt x="1838261" y="1183721"/>
                </a:lnTo>
                <a:lnTo>
                  <a:pt x="1888738" y="1181047"/>
                </a:lnTo>
                <a:lnTo>
                  <a:pt x="1939138" y="1178496"/>
                </a:lnTo>
                <a:lnTo>
                  <a:pt x="1989377" y="1175907"/>
                </a:lnTo>
                <a:lnTo>
                  <a:pt x="2039376" y="1173120"/>
                </a:lnTo>
                <a:lnTo>
                  <a:pt x="2089052" y="1169972"/>
                </a:lnTo>
                <a:lnTo>
                  <a:pt x="2138325" y="1166304"/>
                </a:lnTo>
                <a:lnTo>
                  <a:pt x="2187113" y="1161953"/>
                </a:lnTo>
                <a:lnTo>
                  <a:pt x="2235334" y="1156758"/>
                </a:lnTo>
                <a:lnTo>
                  <a:pt x="2282908" y="1150559"/>
                </a:lnTo>
                <a:lnTo>
                  <a:pt x="2329753" y="1143194"/>
                </a:lnTo>
                <a:lnTo>
                  <a:pt x="2375788" y="1134503"/>
                </a:lnTo>
                <a:lnTo>
                  <a:pt x="2420931" y="1124323"/>
                </a:lnTo>
                <a:lnTo>
                  <a:pt x="2465101" y="1112494"/>
                </a:lnTo>
                <a:lnTo>
                  <a:pt x="2508216" y="1098855"/>
                </a:lnTo>
                <a:lnTo>
                  <a:pt x="2550196" y="1083244"/>
                </a:lnTo>
                <a:lnTo>
                  <a:pt x="2590959" y="1065501"/>
                </a:lnTo>
                <a:lnTo>
                  <a:pt x="2630423" y="1045463"/>
                </a:lnTo>
                <a:lnTo>
                  <a:pt x="2671992" y="1021071"/>
                </a:lnTo>
                <a:lnTo>
                  <a:pt x="2713419" y="993767"/>
                </a:lnTo>
                <a:lnTo>
                  <a:pt x="2754652" y="963783"/>
                </a:lnTo>
                <a:lnTo>
                  <a:pt x="2795636" y="931349"/>
                </a:lnTo>
                <a:lnTo>
                  <a:pt x="2836316" y="896697"/>
                </a:lnTo>
                <a:lnTo>
                  <a:pt x="2876640" y="860058"/>
                </a:lnTo>
                <a:lnTo>
                  <a:pt x="2916553" y="821662"/>
                </a:lnTo>
                <a:lnTo>
                  <a:pt x="2956001" y="781740"/>
                </a:lnTo>
                <a:lnTo>
                  <a:pt x="2994930" y="740524"/>
                </a:lnTo>
                <a:lnTo>
                  <a:pt x="3033286" y="698244"/>
                </a:lnTo>
                <a:lnTo>
                  <a:pt x="3071015" y="655132"/>
                </a:lnTo>
                <a:lnTo>
                  <a:pt x="3108063" y="611417"/>
                </a:lnTo>
                <a:lnTo>
                  <a:pt x="3144377" y="567332"/>
                </a:lnTo>
                <a:lnTo>
                  <a:pt x="3179902" y="523107"/>
                </a:lnTo>
                <a:lnTo>
                  <a:pt x="3214584" y="478973"/>
                </a:lnTo>
                <a:lnTo>
                  <a:pt x="3248369" y="435162"/>
                </a:lnTo>
                <a:lnTo>
                  <a:pt x="3281203" y="391903"/>
                </a:lnTo>
                <a:lnTo>
                  <a:pt x="3313032" y="349428"/>
                </a:lnTo>
                <a:lnTo>
                  <a:pt x="3343803" y="307968"/>
                </a:lnTo>
                <a:lnTo>
                  <a:pt x="3373461" y="267754"/>
                </a:lnTo>
                <a:lnTo>
                  <a:pt x="3401952" y="229017"/>
                </a:lnTo>
                <a:lnTo>
                  <a:pt x="3429223" y="191988"/>
                </a:lnTo>
                <a:lnTo>
                  <a:pt x="3455218" y="156897"/>
                </a:lnTo>
                <a:lnTo>
                  <a:pt x="3479885" y="123976"/>
                </a:lnTo>
                <a:lnTo>
                  <a:pt x="3503169" y="93456"/>
                </a:lnTo>
                <a:lnTo>
                  <a:pt x="3545374" y="40541"/>
                </a:lnTo>
                <a:lnTo>
                  <a:pt x="3564186" y="18608"/>
                </a:lnTo>
                <a:lnTo>
                  <a:pt x="3581399" y="0"/>
                </a:lnTo>
              </a:path>
              <a:path w="3581400" h="3124200">
                <a:moveTo>
                  <a:pt x="0" y="3124199"/>
                </a:moveTo>
                <a:lnTo>
                  <a:pt x="33573" y="3082776"/>
                </a:lnTo>
                <a:lnTo>
                  <a:pt x="67151" y="3041400"/>
                </a:lnTo>
                <a:lnTo>
                  <a:pt x="100748" y="3000109"/>
                </a:lnTo>
                <a:lnTo>
                  <a:pt x="134376" y="2958941"/>
                </a:lnTo>
                <a:lnTo>
                  <a:pt x="168051" y="2917933"/>
                </a:lnTo>
                <a:lnTo>
                  <a:pt x="201785" y="2877124"/>
                </a:lnTo>
                <a:lnTo>
                  <a:pt x="235592" y="2836552"/>
                </a:lnTo>
                <a:lnTo>
                  <a:pt x="269486" y="2796254"/>
                </a:lnTo>
                <a:lnTo>
                  <a:pt x="303480" y="2756268"/>
                </a:lnTo>
                <a:lnTo>
                  <a:pt x="337588" y="2716634"/>
                </a:lnTo>
                <a:lnTo>
                  <a:pt x="371824" y="2677387"/>
                </a:lnTo>
                <a:lnTo>
                  <a:pt x="406202" y="2638567"/>
                </a:lnTo>
                <a:lnTo>
                  <a:pt x="440735" y="2600212"/>
                </a:lnTo>
                <a:lnTo>
                  <a:pt x="475437" y="2562358"/>
                </a:lnTo>
                <a:lnTo>
                  <a:pt x="510321" y="2525045"/>
                </a:lnTo>
                <a:lnTo>
                  <a:pt x="545401" y="2488310"/>
                </a:lnTo>
                <a:lnTo>
                  <a:pt x="580691" y="2452192"/>
                </a:lnTo>
                <a:lnTo>
                  <a:pt x="616205" y="2416727"/>
                </a:lnTo>
                <a:lnTo>
                  <a:pt x="651956" y="2381955"/>
                </a:lnTo>
                <a:lnTo>
                  <a:pt x="687957" y="2347912"/>
                </a:lnTo>
                <a:lnTo>
                  <a:pt x="724224" y="2314637"/>
                </a:lnTo>
                <a:lnTo>
                  <a:pt x="760768" y="2282169"/>
                </a:lnTo>
                <a:lnTo>
                  <a:pt x="797605" y="2250544"/>
                </a:lnTo>
                <a:lnTo>
                  <a:pt x="834747" y="2219801"/>
                </a:lnTo>
                <a:lnTo>
                  <a:pt x="872208" y="2189977"/>
                </a:lnTo>
                <a:lnTo>
                  <a:pt x="910002" y="2161112"/>
                </a:lnTo>
                <a:lnTo>
                  <a:pt x="948143" y="2133242"/>
                </a:lnTo>
                <a:lnTo>
                  <a:pt x="986644" y="2106406"/>
                </a:lnTo>
                <a:lnTo>
                  <a:pt x="1025519" y="2080641"/>
                </a:lnTo>
                <a:lnTo>
                  <a:pt x="1064781" y="2055986"/>
                </a:lnTo>
                <a:lnTo>
                  <a:pt x="1104445" y="2032478"/>
                </a:lnTo>
                <a:lnTo>
                  <a:pt x="1144523" y="2010155"/>
                </a:lnTo>
                <a:lnTo>
                  <a:pt x="1186657" y="1988834"/>
                </a:lnTo>
                <a:lnTo>
                  <a:pt x="1229825" y="1969892"/>
                </a:lnTo>
                <a:lnTo>
                  <a:pt x="1273948" y="1953168"/>
                </a:lnTo>
                <a:lnTo>
                  <a:pt x="1318947" y="1938501"/>
                </a:lnTo>
                <a:lnTo>
                  <a:pt x="1364742" y="1925730"/>
                </a:lnTo>
                <a:lnTo>
                  <a:pt x="1411254" y="1914694"/>
                </a:lnTo>
                <a:lnTo>
                  <a:pt x="1458405" y="1905231"/>
                </a:lnTo>
                <a:lnTo>
                  <a:pt x="1506114" y="1897181"/>
                </a:lnTo>
                <a:lnTo>
                  <a:pt x="1554303" y="1890383"/>
                </a:lnTo>
                <a:lnTo>
                  <a:pt x="1602893" y="1884674"/>
                </a:lnTo>
                <a:lnTo>
                  <a:pt x="1651804" y="1879895"/>
                </a:lnTo>
                <a:lnTo>
                  <a:pt x="1700957" y="1875884"/>
                </a:lnTo>
                <a:lnTo>
                  <a:pt x="1750273" y="1872480"/>
                </a:lnTo>
                <a:lnTo>
                  <a:pt x="1799674" y="1869521"/>
                </a:lnTo>
                <a:lnTo>
                  <a:pt x="1849078" y="1866847"/>
                </a:lnTo>
                <a:lnTo>
                  <a:pt x="1898408" y="1864296"/>
                </a:lnTo>
                <a:lnTo>
                  <a:pt x="1947584" y="1861707"/>
                </a:lnTo>
                <a:lnTo>
                  <a:pt x="1996528" y="1858920"/>
                </a:lnTo>
                <a:lnTo>
                  <a:pt x="2045159" y="1855772"/>
                </a:lnTo>
                <a:lnTo>
                  <a:pt x="2093399" y="1852104"/>
                </a:lnTo>
                <a:lnTo>
                  <a:pt x="2141168" y="1847753"/>
                </a:lnTo>
                <a:lnTo>
                  <a:pt x="2188388" y="1842558"/>
                </a:lnTo>
                <a:lnTo>
                  <a:pt x="2234978" y="1836359"/>
                </a:lnTo>
                <a:lnTo>
                  <a:pt x="2280861" y="1828994"/>
                </a:lnTo>
                <a:lnTo>
                  <a:pt x="2325956" y="1820303"/>
                </a:lnTo>
                <a:lnTo>
                  <a:pt x="2370185" y="1810123"/>
                </a:lnTo>
                <a:lnTo>
                  <a:pt x="2413468" y="1798294"/>
                </a:lnTo>
                <a:lnTo>
                  <a:pt x="2455726" y="1784655"/>
                </a:lnTo>
                <a:lnTo>
                  <a:pt x="2496880" y="1769044"/>
                </a:lnTo>
                <a:lnTo>
                  <a:pt x="2536851" y="1751301"/>
                </a:lnTo>
                <a:lnTo>
                  <a:pt x="2575559" y="1731263"/>
                </a:lnTo>
                <a:lnTo>
                  <a:pt x="2617631" y="1705944"/>
                </a:lnTo>
                <a:lnTo>
                  <a:pt x="2659551" y="1677511"/>
                </a:lnTo>
                <a:lnTo>
                  <a:pt x="2701260" y="1646221"/>
                </a:lnTo>
                <a:lnTo>
                  <a:pt x="2742702" y="1612329"/>
                </a:lnTo>
                <a:lnTo>
                  <a:pt x="2783817" y="1576093"/>
                </a:lnTo>
                <a:lnTo>
                  <a:pt x="2824547" y="1537770"/>
                </a:lnTo>
                <a:lnTo>
                  <a:pt x="2864834" y="1497615"/>
                </a:lnTo>
                <a:lnTo>
                  <a:pt x="2904619" y="1455886"/>
                </a:lnTo>
                <a:lnTo>
                  <a:pt x="2943845" y="1412839"/>
                </a:lnTo>
                <a:lnTo>
                  <a:pt x="2982452" y="1368730"/>
                </a:lnTo>
                <a:lnTo>
                  <a:pt x="3020383" y="1323817"/>
                </a:lnTo>
                <a:lnTo>
                  <a:pt x="3057579" y="1278356"/>
                </a:lnTo>
                <a:lnTo>
                  <a:pt x="3093982" y="1232603"/>
                </a:lnTo>
                <a:lnTo>
                  <a:pt x="3129533" y="1186814"/>
                </a:lnTo>
                <a:lnTo>
                  <a:pt x="3164175" y="1141248"/>
                </a:lnTo>
                <a:lnTo>
                  <a:pt x="3197849" y="1096160"/>
                </a:lnTo>
                <a:lnTo>
                  <a:pt x="3230496" y="1051806"/>
                </a:lnTo>
                <a:lnTo>
                  <a:pt x="3262059" y="1008444"/>
                </a:lnTo>
                <a:lnTo>
                  <a:pt x="3292479" y="966330"/>
                </a:lnTo>
                <a:lnTo>
                  <a:pt x="3321697" y="925721"/>
                </a:lnTo>
                <a:lnTo>
                  <a:pt x="3349656" y="886872"/>
                </a:lnTo>
                <a:lnTo>
                  <a:pt x="3376297" y="850042"/>
                </a:lnTo>
                <a:lnTo>
                  <a:pt x="3401562" y="815485"/>
                </a:lnTo>
                <a:lnTo>
                  <a:pt x="3425392" y="783460"/>
                </a:lnTo>
                <a:lnTo>
                  <a:pt x="3468515" y="728028"/>
                </a:lnTo>
                <a:lnTo>
                  <a:pt x="3487691" y="705135"/>
                </a:lnTo>
                <a:lnTo>
                  <a:pt x="3505199" y="685799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2" name="object 12"/>
          <p:cNvSpPr txBox="1"/>
          <p:nvPr/>
        </p:nvSpPr>
        <p:spPr>
          <a:xfrm>
            <a:off x="8249769" y="2577351"/>
            <a:ext cx="1393451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latin typeface="Times New Roman"/>
                <a:cs typeface="Times New Roman"/>
              </a:rPr>
              <a:t>C(Q)</a:t>
            </a:r>
            <a:r>
              <a:rPr sz="1588" spc="-4" dirty="0">
                <a:latin typeface="Times New Roman"/>
                <a:cs typeface="Times New Roman"/>
              </a:rPr>
              <a:t> </a:t>
            </a:r>
            <a:r>
              <a:rPr sz="1588" dirty="0">
                <a:latin typeface="Times New Roman"/>
                <a:cs typeface="Times New Roman"/>
              </a:rPr>
              <a:t>=</a:t>
            </a:r>
            <a:r>
              <a:rPr sz="1588" spc="-4" dirty="0">
                <a:latin typeface="Times New Roman"/>
                <a:cs typeface="Times New Roman"/>
              </a:rPr>
              <a:t> </a:t>
            </a:r>
            <a:r>
              <a:rPr sz="1588" dirty="0">
                <a:latin typeface="Times New Roman"/>
                <a:cs typeface="Times New Roman"/>
              </a:rPr>
              <a:t>VC</a:t>
            </a:r>
            <a:r>
              <a:rPr sz="1588" spc="-13" dirty="0">
                <a:latin typeface="Times New Roman"/>
                <a:cs typeface="Times New Roman"/>
              </a:rPr>
              <a:t> </a:t>
            </a:r>
            <a:r>
              <a:rPr sz="1588" dirty="0">
                <a:latin typeface="Times New Roman"/>
                <a:cs typeface="Times New Roman"/>
              </a:rPr>
              <a:t>+</a:t>
            </a:r>
            <a:r>
              <a:rPr sz="1588" spc="-9" dirty="0">
                <a:latin typeface="Times New Roman"/>
                <a:cs typeface="Times New Roman"/>
              </a:rPr>
              <a:t> </a:t>
            </a:r>
            <a:r>
              <a:rPr sz="1588" spc="-22" dirty="0">
                <a:latin typeface="Times New Roman"/>
                <a:cs typeface="Times New Roman"/>
              </a:rPr>
              <a:t>FC</a:t>
            </a:r>
            <a:endParaRPr sz="1588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58297" y="3249704"/>
            <a:ext cx="582146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9" dirty="0">
                <a:latin typeface="Times New Roman"/>
                <a:cs typeface="Times New Roman"/>
              </a:rPr>
              <a:t>VC(Q)</a:t>
            </a:r>
            <a:endParaRPr sz="1588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012206" y="3966893"/>
            <a:ext cx="67235" cy="1680882"/>
          </a:xfrm>
          <a:custGeom>
            <a:avLst/>
            <a:gdLst/>
            <a:ahLst/>
            <a:cxnLst/>
            <a:rect l="l" t="t" r="r" b="b"/>
            <a:pathLst>
              <a:path w="76200" h="1905000">
                <a:moveTo>
                  <a:pt x="76200" y="1371600"/>
                </a:moveTo>
                <a:lnTo>
                  <a:pt x="38100" y="1295400"/>
                </a:lnTo>
                <a:lnTo>
                  <a:pt x="0" y="1371600"/>
                </a:lnTo>
                <a:lnTo>
                  <a:pt x="33528" y="1371600"/>
                </a:lnTo>
                <a:lnTo>
                  <a:pt x="33528" y="1828800"/>
                </a:lnTo>
                <a:lnTo>
                  <a:pt x="0" y="1828800"/>
                </a:lnTo>
                <a:lnTo>
                  <a:pt x="33528" y="1895856"/>
                </a:lnTo>
                <a:lnTo>
                  <a:pt x="38100" y="1905000"/>
                </a:lnTo>
                <a:lnTo>
                  <a:pt x="42672" y="1895856"/>
                </a:lnTo>
                <a:lnTo>
                  <a:pt x="76200" y="1828800"/>
                </a:lnTo>
                <a:lnTo>
                  <a:pt x="42672" y="1828800"/>
                </a:lnTo>
                <a:lnTo>
                  <a:pt x="42672" y="1371600"/>
                </a:lnTo>
                <a:lnTo>
                  <a:pt x="76200" y="1371600"/>
                </a:lnTo>
                <a:close/>
              </a:path>
              <a:path w="76200" h="1905000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3528" y="76200"/>
                </a:lnTo>
                <a:lnTo>
                  <a:pt x="33528" y="533400"/>
                </a:lnTo>
                <a:lnTo>
                  <a:pt x="0" y="533400"/>
                </a:lnTo>
                <a:lnTo>
                  <a:pt x="33528" y="600456"/>
                </a:lnTo>
                <a:lnTo>
                  <a:pt x="38100" y="609600"/>
                </a:lnTo>
                <a:lnTo>
                  <a:pt x="42672" y="600456"/>
                </a:lnTo>
                <a:lnTo>
                  <a:pt x="76200" y="533400"/>
                </a:lnTo>
                <a:lnTo>
                  <a:pt x="42672" y="533400"/>
                </a:lnTo>
                <a:lnTo>
                  <a:pt x="42672" y="7620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8989564" y="6935043"/>
            <a:ext cx="342900" cy="194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 spc="-10"/>
              <a:t>5-</a:t>
            </a:r>
            <a:fld id="{81D60167-4931-47E6-BA6A-407CBD079E47}" type="slidenum">
              <a:rPr spc="-25" smtClean="0"/>
              <a:pPr marL="12700">
                <a:lnSpc>
                  <a:spcPts val="1410"/>
                </a:lnSpc>
              </a:pPr>
              <a:t>3</a:t>
            </a:fld>
            <a:endParaRPr spc="-2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386528"/>
            <a:ext cx="9278471" cy="1040895"/>
          </a:xfrm>
          <a:prstGeom prst="rect">
            <a:avLst/>
          </a:prstGeom>
        </p:spPr>
        <p:txBody>
          <a:bodyPr vert="horz" wrap="square" lIns="0" tIns="360268" rIns="0" bIns="0" rtlCol="0" anchor="ctr">
            <a:spAutoFit/>
          </a:bodyPr>
          <a:lstStyle/>
          <a:p>
            <a:pPr marL="2092810">
              <a:lnSpc>
                <a:spcPct val="100000"/>
              </a:lnSpc>
              <a:spcBef>
                <a:spcPts val="84"/>
              </a:spcBef>
            </a:pPr>
            <a:r>
              <a:rPr dirty="0"/>
              <a:t>Some</a:t>
            </a:r>
            <a:r>
              <a:rPr spc="-40" dirty="0"/>
              <a:t> </a:t>
            </a:r>
            <a:r>
              <a:rPr spc="-9" dirty="0"/>
              <a:t>Definitions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9240" y="1770529"/>
            <a:ext cx="2479862" cy="60809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414640" marR="4483" indent="-403433">
              <a:spcBef>
                <a:spcPts val="84"/>
              </a:spcBef>
            </a:pPr>
            <a:r>
              <a:rPr sz="1941" dirty="0">
                <a:solidFill>
                  <a:srgbClr val="0065FF"/>
                </a:solidFill>
                <a:latin typeface="Arial MT"/>
                <a:cs typeface="Arial MT"/>
              </a:rPr>
              <a:t>Average</a:t>
            </a:r>
            <a:r>
              <a:rPr sz="1941" spc="-44" dirty="0">
                <a:solidFill>
                  <a:srgbClr val="0065FF"/>
                </a:solidFill>
                <a:latin typeface="Arial MT"/>
                <a:cs typeface="Arial MT"/>
              </a:rPr>
              <a:t> </a:t>
            </a:r>
            <a:r>
              <a:rPr sz="1941" dirty="0">
                <a:solidFill>
                  <a:srgbClr val="0065FF"/>
                </a:solidFill>
                <a:latin typeface="Arial MT"/>
                <a:cs typeface="Arial MT"/>
              </a:rPr>
              <a:t>Total</a:t>
            </a:r>
            <a:r>
              <a:rPr sz="1941" spc="-53" dirty="0">
                <a:solidFill>
                  <a:srgbClr val="0065FF"/>
                </a:solidFill>
                <a:latin typeface="Arial MT"/>
                <a:cs typeface="Arial MT"/>
              </a:rPr>
              <a:t> </a:t>
            </a:r>
            <a:r>
              <a:rPr sz="1941" spc="-18" dirty="0">
                <a:solidFill>
                  <a:srgbClr val="0065FF"/>
                </a:solidFill>
                <a:latin typeface="Arial MT"/>
                <a:cs typeface="Arial MT"/>
              </a:rPr>
              <a:t>Cost </a:t>
            </a:r>
            <a:r>
              <a:rPr sz="1941" dirty="0">
                <a:solidFill>
                  <a:srgbClr val="0065FF"/>
                </a:solidFill>
                <a:latin typeface="Arial MT"/>
                <a:cs typeface="Arial MT"/>
              </a:rPr>
              <a:t>ATC</a:t>
            </a:r>
            <a:r>
              <a:rPr sz="1941" spc="-18" dirty="0">
                <a:solidFill>
                  <a:srgbClr val="0065FF"/>
                </a:solidFill>
                <a:latin typeface="Arial MT"/>
                <a:cs typeface="Arial MT"/>
              </a:rPr>
              <a:t> </a:t>
            </a:r>
            <a:r>
              <a:rPr sz="1941" dirty="0">
                <a:solidFill>
                  <a:srgbClr val="0065FF"/>
                </a:solidFill>
                <a:latin typeface="Arial MT"/>
                <a:cs typeface="Arial MT"/>
              </a:rPr>
              <a:t>=</a:t>
            </a:r>
            <a:r>
              <a:rPr sz="1941" spc="-18" dirty="0">
                <a:solidFill>
                  <a:srgbClr val="0065FF"/>
                </a:solidFill>
                <a:latin typeface="Arial MT"/>
                <a:cs typeface="Arial MT"/>
              </a:rPr>
              <a:t> </a:t>
            </a:r>
            <a:r>
              <a:rPr sz="1941" dirty="0">
                <a:solidFill>
                  <a:srgbClr val="0065FF"/>
                </a:solidFill>
                <a:latin typeface="Arial MT"/>
                <a:cs typeface="Arial MT"/>
              </a:rPr>
              <a:t>AVC</a:t>
            </a:r>
            <a:r>
              <a:rPr sz="1941" spc="-9" dirty="0">
                <a:solidFill>
                  <a:srgbClr val="0065FF"/>
                </a:solidFill>
                <a:latin typeface="Arial MT"/>
                <a:cs typeface="Arial MT"/>
              </a:rPr>
              <a:t> </a:t>
            </a:r>
            <a:r>
              <a:rPr sz="1941" dirty="0">
                <a:solidFill>
                  <a:srgbClr val="0065FF"/>
                </a:solidFill>
                <a:latin typeface="Arial MT"/>
                <a:cs typeface="Arial MT"/>
              </a:rPr>
              <a:t>+</a:t>
            </a:r>
            <a:r>
              <a:rPr sz="1941" spc="-18" dirty="0">
                <a:solidFill>
                  <a:srgbClr val="0065FF"/>
                </a:solidFill>
                <a:latin typeface="Arial MT"/>
                <a:cs typeface="Arial MT"/>
              </a:rPr>
              <a:t> </a:t>
            </a:r>
            <a:r>
              <a:rPr sz="1941" spc="-22" dirty="0">
                <a:solidFill>
                  <a:srgbClr val="0065FF"/>
                </a:solidFill>
                <a:latin typeface="Arial MT"/>
                <a:cs typeface="Arial MT"/>
              </a:rPr>
              <a:t>AFC</a:t>
            </a:r>
            <a:endParaRPr sz="1941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2653" y="2362199"/>
            <a:ext cx="1592916" cy="309421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941" dirty="0">
                <a:solidFill>
                  <a:srgbClr val="0065FF"/>
                </a:solidFill>
                <a:latin typeface="Arial MT"/>
                <a:cs typeface="Arial MT"/>
              </a:rPr>
              <a:t>ATC</a:t>
            </a:r>
            <a:r>
              <a:rPr sz="1941" spc="-22" dirty="0">
                <a:solidFill>
                  <a:srgbClr val="0065FF"/>
                </a:solidFill>
                <a:latin typeface="Arial MT"/>
                <a:cs typeface="Arial MT"/>
              </a:rPr>
              <a:t> </a:t>
            </a:r>
            <a:r>
              <a:rPr sz="1941" dirty="0">
                <a:solidFill>
                  <a:srgbClr val="0065FF"/>
                </a:solidFill>
                <a:latin typeface="Arial MT"/>
                <a:cs typeface="Arial MT"/>
              </a:rPr>
              <a:t>=</a:t>
            </a:r>
            <a:r>
              <a:rPr sz="1941" spc="-22" dirty="0">
                <a:solidFill>
                  <a:srgbClr val="0065FF"/>
                </a:solidFill>
                <a:latin typeface="Arial MT"/>
                <a:cs typeface="Arial MT"/>
              </a:rPr>
              <a:t> </a:t>
            </a:r>
            <a:r>
              <a:rPr sz="1941" spc="-9" dirty="0">
                <a:solidFill>
                  <a:srgbClr val="0065FF"/>
                </a:solidFill>
                <a:latin typeface="Arial MT"/>
                <a:cs typeface="Arial MT"/>
              </a:rPr>
              <a:t>C(Q)/Q</a:t>
            </a:r>
            <a:endParaRPr sz="1941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69241" y="2952524"/>
            <a:ext cx="2491628" cy="60809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414640" marR="4483" indent="-403433">
              <a:spcBef>
                <a:spcPts val="84"/>
              </a:spcBef>
            </a:pPr>
            <a:r>
              <a:rPr sz="1941" dirty="0">
                <a:solidFill>
                  <a:srgbClr val="009900"/>
                </a:solidFill>
                <a:latin typeface="Arial MT"/>
                <a:cs typeface="Arial MT"/>
              </a:rPr>
              <a:t>Average</a:t>
            </a:r>
            <a:r>
              <a:rPr sz="1941" spc="-53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1941" dirty="0">
                <a:solidFill>
                  <a:srgbClr val="009900"/>
                </a:solidFill>
                <a:latin typeface="Arial MT"/>
                <a:cs typeface="Arial MT"/>
              </a:rPr>
              <a:t>Variable</a:t>
            </a:r>
            <a:r>
              <a:rPr sz="1941" spc="-53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1941" spc="-18" dirty="0">
                <a:solidFill>
                  <a:srgbClr val="009900"/>
                </a:solidFill>
                <a:latin typeface="Arial MT"/>
                <a:cs typeface="Arial MT"/>
              </a:rPr>
              <a:t>Cost </a:t>
            </a:r>
            <a:r>
              <a:rPr sz="1941" dirty="0">
                <a:solidFill>
                  <a:srgbClr val="009900"/>
                </a:solidFill>
                <a:latin typeface="Arial MT"/>
                <a:cs typeface="Arial MT"/>
              </a:rPr>
              <a:t>AVC</a:t>
            </a:r>
            <a:r>
              <a:rPr sz="1941" spc="-18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1941" dirty="0">
                <a:solidFill>
                  <a:srgbClr val="009900"/>
                </a:solidFill>
                <a:latin typeface="Arial MT"/>
                <a:cs typeface="Arial MT"/>
              </a:rPr>
              <a:t>=</a:t>
            </a:r>
            <a:r>
              <a:rPr sz="1941" spc="-13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1941" spc="-9" dirty="0">
                <a:solidFill>
                  <a:srgbClr val="009900"/>
                </a:solidFill>
                <a:latin typeface="Arial MT"/>
                <a:cs typeface="Arial MT"/>
              </a:rPr>
              <a:t>VC(Q)/Q</a:t>
            </a:r>
            <a:endParaRPr sz="1941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69241" y="3840030"/>
            <a:ext cx="2189069" cy="611404"/>
          </a:xfrm>
          <a:prstGeom prst="rect">
            <a:avLst/>
          </a:prstGeom>
        </p:spPr>
        <p:txBody>
          <a:bodyPr vert="horz" wrap="square" lIns="0" tIns="21291" rIns="0" bIns="0" rtlCol="0">
            <a:spAutoFit/>
          </a:bodyPr>
          <a:lstStyle/>
          <a:p>
            <a:pPr marL="414640" marR="4483" indent="-403433">
              <a:lnSpc>
                <a:spcPts val="2321"/>
              </a:lnSpc>
              <a:spcBef>
                <a:spcPts val="168"/>
              </a:spcBef>
            </a:pPr>
            <a:r>
              <a:rPr sz="1941" dirty="0">
                <a:solidFill>
                  <a:srgbClr val="FF0000"/>
                </a:solidFill>
                <a:latin typeface="Arial MT"/>
                <a:cs typeface="Arial MT"/>
              </a:rPr>
              <a:t>Average</a:t>
            </a:r>
            <a:r>
              <a:rPr sz="1941" spc="-4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941" dirty="0">
                <a:solidFill>
                  <a:srgbClr val="FF0000"/>
                </a:solidFill>
                <a:latin typeface="Arial MT"/>
                <a:cs typeface="Arial MT"/>
              </a:rPr>
              <a:t>Fixed</a:t>
            </a:r>
            <a:r>
              <a:rPr sz="1941" spc="-4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941" spc="-18" dirty="0">
                <a:solidFill>
                  <a:srgbClr val="FF0000"/>
                </a:solidFill>
                <a:latin typeface="Arial MT"/>
                <a:cs typeface="Arial MT"/>
              </a:rPr>
              <a:t>Cost </a:t>
            </a:r>
            <a:r>
              <a:rPr sz="1941" dirty="0">
                <a:solidFill>
                  <a:srgbClr val="FF0000"/>
                </a:solidFill>
                <a:latin typeface="Arial MT"/>
                <a:cs typeface="Arial MT"/>
              </a:rPr>
              <a:t>AFC</a:t>
            </a:r>
            <a:r>
              <a:rPr sz="1941" spc="-22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941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941" spc="-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941" spc="-18" dirty="0">
                <a:solidFill>
                  <a:srgbClr val="FF0000"/>
                </a:solidFill>
                <a:latin typeface="Arial MT"/>
                <a:cs typeface="Arial MT"/>
              </a:rPr>
              <a:t>FC/Q</a:t>
            </a:r>
            <a:endParaRPr sz="1941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69240" y="4726190"/>
            <a:ext cx="1885950" cy="60809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414640" marR="4483" indent="-403433">
              <a:spcBef>
                <a:spcPts val="84"/>
              </a:spcBef>
            </a:pPr>
            <a:r>
              <a:rPr sz="1941" dirty="0">
                <a:latin typeface="Arial MT"/>
                <a:cs typeface="Arial MT"/>
              </a:rPr>
              <a:t>Marginal</a:t>
            </a:r>
            <a:r>
              <a:rPr sz="1941" spc="-71" dirty="0">
                <a:latin typeface="Arial MT"/>
                <a:cs typeface="Arial MT"/>
              </a:rPr>
              <a:t> </a:t>
            </a:r>
            <a:r>
              <a:rPr sz="1941" spc="-18" dirty="0">
                <a:latin typeface="Arial MT"/>
                <a:cs typeface="Arial MT"/>
              </a:rPr>
              <a:t>Cost </a:t>
            </a:r>
            <a:r>
              <a:rPr sz="1941" dirty="0">
                <a:latin typeface="Arial MT"/>
                <a:cs typeface="Arial MT"/>
              </a:rPr>
              <a:t>MC</a:t>
            </a:r>
            <a:r>
              <a:rPr sz="1941" spc="-18" dirty="0">
                <a:latin typeface="Arial MT"/>
                <a:cs typeface="Arial MT"/>
              </a:rPr>
              <a:t> </a:t>
            </a:r>
            <a:r>
              <a:rPr sz="1941" dirty="0">
                <a:latin typeface="Arial MT"/>
                <a:cs typeface="Arial MT"/>
              </a:rPr>
              <a:t>=</a:t>
            </a:r>
            <a:r>
              <a:rPr sz="1941" spc="-22" dirty="0">
                <a:latin typeface="Arial MT"/>
                <a:cs typeface="Arial MT"/>
              </a:rPr>
              <a:t> </a:t>
            </a:r>
            <a:r>
              <a:rPr sz="1941" spc="-18" dirty="0">
                <a:latin typeface="Arial MT"/>
                <a:cs typeface="Arial MT"/>
              </a:rPr>
              <a:t>DC/DQ</a:t>
            </a:r>
            <a:endParaRPr sz="1941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34636" y="2286011"/>
            <a:ext cx="3404907" cy="3597088"/>
          </a:xfrm>
          <a:custGeom>
            <a:avLst/>
            <a:gdLst/>
            <a:ahLst/>
            <a:cxnLst/>
            <a:rect l="l" t="t" r="r" b="b"/>
            <a:pathLst>
              <a:path w="3858895" h="4076700">
                <a:moveTo>
                  <a:pt x="3858768" y="4038600"/>
                </a:moveTo>
                <a:lnTo>
                  <a:pt x="3782568" y="4000500"/>
                </a:lnTo>
                <a:lnTo>
                  <a:pt x="3782568" y="4034028"/>
                </a:lnTo>
                <a:lnTo>
                  <a:pt x="42672" y="4034028"/>
                </a:lnTo>
                <a:lnTo>
                  <a:pt x="42672" y="76200"/>
                </a:lnTo>
                <a:lnTo>
                  <a:pt x="76200" y="76200"/>
                </a:lnTo>
                <a:lnTo>
                  <a:pt x="38100" y="0"/>
                </a:lnTo>
                <a:lnTo>
                  <a:pt x="0" y="76200"/>
                </a:lnTo>
                <a:lnTo>
                  <a:pt x="33528" y="76200"/>
                </a:lnTo>
                <a:lnTo>
                  <a:pt x="33528" y="4038600"/>
                </a:lnTo>
                <a:lnTo>
                  <a:pt x="35052" y="4041648"/>
                </a:lnTo>
                <a:lnTo>
                  <a:pt x="38100" y="4043172"/>
                </a:lnTo>
                <a:lnTo>
                  <a:pt x="3782568" y="4043172"/>
                </a:lnTo>
                <a:lnTo>
                  <a:pt x="3782568" y="4076700"/>
                </a:lnTo>
                <a:lnTo>
                  <a:pt x="3800856" y="4067556"/>
                </a:lnTo>
                <a:lnTo>
                  <a:pt x="3858768" y="4038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 txBox="1"/>
          <p:nvPr/>
        </p:nvSpPr>
        <p:spPr>
          <a:xfrm>
            <a:off x="5149103" y="2106202"/>
            <a:ext cx="635934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IN" sz="2118" spc="-44" dirty="0">
                <a:latin typeface="Times New Roman"/>
                <a:cs typeface="Times New Roman"/>
              </a:rPr>
              <a:t>Cost</a:t>
            </a:r>
            <a:endParaRPr sz="2118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20174" y="5838263"/>
            <a:ext cx="539003" cy="44733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2321"/>
              </a:lnSpc>
              <a:spcBef>
                <a:spcPts val="88"/>
              </a:spcBef>
            </a:pPr>
            <a:r>
              <a:rPr sz="2118" spc="-44" dirty="0">
                <a:latin typeface="Times New Roman"/>
                <a:cs typeface="Times New Roman"/>
              </a:rPr>
              <a:t>Q</a:t>
            </a:r>
            <a:endParaRPr sz="2118">
              <a:latin typeface="Times New Roman"/>
              <a:cs typeface="Times New Roman"/>
            </a:endParaRPr>
          </a:p>
          <a:p>
            <a:pPr marL="281283">
              <a:lnSpc>
                <a:spcPts val="1050"/>
              </a:lnSpc>
            </a:pPr>
            <a:r>
              <a:rPr sz="1059" b="1" i="1" spc="-9" dirty="0">
                <a:latin typeface="Times New Roman"/>
                <a:cs typeface="Times New Roman"/>
              </a:rPr>
              <a:t>5-</a:t>
            </a:r>
            <a:r>
              <a:rPr sz="1059" b="1" i="1" spc="-22" dirty="0">
                <a:latin typeface="Times New Roman"/>
                <a:cs typeface="Times New Roman"/>
              </a:rPr>
              <a:t>22</a:t>
            </a:r>
            <a:endParaRPr sz="1059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104909" y="2592088"/>
            <a:ext cx="3332069" cy="1974476"/>
            <a:chOff x="5039296" y="2937700"/>
            <a:chExt cx="3776345" cy="2237740"/>
          </a:xfrm>
        </p:grpSpPr>
        <p:sp>
          <p:nvSpPr>
            <p:cNvPr id="12" name="object 12"/>
            <p:cNvSpPr/>
            <p:nvPr/>
          </p:nvSpPr>
          <p:spPr>
            <a:xfrm>
              <a:off x="5276087" y="2951987"/>
              <a:ext cx="3458210" cy="1524000"/>
            </a:xfrm>
            <a:custGeom>
              <a:avLst/>
              <a:gdLst/>
              <a:ahLst/>
              <a:cxnLst/>
              <a:rect l="l" t="t" r="r" b="b"/>
              <a:pathLst>
                <a:path w="3458209" h="1524000">
                  <a:moveTo>
                    <a:pt x="0" y="10667"/>
                  </a:moveTo>
                  <a:lnTo>
                    <a:pt x="37362" y="47038"/>
                  </a:lnTo>
                  <a:lnTo>
                    <a:pt x="79890" y="93006"/>
                  </a:lnTo>
                  <a:lnTo>
                    <a:pt x="127253" y="147577"/>
                  </a:lnTo>
                  <a:lnTo>
                    <a:pt x="152647" y="177780"/>
                  </a:lnTo>
                  <a:lnTo>
                    <a:pt x="179126" y="209761"/>
                  </a:lnTo>
                  <a:lnTo>
                    <a:pt x="206650" y="243397"/>
                  </a:lnTo>
                  <a:lnTo>
                    <a:pt x="235179" y="278565"/>
                  </a:lnTo>
                  <a:lnTo>
                    <a:pt x="264670" y="315139"/>
                  </a:lnTo>
                  <a:lnTo>
                    <a:pt x="295084" y="352996"/>
                  </a:lnTo>
                  <a:lnTo>
                    <a:pt x="326379" y="392012"/>
                  </a:lnTo>
                  <a:lnTo>
                    <a:pt x="358513" y="432063"/>
                  </a:lnTo>
                  <a:lnTo>
                    <a:pt x="391447" y="473024"/>
                  </a:lnTo>
                  <a:lnTo>
                    <a:pt x="425139" y="514773"/>
                  </a:lnTo>
                  <a:lnTo>
                    <a:pt x="459548" y="557184"/>
                  </a:lnTo>
                  <a:lnTo>
                    <a:pt x="494633" y="600134"/>
                  </a:lnTo>
                  <a:lnTo>
                    <a:pt x="530353" y="643499"/>
                  </a:lnTo>
                  <a:lnTo>
                    <a:pt x="566666" y="687154"/>
                  </a:lnTo>
                  <a:lnTo>
                    <a:pt x="603533" y="730976"/>
                  </a:lnTo>
                  <a:lnTo>
                    <a:pt x="640912" y="774841"/>
                  </a:lnTo>
                  <a:lnTo>
                    <a:pt x="678762" y="818624"/>
                  </a:lnTo>
                  <a:lnTo>
                    <a:pt x="717041" y="862202"/>
                  </a:lnTo>
                  <a:lnTo>
                    <a:pt x="755710" y="905451"/>
                  </a:lnTo>
                  <a:lnTo>
                    <a:pt x="794727" y="948246"/>
                  </a:lnTo>
                  <a:lnTo>
                    <a:pt x="834050" y="990464"/>
                  </a:lnTo>
                  <a:lnTo>
                    <a:pt x="873640" y="1031980"/>
                  </a:lnTo>
                  <a:lnTo>
                    <a:pt x="913454" y="1072671"/>
                  </a:lnTo>
                  <a:lnTo>
                    <a:pt x="953452" y="1112412"/>
                  </a:lnTo>
                  <a:lnTo>
                    <a:pt x="993593" y="1151080"/>
                  </a:lnTo>
                  <a:lnTo>
                    <a:pt x="1033836" y="1188550"/>
                  </a:lnTo>
                  <a:lnTo>
                    <a:pt x="1074140" y="1224699"/>
                  </a:lnTo>
                  <a:lnTo>
                    <a:pt x="1114463" y="1259402"/>
                  </a:lnTo>
                  <a:lnTo>
                    <a:pt x="1154766" y="1292535"/>
                  </a:lnTo>
                  <a:lnTo>
                    <a:pt x="1195006" y="1323974"/>
                  </a:lnTo>
                  <a:lnTo>
                    <a:pt x="1235143" y="1353596"/>
                  </a:lnTo>
                  <a:lnTo>
                    <a:pt x="1275136" y="1381277"/>
                  </a:lnTo>
                  <a:lnTo>
                    <a:pt x="1314944" y="1406891"/>
                  </a:lnTo>
                  <a:lnTo>
                    <a:pt x="1354525" y="1430316"/>
                  </a:lnTo>
                  <a:lnTo>
                    <a:pt x="1393839" y="1451427"/>
                  </a:lnTo>
                  <a:lnTo>
                    <a:pt x="1432845" y="1470100"/>
                  </a:lnTo>
                  <a:lnTo>
                    <a:pt x="1471502" y="1486211"/>
                  </a:lnTo>
                  <a:lnTo>
                    <a:pt x="1509768" y="1499637"/>
                  </a:lnTo>
                  <a:lnTo>
                    <a:pt x="1547604" y="1510252"/>
                  </a:lnTo>
                  <a:lnTo>
                    <a:pt x="1584967" y="1517934"/>
                  </a:lnTo>
                  <a:lnTo>
                    <a:pt x="1658111" y="1523999"/>
                  </a:lnTo>
                  <a:lnTo>
                    <a:pt x="1692997" y="1522482"/>
                  </a:lnTo>
                  <a:lnTo>
                    <a:pt x="1764589" y="1511190"/>
                  </a:lnTo>
                  <a:lnTo>
                    <a:pt x="1838370" y="1489557"/>
                  </a:lnTo>
                  <a:lnTo>
                    <a:pt x="1875992" y="1475113"/>
                  </a:lnTo>
                  <a:lnTo>
                    <a:pt x="1914053" y="1458385"/>
                  </a:lnTo>
                  <a:lnTo>
                    <a:pt x="1952518" y="1439473"/>
                  </a:lnTo>
                  <a:lnTo>
                    <a:pt x="1991351" y="1418476"/>
                  </a:lnTo>
                  <a:lnTo>
                    <a:pt x="2030516" y="1395496"/>
                  </a:lnTo>
                  <a:lnTo>
                    <a:pt x="2069977" y="1370632"/>
                  </a:lnTo>
                  <a:lnTo>
                    <a:pt x="2109699" y="1343984"/>
                  </a:lnTo>
                  <a:lnTo>
                    <a:pt x="2149646" y="1315653"/>
                  </a:lnTo>
                  <a:lnTo>
                    <a:pt x="2189781" y="1285740"/>
                  </a:lnTo>
                  <a:lnTo>
                    <a:pt x="2230069" y="1254343"/>
                  </a:lnTo>
                  <a:lnTo>
                    <a:pt x="2270474" y="1221564"/>
                  </a:lnTo>
                  <a:lnTo>
                    <a:pt x="2310960" y="1187502"/>
                  </a:lnTo>
                  <a:lnTo>
                    <a:pt x="2351491" y="1152259"/>
                  </a:lnTo>
                  <a:lnTo>
                    <a:pt x="2392033" y="1115933"/>
                  </a:lnTo>
                  <a:lnTo>
                    <a:pt x="2432547" y="1078626"/>
                  </a:lnTo>
                  <a:lnTo>
                    <a:pt x="2473000" y="1040437"/>
                  </a:lnTo>
                  <a:lnTo>
                    <a:pt x="2513354" y="1001467"/>
                  </a:lnTo>
                  <a:lnTo>
                    <a:pt x="2553575" y="961816"/>
                  </a:lnTo>
                  <a:lnTo>
                    <a:pt x="2593626" y="921584"/>
                  </a:lnTo>
                  <a:lnTo>
                    <a:pt x="2633471" y="880871"/>
                  </a:lnTo>
                  <a:lnTo>
                    <a:pt x="2673075" y="839779"/>
                  </a:lnTo>
                  <a:lnTo>
                    <a:pt x="2712402" y="798406"/>
                  </a:lnTo>
                  <a:lnTo>
                    <a:pt x="2751416" y="756853"/>
                  </a:lnTo>
                  <a:lnTo>
                    <a:pt x="2790081" y="715220"/>
                  </a:lnTo>
                  <a:lnTo>
                    <a:pt x="2828361" y="673607"/>
                  </a:lnTo>
                  <a:lnTo>
                    <a:pt x="2866220" y="632116"/>
                  </a:lnTo>
                  <a:lnTo>
                    <a:pt x="2903623" y="590845"/>
                  </a:lnTo>
                  <a:lnTo>
                    <a:pt x="2940533" y="549896"/>
                  </a:lnTo>
                  <a:lnTo>
                    <a:pt x="2976916" y="509368"/>
                  </a:lnTo>
                  <a:lnTo>
                    <a:pt x="3012734" y="469361"/>
                  </a:lnTo>
                  <a:lnTo>
                    <a:pt x="3047953" y="429976"/>
                  </a:lnTo>
                  <a:lnTo>
                    <a:pt x="3082535" y="391313"/>
                  </a:lnTo>
                  <a:lnTo>
                    <a:pt x="3116447" y="353473"/>
                  </a:lnTo>
                  <a:lnTo>
                    <a:pt x="3149651" y="316555"/>
                  </a:lnTo>
                  <a:lnTo>
                    <a:pt x="3182111" y="280659"/>
                  </a:lnTo>
                  <a:lnTo>
                    <a:pt x="3213793" y="245887"/>
                  </a:lnTo>
                  <a:lnTo>
                    <a:pt x="3244660" y="212337"/>
                  </a:lnTo>
                  <a:lnTo>
                    <a:pt x="3274676" y="180111"/>
                  </a:lnTo>
                  <a:lnTo>
                    <a:pt x="3303805" y="149309"/>
                  </a:lnTo>
                  <a:lnTo>
                    <a:pt x="3332012" y="120030"/>
                  </a:lnTo>
                  <a:lnTo>
                    <a:pt x="3359261" y="92375"/>
                  </a:lnTo>
                  <a:lnTo>
                    <a:pt x="3410740" y="42338"/>
                  </a:lnTo>
                  <a:lnTo>
                    <a:pt x="3434898" y="20156"/>
                  </a:lnTo>
                  <a:lnTo>
                    <a:pt x="3457955" y="0"/>
                  </a:lnTo>
                </a:path>
              </a:pathLst>
            </a:custGeom>
            <a:ln w="28574">
              <a:solidFill>
                <a:srgbClr val="0065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5053583" y="3209543"/>
              <a:ext cx="3747770" cy="1951355"/>
            </a:xfrm>
            <a:custGeom>
              <a:avLst/>
              <a:gdLst/>
              <a:ahLst/>
              <a:cxnLst/>
              <a:rect l="l" t="t" r="r" b="b"/>
              <a:pathLst>
                <a:path w="3747770" h="1951354">
                  <a:moveTo>
                    <a:pt x="0" y="794003"/>
                  </a:moveTo>
                  <a:lnTo>
                    <a:pt x="35691" y="843480"/>
                  </a:lnTo>
                  <a:lnTo>
                    <a:pt x="57318" y="874913"/>
                  </a:lnTo>
                  <a:lnTo>
                    <a:pt x="81224" y="910066"/>
                  </a:lnTo>
                  <a:lnTo>
                    <a:pt x="107228" y="948379"/>
                  </a:lnTo>
                  <a:lnTo>
                    <a:pt x="135150" y="989296"/>
                  </a:lnTo>
                  <a:lnTo>
                    <a:pt x="164809" y="1032257"/>
                  </a:lnTo>
                  <a:lnTo>
                    <a:pt x="196024" y="1076705"/>
                  </a:lnTo>
                  <a:lnTo>
                    <a:pt x="228614" y="1122082"/>
                  </a:lnTo>
                  <a:lnTo>
                    <a:pt x="262398" y="1167830"/>
                  </a:lnTo>
                  <a:lnTo>
                    <a:pt x="297196" y="1213390"/>
                  </a:lnTo>
                  <a:lnTo>
                    <a:pt x="332827" y="1258204"/>
                  </a:lnTo>
                  <a:lnTo>
                    <a:pt x="369109" y="1301715"/>
                  </a:lnTo>
                  <a:lnTo>
                    <a:pt x="405863" y="1343364"/>
                  </a:lnTo>
                  <a:lnTo>
                    <a:pt x="442906" y="1382593"/>
                  </a:lnTo>
                  <a:lnTo>
                    <a:pt x="480059" y="1418843"/>
                  </a:lnTo>
                  <a:lnTo>
                    <a:pt x="515672" y="1452161"/>
                  </a:lnTo>
                  <a:lnTo>
                    <a:pt x="552525" y="1486303"/>
                  </a:lnTo>
                  <a:lnTo>
                    <a:pt x="590533" y="1520986"/>
                  </a:lnTo>
                  <a:lnTo>
                    <a:pt x="629607" y="1555928"/>
                  </a:lnTo>
                  <a:lnTo>
                    <a:pt x="669660" y="1590846"/>
                  </a:lnTo>
                  <a:lnTo>
                    <a:pt x="710604" y="1625457"/>
                  </a:lnTo>
                  <a:lnTo>
                    <a:pt x="752353" y="1659478"/>
                  </a:lnTo>
                  <a:lnTo>
                    <a:pt x="794818" y="1692626"/>
                  </a:lnTo>
                  <a:lnTo>
                    <a:pt x="837912" y="1724618"/>
                  </a:lnTo>
                  <a:lnTo>
                    <a:pt x="881548" y="1755172"/>
                  </a:lnTo>
                  <a:lnTo>
                    <a:pt x="925638" y="1784004"/>
                  </a:lnTo>
                  <a:lnTo>
                    <a:pt x="970094" y="1810831"/>
                  </a:lnTo>
                  <a:lnTo>
                    <a:pt x="1014830" y="1835371"/>
                  </a:lnTo>
                  <a:lnTo>
                    <a:pt x="1059758" y="1857341"/>
                  </a:lnTo>
                  <a:lnTo>
                    <a:pt x="1104789" y="1876458"/>
                  </a:lnTo>
                  <a:lnTo>
                    <a:pt x="1149838" y="1892438"/>
                  </a:lnTo>
                  <a:lnTo>
                    <a:pt x="1194815" y="1904999"/>
                  </a:lnTo>
                  <a:lnTo>
                    <a:pt x="1239440" y="1915637"/>
                  </a:lnTo>
                  <a:lnTo>
                    <a:pt x="1283600" y="1925333"/>
                  </a:lnTo>
                  <a:lnTo>
                    <a:pt x="1327461" y="1933841"/>
                  </a:lnTo>
                  <a:lnTo>
                    <a:pt x="1371192" y="1940917"/>
                  </a:lnTo>
                  <a:lnTo>
                    <a:pt x="1414961" y="1946313"/>
                  </a:lnTo>
                  <a:lnTo>
                    <a:pt x="1458934" y="1949785"/>
                  </a:lnTo>
                  <a:lnTo>
                    <a:pt x="1503280" y="1951087"/>
                  </a:lnTo>
                  <a:lnTo>
                    <a:pt x="1548165" y="1949973"/>
                  </a:lnTo>
                  <a:lnTo>
                    <a:pt x="1593758" y="1946198"/>
                  </a:lnTo>
                  <a:lnTo>
                    <a:pt x="1640225" y="1939515"/>
                  </a:lnTo>
                  <a:lnTo>
                    <a:pt x="1687734" y="1929680"/>
                  </a:lnTo>
                  <a:lnTo>
                    <a:pt x="1736454" y="1916446"/>
                  </a:lnTo>
                  <a:lnTo>
                    <a:pt x="1786550" y="1899568"/>
                  </a:lnTo>
                  <a:lnTo>
                    <a:pt x="1838192" y="1878800"/>
                  </a:lnTo>
                  <a:lnTo>
                    <a:pt x="1891545" y="1853896"/>
                  </a:lnTo>
                  <a:lnTo>
                    <a:pt x="1946779" y="1824611"/>
                  </a:lnTo>
                  <a:lnTo>
                    <a:pt x="2004059" y="1790699"/>
                  </a:lnTo>
                  <a:lnTo>
                    <a:pt x="2068927" y="1747833"/>
                  </a:lnTo>
                  <a:lnTo>
                    <a:pt x="2103153" y="1723165"/>
                  </a:lnTo>
                  <a:lnTo>
                    <a:pt x="2138451" y="1696515"/>
                  </a:lnTo>
                  <a:lnTo>
                    <a:pt x="2174729" y="1668014"/>
                  </a:lnTo>
                  <a:lnTo>
                    <a:pt x="2211896" y="1637794"/>
                  </a:lnTo>
                  <a:lnTo>
                    <a:pt x="2249858" y="1605986"/>
                  </a:lnTo>
                  <a:lnTo>
                    <a:pt x="2288524" y="1572720"/>
                  </a:lnTo>
                  <a:lnTo>
                    <a:pt x="2327801" y="1538128"/>
                  </a:lnTo>
                  <a:lnTo>
                    <a:pt x="2367598" y="1502341"/>
                  </a:lnTo>
                  <a:lnTo>
                    <a:pt x="2407823" y="1465491"/>
                  </a:lnTo>
                  <a:lnTo>
                    <a:pt x="2448383" y="1427708"/>
                  </a:lnTo>
                  <a:lnTo>
                    <a:pt x="2489186" y="1389123"/>
                  </a:lnTo>
                  <a:lnTo>
                    <a:pt x="2530141" y="1349868"/>
                  </a:lnTo>
                  <a:lnTo>
                    <a:pt x="2571155" y="1310074"/>
                  </a:lnTo>
                  <a:lnTo>
                    <a:pt x="2612135" y="1269872"/>
                  </a:lnTo>
                  <a:lnTo>
                    <a:pt x="2652991" y="1229394"/>
                  </a:lnTo>
                  <a:lnTo>
                    <a:pt x="2693630" y="1188769"/>
                  </a:lnTo>
                  <a:lnTo>
                    <a:pt x="2733960" y="1148130"/>
                  </a:lnTo>
                  <a:lnTo>
                    <a:pt x="2773888" y="1107608"/>
                  </a:lnTo>
                  <a:lnTo>
                    <a:pt x="2813323" y="1067334"/>
                  </a:lnTo>
                  <a:lnTo>
                    <a:pt x="2852172" y="1027438"/>
                  </a:lnTo>
                  <a:lnTo>
                    <a:pt x="2890344" y="988053"/>
                  </a:lnTo>
                  <a:lnTo>
                    <a:pt x="2927746" y="949309"/>
                  </a:lnTo>
                  <a:lnTo>
                    <a:pt x="2964287" y="911337"/>
                  </a:lnTo>
                  <a:lnTo>
                    <a:pt x="2999874" y="874269"/>
                  </a:lnTo>
                  <a:lnTo>
                    <a:pt x="3034414" y="838235"/>
                  </a:lnTo>
                  <a:lnTo>
                    <a:pt x="3067817" y="803368"/>
                  </a:lnTo>
                  <a:lnTo>
                    <a:pt x="3099990" y="769797"/>
                  </a:lnTo>
                  <a:lnTo>
                    <a:pt x="3130841" y="737655"/>
                  </a:lnTo>
                  <a:lnTo>
                    <a:pt x="3160277" y="707072"/>
                  </a:lnTo>
                  <a:lnTo>
                    <a:pt x="3188207" y="678179"/>
                  </a:lnTo>
                  <a:lnTo>
                    <a:pt x="3238156" y="626107"/>
                  </a:lnTo>
                  <a:lnTo>
                    <a:pt x="3285351" y="575343"/>
                  </a:lnTo>
                  <a:lnTo>
                    <a:pt x="3329915" y="525930"/>
                  </a:lnTo>
                  <a:lnTo>
                    <a:pt x="3371975" y="477911"/>
                  </a:lnTo>
                  <a:lnTo>
                    <a:pt x="3411653" y="431329"/>
                  </a:lnTo>
                  <a:lnTo>
                    <a:pt x="3449077" y="386227"/>
                  </a:lnTo>
                  <a:lnTo>
                    <a:pt x="3484369" y="342647"/>
                  </a:lnTo>
                  <a:lnTo>
                    <a:pt x="3517654" y="300632"/>
                  </a:lnTo>
                  <a:lnTo>
                    <a:pt x="3549059" y="260225"/>
                  </a:lnTo>
                  <a:lnTo>
                    <a:pt x="3578706" y="221470"/>
                  </a:lnTo>
                  <a:lnTo>
                    <a:pt x="3606721" y="184408"/>
                  </a:lnTo>
                  <a:lnTo>
                    <a:pt x="3633228" y="149082"/>
                  </a:lnTo>
                  <a:lnTo>
                    <a:pt x="3658352" y="115536"/>
                  </a:lnTo>
                  <a:lnTo>
                    <a:pt x="3682219" y="83811"/>
                  </a:lnTo>
                  <a:lnTo>
                    <a:pt x="3704951" y="53952"/>
                  </a:lnTo>
                  <a:lnTo>
                    <a:pt x="3726675" y="26001"/>
                  </a:lnTo>
                  <a:lnTo>
                    <a:pt x="3747515" y="0"/>
                  </a:lnTo>
                </a:path>
              </a:pathLst>
            </a:custGeom>
            <a:ln w="28574">
              <a:solidFill>
                <a:srgbClr val="0098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255607" y="2281516"/>
            <a:ext cx="605118" cy="552844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1206">
              <a:spcBef>
                <a:spcPts val="300"/>
              </a:spcBef>
            </a:pPr>
            <a:r>
              <a:rPr sz="1588" spc="-22" dirty="0">
                <a:solidFill>
                  <a:srgbClr val="0065FF"/>
                </a:solidFill>
                <a:latin typeface="Times New Roman"/>
                <a:cs typeface="Times New Roman"/>
              </a:rPr>
              <a:t>ATC</a:t>
            </a:r>
            <a:endParaRPr sz="1588">
              <a:latin typeface="Times New Roman"/>
              <a:cs typeface="Times New Roman"/>
            </a:endParaRPr>
          </a:p>
          <a:p>
            <a:pPr marL="168097">
              <a:spcBef>
                <a:spcPts val="212"/>
              </a:spcBef>
            </a:pPr>
            <a:r>
              <a:rPr sz="1588" spc="-22" dirty="0">
                <a:solidFill>
                  <a:srgbClr val="009900"/>
                </a:solidFill>
                <a:latin typeface="Times New Roman"/>
                <a:cs typeface="Times New Roman"/>
              </a:rPr>
              <a:t>AVC</a:t>
            </a:r>
            <a:endParaRPr sz="1588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163235" y="4773706"/>
            <a:ext cx="3160059" cy="739588"/>
          </a:xfrm>
          <a:custGeom>
            <a:avLst/>
            <a:gdLst/>
            <a:ahLst/>
            <a:cxnLst/>
            <a:rect l="l" t="t" r="r" b="b"/>
            <a:pathLst>
              <a:path w="3581400" h="838200">
                <a:moveTo>
                  <a:pt x="0" y="0"/>
                </a:moveTo>
                <a:lnTo>
                  <a:pt x="30616" y="38003"/>
                </a:lnTo>
                <a:lnTo>
                  <a:pt x="61406" y="75926"/>
                </a:lnTo>
                <a:lnTo>
                  <a:pt x="92509" y="113652"/>
                </a:lnTo>
                <a:lnTo>
                  <a:pt x="124063" y="151066"/>
                </a:lnTo>
                <a:lnTo>
                  <a:pt x="156206" y="188051"/>
                </a:lnTo>
                <a:lnTo>
                  <a:pt x="189077" y="224492"/>
                </a:lnTo>
                <a:lnTo>
                  <a:pt x="222814" y="260272"/>
                </a:lnTo>
                <a:lnTo>
                  <a:pt x="257555" y="295274"/>
                </a:lnTo>
                <a:lnTo>
                  <a:pt x="293440" y="329384"/>
                </a:lnTo>
                <a:lnTo>
                  <a:pt x="330606" y="362485"/>
                </a:lnTo>
                <a:lnTo>
                  <a:pt x="369192" y="394461"/>
                </a:lnTo>
                <a:lnTo>
                  <a:pt x="409336" y="425195"/>
                </a:lnTo>
                <a:lnTo>
                  <a:pt x="451177" y="454573"/>
                </a:lnTo>
                <a:lnTo>
                  <a:pt x="494853" y="482476"/>
                </a:lnTo>
                <a:lnTo>
                  <a:pt x="540502" y="508791"/>
                </a:lnTo>
                <a:lnTo>
                  <a:pt x="588263" y="533399"/>
                </a:lnTo>
                <a:lnTo>
                  <a:pt x="627314" y="551822"/>
                </a:lnTo>
                <a:lnTo>
                  <a:pt x="665986" y="569180"/>
                </a:lnTo>
                <a:lnTo>
                  <a:pt x="704519" y="585527"/>
                </a:lnTo>
                <a:lnTo>
                  <a:pt x="743151" y="600919"/>
                </a:lnTo>
                <a:lnTo>
                  <a:pt x="782121" y="615410"/>
                </a:lnTo>
                <a:lnTo>
                  <a:pt x="821669" y="629055"/>
                </a:lnTo>
                <a:lnTo>
                  <a:pt x="862032" y="641909"/>
                </a:lnTo>
                <a:lnTo>
                  <a:pt x="903451" y="654027"/>
                </a:lnTo>
                <a:lnTo>
                  <a:pt x="946164" y="665464"/>
                </a:lnTo>
                <a:lnTo>
                  <a:pt x="990409" y="676274"/>
                </a:lnTo>
                <a:lnTo>
                  <a:pt x="1036426" y="686513"/>
                </a:lnTo>
                <a:lnTo>
                  <a:pt x="1084453" y="696236"/>
                </a:lnTo>
                <a:lnTo>
                  <a:pt x="1134730" y="705496"/>
                </a:lnTo>
                <a:lnTo>
                  <a:pt x="1187496" y="714350"/>
                </a:lnTo>
                <a:lnTo>
                  <a:pt x="1242988" y="722852"/>
                </a:lnTo>
                <a:lnTo>
                  <a:pt x="1301447" y="731056"/>
                </a:lnTo>
                <a:lnTo>
                  <a:pt x="1363110" y="739018"/>
                </a:lnTo>
                <a:lnTo>
                  <a:pt x="1428218" y="746793"/>
                </a:lnTo>
                <a:lnTo>
                  <a:pt x="1497008" y="754435"/>
                </a:lnTo>
                <a:lnTo>
                  <a:pt x="1569719" y="761999"/>
                </a:lnTo>
                <a:lnTo>
                  <a:pt x="1646382" y="769273"/>
                </a:lnTo>
                <a:lnTo>
                  <a:pt x="1686110" y="772713"/>
                </a:lnTo>
                <a:lnTo>
                  <a:pt x="1726736" y="776025"/>
                </a:lnTo>
                <a:lnTo>
                  <a:pt x="1768235" y="779213"/>
                </a:lnTo>
                <a:lnTo>
                  <a:pt x="1810584" y="782280"/>
                </a:lnTo>
                <a:lnTo>
                  <a:pt x="1853758" y="785230"/>
                </a:lnTo>
                <a:lnTo>
                  <a:pt x="1897733" y="788066"/>
                </a:lnTo>
                <a:lnTo>
                  <a:pt x="1942484" y="790791"/>
                </a:lnTo>
                <a:lnTo>
                  <a:pt x="1987986" y="793408"/>
                </a:lnTo>
                <a:lnTo>
                  <a:pt x="2034216" y="795921"/>
                </a:lnTo>
                <a:lnTo>
                  <a:pt x="2081148" y="798333"/>
                </a:lnTo>
                <a:lnTo>
                  <a:pt x="2128759" y="800647"/>
                </a:lnTo>
                <a:lnTo>
                  <a:pt x="2177023" y="802867"/>
                </a:lnTo>
                <a:lnTo>
                  <a:pt x="2225918" y="804996"/>
                </a:lnTo>
                <a:lnTo>
                  <a:pt x="2275417" y="807037"/>
                </a:lnTo>
                <a:lnTo>
                  <a:pt x="2325497" y="808993"/>
                </a:lnTo>
                <a:lnTo>
                  <a:pt x="2376133" y="810868"/>
                </a:lnTo>
                <a:lnTo>
                  <a:pt x="2427301" y="812665"/>
                </a:lnTo>
                <a:lnTo>
                  <a:pt x="2478976" y="814387"/>
                </a:lnTo>
                <a:lnTo>
                  <a:pt x="2531134" y="816038"/>
                </a:lnTo>
                <a:lnTo>
                  <a:pt x="2583751" y="817620"/>
                </a:lnTo>
                <a:lnTo>
                  <a:pt x="2636801" y="819138"/>
                </a:lnTo>
                <a:lnTo>
                  <a:pt x="2690262" y="820594"/>
                </a:lnTo>
                <a:lnTo>
                  <a:pt x="2744107" y="821992"/>
                </a:lnTo>
                <a:lnTo>
                  <a:pt x="2798314" y="823335"/>
                </a:lnTo>
                <a:lnTo>
                  <a:pt x="2852856" y="824626"/>
                </a:lnTo>
                <a:lnTo>
                  <a:pt x="2907711" y="825869"/>
                </a:lnTo>
                <a:lnTo>
                  <a:pt x="2962853" y="827066"/>
                </a:lnTo>
                <a:lnTo>
                  <a:pt x="3018258" y="828222"/>
                </a:lnTo>
                <a:lnTo>
                  <a:pt x="3073901" y="829339"/>
                </a:lnTo>
                <a:lnTo>
                  <a:pt x="3129759" y="830421"/>
                </a:lnTo>
                <a:lnTo>
                  <a:pt x="3185806" y="831471"/>
                </a:lnTo>
                <a:lnTo>
                  <a:pt x="3242019" y="832492"/>
                </a:lnTo>
                <a:lnTo>
                  <a:pt x="3298373" y="833488"/>
                </a:lnTo>
                <a:lnTo>
                  <a:pt x="3354843" y="834461"/>
                </a:lnTo>
                <a:lnTo>
                  <a:pt x="3411405" y="835416"/>
                </a:lnTo>
                <a:lnTo>
                  <a:pt x="3468035" y="836355"/>
                </a:lnTo>
                <a:lnTo>
                  <a:pt x="3524708" y="837282"/>
                </a:lnTo>
                <a:lnTo>
                  <a:pt x="3581399" y="838199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6" name="object 16"/>
          <p:cNvSpPr txBox="1"/>
          <p:nvPr/>
        </p:nvSpPr>
        <p:spPr>
          <a:xfrm>
            <a:off x="9191061" y="5132291"/>
            <a:ext cx="414618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22" dirty="0">
                <a:solidFill>
                  <a:srgbClr val="FF0000"/>
                </a:solidFill>
                <a:latin typeface="Times New Roman"/>
                <a:cs typeface="Times New Roman"/>
              </a:rPr>
              <a:t>AFC</a:t>
            </a:r>
            <a:endParaRPr sz="1588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961530" y="2342477"/>
            <a:ext cx="3496235" cy="2695015"/>
          </a:xfrm>
          <a:custGeom>
            <a:avLst/>
            <a:gdLst/>
            <a:ahLst/>
            <a:cxnLst/>
            <a:rect l="l" t="t" r="r" b="b"/>
            <a:pathLst>
              <a:path w="3962400" h="3054350">
                <a:moveTo>
                  <a:pt x="228599" y="2261615"/>
                </a:moveTo>
                <a:lnTo>
                  <a:pt x="259024" y="2312671"/>
                </a:lnTo>
                <a:lnTo>
                  <a:pt x="289480" y="2363538"/>
                </a:lnTo>
                <a:lnTo>
                  <a:pt x="319979" y="2414028"/>
                </a:lnTo>
                <a:lnTo>
                  <a:pt x="350537" y="2463952"/>
                </a:lnTo>
                <a:lnTo>
                  <a:pt x="381166" y="2513121"/>
                </a:lnTo>
                <a:lnTo>
                  <a:pt x="411880" y="2561347"/>
                </a:lnTo>
                <a:lnTo>
                  <a:pt x="442692" y="2608442"/>
                </a:lnTo>
                <a:lnTo>
                  <a:pt x="473617" y="2654215"/>
                </a:lnTo>
                <a:lnTo>
                  <a:pt x="504667" y="2698480"/>
                </a:lnTo>
                <a:lnTo>
                  <a:pt x="535856" y="2741047"/>
                </a:lnTo>
                <a:lnTo>
                  <a:pt x="567197" y="2781728"/>
                </a:lnTo>
                <a:lnTo>
                  <a:pt x="598705" y="2820334"/>
                </a:lnTo>
                <a:lnTo>
                  <a:pt x="630392" y="2856676"/>
                </a:lnTo>
                <a:lnTo>
                  <a:pt x="662272" y="2890565"/>
                </a:lnTo>
                <a:lnTo>
                  <a:pt x="694360" y="2921814"/>
                </a:lnTo>
                <a:lnTo>
                  <a:pt x="726667" y="2950233"/>
                </a:lnTo>
                <a:lnTo>
                  <a:pt x="759208" y="2975635"/>
                </a:lnTo>
                <a:lnTo>
                  <a:pt x="791996" y="2997829"/>
                </a:lnTo>
                <a:lnTo>
                  <a:pt x="858368" y="3031842"/>
                </a:lnTo>
                <a:lnTo>
                  <a:pt x="925892" y="3050765"/>
                </a:lnTo>
                <a:lnTo>
                  <a:pt x="960119" y="3054095"/>
                </a:lnTo>
                <a:lnTo>
                  <a:pt x="993499" y="3053959"/>
                </a:lnTo>
                <a:lnTo>
                  <a:pt x="1061549" y="3045969"/>
                </a:lnTo>
                <a:lnTo>
                  <a:pt x="1131091" y="3027614"/>
                </a:lnTo>
                <a:lnTo>
                  <a:pt x="1201850" y="2998797"/>
                </a:lnTo>
                <a:lnTo>
                  <a:pt x="1237600" y="2980435"/>
                </a:lnTo>
                <a:lnTo>
                  <a:pt x="1273552" y="2959423"/>
                </a:lnTo>
                <a:lnTo>
                  <a:pt x="1309669" y="2935747"/>
                </a:lnTo>
                <a:lnTo>
                  <a:pt x="1345919" y="2909397"/>
                </a:lnTo>
                <a:lnTo>
                  <a:pt x="1382267" y="2880359"/>
                </a:lnTo>
                <a:lnTo>
                  <a:pt x="1418679" y="2848623"/>
                </a:lnTo>
                <a:lnTo>
                  <a:pt x="1455120" y="2814177"/>
                </a:lnTo>
                <a:lnTo>
                  <a:pt x="1491555" y="2777007"/>
                </a:lnTo>
                <a:lnTo>
                  <a:pt x="1527951" y="2737103"/>
                </a:lnTo>
                <a:lnTo>
                  <a:pt x="1564272" y="2694453"/>
                </a:lnTo>
                <a:lnTo>
                  <a:pt x="1600485" y="2649045"/>
                </a:lnTo>
                <a:lnTo>
                  <a:pt x="1636555" y="2600866"/>
                </a:lnTo>
                <a:lnTo>
                  <a:pt x="1672448" y="2549905"/>
                </a:lnTo>
                <a:lnTo>
                  <a:pt x="1708130" y="2496151"/>
                </a:lnTo>
                <a:lnTo>
                  <a:pt x="1743565" y="2439590"/>
                </a:lnTo>
                <a:lnTo>
                  <a:pt x="1778720" y="2380212"/>
                </a:lnTo>
                <a:lnTo>
                  <a:pt x="1813559" y="2318003"/>
                </a:lnTo>
                <a:lnTo>
                  <a:pt x="1847649" y="2253722"/>
                </a:lnTo>
                <a:lnTo>
                  <a:pt x="1881623" y="2185641"/>
                </a:lnTo>
                <a:lnTo>
                  <a:pt x="1898568" y="2150228"/>
                </a:lnTo>
                <a:lnTo>
                  <a:pt x="1915486" y="2113925"/>
                </a:lnTo>
                <a:lnTo>
                  <a:pt x="1932378" y="2076754"/>
                </a:lnTo>
                <a:lnTo>
                  <a:pt x="1949244" y="2038735"/>
                </a:lnTo>
                <a:lnTo>
                  <a:pt x="1966086" y="1999887"/>
                </a:lnTo>
                <a:lnTo>
                  <a:pt x="1982903" y="1960233"/>
                </a:lnTo>
                <a:lnTo>
                  <a:pt x="1999697" y="1919790"/>
                </a:lnTo>
                <a:lnTo>
                  <a:pt x="2016468" y="1878581"/>
                </a:lnTo>
                <a:lnTo>
                  <a:pt x="2033216" y="1836625"/>
                </a:lnTo>
                <a:lnTo>
                  <a:pt x="2049944" y="1793943"/>
                </a:lnTo>
                <a:lnTo>
                  <a:pt x="2066651" y="1750554"/>
                </a:lnTo>
                <a:lnTo>
                  <a:pt x="2083337" y="1706480"/>
                </a:lnTo>
                <a:lnTo>
                  <a:pt x="2100005" y="1661740"/>
                </a:lnTo>
                <a:lnTo>
                  <a:pt x="2116654" y="1616354"/>
                </a:lnTo>
                <a:lnTo>
                  <a:pt x="2133285" y="1570344"/>
                </a:lnTo>
                <a:lnTo>
                  <a:pt x="2149899" y="1523729"/>
                </a:lnTo>
                <a:lnTo>
                  <a:pt x="2166497" y="1476529"/>
                </a:lnTo>
                <a:lnTo>
                  <a:pt x="2183078" y="1428765"/>
                </a:lnTo>
                <a:lnTo>
                  <a:pt x="2199645" y="1380457"/>
                </a:lnTo>
                <a:lnTo>
                  <a:pt x="2216197" y="1331626"/>
                </a:lnTo>
                <a:lnTo>
                  <a:pt x="2232736" y="1282291"/>
                </a:lnTo>
                <a:lnTo>
                  <a:pt x="2249261" y="1232473"/>
                </a:lnTo>
                <a:lnTo>
                  <a:pt x="2265774" y="1182193"/>
                </a:lnTo>
                <a:lnTo>
                  <a:pt x="2282276" y="1131470"/>
                </a:lnTo>
                <a:lnTo>
                  <a:pt x="2298767" y="1080324"/>
                </a:lnTo>
                <a:lnTo>
                  <a:pt x="2315248" y="1028777"/>
                </a:lnTo>
                <a:lnTo>
                  <a:pt x="2331719" y="976848"/>
                </a:lnTo>
                <a:lnTo>
                  <a:pt x="2348181" y="924558"/>
                </a:lnTo>
                <a:lnTo>
                  <a:pt x="2364635" y="871927"/>
                </a:lnTo>
                <a:lnTo>
                  <a:pt x="2381082" y="818975"/>
                </a:lnTo>
                <a:lnTo>
                  <a:pt x="2397522" y="765723"/>
                </a:lnTo>
                <a:lnTo>
                  <a:pt x="2413957" y="712190"/>
                </a:lnTo>
                <a:lnTo>
                  <a:pt x="2430386" y="658398"/>
                </a:lnTo>
                <a:lnTo>
                  <a:pt x="2446810" y="604366"/>
                </a:lnTo>
                <a:lnTo>
                  <a:pt x="2463231" y="550114"/>
                </a:lnTo>
                <a:lnTo>
                  <a:pt x="2479648" y="495664"/>
                </a:lnTo>
                <a:lnTo>
                  <a:pt x="2496063" y="441035"/>
                </a:lnTo>
                <a:lnTo>
                  <a:pt x="2512476" y="386247"/>
                </a:lnTo>
                <a:lnTo>
                  <a:pt x="2528888" y="331321"/>
                </a:lnTo>
                <a:lnTo>
                  <a:pt x="2545299" y="276277"/>
                </a:lnTo>
                <a:lnTo>
                  <a:pt x="2561711" y="221136"/>
                </a:lnTo>
                <a:lnTo>
                  <a:pt x="2578124" y="165917"/>
                </a:lnTo>
                <a:lnTo>
                  <a:pt x="2594538" y="110641"/>
                </a:lnTo>
                <a:lnTo>
                  <a:pt x="2610955" y="55329"/>
                </a:lnTo>
                <a:lnTo>
                  <a:pt x="2627375" y="0"/>
                </a:lnTo>
              </a:path>
              <a:path w="3962400" h="3054350">
                <a:moveTo>
                  <a:pt x="0" y="1840991"/>
                </a:moveTo>
                <a:lnTo>
                  <a:pt x="3962399" y="1840991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8" name="object 18"/>
          <p:cNvSpPr txBox="1"/>
          <p:nvPr/>
        </p:nvSpPr>
        <p:spPr>
          <a:xfrm>
            <a:off x="8412478" y="2308410"/>
            <a:ext cx="336176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22" dirty="0">
                <a:latin typeface="Times New Roman"/>
                <a:cs typeface="Times New Roman"/>
              </a:rPr>
              <a:t>MC</a:t>
            </a:r>
            <a:endParaRPr sz="1588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547408" y="3801033"/>
            <a:ext cx="336176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22" dirty="0">
                <a:latin typeface="Times New Roman"/>
                <a:cs typeface="Times New Roman"/>
              </a:rPr>
              <a:t>MR</a:t>
            </a:r>
            <a:endParaRPr sz="1588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437448"/>
            <a:ext cx="9278471" cy="939057"/>
          </a:xfrm>
          <a:prstGeom prst="rect">
            <a:avLst/>
          </a:prstGeom>
        </p:spPr>
        <p:txBody>
          <a:bodyPr vert="horz" wrap="square" lIns="0" tIns="259415" rIns="0" bIns="0" rtlCol="0" anchor="ctr">
            <a:spAutoFit/>
          </a:bodyPr>
          <a:lstStyle/>
          <a:p>
            <a:pPr marL="2933296">
              <a:lnSpc>
                <a:spcPct val="100000"/>
              </a:lnSpc>
              <a:spcBef>
                <a:spcPts val="84"/>
              </a:spcBef>
            </a:pPr>
            <a:r>
              <a:rPr dirty="0"/>
              <a:t>Fixed</a:t>
            </a:r>
            <a:r>
              <a:rPr spc="-31" dirty="0"/>
              <a:t> </a:t>
            </a:r>
            <a:r>
              <a:rPr spc="-18" dirty="0"/>
              <a:t>Cost</a:t>
            </a:r>
          </a:p>
        </p:txBody>
      </p:sp>
      <p:sp>
        <p:nvSpPr>
          <p:cNvPr id="3" name="object 3"/>
          <p:cNvSpPr/>
          <p:nvPr/>
        </p:nvSpPr>
        <p:spPr>
          <a:xfrm>
            <a:off x="4010361" y="2234912"/>
            <a:ext cx="5045449" cy="3071532"/>
          </a:xfrm>
          <a:custGeom>
            <a:avLst/>
            <a:gdLst/>
            <a:ahLst/>
            <a:cxnLst/>
            <a:rect l="l" t="t" r="r" b="b"/>
            <a:pathLst>
              <a:path w="5718175" h="3481070">
                <a:moveTo>
                  <a:pt x="5718048" y="3442716"/>
                </a:moveTo>
                <a:lnTo>
                  <a:pt x="5641848" y="3404616"/>
                </a:lnTo>
                <a:lnTo>
                  <a:pt x="5641848" y="3438144"/>
                </a:lnTo>
                <a:lnTo>
                  <a:pt x="42672" y="3438144"/>
                </a:lnTo>
                <a:lnTo>
                  <a:pt x="42672" y="76200"/>
                </a:lnTo>
                <a:lnTo>
                  <a:pt x="76200" y="76200"/>
                </a:lnTo>
                <a:lnTo>
                  <a:pt x="38100" y="0"/>
                </a:lnTo>
                <a:lnTo>
                  <a:pt x="0" y="76200"/>
                </a:lnTo>
                <a:lnTo>
                  <a:pt x="33528" y="76200"/>
                </a:lnTo>
                <a:lnTo>
                  <a:pt x="33528" y="3442716"/>
                </a:lnTo>
                <a:lnTo>
                  <a:pt x="35052" y="3445764"/>
                </a:lnTo>
                <a:lnTo>
                  <a:pt x="38100" y="3447288"/>
                </a:lnTo>
                <a:lnTo>
                  <a:pt x="5641848" y="3447288"/>
                </a:lnTo>
                <a:lnTo>
                  <a:pt x="5641848" y="3480816"/>
                </a:lnTo>
                <a:lnTo>
                  <a:pt x="5660136" y="3471672"/>
                </a:lnTo>
                <a:lnTo>
                  <a:pt x="5718048" y="34427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 txBox="1"/>
          <p:nvPr/>
        </p:nvSpPr>
        <p:spPr>
          <a:xfrm>
            <a:off x="8994759" y="5265418"/>
            <a:ext cx="217393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spc="-44" dirty="0">
                <a:latin typeface="Times New Roman"/>
                <a:cs typeface="Times New Roman"/>
              </a:rPr>
              <a:t>Q</a:t>
            </a:r>
            <a:endParaRPr sz="2118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10361" y="1993695"/>
            <a:ext cx="4819930" cy="33125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814544" y="2196800"/>
            <a:ext cx="679637" cy="868345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30555">
              <a:spcBef>
                <a:spcPts val="88"/>
              </a:spcBef>
            </a:pPr>
            <a:r>
              <a:rPr sz="2118" spc="-22" dirty="0">
                <a:latin typeface="Times New Roman"/>
                <a:cs typeface="Times New Roman"/>
              </a:rPr>
              <a:t>ATC</a:t>
            </a:r>
            <a:endParaRPr sz="2118">
              <a:latin typeface="Times New Roman"/>
              <a:cs typeface="Times New Roman"/>
            </a:endParaRPr>
          </a:p>
          <a:p>
            <a:pPr marL="11206">
              <a:spcBef>
                <a:spcPts val="1588"/>
              </a:spcBef>
            </a:pPr>
            <a:r>
              <a:rPr sz="2118" spc="-22" dirty="0">
                <a:latin typeface="Times New Roman"/>
                <a:cs typeface="Times New Roman"/>
              </a:rPr>
              <a:t>AVC</a:t>
            </a:r>
            <a:endParaRPr sz="2118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24350" y="1883484"/>
            <a:ext cx="442072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spc="-22" dirty="0">
                <a:latin typeface="Times New Roman"/>
                <a:cs typeface="Times New Roman"/>
              </a:rPr>
              <a:t>MC</a:t>
            </a:r>
            <a:endParaRPr sz="2118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37559" y="3686734"/>
            <a:ext cx="560294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spc="-22" dirty="0">
                <a:latin typeface="Times New Roman"/>
                <a:cs typeface="Times New Roman"/>
              </a:rPr>
              <a:t>ATC</a:t>
            </a:r>
            <a:endParaRPr sz="211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26802" y="4406151"/>
            <a:ext cx="591110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spc="-22" dirty="0">
                <a:latin typeface="Times New Roman"/>
                <a:cs typeface="Times New Roman"/>
              </a:rPr>
              <a:t>AVC</a:t>
            </a:r>
            <a:endParaRPr sz="2118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30738" y="5323240"/>
            <a:ext cx="350744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118" spc="-22" dirty="0">
                <a:latin typeface="Times New Roman"/>
                <a:cs typeface="Times New Roman"/>
              </a:rPr>
              <a:t>Q</a:t>
            </a:r>
            <a:r>
              <a:rPr sz="2118" spc="-33" baseline="-20833" dirty="0">
                <a:latin typeface="Times New Roman"/>
                <a:cs typeface="Times New Roman"/>
              </a:rPr>
              <a:t>0</a:t>
            </a:r>
            <a:endParaRPr sz="2118" baseline="-20833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148404" y="3839136"/>
            <a:ext cx="119903" cy="688601"/>
          </a:xfrm>
          <a:custGeom>
            <a:avLst/>
            <a:gdLst/>
            <a:ahLst/>
            <a:cxnLst/>
            <a:rect l="l" t="t" r="r" b="b"/>
            <a:pathLst>
              <a:path w="135889" h="780414">
                <a:moveTo>
                  <a:pt x="135635" y="0"/>
                </a:moveTo>
                <a:lnTo>
                  <a:pt x="109085" y="5095"/>
                </a:lnTo>
                <a:lnTo>
                  <a:pt x="87820" y="19049"/>
                </a:lnTo>
                <a:lnTo>
                  <a:pt x="73699" y="39862"/>
                </a:lnTo>
                <a:lnTo>
                  <a:pt x="68579" y="65531"/>
                </a:lnTo>
                <a:lnTo>
                  <a:pt x="68579" y="324611"/>
                </a:lnTo>
                <a:lnTo>
                  <a:pt x="63222" y="350281"/>
                </a:lnTo>
                <a:lnTo>
                  <a:pt x="48577" y="371093"/>
                </a:lnTo>
                <a:lnTo>
                  <a:pt x="26789" y="385048"/>
                </a:lnTo>
                <a:lnTo>
                  <a:pt x="0" y="390143"/>
                </a:lnTo>
                <a:lnTo>
                  <a:pt x="26789" y="395239"/>
                </a:lnTo>
                <a:lnTo>
                  <a:pt x="48577" y="409193"/>
                </a:lnTo>
                <a:lnTo>
                  <a:pt x="63222" y="430006"/>
                </a:lnTo>
                <a:lnTo>
                  <a:pt x="68579" y="455675"/>
                </a:lnTo>
                <a:lnTo>
                  <a:pt x="68579" y="714755"/>
                </a:lnTo>
                <a:lnTo>
                  <a:pt x="73699" y="740425"/>
                </a:lnTo>
                <a:lnTo>
                  <a:pt x="87820" y="761237"/>
                </a:lnTo>
                <a:lnTo>
                  <a:pt x="109085" y="775192"/>
                </a:lnTo>
                <a:lnTo>
                  <a:pt x="135635" y="780287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3" name="object 13"/>
          <p:cNvSpPr txBox="1"/>
          <p:nvPr/>
        </p:nvSpPr>
        <p:spPr>
          <a:xfrm>
            <a:off x="2534770" y="3986604"/>
            <a:ext cx="546847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spc="-22" dirty="0">
                <a:latin typeface="Times New Roman"/>
                <a:cs typeface="Times New Roman"/>
              </a:rPr>
              <a:t>AFC</a:t>
            </a:r>
            <a:endParaRPr sz="2118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011706" y="3832412"/>
            <a:ext cx="1680882" cy="739588"/>
          </a:xfrm>
          <a:custGeom>
            <a:avLst/>
            <a:gdLst/>
            <a:ahLst/>
            <a:cxnLst/>
            <a:rect l="l" t="t" r="r" b="b"/>
            <a:pathLst>
              <a:path w="1905000" h="838200">
                <a:moveTo>
                  <a:pt x="0" y="0"/>
                </a:moveTo>
                <a:lnTo>
                  <a:pt x="0" y="838199"/>
                </a:lnTo>
                <a:lnTo>
                  <a:pt x="1904999" y="838199"/>
                </a:lnTo>
                <a:lnTo>
                  <a:pt x="1904999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5" name="object 15"/>
          <p:cNvSpPr txBox="1"/>
          <p:nvPr/>
        </p:nvSpPr>
        <p:spPr>
          <a:xfrm>
            <a:off x="4254648" y="4020221"/>
            <a:ext cx="1196228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dirty="0">
                <a:latin typeface="Times New Roman"/>
                <a:cs typeface="Times New Roman"/>
              </a:rPr>
              <a:t>Fixed</a:t>
            </a:r>
            <a:r>
              <a:rPr sz="2118" spc="-26" dirty="0">
                <a:latin typeface="Times New Roman"/>
                <a:cs typeface="Times New Roman"/>
              </a:rPr>
              <a:t> </a:t>
            </a:r>
            <a:r>
              <a:rPr sz="2118" spc="-18" dirty="0">
                <a:latin typeface="Times New Roman"/>
                <a:cs typeface="Times New Roman"/>
              </a:rPr>
              <a:t>Cost</a:t>
            </a:r>
            <a:endParaRPr sz="2118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236733" y="3492201"/>
            <a:ext cx="601196" cy="577103"/>
          </a:xfrm>
          <a:custGeom>
            <a:avLst/>
            <a:gdLst/>
            <a:ahLst/>
            <a:cxnLst/>
            <a:rect l="l" t="t" r="r" b="b"/>
            <a:pathLst>
              <a:path w="681354" h="654050">
                <a:moveTo>
                  <a:pt x="52443" y="597182"/>
                </a:moveTo>
                <a:lnTo>
                  <a:pt x="28956" y="573024"/>
                </a:lnTo>
                <a:lnTo>
                  <a:pt x="0" y="653796"/>
                </a:lnTo>
                <a:lnTo>
                  <a:pt x="41148" y="640842"/>
                </a:lnTo>
                <a:lnTo>
                  <a:pt x="41148" y="609600"/>
                </a:lnTo>
                <a:lnTo>
                  <a:pt x="42672" y="606552"/>
                </a:lnTo>
                <a:lnTo>
                  <a:pt x="52443" y="597182"/>
                </a:lnTo>
                <a:close/>
              </a:path>
              <a:path w="681354" h="654050">
                <a:moveTo>
                  <a:pt x="59176" y="604107"/>
                </a:moveTo>
                <a:lnTo>
                  <a:pt x="52443" y="597182"/>
                </a:lnTo>
                <a:lnTo>
                  <a:pt x="42672" y="606552"/>
                </a:lnTo>
                <a:lnTo>
                  <a:pt x="41148" y="609600"/>
                </a:lnTo>
                <a:lnTo>
                  <a:pt x="42672" y="612648"/>
                </a:lnTo>
                <a:lnTo>
                  <a:pt x="45720" y="614172"/>
                </a:lnTo>
                <a:lnTo>
                  <a:pt x="50292" y="612648"/>
                </a:lnTo>
                <a:lnTo>
                  <a:pt x="59176" y="604107"/>
                </a:lnTo>
                <a:close/>
              </a:path>
              <a:path w="681354" h="654050">
                <a:moveTo>
                  <a:pt x="82296" y="627888"/>
                </a:moveTo>
                <a:lnTo>
                  <a:pt x="59176" y="604107"/>
                </a:lnTo>
                <a:lnTo>
                  <a:pt x="50292" y="612648"/>
                </a:lnTo>
                <a:lnTo>
                  <a:pt x="45720" y="614172"/>
                </a:lnTo>
                <a:lnTo>
                  <a:pt x="42672" y="612648"/>
                </a:lnTo>
                <a:lnTo>
                  <a:pt x="41148" y="609600"/>
                </a:lnTo>
                <a:lnTo>
                  <a:pt x="41148" y="640842"/>
                </a:lnTo>
                <a:lnTo>
                  <a:pt x="82296" y="627888"/>
                </a:lnTo>
                <a:close/>
              </a:path>
              <a:path w="681354" h="654050">
                <a:moveTo>
                  <a:pt x="681228" y="4572"/>
                </a:moveTo>
                <a:lnTo>
                  <a:pt x="679704" y="1524"/>
                </a:lnTo>
                <a:lnTo>
                  <a:pt x="676656" y="0"/>
                </a:lnTo>
                <a:lnTo>
                  <a:pt x="673608" y="1524"/>
                </a:lnTo>
                <a:lnTo>
                  <a:pt x="52443" y="597182"/>
                </a:lnTo>
                <a:lnTo>
                  <a:pt x="59176" y="604107"/>
                </a:lnTo>
                <a:lnTo>
                  <a:pt x="679704" y="7620"/>
                </a:lnTo>
                <a:lnTo>
                  <a:pt x="681228" y="45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xfrm>
            <a:off x="8989564" y="6935043"/>
            <a:ext cx="342900" cy="194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 spc="-10"/>
              <a:t>5-</a:t>
            </a:r>
            <a:fld id="{81D60167-4931-47E6-BA6A-407CBD079E47}" type="slidenum">
              <a:rPr spc="-25" smtClean="0"/>
              <a:pPr marL="12700">
                <a:lnSpc>
                  <a:spcPts val="1410"/>
                </a:lnSpc>
              </a:pPr>
              <a:t>5</a:t>
            </a:fld>
            <a:endParaRPr spc="-22" dirty="0"/>
          </a:p>
        </p:txBody>
      </p:sp>
      <p:sp>
        <p:nvSpPr>
          <p:cNvPr id="22" name="object 7">
            <a:extLst>
              <a:ext uri="{FF2B5EF4-FFF2-40B4-BE49-F238E27FC236}">
                <a16:creationId xmlns:a16="http://schemas.microsoft.com/office/drawing/2014/main" id="{C891199D-6EDC-0D9F-A229-11748AA3F34F}"/>
              </a:ext>
            </a:extLst>
          </p:cNvPr>
          <p:cNvSpPr txBox="1"/>
          <p:nvPr/>
        </p:nvSpPr>
        <p:spPr>
          <a:xfrm>
            <a:off x="3148404" y="2220722"/>
            <a:ext cx="636438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IN" sz="2118" dirty="0">
                <a:latin typeface="Times New Roman"/>
                <a:cs typeface="Times New Roman"/>
              </a:rPr>
              <a:t>Cost</a:t>
            </a:r>
            <a:endParaRPr sz="2118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369555"/>
            <a:ext cx="9278471" cy="1074841"/>
          </a:xfrm>
          <a:prstGeom prst="rect">
            <a:avLst/>
          </a:prstGeom>
        </p:spPr>
        <p:txBody>
          <a:bodyPr vert="horz" wrap="square" lIns="0" tIns="393886" rIns="0" bIns="0" rtlCol="0" anchor="ctr">
            <a:spAutoFit/>
          </a:bodyPr>
          <a:lstStyle/>
          <a:p>
            <a:pPr marL="2374093">
              <a:lnSpc>
                <a:spcPct val="100000"/>
              </a:lnSpc>
              <a:spcBef>
                <a:spcPts val="84"/>
              </a:spcBef>
            </a:pPr>
            <a:r>
              <a:rPr dirty="0"/>
              <a:t>Variable</a:t>
            </a:r>
            <a:r>
              <a:rPr spc="-40" dirty="0"/>
              <a:t> </a:t>
            </a:r>
            <a:r>
              <a:rPr spc="-18" dirty="0"/>
              <a:t>Cost</a:t>
            </a:r>
          </a:p>
        </p:txBody>
      </p:sp>
      <p:sp>
        <p:nvSpPr>
          <p:cNvPr id="3" name="object 3"/>
          <p:cNvSpPr/>
          <p:nvPr/>
        </p:nvSpPr>
        <p:spPr>
          <a:xfrm>
            <a:off x="3527612" y="2268530"/>
            <a:ext cx="5353610" cy="3102349"/>
          </a:xfrm>
          <a:custGeom>
            <a:avLst/>
            <a:gdLst/>
            <a:ahLst/>
            <a:cxnLst/>
            <a:rect l="l" t="t" r="r" b="b"/>
            <a:pathLst>
              <a:path w="6067425" h="3515995">
                <a:moveTo>
                  <a:pt x="6067044" y="3477768"/>
                </a:moveTo>
                <a:lnTo>
                  <a:pt x="5990844" y="3439668"/>
                </a:lnTo>
                <a:lnTo>
                  <a:pt x="5990844" y="3473196"/>
                </a:lnTo>
                <a:lnTo>
                  <a:pt x="42672" y="3473196"/>
                </a:lnTo>
                <a:lnTo>
                  <a:pt x="42672" y="76200"/>
                </a:lnTo>
                <a:lnTo>
                  <a:pt x="76200" y="76200"/>
                </a:lnTo>
                <a:lnTo>
                  <a:pt x="38100" y="0"/>
                </a:lnTo>
                <a:lnTo>
                  <a:pt x="0" y="76200"/>
                </a:lnTo>
                <a:lnTo>
                  <a:pt x="32004" y="76200"/>
                </a:lnTo>
                <a:lnTo>
                  <a:pt x="32004" y="3477768"/>
                </a:lnTo>
                <a:lnTo>
                  <a:pt x="33528" y="3480816"/>
                </a:lnTo>
                <a:lnTo>
                  <a:pt x="38100" y="3482340"/>
                </a:lnTo>
                <a:lnTo>
                  <a:pt x="5990844" y="3482340"/>
                </a:lnTo>
                <a:lnTo>
                  <a:pt x="5990844" y="3515868"/>
                </a:lnTo>
                <a:lnTo>
                  <a:pt x="6007608" y="3507486"/>
                </a:lnTo>
                <a:lnTo>
                  <a:pt x="6067044" y="34777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 txBox="1"/>
          <p:nvPr/>
        </p:nvSpPr>
        <p:spPr>
          <a:xfrm>
            <a:off x="8810542" y="5329964"/>
            <a:ext cx="217393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spc="-44" dirty="0">
                <a:latin typeface="Times New Roman"/>
                <a:cs typeface="Times New Roman"/>
              </a:rPr>
              <a:t>Q</a:t>
            </a:r>
            <a:endParaRPr sz="2118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9128" y="2025967"/>
            <a:ext cx="5096939" cy="331923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616873" y="2075777"/>
            <a:ext cx="697006" cy="93060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 indent="136719">
              <a:lnSpc>
                <a:spcPct val="150400"/>
              </a:lnSpc>
              <a:spcBef>
                <a:spcPts val="88"/>
              </a:spcBef>
            </a:pPr>
            <a:r>
              <a:rPr sz="2118" spc="-22" dirty="0">
                <a:latin typeface="Times New Roman"/>
                <a:cs typeface="Times New Roman"/>
              </a:rPr>
              <a:t>ATC AVC</a:t>
            </a:r>
            <a:endParaRPr sz="2118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70200" y="1914413"/>
            <a:ext cx="442072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spc="-22" dirty="0">
                <a:latin typeface="Times New Roman"/>
                <a:cs typeface="Times New Roman"/>
              </a:rPr>
              <a:t>MC</a:t>
            </a:r>
            <a:endParaRPr sz="2118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70947" y="4488178"/>
            <a:ext cx="591110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spc="-22" dirty="0">
                <a:latin typeface="Times New Roman"/>
                <a:cs typeface="Times New Roman"/>
              </a:rPr>
              <a:t>AVC</a:t>
            </a:r>
            <a:endParaRPr sz="211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61230" y="4639236"/>
            <a:ext cx="1795181" cy="503573"/>
          </a:xfrm>
          <a:prstGeom prst="rect">
            <a:avLst/>
          </a:prstGeom>
          <a:solidFill>
            <a:srgbClr val="32CCFF"/>
          </a:solidFill>
          <a:ln w="9524">
            <a:solidFill>
              <a:srgbClr val="000000"/>
            </a:solidFill>
          </a:ln>
        </p:spPr>
        <p:txBody>
          <a:bodyPr vert="horz" wrap="square" lIns="0" tIns="175932" rIns="0" bIns="0" rtlCol="0">
            <a:spAutoFit/>
          </a:bodyPr>
          <a:lstStyle/>
          <a:p>
            <a:pPr marL="154089">
              <a:spcBef>
                <a:spcPts val="1385"/>
              </a:spcBef>
            </a:pPr>
            <a:r>
              <a:rPr sz="2118" dirty="0">
                <a:latin typeface="Times New Roman"/>
                <a:cs typeface="Times New Roman"/>
              </a:rPr>
              <a:t>Variable</a:t>
            </a:r>
            <a:r>
              <a:rPr sz="2118" spc="-49" dirty="0">
                <a:latin typeface="Times New Roman"/>
                <a:cs typeface="Times New Roman"/>
              </a:rPr>
              <a:t> </a:t>
            </a:r>
            <a:r>
              <a:rPr sz="2118" spc="-18" dirty="0">
                <a:latin typeface="Times New Roman"/>
                <a:cs typeface="Times New Roman"/>
              </a:rPr>
              <a:t>Cost</a:t>
            </a:r>
            <a:endParaRPr sz="2118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42121" y="5386442"/>
            <a:ext cx="350744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118" spc="-22" dirty="0">
                <a:latin typeface="Times New Roman"/>
                <a:cs typeface="Times New Roman"/>
              </a:rPr>
              <a:t>Q</a:t>
            </a:r>
            <a:r>
              <a:rPr sz="2118" spc="-33" baseline="-20833" dirty="0">
                <a:latin typeface="Times New Roman"/>
                <a:cs typeface="Times New Roman"/>
              </a:rPr>
              <a:t>0</a:t>
            </a:r>
            <a:endParaRPr sz="2118" baseline="-20833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628926" y="3190987"/>
            <a:ext cx="520513" cy="1451162"/>
          </a:xfrm>
          <a:custGeom>
            <a:avLst/>
            <a:gdLst/>
            <a:ahLst/>
            <a:cxnLst/>
            <a:rect l="l" t="t" r="r" b="b"/>
            <a:pathLst>
              <a:path w="589914" h="1644650">
                <a:moveTo>
                  <a:pt x="30310" y="1570894"/>
                </a:moveTo>
                <a:lnTo>
                  <a:pt x="0" y="1560576"/>
                </a:lnTo>
                <a:lnTo>
                  <a:pt x="10668" y="1644396"/>
                </a:lnTo>
                <a:lnTo>
                  <a:pt x="25908" y="1629537"/>
                </a:lnTo>
                <a:lnTo>
                  <a:pt x="25908" y="1583436"/>
                </a:lnTo>
                <a:lnTo>
                  <a:pt x="30310" y="1570894"/>
                </a:lnTo>
                <a:close/>
              </a:path>
              <a:path w="589914" h="1644650">
                <a:moveTo>
                  <a:pt x="39433" y="1574000"/>
                </a:moveTo>
                <a:lnTo>
                  <a:pt x="30310" y="1570894"/>
                </a:lnTo>
                <a:lnTo>
                  <a:pt x="25908" y="1583436"/>
                </a:lnTo>
                <a:lnTo>
                  <a:pt x="28956" y="1589532"/>
                </a:lnTo>
                <a:lnTo>
                  <a:pt x="33528" y="1589532"/>
                </a:lnTo>
                <a:lnTo>
                  <a:pt x="35052" y="1586484"/>
                </a:lnTo>
                <a:lnTo>
                  <a:pt x="39433" y="1574000"/>
                </a:lnTo>
                <a:close/>
              </a:path>
              <a:path w="589914" h="1644650">
                <a:moveTo>
                  <a:pt x="71628" y="1584960"/>
                </a:moveTo>
                <a:lnTo>
                  <a:pt x="39433" y="1574000"/>
                </a:lnTo>
                <a:lnTo>
                  <a:pt x="35052" y="1586484"/>
                </a:lnTo>
                <a:lnTo>
                  <a:pt x="33528" y="1589532"/>
                </a:lnTo>
                <a:lnTo>
                  <a:pt x="28956" y="1589532"/>
                </a:lnTo>
                <a:lnTo>
                  <a:pt x="25908" y="1583436"/>
                </a:lnTo>
                <a:lnTo>
                  <a:pt x="25908" y="1629537"/>
                </a:lnTo>
                <a:lnTo>
                  <a:pt x="71628" y="1584960"/>
                </a:lnTo>
                <a:close/>
              </a:path>
              <a:path w="589914" h="1644650">
                <a:moveTo>
                  <a:pt x="589788" y="6096"/>
                </a:moveTo>
                <a:lnTo>
                  <a:pt x="586740" y="0"/>
                </a:lnTo>
                <a:lnTo>
                  <a:pt x="582168" y="0"/>
                </a:lnTo>
                <a:lnTo>
                  <a:pt x="580644" y="3048"/>
                </a:lnTo>
                <a:lnTo>
                  <a:pt x="30310" y="1570894"/>
                </a:lnTo>
                <a:lnTo>
                  <a:pt x="39433" y="1574000"/>
                </a:lnTo>
                <a:lnTo>
                  <a:pt x="589788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4" name="object 14"/>
          <p:cNvSpPr txBox="1"/>
          <p:nvPr/>
        </p:nvSpPr>
        <p:spPr>
          <a:xfrm>
            <a:off x="6837827" y="4863350"/>
            <a:ext cx="1525121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latin typeface="Times New Roman"/>
                <a:cs typeface="Times New Roman"/>
              </a:rPr>
              <a:t>Minimum</a:t>
            </a:r>
            <a:r>
              <a:rPr sz="1588" spc="-22" dirty="0">
                <a:latin typeface="Times New Roman"/>
                <a:cs typeface="Times New Roman"/>
              </a:rPr>
              <a:t> </a:t>
            </a:r>
            <a:r>
              <a:rPr sz="1588" dirty="0">
                <a:latin typeface="Times New Roman"/>
                <a:cs typeface="Times New Roman"/>
              </a:rPr>
              <a:t>of</a:t>
            </a:r>
            <a:r>
              <a:rPr sz="1588" spc="-13" dirty="0">
                <a:latin typeface="Times New Roman"/>
                <a:cs typeface="Times New Roman"/>
              </a:rPr>
              <a:t> </a:t>
            </a:r>
            <a:r>
              <a:rPr sz="1588" spc="-22" dirty="0">
                <a:latin typeface="Times New Roman"/>
                <a:cs typeface="Times New Roman"/>
              </a:rPr>
              <a:t>AVC</a:t>
            </a:r>
            <a:endParaRPr sz="1588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961530" y="4757569"/>
            <a:ext cx="808504" cy="226359"/>
          </a:xfrm>
          <a:custGeom>
            <a:avLst/>
            <a:gdLst/>
            <a:ahLst/>
            <a:cxnLst/>
            <a:rect l="l" t="t" r="r" b="b"/>
            <a:pathLst>
              <a:path w="916304" h="256539">
                <a:moveTo>
                  <a:pt x="83820" y="0"/>
                </a:moveTo>
                <a:lnTo>
                  <a:pt x="0" y="18288"/>
                </a:lnTo>
                <a:lnTo>
                  <a:pt x="59436" y="69233"/>
                </a:lnTo>
                <a:lnTo>
                  <a:pt x="59436" y="42672"/>
                </a:lnTo>
                <a:lnTo>
                  <a:pt x="64008" y="24384"/>
                </a:lnTo>
                <a:lnTo>
                  <a:pt x="76377" y="27481"/>
                </a:lnTo>
                <a:lnTo>
                  <a:pt x="83820" y="0"/>
                </a:lnTo>
                <a:close/>
              </a:path>
              <a:path w="916304" h="256539">
                <a:moveTo>
                  <a:pt x="76377" y="27481"/>
                </a:moveTo>
                <a:lnTo>
                  <a:pt x="64008" y="24384"/>
                </a:lnTo>
                <a:lnTo>
                  <a:pt x="59436" y="42672"/>
                </a:lnTo>
                <a:lnTo>
                  <a:pt x="71448" y="45680"/>
                </a:lnTo>
                <a:lnTo>
                  <a:pt x="76377" y="27481"/>
                </a:lnTo>
                <a:close/>
              </a:path>
              <a:path w="916304" h="256539">
                <a:moveTo>
                  <a:pt x="71448" y="45680"/>
                </a:moveTo>
                <a:lnTo>
                  <a:pt x="59436" y="42672"/>
                </a:lnTo>
                <a:lnTo>
                  <a:pt x="59436" y="69233"/>
                </a:lnTo>
                <a:lnTo>
                  <a:pt x="64008" y="73152"/>
                </a:lnTo>
                <a:lnTo>
                  <a:pt x="71448" y="45680"/>
                </a:lnTo>
                <a:close/>
              </a:path>
              <a:path w="916304" h="256539">
                <a:moveTo>
                  <a:pt x="915924" y="237744"/>
                </a:moveTo>
                <a:lnTo>
                  <a:pt x="76377" y="27481"/>
                </a:lnTo>
                <a:lnTo>
                  <a:pt x="71448" y="45680"/>
                </a:lnTo>
                <a:lnTo>
                  <a:pt x="911352" y="256032"/>
                </a:lnTo>
                <a:lnTo>
                  <a:pt x="915924" y="2377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8989564" y="6935043"/>
            <a:ext cx="342900" cy="194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 spc="-10"/>
              <a:t>5-</a:t>
            </a:r>
            <a:fld id="{81D60167-4931-47E6-BA6A-407CBD079E47}" type="slidenum">
              <a:rPr spc="-25" smtClean="0"/>
              <a:pPr marL="12700">
                <a:lnSpc>
                  <a:spcPts val="1410"/>
                </a:lnSpc>
              </a:pPr>
              <a:t>6</a:t>
            </a:fld>
            <a:endParaRPr spc="-22" dirty="0"/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FF52EAEF-6ED6-00D1-057A-DBA3EB5190AC}"/>
              </a:ext>
            </a:extLst>
          </p:cNvPr>
          <p:cNvSpPr txBox="1"/>
          <p:nvPr/>
        </p:nvSpPr>
        <p:spPr>
          <a:xfrm>
            <a:off x="2476072" y="1981470"/>
            <a:ext cx="770386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IN" sz="2118" dirty="0">
                <a:latin typeface="Times New Roman"/>
                <a:cs typeface="Times New Roman"/>
              </a:rPr>
              <a:t>Cost</a:t>
            </a:r>
            <a:endParaRPr sz="2118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98520" y="2185157"/>
            <a:ext cx="5411321" cy="3207124"/>
          </a:xfrm>
          <a:custGeom>
            <a:avLst/>
            <a:gdLst/>
            <a:ahLst/>
            <a:cxnLst/>
            <a:rect l="l" t="t" r="r" b="b"/>
            <a:pathLst>
              <a:path w="6132830" h="3634740">
                <a:moveTo>
                  <a:pt x="6132576" y="3596640"/>
                </a:moveTo>
                <a:lnTo>
                  <a:pt x="6056376" y="3558540"/>
                </a:lnTo>
                <a:lnTo>
                  <a:pt x="6056376" y="3592068"/>
                </a:lnTo>
                <a:lnTo>
                  <a:pt x="42672" y="3592068"/>
                </a:lnTo>
                <a:lnTo>
                  <a:pt x="42672" y="76200"/>
                </a:lnTo>
                <a:lnTo>
                  <a:pt x="76200" y="76200"/>
                </a:lnTo>
                <a:lnTo>
                  <a:pt x="38100" y="0"/>
                </a:lnTo>
                <a:lnTo>
                  <a:pt x="0" y="76200"/>
                </a:lnTo>
                <a:lnTo>
                  <a:pt x="33528" y="76200"/>
                </a:lnTo>
                <a:lnTo>
                  <a:pt x="33528" y="3596640"/>
                </a:lnTo>
                <a:lnTo>
                  <a:pt x="35052" y="3601212"/>
                </a:lnTo>
                <a:lnTo>
                  <a:pt x="38100" y="3602736"/>
                </a:lnTo>
                <a:lnTo>
                  <a:pt x="6056376" y="3602736"/>
                </a:lnTo>
                <a:lnTo>
                  <a:pt x="6056376" y="3634740"/>
                </a:lnTo>
                <a:lnTo>
                  <a:pt x="6073140" y="3626358"/>
                </a:lnTo>
                <a:lnTo>
                  <a:pt x="6132576" y="35966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 txBox="1"/>
          <p:nvPr/>
        </p:nvSpPr>
        <p:spPr>
          <a:xfrm>
            <a:off x="8736577" y="5347445"/>
            <a:ext cx="217393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spc="-44" dirty="0">
                <a:latin typeface="Times New Roman"/>
                <a:cs typeface="Times New Roman"/>
              </a:rPr>
              <a:t>Q</a:t>
            </a:r>
            <a:endParaRPr sz="2118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4062" y="1787269"/>
            <a:ext cx="5411321" cy="36050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544258" y="1956098"/>
            <a:ext cx="689162" cy="976195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 indent="128875">
              <a:lnSpc>
                <a:spcPct val="158300"/>
              </a:lnSpc>
              <a:spcBef>
                <a:spcPts val="88"/>
              </a:spcBef>
            </a:pPr>
            <a:r>
              <a:rPr sz="2118" spc="-22" dirty="0">
                <a:latin typeface="Times New Roman"/>
                <a:cs typeface="Times New Roman"/>
              </a:rPr>
              <a:t>ATC AVC</a:t>
            </a:r>
            <a:endParaRPr sz="2118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85484" y="1817594"/>
            <a:ext cx="442072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spc="-22" dirty="0">
                <a:latin typeface="Times New Roman"/>
                <a:cs typeface="Times New Roman"/>
              </a:rPr>
              <a:t>MC</a:t>
            </a:r>
            <a:endParaRPr sz="2118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69240" y="3701526"/>
            <a:ext cx="560294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spc="-22" dirty="0">
                <a:latin typeface="Times New Roman"/>
                <a:cs typeface="Times New Roman"/>
              </a:rPr>
              <a:t>ATC</a:t>
            </a:r>
            <a:endParaRPr sz="2118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425246" y="3828210"/>
            <a:ext cx="1801346" cy="1554816"/>
            <a:chOff x="2002345" y="4338637"/>
            <a:chExt cx="2041525" cy="1762125"/>
          </a:xfrm>
        </p:grpSpPr>
        <p:sp>
          <p:nvSpPr>
            <p:cNvPr id="10" name="object 10"/>
            <p:cNvSpPr/>
            <p:nvPr/>
          </p:nvSpPr>
          <p:spPr>
            <a:xfrm>
              <a:off x="2007107" y="4343400"/>
              <a:ext cx="2032000" cy="1752600"/>
            </a:xfrm>
            <a:custGeom>
              <a:avLst/>
              <a:gdLst/>
              <a:ahLst/>
              <a:cxnLst/>
              <a:rect l="l" t="t" r="r" b="b"/>
              <a:pathLst>
                <a:path w="2032000" h="1752600">
                  <a:moveTo>
                    <a:pt x="2031491" y="1752599"/>
                  </a:moveTo>
                  <a:lnTo>
                    <a:pt x="2031491" y="0"/>
                  </a:lnTo>
                  <a:lnTo>
                    <a:pt x="0" y="0"/>
                  </a:lnTo>
                  <a:lnTo>
                    <a:pt x="0" y="1752599"/>
                  </a:lnTo>
                  <a:lnTo>
                    <a:pt x="2031491" y="1752599"/>
                  </a:lnTo>
                  <a:close/>
                </a:path>
              </a:pathLst>
            </a:custGeom>
            <a:solidFill>
              <a:srgbClr val="32CC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2007107" y="4343400"/>
              <a:ext cx="2032000" cy="1752600"/>
            </a:xfrm>
            <a:custGeom>
              <a:avLst/>
              <a:gdLst/>
              <a:ahLst/>
              <a:cxnLst/>
              <a:rect l="l" t="t" r="r" b="b"/>
              <a:pathLst>
                <a:path w="2032000" h="1752600">
                  <a:moveTo>
                    <a:pt x="0" y="0"/>
                  </a:moveTo>
                  <a:lnTo>
                    <a:pt x="0" y="1752599"/>
                  </a:lnTo>
                  <a:lnTo>
                    <a:pt x="2031491" y="1752599"/>
                  </a:lnTo>
                  <a:lnTo>
                    <a:pt x="2031491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751729" y="4423632"/>
            <a:ext cx="1149163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dirty="0">
                <a:latin typeface="Times New Roman"/>
                <a:cs typeface="Times New Roman"/>
              </a:rPr>
              <a:t>Total</a:t>
            </a:r>
            <a:r>
              <a:rPr sz="2118" spc="-35" dirty="0">
                <a:latin typeface="Times New Roman"/>
                <a:cs typeface="Times New Roman"/>
              </a:rPr>
              <a:t> </a:t>
            </a:r>
            <a:r>
              <a:rPr sz="2118" spc="-18" dirty="0">
                <a:latin typeface="Times New Roman"/>
                <a:cs typeface="Times New Roman"/>
              </a:rPr>
              <a:t>Cost</a:t>
            </a:r>
            <a:endParaRPr sz="2118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30500" y="5410646"/>
            <a:ext cx="350744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118" spc="-22" dirty="0">
                <a:latin typeface="Times New Roman"/>
                <a:cs typeface="Times New Roman"/>
              </a:rPr>
              <a:t>Q</a:t>
            </a:r>
            <a:r>
              <a:rPr sz="2118" spc="-33" baseline="-20833" dirty="0">
                <a:latin typeface="Times New Roman"/>
                <a:cs typeface="Times New Roman"/>
              </a:rPr>
              <a:t>0</a:t>
            </a:r>
            <a:endParaRPr sz="2118" baseline="-20833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763397" y="2899197"/>
            <a:ext cx="2611531" cy="1613647"/>
          </a:xfrm>
          <a:custGeom>
            <a:avLst/>
            <a:gdLst/>
            <a:ahLst/>
            <a:cxnLst/>
            <a:rect l="l" t="t" r="r" b="b"/>
            <a:pathLst>
              <a:path w="2959735" h="1828800">
                <a:moveTo>
                  <a:pt x="454152" y="3048"/>
                </a:moveTo>
                <a:lnTo>
                  <a:pt x="451104" y="0"/>
                </a:lnTo>
                <a:lnTo>
                  <a:pt x="445008" y="3048"/>
                </a:lnTo>
                <a:lnTo>
                  <a:pt x="32562" y="1356702"/>
                </a:lnTo>
                <a:lnTo>
                  <a:pt x="0" y="1347216"/>
                </a:lnTo>
                <a:lnTo>
                  <a:pt x="15240" y="1431036"/>
                </a:lnTo>
                <a:lnTo>
                  <a:pt x="28956" y="1416227"/>
                </a:lnTo>
                <a:lnTo>
                  <a:pt x="73152" y="1368552"/>
                </a:lnTo>
                <a:lnTo>
                  <a:pt x="41808" y="1359408"/>
                </a:lnTo>
                <a:lnTo>
                  <a:pt x="454152" y="6096"/>
                </a:lnTo>
                <a:lnTo>
                  <a:pt x="454152" y="3048"/>
                </a:lnTo>
                <a:close/>
              </a:path>
              <a:path w="2959735" h="1828800">
                <a:moveTo>
                  <a:pt x="2959608" y="1810512"/>
                </a:moveTo>
                <a:lnTo>
                  <a:pt x="1815249" y="1524038"/>
                </a:lnTo>
                <a:lnTo>
                  <a:pt x="1822704" y="1496568"/>
                </a:lnTo>
                <a:lnTo>
                  <a:pt x="1738884" y="1514856"/>
                </a:lnTo>
                <a:lnTo>
                  <a:pt x="1798320" y="1565795"/>
                </a:lnTo>
                <a:lnTo>
                  <a:pt x="1802892" y="1569720"/>
                </a:lnTo>
                <a:lnTo>
                  <a:pt x="1810321" y="1542237"/>
                </a:lnTo>
                <a:lnTo>
                  <a:pt x="2955036" y="1828800"/>
                </a:lnTo>
                <a:lnTo>
                  <a:pt x="2959608" y="18105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xfrm>
            <a:off x="8989564" y="6935043"/>
            <a:ext cx="342900" cy="194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 spc="-10"/>
              <a:t>5-</a:t>
            </a:r>
            <a:fld id="{81D60167-4931-47E6-BA6A-407CBD079E47}" type="slidenum">
              <a:rPr spc="-25" smtClean="0"/>
              <a:pPr marL="12700">
                <a:lnSpc>
                  <a:spcPts val="1410"/>
                </a:lnSpc>
              </a:pPr>
              <a:t>7</a:t>
            </a:fld>
            <a:endParaRPr spc="-22" dirty="0"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2398059" y="369555"/>
            <a:ext cx="9278471" cy="1074841"/>
          </a:xfrm>
          <a:prstGeom prst="rect">
            <a:avLst/>
          </a:prstGeom>
        </p:spPr>
        <p:txBody>
          <a:bodyPr vert="horz" wrap="square" lIns="0" tIns="393886" rIns="0" bIns="0" rtlCol="0" anchor="ctr">
            <a:spAutoFit/>
          </a:bodyPr>
          <a:lstStyle/>
          <a:p>
            <a:pPr marL="2699081">
              <a:lnSpc>
                <a:spcPct val="100000"/>
              </a:lnSpc>
              <a:spcBef>
                <a:spcPts val="84"/>
              </a:spcBef>
            </a:pPr>
            <a:r>
              <a:rPr dirty="0"/>
              <a:t>Total</a:t>
            </a:r>
            <a:r>
              <a:rPr spc="-44" dirty="0"/>
              <a:t> </a:t>
            </a:r>
            <a:r>
              <a:rPr spc="-18" dirty="0"/>
              <a:t>Cost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442945" y="4392704"/>
            <a:ext cx="1502149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latin typeface="Times New Roman"/>
                <a:cs typeface="Times New Roman"/>
              </a:rPr>
              <a:t>Minimum</a:t>
            </a:r>
            <a:r>
              <a:rPr sz="1588" spc="-22" dirty="0">
                <a:latin typeface="Times New Roman"/>
                <a:cs typeface="Times New Roman"/>
              </a:rPr>
              <a:t> </a:t>
            </a:r>
            <a:r>
              <a:rPr sz="1588" dirty="0">
                <a:latin typeface="Times New Roman"/>
                <a:cs typeface="Times New Roman"/>
              </a:rPr>
              <a:t>of</a:t>
            </a:r>
            <a:r>
              <a:rPr sz="1588" spc="-13" dirty="0">
                <a:latin typeface="Times New Roman"/>
                <a:cs typeface="Times New Roman"/>
              </a:rPr>
              <a:t> </a:t>
            </a:r>
            <a:r>
              <a:rPr sz="1588" spc="-22" dirty="0">
                <a:latin typeface="Times New Roman"/>
                <a:cs typeface="Times New Roman"/>
              </a:rPr>
              <a:t>ATC</a:t>
            </a:r>
            <a:endParaRPr sz="1588">
              <a:latin typeface="Times New Roman"/>
              <a:cs typeface="Times New Roman"/>
            </a:endParaRPr>
          </a:p>
        </p:txBody>
      </p:sp>
      <p:sp>
        <p:nvSpPr>
          <p:cNvPr id="20" name="object 7">
            <a:extLst>
              <a:ext uri="{FF2B5EF4-FFF2-40B4-BE49-F238E27FC236}">
                <a16:creationId xmlns:a16="http://schemas.microsoft.com/office/drawing/2014/main" id="{01649D97-F973-2E53-238A-9BE88E88BDA8}"/>
              </a:ext>
            </a:extLst>
          </p:cNvPr>
          <p:cNvSpPr txBox="1"/>
          <p:nvPr/>
        </p:nvSpPr>
        <p:spPr>
          <a:xfrm>
            <a:off x="2476072" y="2075380"/>
            <a:ext cx="677990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IN" sz="2118" dirty="0">
                <a:latin typeface="Times New Roman"/>
                <a:cs typeface="Times New Roman"/>
              </a:rPr>
              <a:t>Cost</a:t>
            </a:r>
            <a:endParaRPr sz="2118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66160" y="616503"/>
            <a:ext cx="5057775" cy="1364967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4"/>
              </a:spcBef>
            </a:pPr>
            <a:r>
              <a:rPr spc="-9" dirty="0"/>
              <a:t>Long-</a:t>
            </a:r>
            <a:r>
              <a:rPr dirty="0"/>
              <a:t>Run</a:t>
            </a:r>
            <a:r>
              <a:rPr spc="-22" dirty="0"/>
              <a:t> </a:t>
            </a:r>
            <a:r>
              <a:rPr dirty="0"/>
              <a:t>Average</a:t>
            </a:r>
            <a:r>
              <a:rPr spc="-4" dirty="0"/>
              <a:t> </a:t>
            </a:r>
            <a:r>
              <a:rPr spc="-9" dirty="0"/>
              <a:t>Costs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15509" y="2092362"/>
            <a:ext cx="4933950" cy="3320303"/>
            <a:chOff x="2104644" y="2371344"/>
            <a:chExt cx="5591810" cy="3763010"/>
          </a:xfrm>
        </p:grpSpPr>
        <p:sp>
          <p:nvSpPr>
            <p:cNvPr id="4" name="object 4"/>
            <p:cNvSpPr/>
            <p:nvPr/>
          </p:nvSpPr>
          <p:spPr>
            <a:xfrm>
              <a:off x="2104644" y="2371356"/>
              <a:ext cx="5591810" cy="3763010"/>
            </a:xfrm>
            <a:custGeom>
              <a:avLst/>
              <a:gdLst/>
              <a:ahLst/>
              <a:cxnLst/>
              <a:rect l="l" t="t" r="r" b="b"/>
              <a:pathLst>
                <a:path w="5591809" h="3763010">
                  <a:moveTo>
                    <a:pt x="5591556" y="3724656"/>
                  </a:moveTo>
                  <a:lnTo>
                    <a:pt x="5515356" y="3686556"/>
                  </a:lnTo>
                  <a:lnTo>
                    <a:pt x="5515356" y="3720020"/>
                  </a:lnTo>
                  <a:lnTo>
                    <a:pt x="5527548" y="3720084"/>
                  </a:lnTo>
                  <a:lnTo>
                    <a:pt x="42672" y="3692677"/>
                  </a:lnTo>
                  <a:lnTo>
                    <a:pt x="42672" y="76200"/>
                  </a:lnTo>
                  <a:lnTo>
                    <a:pt x="76200" y="762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3528" y="76200"/>
                  </a:lnTo>
                  <a:lnTo>
                    <a:pt x="33528" y="3697224"/>
                  </a:lnTo>
                  <a:lnTo>
                    <a:pt x="35052" y="3701796"/>
                  </a:lnTo>
                  <a:lnTo>
                    <a:pt x="38100" y="3701796"/>
                  </a:lnTo>
                  <a:lnTo>
                    <a:pt x="5515356" y="3729177"/>
                  </a:lnTo>
                  <a:lnTo>
                    <a:pt x="5515356" y="3762756"/>
                  </a:lnTo>
                  <a:lnTo>
                    <a:pt x="5532120" y="3754374"/>
                  </a:lnTo>
                  <a:lnTo>
                    <a:pt x="5591556" y="37246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2368295" y="3294887"/>
              <a:ext cx="4581525" cy="1720214"/>
            </a:xfrm>
            <a:custGeom>
              <a:avLst/>
              <a:gdLst/>
              <a:ahLst/>
              <a:cxnLst/>
              <a:rect l="l" t="t" r="r" b="b"/>
              <a:pathLst>
                <a:path w="4581525" h="1720214">
                  <a:moveTo>
                    <a:pt x="0" y="0"/>
                  </a:moveTo>
                  <a:lnTo>
                    <a:pt x="36576" y="43587"/>
                  </a:lnTo>
                  <a:lnTo>
                    <a:pt x="73154" y="87150"/>
                  </a:lnTo>
                  <a:lnTo>
                    <a:pt x="109735" y="130662"/>
                  </a:lnTo>
                  <a:lnTo>
                    <a:pt x="146322" y="174101"/>
                  </a:lnTo>
                  <a:lnTo>
                    <a:pt x="182916" y="217439"/>
                  </a:lnTo>
                  <a:lnTo>
                    <a:pt x="219518" y="260654"/>
                  </a:lnTo>
                  <a:lnTo>
                    <a:pt x="256131" y="303718"/>
                  </a:lnTo>
                  <a:lnTo>
                    <a:pt x="292755" y="346609"/>
                  </a:lnTo>
                  <a:lnTo>
                    <a:pt x="329394" y="389301"/>
                  </a:lnTo>
                  <a:lnTo>
                    <a:pt x="366048" y="431768"/>
                  </a:lnTo>
                  <a:lnTo>
                    <a:pt x="402720" y="473987"/>
                  </a:lnTo>
                  <a:lnTo>
                    <a:pt x="439411" y="515932"/>
                  </a:lnTo>
                  <a:lnTo>
                    <a:pt x="476122" y="557579"/>
                  </a:lnTo>
                  <a:lnTo>
                    <a:pt x="512857" y="598902"/>
                  </a:lnTo>
                  <a:lnTo>
                    <a:pt x="549615" y="639876"/>
                  </a:lnTo>
                  <a:lnTo>
                    <a:pt x="586399" y="680477"/>
                  </a:lnTo>
                  <a:lnTo>
                    <a:pt x="623211" y="720681"/>
                  </a:lnTo>
                  <a:lnTo>
                    <a:pt x="660053" y="760461"/>
                  </a:lnTo>
                  <a:lnTo>
                    <a:pt x="696926" y="799793"/>
                  </a:lnTo>
                  <a:lnTo>
                    <a:pt x="733832" y="838652"/>
                  </a:lnTo>
                  <a:lnTo>
                    <a:pt x="770772" y="877013"/>
                  </a:lnTo>
                  <a:lnTo>
                    <a:pt x="807749" y="914852"/>
                  </a:lnTo>
                  <a:lnTo>
                    <a:pt x="844764" y="952144"/>
                  </a:lnTo>
                  <a:lnTo>
                    <a:pt x="881819" y="988863"/>
                  </a:lnTo>
                  <a:lnTo>
                    <a:pt x="918915" y="1024985"/>
                  </a:lnTo>
                  <a:lnTo>
                    <a:pt x="956055" y="1060485"/>
                  </a:lnTo>
                  <a:lnTo>
                    <a:pt x="993240" y="1095337"/>
                  </a:lnTo>
                  <a:lnTo>
                    <a:pt x="1030472" y="1129518"/>
                  </a:lnTo>
                  <a:lnTo>
                    <a:pt x="1067752" y="1163002"/>
                  </a:lnTo>
                  <a:lnTo>
                    <a:pt x="1105083" y="1195764"/>
                  </a:lnTo>
                  <a:lnTo>
                    <a:pt x="1142465" y="1227780"/>
                  </a:lnTo>
                  <a:lnTo>
                    <a:pt x="1179902" y="1259024"/>
                  </a:lnTo>
                  <a:lnTo>
                    <a:pt x="1217393" y="1289472"/>
                  </a:lnTo>
                  <a:lnTo>
                    <a:pt x="1254942" y="1319099"/>
                  </a:lnTo>
                  <a:lnTo>
                    <a:pt x="1292550" y="1347880"/>
                  </a:lnTo>
                  <a:lnTo>
                    <a:pt x="1330219" y="1375789"/>
                  </a:lnTo>
                  <a:lnTo>
                    <a:pt x="1367950" y="1402803"/>
                  </a:lnTo>
                  <a:lnTo>
                    <a:pt x="1405746" y="1428896"/>
                  </a:lnTo>
                  <a:lnTo>
                    <a:pt x="1443607" y="1454043"/>
                  </a:lnTo>
                  <a:lnTo>
                    <a:pt x="1481536" y="1478220"/>
                  </a:lnTo>
                  <a:lnTo>
                    <a:pt x="1519534" y="1501401"/>
                  </a:lnTo>
                  <a:lnTo>
                    <a:pt x="1557603" y="1523563"/>
                  </a:lnTo>
                  <a:lnTo>
                    <a:pt x="1595745" y="1544678"/>
                  </a:lnTo>
                  <a:lnTo>
                    <a:pt x="1633962" y="1564724"/>
                  </a:lnTo>
                  <a:lnTo>
                    <a:pt x="1672255" y="1583675"/>
                  </a:lnTo>
                  <a:lnTo>
                    <a:pt x="1710626" y="1601506"/>
                  </a:lnTo>
                  <a:lnTo>
                    <a:pt x="1749077" y="1618192"/>
                  </a:lnTo>
                  <a:lnTo>
                    <a:pt x="1787609" y="1633709"/>
                  </a:lnTo>
                  <a:lnTo>
                    <a:pt x="1826224" y="1648031"/>
                  </a:lnTo>
                  <a:lnTo>
                    <a:pt x="1864925" y="1661134"/>
                  </a:lnTo>
                  <a:lnTo>
                    <a:pt x="1903712" y="1672992"/>
                  </a:lnTo>
                  <a:lnTo>
                    <a:pt x="1942588" y="1683582"/>
                  </a:lnTo>
                  <a:lnTo>
                    <a:pt x="1981553" y="1692877"/>
                  </a:lnTo>
                  <a:lnTo>
                    <a:pt x="2020611" y="1700853"/>
                  </a:lnTo>
                  <a:lnTo>
                    <a:pt x="2059762" y="1707486"/>
                  </a:lnTo>
                  <a:lnTo>
                    <a:pt x="2099009" y="1712750"/>
                  </a:lnTo>
                  <a:lnTo>
                    <a:pt x="2138353" y="1716620"/>
                  </a:lnTo>
                  <a:lnTo>
                    <a:pt x="2177795" y="1719071"/>
                  </a:lnTo>
                  <a:lnTo>
                    <a:pt x="2216667" y="1720007"/>
                  </a:lnTo>
                  <a:lnTo>
                    <a:pt x="2255634" y="1719573"/>
                  </a:lnTo>
                  <a:lnTo>
                    <a:pt x="2294695" y="1717795"/>
                  </a:lnTo>
                  <a:lnTo>
                    <a:pt x="2333848" y="1714695"/>
                  </a:lnTo>
                  <a:lnTo>
                    <a:pt x="2373092" y="1710297"/>
                  </a:lnTo>
                  <a:lnTo>
                    <a:pt x="2412425" y="1704625"/>
                  </a:lnTo>
                  <a:lnTo>
                    <a:pt x="2451845" y="1697702"/>
                  </a:lnTo>
                  <a:lnTo>
                    <a:pt x="2491351" y="1689553"/>
                  </a:lnTo>
                  <a:lnTo>
                    <a:pt x="2530941" y="1680199"/>
                  </a:lnTo>
                  <a:lnTo>
                    <a:pt x="2570613" y="1669666"/>
                  </a:lnTo>
                  <a:lnTo>
                    <a:pt x="2610366" y="1657977"/>
                  </a:lnTo>
                  <a:lnTo>
                    <a:pt x="2650198" y="1645155"/>
                  </a:lnTo>
                  <a:lnTo>
                    <a:pt x="2690107" y="1631224"/>
                  </a:lnTo>
                  <a:lnTo>
                    <a:pt x="2730093" y="1616208"/>
                  </a:lnTo>
                  <a:lnTo>
                    <a:pt x="2770152" y="1600130"/>
                  </a:lnTo>
                  <a:lnTo>
                    <a:pt x="2810284" y="1583013"/>
                  </a:lnTo>
                  <a:lnTo>
                    <a:pt x="2850486" y="1564882"/>
                  </a:lnTo>
                  <a:lnTo>
                    <a:pt x="2890758" y="1545760"/>
                  </a:lnTo>
                  <a:lnTo>
                    <a:pt x="2931097" y="1525670"/>
                  </a:lnTo>
                  <a:lnTo>
                    <a:pt x="2971503" y="1504636"/>
                  </a:lnTo>
                  <a:lnTo>
                    <a:pt x="3011972" y="1482682"/>
                  </a:lnTo>
                  <a:lnTo>
                    <a:pt x="3052504" y="1459832"/>
                  </a:lnTo>
                  <a:lnTo>
                    <a:pt x="3093097" y="1436108"/>
                  </a:lnTo>
                  <a:lnTo>
                    <a:pt x="3133750" y="1411535"/>
                  </a:lnTo>
                  <a:lnTo>
                    <a:pt x="3174460" y="1386136"/>
                  </a:lnTo>
                  <a:lnTo>
                    <a:pt x="3215226" y="1359935"/>
                  </a:lnTo>
                  <a:lnTo>
                    <a:pt x="3256046" y="1332955"/>
                  </a:lnTo>
                  <a:lnTo>
                    <a:pt x="3296919" y="1305219"/>
                  </a:lnTo>
                  <a:lnTo>
                    <a:pt x="3337843" y="1276753"/>
                  </a:lnTo>
                  <a:lnTo>
                    <a:pt x="3378817" y="1247578"/>
                  </a:lnTo>
                  <a:lnTo>
                    <a:pt x="3419838" y="1217719"/>
                  </a:lnTo>
                  <a:lnTo>
                    <a:pt x="3460906" y="1187200"/>
                  </a:lnTo>
                  <a:lnTo>
                    <a:pt x="3502018" y="1156043"/>
                  </a:lnTo>
                  <a:lnTo>
                    <a:pt x="3543172" y="1124273"/>
                  </a:lnTo>
                  <a:lnTo>
                    <a:pt x="3584368" y="1091913"/>
                  </a:lnTo>
                  <a:lnTo>
                    <a:pt x="3625604" y="1058986"/>
                  </a:lnTo>
                  <a:lnTo>
                    <a:pt x="3666877" y="1025517"/>
                  </a:lnTo>
                  <a:lnTo>
                    <a:pt x="3708187" y="991528"/>
                  </a:lnTo>
                  <a:lnTo>
                    <a:pt x="3749531" y="957045"/>
                  </a:lnTo>
                  <a:lnTo>
                    <a:pt x="3790908" y="922089"/>
                  </a:lnTo>
                  <a:lnTo>
                    <a:pt x="3832317" y="886685"/>
                  </a:lnTo>
                  <a:lnTo>
                    <a:pt x="3873755" y="850856"/>
                  </a:lnTo>
                  <a:lnTo>
                    <a:pt x="3915221" y="814626"/>
                  </a:lnTo>
                  <a:lnTo>
                    <a:pt x="3956713" y="778018"/>
                  </a:lnTo>
                  <a:lnTo>
                    <a:pt x="3998231" y="741056"/>
                  </a:lnTo>
                  <a:lnTo>
                    <a:pt x="4039771" y="703764"/>
                  </a:lnTo>
                  <a:lnTo>
                    <a:pt x="4081333" y="666166"/>
                  </a:lnTo>
                  <a:lnTo>
                    <a:pt x="4122914" y="628284"/>
                  </a:lnTo>
                  <a:lnTo>
                    <a:pt x="4164514" y="590143"/>
                  </a:lnTo>
                  <a:lnTo>
                    <a:pt x="4206130" y="551765"/>
                  </a:lnTo>
                  <a:lnTo>
                    <a:pt x="4247760" y="513175"/>
                  </a:lnTo>
                  <a:lnTo>
                    <a:pt x="4289404" y="474397"/>
                  </a:lnTo>
                  <a:lnTo>
                    <a:pt x="4331060" y="435453"/>
                  </a:lnTo>
                  <a:lnTo>
                    <a:pt x="4372726" y="396368"/>
                  </a:lnTo>
                  <a:lnTo>
                    <a:pt x="4414399" y="357165"/>
                  </a:lnTo>
                  <a:lnTo>
                    <a:pt x="4456079" y="317867"/>
                  </a:lnTo>
                  <a:lnTo>
                    <a:pt x="4497765" y="278498"/>
                  </a:lnTo>
                  <a:lnTo>
                    <a:pt x="4539453" y="239083"/>
                  </a:lnTo>
                  <a:lnTo>
                    <a:pt x="4581143" y="199643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979482" y="2959248"/>
            <a:ext cx="739028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spc="-18" dirty="0">
                <a:latin typeface="Times New Roman"/>
                <a:cs typeface="Times New Roman"/>
              </a:rPr>
              <a:t>LRAC</a:t>
            </a:r>
            <a:endParaRPr sz="2118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76072" y="1981470"/>
            <a:ext cx="770386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IN" sz="2118" dirty="0">
                <a:latin typeface="Times New Roman"/>
                <a:cs typeface="Times New Roman"/>
              </a:rPr>
              <a:t>Cost</a:t>
            </a:r>
            <a:endParaRPr sz="2118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64080" y="5331309"/>
            <a:ext cx="217393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spc="-44" dirty="0">
                <a:latin typeface="Times New Roman"/>
                <a:cs typeface="Times New Roman"/>
              </a:rPr>
              <a:t>Q</a:t>
            </a:r>
            <a:endParaRPr sz="2118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871856" y="3423622"/>
            <a:ext cx="3655359" cy="1964951"/>
            <a:chOff x="2508504" y="3880104"/>
            <a:chExt cx="4142740" cy="2226945"/>
          </a:xfrm>
        </p:grpSpPr>
        <p:sp>
          <p:nvSpPr>
            <p:cNvPr id="10" name="object 10"/>
            <p:cNvSpPr/>
            <p:nvPr/>
          </p:nvSpPr>
          <p:spPr>
            <a:xfrm>
              <a:off x="4582668" y="4975860"/>
              <a:ext cx="76200" cy="1130935"/>
            </a:xfrm>
            <a:custGeom>
              <a:avLst/>
              <a:gdLst/>
              <a:ahLst/>
              <a:cxnLst/>
              <a:rect l="l" t="t" r="r" b="b"/>
              <a:pathLst>
                <a:path w="76200" h="1130935">
                  <a:moveTo>
                    <a:pt x="76200" y="38100"/>
                  </a:moveTo>
                  <a:lnTo>
                    <a:pt x="73152" y="22860"/>
                  </a:lnTo>
                  <a:lnTo>
                    <a:pt x="65532" y="10668"/>
                  </a:lnTo>
                  <a:lnTo>
                    <a:pt x="53340" y="3048"/>
                  </a:lnTo>
                  <a:lnTo>
                    <a:pt x="38100" y="0"/>
                  </a:lnTo>
                  <a:lnTo>
                    <a:pt x="24384" y="3048"/>
                  </a:lnTo>
                  <a:lnTo>
                    <a:pt x="12192" y="10668"/>
                  </a:lnTo>
                  <a:lnTo>
                    <a:pt x="3048" y="22860"/>
                  </a:lnTo>
                  <a:lnTo>
                    <a:pt x="0" y="38100"/>
                  </a:lnTo>
                  <a:lnTo>
                    <a:pt x="3048" y="51816"/>
                  </a:lnTo>
                  <a:lnTo>
                    <a:pt x="12192" y="64008"/>
                  </a:lnTo>
                  <a:lnTo>
                    <a:pt x="24384" y="73152"/>
                  </a:lnTo>
                  <a:lnTo>
                    <a:pt x="33528" y="75184"/>
                  </a:lnTo>
                  <a:lnTo>
                    <a:pt x="33528" y="38100"/>
                  </a:lnTo>
                  <a:lnTo>
                    <a:pt x="35052" y="33528"/>
                  </a:lnTo>
                  <a:lnTo>
                    <a:pt x="38100" y="32004"/>
                  </a:lnTo>
                  <a:lnTo>
                    <a:pt x="42672" y="33528"/>
                  </a:lnTo>
                  <a:lnTo>
                    <a:pt x="42672" y="75285"/>
                  </a:lnTo>
                  <a:lnTo>
                    <a:pt x="53340" y="73152"/>
                  </a:lnTo>
                  <a:lnTo>
                    <a:pt x="65532" y="64008"/>
                  </a:lnTo>
                  <a:lnTo>
                    <a:pt x="73152" y="51816"/>
                  </a:lnTo>
                  <a:lnTo>
                    <a:pt x="76200" y="38100"/>
                  </a:lnTo>
                  <a:close/>
                </a:path>
                <a:path w="76200" h="1130935">
                  <a:moveTo>
                    <a:pt x="42672" y="70104"/>
                  </a:moveTo>
                  <a:lnTo>
                    <a:pt x="42672" y="33528"/>
                  </a:lnTo>
                  <a:lnTo>
                    <a:pt x="38100" y="32004"/>
                  </a:lnTo>
                  <a:lnTo>
                    <a:pt x="35052" y="33528"/>
                  </a:lnTo>
                  <a:lnTo>
                    <a:pt x="33528" y="38100"/>
                  </a:lnTo>
                  <a:lnTo>
                    <a:pt x="33528" y="65532"/>
                  </a:lnTo>
                  <a:lnTo>
                    <a:pt x="35052" y="70104"/>
                  </a:lnTo>
                  <a:lnTo>
                    <a:pt x="42672" y="70104"/>
                  </a:lnTo>
                  <a:close/>
                </a:path>
                <a:path w="76200" h="1130935">
                  <a:moveTo>
                    <a:pt x="42672" y="75285"/>
                  </a:moveTo>
                  <a:lnTo>
                    <a:pt x="42672" y="70104"/>
                  </a:lnTo>
                  <a:lnTo>
                    <a:pt x="35052" y="70104"/>
                  </a:lnTo>
                  <a:lnTo>
                    <a:pt x="33528" y="65532"/>
                  </a:lnTo>
                  <a:lnTo>
                    <a:pt x="33528" y="75184"/>
                  </a:lnTo>
                  <a:lnTo>
                    <a:pt x="38100" y="76200"/>
                  </a:lnTo>
                  <a:lnTo>
                    <a:pt x="42672" y="75285"/>
                  </a:lnTo>
                  <a:close/>
                </a:path>
                <a:path w="76200" h="1130935">
                  <a:moveTo>
                    <a:pt x="42672" y="135636"/>
                  </a:moveTo>
                  <a:lnTo>
                    <a:pt x="42672" y="100584"/>
                  </a:lnTo>
                  <a:lnTo>
                    <a:pt x="38100" y="99060"/>
                  </a:lnTo>
                  <a:lnTo>
                    <a:pt x="35052" y="100584"/>
                  </a:lnTo>
                  <a:lnTo>
                    <a:pt x="33528" y="103632"/>
                  </a:lnTo>
                  <a:lnTo>
                    <a:pt x="33528" y="132588"/>
                  </a:lnTo>
                  <a:lnTo>
                    <a:pt x="35052" y="135636"/>
                  </a:lnTo>
                  <a:lnTo>
                    <a:pt x="38100" y="137160"/>
                  </a:lnTo>
                  <a:lnTo>
                    <a:pt x="42672" y="135636"/>
                  </a:lnTo>
                  <a:close/>
                </a:path>
                <a:path w="76200" h="1130935">
                  <a:moveTo>
                    <a:pt x="42672" y="202692"/>
                  </a:moveTo>
                  <a:lnTo>
                    <a:pt x="42672" y="167640"/>
                  </a:lnTo>
                  <a:lnTo>
                    <a:pt x="38100" y="166116"/>
                  </a:lnTo>
                  <a:lnTo>
                    <a:pt x="35052" y="167640"/>
                  </a:lnTo>
                  <a:lnTo>
                    <a:pt x="33528" y="170688"/>
                  </a:lnTo>
                  <a:lnTo>
                    <a:pt x="33528" y="199644"/>
                  </a:lnTo>
                  <a:lnTo>
                    <a:pt x="35052" y="202692"/>
                  </a:lnTo>
                  <a:lnTo>
                    <a:pt x="38100" y="204216"/>
                  </a:lnTo>
                  <a:lnTo>
                    <a:pt x="42672" y="202692"/>
                  </a:lnTo>
                  <a:close/>
                </a:path>
                <a:path w="76200" h="1130935">
                  <a:moveTo>
                    <a:pt x="42672" y="269748"/>
                  </a:moveTo>
                  <a:lnTo>
                    <a:pt x="42672" y="234696"/>
                  </a:lnTo>
                  <a:lnTo>
                    <a:pt x="38100" y="233172"/>
                  </a:lnTo>
                  <a:lnTo>
                    <a:pt x="35052" y="234696"/>
                  </a:lnTo>
                  <a:lnTo>
                    <a:pt x="33528" y="237744"/>
                  </a:lnTo>
                  <a:lnTo>
                    <a:pt x="33528" y="266700"/>
                  </a:lnTo>
                  <a:lnTo>
                    <a:pt x="35052" y="269748"/>
                  </a:lnTo>
                  <a:lnTo>
                    <a:pt x="38100" y="271272"/>
                  </a:lnTo>
                  <a:lnTo>
                    <a:pt x="42672" y="269748"/>
                  </a:lnTo>
                  <a:close/>
                </a:path>
                <a:path w="76200" h="1130935">
                  <a:moveTo>
                    <a:pt x="42672" y="336804"/>
                  </a:moveTo>
                  <a:lnTo>
                    <a:pt x="42672" y="300228"/>
                  </a:lnTo>
                  <a:lnTo>
                    <a:pt x="38100" y="298704"/>
                  </a:lnTo>
                  <a:lnTo>
                    <a:pt x="35052" y="300228"/>
                  </a:lnTo>
                  <a:lnTo>
                    <a:pt x="33528" y="304800"/>
                  </a:lnTo>
                  <a:lnTo>
                    <a:pt x="33528" y="332232"/>
                  </a:lnTo>
                  <a:lnTo>
                    <a:pt x="35052" y="336804"/>
                  </a:lnTo>
                  <a:lnTo>
                    <a:pt x="42672" y="336804"/>
                  </a:lnTo>
                  <a:close/>
                </a:path>
                <a:path w="76200" h="1130935">
                  <a:moveTo>
                    <a:pt x="42672" y="402336"/>
                  </a:moveTo>
                  <a:lnTo>
                    <a:pt x="42672" y="367284"/>
                  </a:lnTo>
                  <a:lnTo>
                    <a:pt x="38100" y="365760"/>
                  </a:lnTo>
                  <a:lnTo>
                    <a:pt x="35052" y="367284"/>
                  </a:lnTo>
                  <a:lnTo>
                    <a:pt x="33528" y="370332"/>
                  </a:lnTo>
                  <a:lnTo>
                    <a:pt x="33528" y="399288"/>
                  </a:lnTo>
                  <a:lnTo>
                    <a:pt x="35052" y="402336"/>
                  </a:lnTo>
                  <a:lnTo>
                    <a:pt x="38100" y="403860"/>
                  </a:lnTo>
                  <a:lnTo>
                    <a:pt x="42672" y="402336"/>
                  </a:lnTo>
                  <a:close/>
                </a:path>
                <a:path w="76200" h="1130935">
                  <a:moveTo>
                    <a:pt x="42672" y="469392"/>
                  </a:moveTo>
                  <a:lnTo>
                    <a:pt x="42672" y="434340"/>
                  </a:lnTo>
                  <a:lnTo>
                    <a:pt x="38100" y="432816"/>
                  </a:lnTo>
                  <a:lnTo>
                    <a:pt x="35052" y="434340"/>
                  </a:lnTo>
                  <a:lnTo>
                    <a:pt x="33528" y="437388"/>
                  </a:lnTo>
                  <a:lnTo>
                    <a:pt x="33528" y="466344"/>
                  </a:lnTo>
                  <a:lnTo>
                    <a:pt x="35052" y="469392"/>
                  </a:lnTo>
                  <a:lnTo>
                    <a:pt x="38100" y="470916"/>
                  </a:lnTo>
                  <a:lnTo>
                    <a:pt x="42672" y="469392"/>
                  </a:lnTo>
                  <a:close/>
                </a:path>
                <a:path w="76200" h="1130935">
                  <a:moveTo>
                    <a:pt x="42672" y="536448"/>
                  </a:moveTo>
                  <a:lnTo>
                    <a:pt x="42672" y="501396"/>
                  </a:lnTo>
                  <a:lnTo>
                    <a:pt x="38100" y="499872"/>
                  </a:lnTo>
                  <a:lnTo>
                    <a:pt x="35052" y="501396"/>
                  </a:lnTo>
                  <a:lnTo>
                    <a:pt x="33528" y="504444"/>
                  </a:lnTo>
                  <a:lnTo>
                    <a:pt x="33528" y="533400"/>
                  </a:lnTo>
                  <a:lnTo>
                    <a:pt x="35052" y="536448"/>
                  </a:lnTo>
                  <a:lnTo>
                    <a:pt x="38100" y="537972"/>
                  </a:lnTo>
                  <a:lnTo>
                    <a:pt x="42672" y="536448"/>
                  </a:lnTo>
                  <a:close/>
                </a:path>
                <a:path w="76200" h="1130935">
                  <a:moveTo>
                    <a:pt x="42672" y="603504"/>
                  </a:moveTo>
                  <a:lnTo>
                    <a:pt x="42672" y="566928"/>
                  </a:lnTo>
                  <a:lnTo>
                    <a:pt x="38100" y="565404"/>
                  </a:lnTo>
                  <a:lnTo>
                    <a:pt x="35052" y="566928"/>
                  </a:lnTo>
                  <a:lnTo>
                    <a:pt x="33528" y="571500"/>
                  </a:lnTo>
                  <a:lnTo>
                    <a:pt x="33528" y="598932"/>
                  </a:lnTo>
                  <a:lnTo>
                    <a:pt x="35052" y="603504"/>
                  </a:lnTo>
                  <a:lnTo>
                    <a:pt x="42672" y="603504"/>
                  </a:lnTo>
                  <a:close/>
                </a:path>
                <a:path w="76200" h="1130935">
                  <a:moveTo>
                    <a:pt x="42672" y="669036"/>
                  </a:moveTo>
                  <a:lnTo>
                    <a:pt x="42672" y="633984"/>
                  </a:lnTo>
                  <a:lnTo>
                    <a:pt x="38100" y="632460"/>
                  </a:lnTo>
                  <a:lnTo>
                    <a:pt x="35052" y="633984"/>
                  </a:lnTo>
                  <a:lnTo>
                    <a:pt x="33528" y="637032"/>
                  </a:lnTo>
                  <a:lnTo>
                    <a:pt x="33528" y="665988"/>
                  </a:lnTo>
                  <a:lnTo>
                    <a:pt x="35052" y="669036"/>
                  </a:lnTo>
                  <a:lnTo>
                    <a:pt x="38100" y="670560"/>
                  </a:lnTo>
                  <a:lnTo>
                    <a:pt x="42672" y="669036"/>
                  </a:lnTo>
                  <a:close/>
                </a:path>
                <a:path w="76200" h="1130935">
                  <a:moveTo>
                    <a:pt x="42672" y="736092"/>
                  </a:moveTo>
                  <a:lnTo>
                    <a:pt x="42672" y="701040"/>
                  </a:lnTo>
                  <a:lnTo>
                    <a:pt x="38100" y="699516"/>
                  </a:lnTo>
                  <a:lnTo>
                    <a:pt x="35052" y="701040"/>
                  </a:lnTo>
                  <a:lnTo>
                    <a:pt x="33528" y="704088"/>
                  </a:lnTo>
                  <a:lnTo>
                    <a:pt x="33528" y="733044"/>
                  </a:lnTo>
                  <a:lnTo>
                    <a:pt x="35052" y="736092"/>
                  </a:lnTo>
                  <a:lnTo>
                    <a:pt x="38100" y="737616"/>
                  </a:lnTo>
                  <a:lnTo>
                    <a:pt x="42672" y="736092"/>
                  </a:lnTo>
                  <a:close/>
                </a:path>
                <a:path w="76200" h="1130935">
                  <a:moveTo>
                    <a:pt x="42672" y="803148"/>
                  </a:moveTo>
                  <a:lnTo>
                    <a:pt x="42672" y="768096"/>
                  </a:lnTo>
                  <a:lnTo>
                    <a:pt x="38100" y="766572"/>
                  </a:lnTo>
                  <a:lnTo>
                    <a:pt x="35052" y="768096"/>
                  </a:lnTo>
                  <a:lnTo>
                    <a:pt x="33528" y="771144"/>
                  </a:lnTo>
                  <a:lnTo>
                    <a:pt x="33528" y="800100"/>
                  </a:lnTo>
                  <a:lnTo>
                    <a:pt x="35052" y="803148"/>
                  </a:lnTo>
                  <a:lnTo>
                    <a:pt x="38100" y="804672"/>
                  </a:lnTo>
                  <a:lnTo>
                    <a:pt x="42672" y="803148"/>
                  </a:lnTo>
                  <a:close/>
                </a:path>
                <a:path w="76200" h="1130935">
                  <a:moveTo>
                    <a:pt x="42672" y="870204"/>
                  </a:moveTo>
                  <a:lnTo>
                    <a:pt x="42672" y="833628"/>
                  </a:lnTo>
                  <a:lnTo>
                    <a:pt x="38100" y="832104"/>
                  </a:lnTo>
                  <a:lnTo>
                    <a:pt x="35052" y="833628"/>
                  </a:lnTo>
                  <a:lnTo>
                    <a:pt x="33528" y="838200"/>
                  </a:lnTo>
                  <a:lnTo>
                    <a:pt x="33528" y="865632"/>
                  </a:lnTo>
                  <a:lnTo>
                    <a:pt x="35052" y="870204"/>
                  </a:lnTo>
                  <a:lnTo>
                    <a:pt x="42672" y="870204"/>
                  </a:lnTo>
                  <a:close/>
                </a:path>
                <a:path w="76200" h="1130935">
                  <a:moveTo>
                    <a:pt x="42672" y="935736"/>
                  </a:moveTo>
                  <a:lnTo>
                    <a:pt x="42672" y="900684"/>
                  </a:lnTo>
                  <a:lnTo>
                    <a:pt x="38100" y="899160"/>
                  </a:lnTo>
                  <a:lnTo>
                    <a:pt x="35052" y="900684"/>
                  </a:lnTo>
                  <a:lnTo>
                    <a:pt x="33528" y="903732"/>
                  </a:lnTo>
                  <a:lnTo>
                    <a:pt x="33528" y="932688"/>
                  </a:lnTo>
                  <a:lnTo>
                    <a:pt x="35052" y="935736"/>
                  </a:lnTo>
                  <a:lnTo>
                    <a:pt x="38100" y="937260"/>
                  </a:lnTo>
                  <a:lnTo>
                    <a:pt x="42672" y="935736"/>
                  </a:lnTo>
                  <a:close/>
                </a:path>
                <a:path w="76200" h="1130935">
                  <a:moveTo>
                    <a:pt x="42672" y="1002792"/>
                  </a:moveTo>
                  <a:lnTo>
                    <a:pt x="42672" y="967740"/>
                  </a:lnTo>
                  <a:lnTo>
                    <a:pt x="38100" y="966216"/>
                  </a:lnTo>
                  <a:lnTo>
                    <a:pt x="35052" y="967740"/>
                  </a:lnTo>
                  <a:lnTo>
                    <a:pt x="33528" y="970788"/>
                  </a:lnTo>
                  <a:lnTo>
                    <a:pt x="33528" y="999744"/>
                  </a:lnTo>
                  <a:lnTo>
                    <a:pt x="35052" y="1002792"/>
                  </a:lnTo>
                  <a:lnTo>
                    <a:pt x="38100" y="1004316"/>
                  </a:lnTo>
                  <a:lnTo>
                    <a:pt x="42672" y="1002792"/>
                  </a:lnTo>
                  <a:close/>
                </a:path>
                <a:path w="76200" h="1130935">
                  <a:moveTo>
                    <a:pt x="76200" y="1092708"/>
                  </a:moveTo>
                  <a:lnTo>
                    <a:pt x="73152" y="1078992"/>
                  </a:lnTo>
                  <a:lnTo>
                    <a:pt x="65532" y="1066800"/>
                  </a:lnTo>
                  <a:lnTo>
                    <a:pt x="53340" y="1057656"/>
                  </a:lnTo>
                  <a:lnTo>
                    <a:pt x="38100" y="1054608"/>
                  </a:lnTo>
                  <a:lnTo>
                    <a:pt x="24384" y="1057656"/>
                  </a:lnTo>
                  <a:lnTo>
                    <a:pt x="12192" y="1066800"/>
                  </a:lnTo>
                  <a:lnTo>
                    <a:pt x="3048" y="1078992"/>
                  </a:lnTo>
                  <a:lnTo>
                    <a:pt x="0" y="1092708"/>
                  </a:lnTo>
                  <a:lnTo>
                    <a:pt x="3048" y="1107948"/>
                  </a:lnTo>
                  <a:lnTo>
                    <a:pt x="12192" y="1120140"/>
                  </a:lnTo>
                  <a:lnTo>
                    <a:pt x="24384" y="1127760"/>
                  </a:lnTo>
                  <a:lnTo>
                    <a:pt x="33528" y="1129792"/>
                  </a:lnTo>
                  <a:lnTo>
                    <a:pt x="33528" y="1066800"/>
                  </a:lnTo>
                  <a:lnTo>
                    <a:pt x="35052" y="1069848"/>
                  </a:lnTo>
                  <a:lnTo>
                    <a:pt x="38100" y="1071372"/>
                  </a:lnTo>
                  <a:lnTo>
                    <a:pt x="42672" y="1069848"/>
                  </a:lnTo>
                  <a:lnTo>
                    <a:pt x="42672" y="1129893"/>
                  </a:lnTo>
                  <a:lnTo>
                    <a:pt x="53340" y="1127760"/>
                  </a:lnTo>
                  <a:lnTo>
                    <a:pt x="65532" y="1120140"/>
                  </a:lnTo>
                  <a:lnTo>
                    <a:pt x="73152" y="1107948"/>
                  </a:lnTo>
                  <a:lnTo>
                    <a:pt x="76200" y="1092708"/>
                  </a:lnTo>
                  <a:close/>
                </a:path>
                <a:path w="76200" h="1130935">
                  <a:moveTo>
                    <a:pt x="42672" y="1055522"/>
                  </a:moveTo>
                  <a:lnTo>
                    <a:pt x="42672" y="1034796"/>
                  </a:lnTo>
                  <a:lnTo>
                    <a:pt x="38100" y="1033272"/>
                  </a:lnTo>
                  <a:lnTo>
                    <a:pt x="35052" y="1034796"/>
                  </a:lnTo>
                  <a:lnTo>
                    <a:pt x="33528" y="1037844"/>
                  </a:lnTo>
                  <a:lnTo>
                    <a:pt x="33528" y="1055624"/>
                  </a:lnTo>
                  <a:lnTo>
                    <a:pt x="38100" y="1054608"/>
                  </a:lnTo>
                  <a:lnTo>
                    <a:pt x="42672" y="1055522"/>
                  </a:lnTo>
                  <a:close/>
                </a:path>
                <a:path w="76200" h="1130935">
                  <a:moveTo>
                    <a:pt x="42672" y="1129893"/>
                  </a:moveTo>
                  <a:lnTo>
                    <a:pt x="42672" y="1069848"/>
                  </a:lnTo>
                  <a:lnTo>
                    <a:pt x="38100" y="1071372"/>
                  </a:lnTo>
                  <a:lnTo>
                    <a:pt x="35052" y="1069848"/>
                  </a:lnTo>
                  <a:lnTo>
                    <a:pt x="33528" y="1066800"/>
                  </a:lnTo>
                  <a:lnTo>
                    <a:pt x="33528" y="1129792"/>
                  </a:lnTo>
                  <a:lnTo>
                    <a:pt x="38100" y="1130808"/>
                  </a:lnTo>
                  <a:lnTo>
                    <a:pt x="42672" y="11298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2508504" y="3880104"/>
              <a:ext cx="1437640" cy="1198245"/>
            </a:xfrm>
            <a:custGeom>
              <a:avLst/>
              <a:gdLst/>
              <a:ahLst/>
              <a:cxnLst/>
              <a:rect l="l" t="t" r="r" b="b"/>
              <a:pathLst>
                <a:path w="1437639" h="1198245">
                  <a:moveTo>
                    <a:pt x="1379339" y="1132697"/>
                  </a:moveTo>
                  <a:lnTo>
                    <a:pt x="18288" y="0"/>
                  </a:lnTo>
                  <a:lnTo>
                    <a:pt x="0" y="21336"/>
                  </a:lnTo>
                  <a:lnTo>
                    <a:pt x="1361302" y="1154241"/>
                  </a:lnTo>
                  <a:lnTo>
                    <a:pt x="1379339" y="1132697"/>
                  </a:lnTo>
                  <a:close/>
                </a:path>
                <a:path w="1437639" h="1198245">
                  <a:moveTo>
                    <a:pt x="1389888" y="1187196"/>
                  </a:moveTo>
                  <a:lnTo>
                    <a:pt x="1389888" y="1141476"/>
                  </a:lnTo>
                  <a:lnTo>
                    <a:pt x="1371600" y="1162812"/>
                  </a:lnTo>
                  <a:lnTo>
                    <a:pt x="1361302" y="1154241"/>
                  </a:lnTo>
                  <a:lnTo>
                    <a:pt x="1342644" y="1176528"/>
                  </a:lnTo>
                  <a:lnTo>
                    <a:pt x="1389888" y="1187196"/>
                  </a:lnTo>
                  <a:close/>
                </a:path>
                <a:path w="1437639" h="1198245">
                  <a:moveTo>
                    <a:pt x="1389888" y="1141476"/>
                  </a:moveTo>
                  <a:lnTo>
                    <a:pt x="1379339" y="1132697"/>
                  </a:lnTo>
                  <a:lnTo>
                    <a:pt x="1361302" y="1154241"/>
                  </a:lnTo>
                  <a:lnTo>
                    <a:pt x="1371600" y="1162812"/>
                  </a:lnTo>
                  <a:lnTo>
                    <a:pt x="1389888" y="1141476"/>
                  </a:lnTo>
                  <a:close/>
                </a:path>
                <a:path w="1437639" h="1198245">
                  <a:moveTo>
                    <a:pt x="1437132" y="1197864"/>
                  </a:moveTo>
                  <a:lnTo>
                    <a:pt x="1397508" y="1110996"/>
                  </a:lnTo>
                  <a:lnTo>
                    <a:pt x="1379339" y="1132697"/>
                  </a:lnTo>
                  <a:lnTo>
                    <a:pt x="1389888" y="1141476"/>
                  </a:lnTo>
                  <a:lnTo>
                    <a:pt x="1389888" y="1187196"/>
                  </a:lnTo>
                  <a:lnTo>
                    <a:pt x="1437132" y="1197864"/>
                  </a:lnTo>
                  <a:close/>
                </a:path>
              </a:pathLst>
            </a:custGeom>
            <a:solidFill>
              <a:srgbClr val="0098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4989576" y="4088892"/>
              <a:ext cx="1661160" cy="1135380"/>
            </a:xfrm>
            <a:custGeom>
              <a:avLst/>
              <a:gdLst/>
              <a:ahLst/>
              <a:cxnLst/>
              <a:rect l="l" t="t" r="r" b="b"/>
              <a:pathLst>
                <a:path w="1661159" h="1135379">
                  <a:moveTo>
                    <a:pt x="1597332" y="59980"/>
                  </a:moveTo>
                  <a:lnTo>
                    <a:pt x="1581151" y="36720"/>
                  </a:lnTo>
                  <a:lnTo>
                    <a:pt x="0" y="1110996"/>
                  </a:lnTo>
                  <a:lnTo>
                    <a:pt x="15240" y="1135380"/>
                  </a:lnTo>
                  <a:lnTo>
                    <a:pt x="1597332" y="59980"/>
                  </a:lnTo>
                  <a:close/>
                </a:path>
                <a:path w="1661159" h="1135379">
                  <a:moveTo>
                    <a:pt x="1661160" y="0"/>
                  </a:moveTo>
                  <a:lnTo>
                    <a:pt x="1565148" y="13716"/>
                  </a:lnTo>
                  <a:lnTo>
                    <a:pt x="1581151" y="36720"/>
                  </a:lnTo>
                  <a:lnTo>
                    <a:pt x="1592580" y="28956"/>
                  </a:lnTo>
                  <a:lnTo>
                    <a:pt x="1609344" y="51816"/>
                  </a:lnTo>
                  <a:lnTo>
                    <a:pt x="1609344" y="77247"/>
                  </a:lnTo>
                  <a:lnTo>
                    <a:pt x="1613916" y="83820"/>
                  </a:lnTo>
                  <a:lnTo>
                    <a:pt x="1661160" y="0"/>
                  </a:lnTo>
                  <a:close/>
                </a:path>
                <a:path w="1661159" h="1135379">
                  <a:moveTo>
                    <a:pt x="1609344" y="51816"/>
                  </a:moveTo>
                  <a:lnTo>
                    <a:pt x="1592580" y="28956"/>
                  </a:lnTo>
                  <a:lnTo>
                    <a:pt x="1581151" y="36720"/>
                  </a:lnTo>
                  <a:lnTo>
                    <a:pt x="1597332" y="59980"/>
                  </a:lnTo>
                  <a:lnTo>
                    <a:pt x="1609344" y="51816"/>
                  </a:lnTo>
                  <a:close/>
                </a:path>
                <a:path w="1661159" h="1135379">
                  <a:moveTo>
                    <a:pt x="1609344" y="77247"/>
                  </a:moveTo>
                  <a:lnTo>
                    <a:pt x="1609344" y="51816"/>
                  </a:lnTo>
                  <a:lnTo>
                    <a:pt x="1597332" y="59980"/>
                  </a:lnTo>
                  <a:lnTo>
                    <a:pt x="1609344" y="7724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879475" y="4591720"/>
            <a:ext cx="1216399" cy="663832"/>
          </a:xfrm>
          <a:prstGeom prst="rect">
            <a:avLst/>
          </a:prstGeom>
        </p:spPr>
        <p:txBody>
          <a:bodyPr vert="horz" wrap="square" lIns="0" tIns="22412" rIns="0" bIns="0" rtlCol="0">
            <a:spAutoFit/>
          </a:bodyPr>
          <a:lstStyle/>
          <a:p>
            <a:pPr marL="11206" marR="4483">
              <a:lnSpc>
                <a:spcPts val="2532"/>
              </a:lnSpc>
              <a:spcBef>
                <a:spcPts val="176"/>
              </a:spcBef>
            </a:pPr>
            <a:r>
              <a:rPr sz="2118" spc="-9" dirty="0">
                <a:solidFill>
                  <a:srgbClr val="009900"/>
                </a:solidFill>
                <a:latin typeface="Times New Roman"/>
                <a:cs typeface="Times New Roman"/>
              </a:rPr>
              <a:t>Economies </a:t>
            </a:r>
            <a:r>
              <a:rPr sz="2118" dirty="0">
                <a:solidFill>
                  <a:srgbClr val="009900"/>
                </a:solidFill>
                <a:latin typeface="Times New Roman"/>
                <a:cs typeface="Times New Roman"/>
              </a:rPr>
              <a:t>of</a:t>
            </a:r>
            <a:r>
              <a:rPr sz="2118" spc="-13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118" spc="-18" dirty="0">
                <a:solidFill>
                  <a:srgbClr val="009900"/>
                </a:solidFill>
                <a:latin typeface="Times New Roman"/>
                <a:cs typeface="Times New Roman"/>
              </a:rPr>
              <a:t>Scale</a:t>
            </a:r>
            <a:endParaRPr sz="2118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8989564" y="6935043"/>
            <a:ext cx="342900" cy="194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 spc="-10"/>
              <a:t>5-</a:t>
            </a:r>
            <a:fld id="{81D60167-4931-47E6-BA6A-407CBD079E47}" type="slidenum">
              <a:rPr spc="-25" smtClean="0"/>
              <a:pPr marL="12700">
                <a:lnSpc>
                  <a:spcPts val="1410"/>
                </a:lnSpc>
              </a:pPr>
              <a:t>8</a:t>
            </a:fld>
            <a:endParaRPr spc="-22" dirty="0"/>
          </a:p>
        </p:txBody>
      </p:sp>
      <p:sp>
        <p:nvSpPr>
          <p:cNvPr id="14" name="object 14"/>
          <p:cNvSpPr txBox="1"/>
          <p:nvPr/>
        </p:nvSpPr>
        <p:spPr>
          <a:xfrm>
            <a:off x="6322804" y="4649543"/>
            <a:ext cx="1545851" cy="663832"/>
          </a:xfrm>
          <a:prstGeom prst="rect">
            <a:avLst/>
          </a:prstGeom>
        </p:spPr>
        <p:txBody>
          <a:bodyPr vert="horz" wrap="square" lIns="0" tIns="22412" rIns="0" bIns="0" rtlCol="0">
            <a:spAutoFit/>
          </a:bodyPr>
          <a:lstStyle/>
          <a:p>
            <a:pPr marL="11206" marR="4483">
              <a:lnSpc>
                <a:spcPts val="2532"/>
              </a:lnSpc>
              <a:spcBef>
                <a:spcPts val="176"/>
              </a:spcBef>
            </a:pPr>
            <a:r>
              <a:rPr sz="2118" spc="-9" dirty="0">
                <a:solidFill>
                  <a:srgbClr val="FF0000"/>
                </a:solidFill>
                <a:latin typeface="Times New Roman"/>
                <a:cs typeface="Times New Roman"/>
              </a:rPr>
              <a:t>Diseconomies </a:t>
            </a:r>
            <a:r>
              <a:rPr sz="2118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118" spc="-1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18" spc="-18" dirty="0">
                <a:solidFill>
                  <a:srgbClr val="FF0000"/>
                </a:solidFill>
                <a:latin typeface="Times New Roman"/>
                <a:cs typeface="Times New Roman"/>
              </a:rPr>
              <a:t>Scale</a:t>
            </a:r>
            <a:endParaRPr sz="2118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27593" y="5398544"/>
            <a:ext cx="351304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spc="-22" dirty="0">
                <a:latin typeface="Times New Roman"/>
                <a:cs typeface="Times New Roman"/>
              </a:rPr>
              <a:t>Q*</a:t>
            </a:r>
            <a:endParaRPr sz="2118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2">
            <a:extLst>
              <a:ext uri="{FF2B5EF4-FFF2-40B4-BE49-F238E27FC236}">
                <a16:creationId xmlns:a16="http://schemas.microsoft.com/office/drawing/2014/main" id="{4E53FE04-B44A-FD53-7165-6DB8764B62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8" y="1557338"/>
          <a:ext cx="7777162" cy="5072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665536" imgH="3101760" progId="Excel.Sheet.8">
                  <p:embed/>
                </p:oleObj>
              </mc:Choice>
              <mc:Fallback>
                <p:oleObj name="Worksheet" r:id="rId2" imgW="3665536" imgH="3101760" progId="Excel.Sheet.8">
                  <p:embed/>
                  <p:pic>
                    <p:nvPicPr>
                      <p:cNvPr id="9218" name="Object 2">
                        <a:extLst>
                          <a:ext uri="{FF2B5EF4-FFF2-40B4-BE49-F238E27FC236}">
                            <a16:creationId xmlns:a16="http://schemas.microsoft.com/office/drawing/2014/main" id="{4E53FE04-B44A-FD53-7165-6DB8764B62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1557338"/>
                        <a:ext cx="7777162" cy="5072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9" name="Rectangle 3">
            <a:extLst>
              <a:ext uri="{FF2B5EF4-FFF2-40B4-BE49-F238E27FC236}">
                <a16:creationId xmlns:a16="http://schemas.microsoft.com/office/drawing/2014/main" id="{CE265F78-E4EF-E27B-283D-6F252028E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28600"/>
            <a:ext cx="6705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3200" b="1">
                <a:solidFill>
                  <a:schemeClr val="tx2"/>
                </a:solidFill>
              </a:rPr>
              <a:t>Fixed, variable, and total costs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5321003-5693-A50F-4704-04F18AD49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28600"/>
            <a:ext cx="68770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2800" b="1"/>
              <a:t>Average and marginal costs</a:t>
            </a:r>
            <a:br>
              <a:rPr lang="en-US" altLang="zh-TW" sz="2800" b="1"/>
            </a:br>
            <a:endParaRPr lang="en-US" altLang="zh-TW" sz="2800" b="1"/>
          </a:p>
        </p:txBody>
      </p:sp>
      <p:graphicFrame>
        <p:nvGraphicFramePr>
          <p:cNvPr id="10243" name="Object 3">
            <a:extLst>
              <a:ext uri="{FF2B5EF4-FFF2-40B4-BE49-F238E27FC236}">
                <a16:creationId xmlns:a16="http://schemas.microsoft.com/office/drawing/2014/main" id="{A63D834A-E596-0D40-9B16-50E95A7FE0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47462" y="914401"/>
          <a:ext cx="8385551" cy="5375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579936" imgH="3101760" progId="Excel.Sheet.8">
                  <p:embed/>
                </p:oleObj>
              </mc:Choice>
              <mc:Fallback>
                <p:oleObj name="Worksheet" r:id="rId2" imgW="4579936" imgH="3101760" progId="Excel.Sheet.8">
                  <p:embed/>
                  <p:pic>
                    <p:nvPicPr>
                      <p:cNvPr id="10243" name="Object 3">
                        <a:extLst>
                          <a:ext uri="{FF2B5EF4-FFF2-40B4-BE49-F238E27FC236}">
                            <a16:creationId xmlns:a16="http://schemas.microsoft.com/office/drawing/2014/main" id="{A63D834A-E596-0D40-9B16-50E95A7FE0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7462" y="914401"/>
                        <a:ext cx="8385551" cy="53750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369555"/>
            <a:ext cx="9278471" cy="1074841"/>
          </a:xfrm>
          <a:prstGeom prst="rect">
            <a:avLst/>
          </a:prstGeom>
        </p:spPr>
        <p:txBody>
          <a:bodyPr vert="horz" wrap="square" lIns="0" tIns="393886" rIns="0" bIns="0" rtlCol="0" anchor="ctr">
            <a:spAutoFit/>
          </a:bodyPr>
          <a:lstStyle/>
          <a:p>
            <a:pPr marL="2611670">
              <a:lnSpc>
                <a:spcPct val="100000"/>
              </a:lnSpc>
              <a:spcBef>
                <a:spcPts val="84"/>
              </a:spcBef>
            </a:pPr>
            <a:r>
              <a:rPr b="1" spc="-9" dirty="0"/>
              <a:t>Conclusion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989564" y="6935043"/>
            <a:ext cx="342900" cy="194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 spc="-10"/>
              <a:t>5-</a:t>
            </a:r>
            <a:fld id="{81D60167-4931-47E6-BA6A-407CBD079E47}" type="slidenum">
              <a:rPr spc="-25" smtClean="0"/>
              <a:pPr marL="12700">
                <a:lnSpc>
                  <a:spcPts val="1410"/>
                </a:lnSpc>
              </a:pPr>
              <a:t>11</a:t>
            </a:fld>
            <a:endParaRPr spc="-22" dirty="0"/>
          </a:p>
        </p:txBody>
      </p:sp>
      <p:sp>
        <p:nvSpPr>
          <p:cNvPr id="3" name="object 3"/>
          <p:cNvSpPr txBox="1"/>
          <p:nvPr/>
        </p:nvSpPr>
        <p:spPr>
          <a:xfrm>
            <a:off x="791110" y="1836419"/>
            <a:ext cx="10058400" cy="3451638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335634" marR="41464" indent="-302575" algn="just">
              <a:lnSpc>
                <a:spcPct val="150000"/>
              </a:lnSpc>
              <a:spcBef>
                <a:spcPts val="79"/>
              </a:spcBef>
              <a:buFont typeface="Wingdings"/>
              <a:buChar char=""/>
              <a:tabLst>
                <a:tab pos="335634" algn="l"/>
              </a:tabLst>
            </a:pPr>
            <a:r>
              <a:rPr sz="2471" dirty="0">
                <a:latin typeface="Arial MT"/>
                <a:cs typeface="Arial MT"/>
              </a:rPr>
              <a:t>To</a:t>
            </a:r>
            <a:r>
              <a:rPr sz="2471" spc="-66" dirty="0">
                <a:latin typeface="Arial MT"/>
                <a:cs typeface="Arial MT"/>
              </a:rPr>
              <a:t> </a:t>
            </a:r>
            <a:r>
              <a:rPr sz="2471" dirty="0">
                <a:latin typeface="Arial MT"/>
                <a:cs typeface="Arial MT"/>
              </a:rPr>
              <a:t>maximize</a:t>
            </a:r>
            <a:r>
              <a:rPr sz="2471" spc="-66" dirty="0">
                <a:latin typeface="Arial MT"/>
                <a:cs typeface="Arial MT"/>
              </a:rPr>
              <a:t> </a:t>
            </a:r>
            <a:r>
              <a:rPr sz="2471" dirty="0">
                <a:latin typeface="Arial MT"/>
                <a:cs typeface="Arial MT"/>
              </a:rPr>
              <a:t>profits</a:t>
            </a:r>
            <a:r>
              <a:rPr sz="2471" spc="-62" dirty="0">
                <a:latin typeface="Arial MT"/>
                <a:cs typeface="Arial MT"/>
              </a:rPr>
              <a:t> </a:t>
            </a:r>
            <a:r>
              <a:rPr sz="2471" dirty="0">
                <a:latin typeface="Arial MT"/>
                <a:cs typeface="Arial MT"/>
              </a:rPr>
              <a:t>(minimize</a:t>
            </a:r>
            <a:r>
              <a:rPr sz="2471" spc="-66" dirty="0">
                <a:latin typeface="Arial MT"/>
                <a:cs typeface="Arial MT"/>
              </a:rPr>
              <a:t> </a:t>
            </a:r>
            <a:r>
              <a:rPr sz="2471" spc="-9" dirty="0">
                <a:latin typeface="Arial MT"/>
                <a:cs typeface="Arial MT"/>
              </a:rPr>
              <a:t>costs) </a:t>
            </a:r>
            <a:r>
              <a:rPr sz="2471" dirty="0">
                <a:latin typeface="Arial MT"/>
                <a:cs typeface="Arial MT"/>
              </a:rPr>
              <a:t>managers</a:t>
            </a:r>
            <a:r>
              <a:rPr sz="2471" spc="-44" dirty="0">
                <a:latin typeface="Arial MT"/>
                <a:cs typeface="Arial MT"/>
              </a:rPr>
              <a:t> </a:t>
            </a:r>
            <a:r>
              <a:rPr sz="2471" dirty="0">
                <a:latin typeface="Arial MT"/>
                <a:cs typeface="Arial MT"/>
              </a:rPr>
              <a:t>must</a:t>
            </a:r>
            <a:r>
              <a:rPr sz="2471" spc="-44" dirty="0">
                <a:latin typeface="Arial MT"/>
                <a:cs typeface="Arial MT"/>
              </a:rPr>
              <a:t> </a:t>
            </a:r>
            <a:r>
              <a:rPr sz="2471" dirty="0">
                <a:latin typeface="Arial MT"/>
                <a:cs typeface="Arial MT"/>
              </a:rPr>
              <a:t>use</a:t>
            </a:r>
            <a:r>
              <a:rPr sz="2471" spc="-49" dirty="0">
                <a:latin typeface="Arial MT"/>
                <a:cs typeface="Arial MT"/>
              </a:rPr>
              <a:t> </a:t>
            </a:r>
            <a:r>
              <a:rPr sz="2471" dirty="0">
                <a:latin typeface="Arial MT"/>
                <a:cs typeface="Arial MT"/>
              </a:rPr>
              <a:t>inputs</a:t>
            </a:r>
            <a:r>
              <a:rPr sz="2471" spc="-40" dirty="0">
                <a:latin typeface="Arial MT"/>
                <a:cs typeface="Arial MT"/>
              </a:rPr>
              <a:t> </a:t>
            </a:r>
            <a:r>
              <a:rPr sz="2471" dirty="0">
                <a:latin typeface="Arial MT"/>
                <a:cs typeface="Arial MT"/>
              </a:rPr>
              <a:t>such</a:t>
            </a:r>
            <a:r>
              <a:rPr sz="2471" spc="-49" dirty="0">
                <a:latin typeface="Arial MT"/>
                <a:cs typeface="Arial MT"/>
              </a:rPr>
              <a:t> </a:t>
            </a:r>
            <a:r>
              <a:rPr sz="2471" dirty="0">
                <a:latin typeface="Arial MT"/>
                <a:cs typeface="Arial MT"/>
              </a:rPr>
              <a:t>that</a:t>
            </a:r>
            <a:r>
              <a:rPr sz="2471" spc="-53" dirty="0">
                <a:latin typeface="Arial MT"/>
                <a:cs typeface="Arial MT"/>
              </a:rPr>
              <a:t> </a:t>
            </a:r>
            <a:r>
              <a:rPr sz="2471" spc="-22" dirty="0">
                <a:latin typeface="Arial MT"/>
                <a:cs typeface="Arial MT"/>
              </a:rPr>
              <a:t>the </a:t>
            </a:r>
            <a:r>
              <a:rPr sz="2471" dirty="0">
                <a:latin typeface="Arial MT"/>
                <a:cs typeface="Arial MT"/>
              </a:rPr>
              <a:t>value</a:t>
            </a:r>
            <a:r>
              <a:rPr sz="2471" spc="-44" dirty="0">
                <a:latin typeface="Arial MT"/>
                <a:cs typeface="Arial MT"/>
              </a:rPr>
              <a:t> </a:t>
            </a:r>
            <a:r>
              <a:rPr sz="2471" dirty="0">
                <a:latin typeface="Arial MT"/>
                <a:cs typeface="Arial MT"/>
              </a:rPr>
              <a:t>of</a:t>
            </a:r>
            <a:r>
              <a:rPr sz="2471" spc="-53" dirty="0">
                <a:latin typeface="Arial MT"/>
                <a:cs typeface="Arial MT"/>
              </a:rPr>
              <a:t> </a:t>
            </a:r>
            <a:r>
              <a:rPr sz="2471" dirty="0">
                <a:latin typeface="Arial MT"/>
                <a:cs typeface="Arial MT"/>
              </a:rPr>
              <a:t>marginal</a:t>
            </a:r>
            <a:r>
              <a:rPr sz="2471" spc="-44" dirty="0">
                <a:latin typeface="Arial MT"/>
                <a:cs typeface="Arial MT"/>
              </a:rPr>
              <a:t> </a:t>
            </a:r>
            <a:r>
              <a:rPr sz="2471" dirty="0">
                <a:latin typeface="Arial MT"/>
                <a:cs typeface="Arial MT"/>
              </a:rPr>
              <a:t>of</a:t>
            </a:r>
            <a:r>
              <a:rPr sz="2471" spc="-44" dirty="0">
                <a:latin typeface="Arial MT"/>
                <a:cs typeface="Arial MT"/>
              </a:rPr>
              <a:t> </a:t>
            </a:r>
            <a:r>
              <a:rPr sz="2471" dirty="0">
                <a:latin typeface="Arial MT"/>
                <a:cs typeface="Arial MT"/>
              </a:rPr>
              <a:t>each</a:t>
            </a:r>
            <a:r>
              <a:rPr sz="2471" spc="-44" dirty="0">
                <a:latin typeface="Arial MT"/>
                <a:cs typeface="Arial MT"/>
              </a:rPr>
              <a:t> </a:t>
            </a:r>
            <a:r>
              <a:rPr sz="2471" dirty="0">
                <a:latin typeface="Arial MT"/>
                <a:cs typeface="Arial MT"/>
              </a:rPr>
              <a:t>input</a:t>
            </a:r>
            <a:r>
              <a:rPr sz="2471" spc="-44" dirty="0">
                <a:latin typeface="Arial MT"/>
                <a:cs typeface="Arial MT"/>
              </a:rPr>
              <a:t> </a:t>
            </a:r>
            <a:r>
              <a:rPr sz="2471" dirty="0">
                <a:latin typeface="Arial MT"/>
                <a:cs typeface="Arial MT"/>
              </a:rPr>
              <a:t>reflects</a:t>
            </a:r>
            <a:r>
              <a:rPr sz="2471" spc="-40" dirty="0">
                <a:latin typeface="Arial MT"/>
                <a:cs typeface="Arial MT"/>
              </a:rPr>
              <a:t> </a:t>
            </a:r>
            <a:r>
              <a:rPr sz="2471" spc="-9" dirty="0">
                <a:latin typeface="Arial MT"/>
                <a:cs typeface="Arial MT"/>
              </a:rPr>
              <a:t>price </a:t>
            </a:r>
            <a:r>
              <a:rPr sz="2471" dirty="0">
                <a:latin typeface="Arial MT"/>
                <a:cs typeface="Arial MT"/>
              </a:rPr>
              <a:t>the</a:t>
            </a:r>
            <a:r>
              <a:rPr sz="2471" spc="-40" dirty="0">
                <a:latin typeface="Arial MT"/>
                <a:cs typeface="Arial MT"/>
              </a:rPr>
              <a:t> </a:t>
            </a:r>
            <a:r>
              <a:rPr sz="2471" dirty="0">
                <a:latin typeface="Arial MT"/>
                <a:cs typeface="Arial MT"/>
              </a:rPr>
              <a:t>firm</a:t>
            </a:r>
            <a:r>
              <a:rPr sz="2471" spc="-40" dirty="0">
                <a:latin typeface="Arial MT"/>
                <a:cs typeface="Arial MT"/>
              </a:rPr>
              <a:t> </a:t>
            </a:r>
            <a:r>
              <a:rPr sz="2471" dirty="0">
                <a:latin typeface="Arial MT"/>
                <a:cs typeface="Arial MT"/>
              </a:rPr>
              <a:t>must</a:t>
            </a:r>
            <a:r>
              <a:rPr sz="2471" spc="-35" dirty="0">
                <a:latin typeface="Arial MT"/>
                <a:cs typeface="Arial MT"/>
              </a:rPr>
              <a:t> </a:t>
            </a:r>
            <a:r>
              <a:rPr sz="2471" dirty="0">
                <a:latin typeface="Arial MT"/>
                <a:cs typeface="Arial MT"/>
              </a:rPr>
              <a:t>pay</a:t>
            </a:r>
            <a:r>
              <a:rPr sz="2471" spc="-44" dirty="0">
                <a:latin typeface="Arial MT"/>
                <a:cs typeface="Arial MT"/>
              </a:rPr>
              <a:t> </a:t>
            </a:r>
            <a:r>
              <a:rPr sz="2471" dirty="0">
                <a:latin typeface="Arial MT"/>
                <a:cs typeface="Arial MT"/>
              </a:rPr>
              <a:t>to</a:t>
            </a:r>
            <a:r>
              <a:rPr sz="2471" spc="-35" dirty="0">
                <a:latin typeface="Arial MT"/>
                <a:cs typeface="Arial MT"/>
              </a:rPr>
              <a:t> </a:t>
            </a:r>
            <a:r>
              <a:rPr sz="2471" dirty="0">
                <a:latin typeface="Arial MT"/>
                <a:cs typeface="Arial MT"/>
              </a:rPr>
              <a:t>employ</a:t>
            </a:r>
            <a:r>
              <a:rPr sz="2471" spc="-22" dirty="0">
                <a:latin typeface="Arial MT"/>
                <a:cs typeface="Arial MT"/>
              </a:rPr>
              <a:t> </a:t>
            </a:r>
            <a:r>
              <a:rPr sz="2471" dirty="0">
                <a:latin typeface="Arial MT"/>
                <a:cs typeface="Arial MT"/>
              </a:rPr>
              <a:t>the</a:t>
            </a:r>
            <a:r>
              <a:rPr sz="2471" spc="-35" dirty="0">
                <a:latin typeface="Arial MT"/>
                <a:cs typeface="Arial MT"/>
              </a:rPr>
              <a:t> </a:t>
            </a:r>
            <a:r>
              <a:rPr sz="2471" spc="-9" dirty="0">
                <a:latin typeface="Arial MT"/>
                <a:cs typeface="Arial MT"/>
              </a:rPr>
              <a:t>input.</a:t>
            </a:r>
            <a:endParaRPr lang="en-IN" sz="2471" spc="-9" dirty="0">
              <a:latin typeface="Arial MT"/>
              <a:cs typeface="Arial MT"/>
            </a:endParaRPr>
          </a:p>
          <a:p>
            <a:pPr marL="33059" marR="41464" algn="just">
              <a:lnSpc>
                <a:spcPct val="150000"/>
              </a:lnSpc>
              <a:spcBef>
                <a:spcPts val="79"/>
              </a:spcBef>
              <a:tabLst>
                <a:tab pos="335634" algn="l"/>
              </a:tabLst>
            </a:pPr>
            <a:endParaRPr sz="2471" dirty="0">
              <a:latin typeface="Arial MT"/>
              <a:cs typeface="Arial MT"/>
            </a:endParaRPr>
          </a:p>
          <a:p>
            <a:pPr marL="335634" marR="26896" indent="-302575" algn="just">
              <a:lnSpc>
                <a:spcPct val="150000"/>
              </a:lnSpc>
              <a:spcBef>
                <a:spcPts val="587"/>
              </a:spcBef>
              <a:buFont typeface="Wingdings"/>
              <a:buChar char=""/>
              <a:tabLst>
                <a:tab pos="335634" algn="l"/>
              </a:tabLst>
            </a:pPr>
            <a:r>
              <a:rPr sz="2471" dirty="0">
                <a:latin typeface="Arial MT"/>
                <a:cs typeface="Arial MT"/>
              </a:rPr>
              <a:t>Cost</a:t>
            </a:r>
            <a:r>
              <a:rPr sz="2471" spc="-53" dirty="0">
                <a:latin typeface="Arial MT"/>
                <a:cs typeface="Arial MT"/>
              </a:rPr>
              <a:t> </a:t>
            </a:r>
            <a:r>
              <a:rPr sz="2471" dirty="0">
                <a:latin typeface="Arial MT"/>
                <a:cs typeface="Arial MT"/>
              </a:rPr>
              <a:t>functions</a:t>
            </a:r>
            <a:r>
              <a:rPr sz="2471" spc="-44" dirty="0">
                <a:latin typeface="Arial MT"/>
                <a:cs typeface="Arial MT"/>
              </a:rPr>
              <a:t> </a:t>
            </a:r>
            <a:r>
              <a:rPr sz="2471" dirty="0">
                <a:latin typeface="Arial MT"/>
                <a:cs typeface="Arial MT"/>
              </a:rPr>
              <a:t>are</a:t>
            </a:r>
            <a:r>
              <a:rPr sz="2471" spc="-57" dirty="0">
                <a:latin typeface="Arial MT"/>
                <a:cs typeface="Arial MT"/>
              </a:rPr>
              <a:t> </a:t>
            </a:r>
            <a:r>
              <a:rPr sz="2471" dirty="0">
                <a:latin typeface="Arial MT"/>
                <a:cs typeface="Arial MT"/>
              </a:rPr>
              <a:t>the</a:t>
            </a:r>
            <a:r>
              <a:rPr sz="2471" spc="-53" dirty="0">
                <a:latin typeface="Arial MT"/>
                <a:cs typeface="Arial MT"/>
              </a:rPr>
              <a:t> </a:t>
            </a:r>
            <a:r>
              <a:rPr sz="2471" dirty="0">
                <a:latin typeface="Arial MT"/>
                <a:cs typeface="Arial MT"/>
              </a:rPr>
              <a:t>foundation</a:t>
            </a:r>
            <a:r>
              <a:rPr sz="2471" spc="-49" dirty="0">
                <a:latin typeface="Arial MT"/>
                <a:cs typeface="Arial MT"/>
              </a:rPr>
              <a:t> </a:t>
            </a:r>
            <a:r>
              <a:rPr sz="2471" dirty="0">
                <a:latin typeface="Arial MT"/>
                <a:cs typeface="Arial MT"/>
              </a:rPr>
              <a:t>for</a:t>
            </a:r>
            <a:r>
              <a:rPr sz="2471" spc="-57" dirty="0">
                <a:latin typeface="Arial MT"/>
                <a:cs typeface="Arial MT"/>
              </a:rPr>
              <a:t> </a:t>
            </a:r>
            <a:r>
              <a:rPr sz="2471" spc="-9" dirty="0">
                <a:latin typeface="Arial MT"/>
                <a:cs typeface="Arial MT"/>
              </a:rPr>
              <a:t>helping </a:t>
            </a:r>
            <a:r>
              <a:rPr sz="2471" dirty="0">
                <a:latin typeface="Arial MT"/>
                <a:cs typeface="Arial MT"/>
              </a:rPr>
              <a:t>to</a:t>
            </a:r>
            <a:r>
              <a:rPr sz="2471" spc="-75" dirty="0">
                <a:latin typeface="Arial MT"/>
                <a:cs typeface="Arial MT"/>
              </a:rPr>
              <a:t> </a:t>
            </a:r>
            <a:r>
              <a:rPr sz="2471" dirty="0">
                <a:latin typeface="Arial MT"/>
                <a:cs typeface="Arial MT"/>
              </a:rPr>
              <a:t>determine</a:t>
            </a:r>
            <a:r>
              <a:rPr sz="2471" spc="-75" dirty="0">
                <a:latin typeface="Arial MT"/>
                <a:cs typeface="Arial MT"/>
              </a:rPr>
              <a:t> </a:t>
            </a:r>
            <a:r>
              <a:rPr sz="2471" spc="-9" dirty="0">
                <a:latin typeface="Arial MT"/>
                <a:cs typeface="Arial MT"/>
              </a:rPr>
              <a:t>profit-</a:t>
            </a:r>
            <a:r>
              <a:rPr sz="2471" dirty="0">
                <a:latin typeface="Arial MT"/>
                <a:cs typeface="Arial MT"/>
              </a:rPr>
              <a:t>maximizing</a:t>
            </a:r>
            <a:r>
              <a:rPr sz="2471" spc="-75" dirty="0">
                <a:latin typeface="Arial MT"/>
                <a:cs typeface="Arial MT"/>
              </a:rPr>
              <a:t> </a:t>
            </a:r>
            <a:r>
              <a:rPr sz="2471" dirty="0">
                <a:latin typeface="Arial MT"/>
                <a:cs typeface="Arial MT"/>
              </a:rPr>
              <a:t>behavior</a:t>
            </a:r>
            <a:r>
              <a:rPr sz="2471" spc="-75" dirty="0">
                <a:latin typeface="Arial MT"/>
                <a:cs typeface="Arial MT"/>
              </a:rPr>
              <a:t> </a:t>
            </a:r>
            <a:r>
              <a:rPr sz="2471" spc="-22" dirty="0">
                <a:latin typeface="Arial MT"/>
                <a:cs typeface="Arial MT"/>
              </a:rPr>
              <a:t>in </a:t>
            </a:r>
            <a:r>
              <a:rPr sz="2471" dirty="0">
                <a:latin typeface="Arial MT"/>
                <a:cs typeface="Arial MT"/>
              </a:rPr>
              <a:t>future</a:t>
            </a:r>
            <a:r>
              <a:rPr sz="2471" spc="-53" dirty="0">
                <a:latin typeface="Arial MT"/>
                <a:cs typeface="Arial MT"/>
              </a:rPr>
              <a:t> </a:t>
            </a:r>
            <a:r>
              <a:rPr sz="2471" spc="-9" dirty="0">
                <a:latin typeface="Arial MT"/>
                <a:cs typeface="Arial MT"/>
              </a:rPr>
              <a:t>chapters.</a:t>
            </a:r>
            <a:endParaRPr sz="2471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1056</TotalTime>
  <Words>340</Words>
  <Application>Microsoft Office PowerPoint</Application>
  <PresentationFormat>Widescreen</PresentationFormat>
  <Paragraphs>95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Arial MT</vt:lpstr>
      <vt:lpstr>Calibri</vt:lpstr>
      <vt:lpstr>Calibri Light</vt:lpstr>
      <vt:lpstr>Times New Roman</vt:lpstr>
      <vt:lpstr>Wingdings</vt:lpstr>
      <vt:lpstr>Office Theme</vt:lpstr>
      <vt:lpstr>Microsoft Excel Worksheet</vt:lpstr>
      <vt:lpstr>Cost Analysis</vt:lpstr>
      <vt:lpstr>Total and Variable Costs</vt:lpstr>
      <vt:lpstr>Fixed and Sunk Costs</vt:lpstr>
      <vt:lpstr>Some Definitions</vt:lpstr>
      <vt:lpstr>Fixed Cost</vt:lpstr>
      <vt:lpstr>Variable Cost</vt:lpstr>
      <vt:lpstr>Total Cost</vt:lpstr>
      <vt:lpstr>Long-Run Average Costs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Shilpi Tyagi</dc:creator>
  <cp:lastModifiedBy>Shilpi Tyagi</cp:lastModifiedBy>
  <cp:revision>2</cp:revision>
  <dcterms:created xsi:type="dcterms:W3CDTF">2024-07-28T13:47:12Z</dcterms:created>
  <dcterms:modified xsi:type="dcterms:W3CDTF">2024-07-29T07:23:54Z</dcterms:modified>
</cp:coreProperties>
</file>
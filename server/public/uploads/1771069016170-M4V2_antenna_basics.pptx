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80" r:id="rId4"/>
    <p:sldId id="286" r:id="rId5"/>
    <p:sldId id="273" r:id="rId6"/>
    <p:sldId id="287" r:id="rId7"/>
    <p:sldId id="281" r:id="rId8"/>
    <p:sldId id="285" r:id="rId9"/>
    <p:sldId id="274" r:id="rId10"/>
    <p:sldId id="275" r:id="rId11"/>
    <p:sldId id="288" r:id="rId12"/>
    <p:sldId id="289" r:id="rId13"/>
    <p:sldId id="276" r:id="rId14"/>
    <p:sldId id="267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01" autoAdjust="0"/>
    <p:restoredTop sz="94660"/>
  </p:normalViewPr>
  <p:slideViewPr>
    <p:cSldViewPr>
      <p:cViewPr>
        <p:scale>
          <a:sx n="75" d="100"/>
          <a:sy n="75" d="100"/>
        </p:scale>
        <p:origin x="-1560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9/23/2020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72010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module till now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609600" y="25146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3352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Antenna Basics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Antenna basics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" y="3232934"/>
            <a:ext cx="830580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dB unit can describe very big ratios with numbers of modest size. </a:t>
            </a:r>
            <a:r>
              <a:rPr lang="en-US" dirty="0" err="1" smtClean="0"/>
              <a:t>e.g</a:t>
            </a:r>
            <a:endParaRPr lang="en-US" dirty="0" smtClean="0"/>
          </a:p>
          <a:p>
            <a:pPr marL="1087438" indent="-519113">
              <a:buFont typeface="Wingdings" pitchFamily="2" charset="2"/>
              <a:buChar char="Ø"/>
            </a:pPr>
            <a:r>
              <a:rPr lang="en-US" dirty="0" err="1" smtClean="0"/>
              <a:t>Tx</a:t>
            </a:r>
            <a:r>
              <a:rPr lang="en-US" dirty="0" smtClean="0"/>
              <a:t> power =100 W, Rx Power= 1W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err="1" smtClean="0"/>
              <a:t>Tx</a:t>
            </a:r>
            <a:r>
              <a:rPr lang="en-US" dirty="0" smtClean="0"/>
              <a:t> power is 100 times of received power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smtClean="0"/>
              <a:t>Difference is 20 dB</a:t>
            </a:r>
          </a:p>
          <a:p>
            <a:pPr marL="1087438" indent="-519113">
              <a:buFont typeface="Wingdings" pitchFamily="2" charset="2"/>
              <a:buChar char="Ø"/>
            </a:pPr>
            <a:r>
              <a:rPr lang="en-US" dirty="0" err="1" smtClean="0"/>
              <a:t>Tx</a:t>
            </a:r>
            <a:r>
              <a:rPr lang="en-US" dirty="0" smtClean="0"/>
              <a:t> power =100 W, Rx Power= 1mW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err="1" smtClean="0"/>
              <a:t>Tx</a:t>
            </a:r>
            <a:r>
              <a:rPr lang="en-US" dirty="0" smtClean="0"/>
              <a:t> power is 100,000 times of received power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smtClean="0"/>
              <a:t>Difference is 50 dB</a:t>
            </a:r>
          </a:p>
          <a:p>
            <a:pPr marL="1087438" indent="-519113">
              <a:buFont typeface="Wingdings" pitchFamily="2" charset="2"/>
              <a:buChar char="Ø"/>
            </a:pPr>
            <a:r>
              <a:rPr lang="en-US" dirty="0" err="1" smtClean="0"/>
              <a:t>Tx</a:t>
            </a:r>
            <a:r>
              <a:rPr lang="en-US" dirty="0" smtClean="0"/>
              <a:t> power =1000 W, Rx Power= 1mW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err="1" smtClean="0"/>
              <a:t>Tx</a:t>
            </a:r>
            <a:r>
              <a:rPr lang="en-US" dirty="0" smtClean="0"/>
              <a:t> power is million times of received power</a:t>
            </a:r>
          </a:p>
          <a:p>
            <a:pPr marL="2001838" lvl="2" indent="-519113">
              <a:buFont typeface="Arial" pitchFamily="34" charset="0"/>
              <a:buChar char="•"/>
            </a:pPr>
            <a:r>
              <a:rPr lang="en-US" dirty="0" smtClean="0"/>
              <a:t>Difference is 60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15077"/>
            <a:ext cx="8915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What is Decibel(dB)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A logarithmic unit that is used to describe a ratio. Lets  say, we have two values P1 and P2. the difference (ratio) between them can be expressed in dB and is computed as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			10 log(P1/P2) dB</a:t>
            </a:r>
          </a:p>
          <a:p>
            <a:pPr marL="1260475" indent="-6921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Transmit power P1= 100W, received power P2= 1W. </a:t>
            </a:r>
          </a:p>
          <a:p>
            <a:pPr marL="1260475" indent="-6921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difference is 10 log(100/1)= 20dB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Antenna basics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" y="533400"/>
            <a:ext cx="90678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 smtClean="0"/>
              <a:t>dBm</a:t>
            </a:r>
            <a:endParaRPr lang="en-US" b="1" dirty="0" smtClean="0"/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For power differences, </a:t>
            </a:r>
            <a:r>
              <a:rPr lang="en-US" dirty="0" err="1" smtClean="0"/>
              <a:t>dBm</a:t>
            </a:r>
            <a:r>
              <a:rPr lang="en-US" dirty="0" smtClean="0"/>
              <a:t> is used to denote a power level with respect to 1mW as          the reference power level. 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Lets say </a:t>
            </a:r>
            <a:r>
              <a:rPr lang="en-US" dirty="0" err="1" smtClean="0"/>
              <a:t>Tx</a:t>
            </a:r>
            <a:r>
              <a:rPr lang="en-US" dirty="0" smtClean="0"/>
              <a:t> power of a system is 100 W . What is the </a:t>
            </a:r>
            <a:r>
              <a:rPr lang="en-US" dirty="0" err="1" smtClean="0"/>
              <a:t>Tx</a:t>
            </a:r>
            <a:r>
              <a:rPr lang="en-US" dirty="0" smtClean="0"/>
              <a:t> power in unit of </a:t>
            </a:r>
            <a:r>
              <a:rPr lang="en-US" dirty="0" err="1" smtClean="0"/>
              <a:t>dBm</a:t>
            </a:r>
            <a:r>
              <a:rPr lang="en-US" dirty="0" smtClean="0"/>
              <a:t>?</a:t>
            </a:r>
          </a:p>
          <a:p>
            <a:pPr marL="346075" indent="-346075">
              <a:lnSpc>
                <a:spcPct val="150000"/>
              </a:lnSpc>
            </a:pPr>
            <a:r>
              <a:rPr lang="en-US" b="1" dirty="0" smtClean="0"/>
              <a:t>	Solution: 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 smtClean="0"/>
              <a:t>Tx_power</a:t>
            </a:r>
            <a:r>
              <a:rPr lang="en-US" dirty="0" smtClean="0"/>
              <a:t>(</a:t>
            </a:r>
            <a:r>
              <a:rPr lang="en-US" dirty="0" err="1" smtClean="0"/>
              <a:t>dBm</a:t>
            </a:r>
            <a:r>
              <a:rPr lang="en-US" dirty="0" smtClean="0"/>
              <a:t>)=10 log(100W/1mW) = 10 log (100W/0.001W)= 10 log(100,0000)= </a:t>
            </a:r>
            <a:r>
              <a:rPr lang="en-US" b="1" dirty="0" smtClean="0"/>
              <a:t>50dBm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52400" y="3200400"/>
            <a:ext cx="8458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 smtClean="0"/>
              <a:t>dBW</a:t>
            </a:r>
            <a:endParaRPr lang="en-US" b="1" dirty="0" smtClean="0"/>
          </a:p>
          <a:p>
            <a:pPr marL="396875" indent="-3968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For power differences, </a:t>
            </a:r>
            <a:r>
              <a:rPr lang="en-US" dirty="0" err="1" smtClean="0"/>
              <a:t>dBW</a:t>
            </a:r>
            <a:r>
              <a:rPr lang="en-US" dirty="0" smtClean="0"/>
              <a:t> is used to denote a power level with respect to 1W as the reference power level. </a:t>
            </a:r>
          </a:p>
          <a:p>
            <a:pPr marL="396875" indent="-3968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Lets say </a:t>
            </a:r>
            <a:r>
              <a:rPr lang="en-US" dirty="0" err="1" smtClean="0"/>
              <a:t>Tx</a:t>
            </a:r>
            <a:r>
              <a:rPr lang="en-US" dirty="0" smtClean="0"/>
              <a:t> power of a system is 100 W . What is the </a:t>
            </a:r>
            <a:r>
              <a:rPr lang="en-US" dirty="0" err="1" smtClean="0"/>
              <a:t>Tx</a:t>
            </a:r>
            <a:r>
              <a:rPr lang="en-US" dirty="0" smtClean="0"/>
              <a:t> power in unit of </a:t>
            </a:r>
            <a:r>
              <a:rPr lang="en-US" dirty="0" err="1" smtClean="0"/>
              <a:t>dBW</a:t>
            </a:r>
            <a:r>
              <a:rPr lang="en-US" dirty="0" smtClean="0"/>
              <a:t>?</a:t>
            </a:r>
          </a:p>
          <a:p>
            <a:pPr marL="396875" indent="-396875">
              <a:lnSpc>
                <a:spcPct val="150000"/>
              </a:lnSpc>
            </a:pPr>
            <a:r>
              <a:rPr lang="en-US" b="1" dirty="0" smtClean="0"/>
              <a:t>	Solution: </a:t>
            </a:r>
          </a:p>
          <a:p>
            <a:pPr marL="396875" indent="-3968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 smtClean="0"/>
              <a:t>Tx_power</a:t>
            </a:r>
            <a:r>
              <a:rPr lang="en-US" dirty="0" smtClean="0"/>
              <a:t>(</a:t>
            </a:r>
            <a:r>
              <a:rPr lang="en-US" dirty="0" err="1" smtClean="0"/>
              <a:t>dBW</a:t>
            </a:r>
            <a:r>
              <a:rPr lang="en-US" dirty="0" smtClean="0"/>
              <a:t>)=10 log(100W/1W) = 10 log (100W/1W)= 10 log(100)= </a:t>
            </a:r>
            <a:r>
              <a:rPr lang="en-US" b="1" dirty="0" smtClean="0"/>
              <a:t>20dBW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Antenna basics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1000" y="762000"/>
            <a:ext cx="845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free space received power is given by the </a:t>
            </a:r>
            <a:r>
              <a:rPr lang="en-US" sz="2000" dirty="0" err="1" smtClean="0"/>
              <a:t>friis</a:t>
            </a:r>
            <a:r>
              <a:rPr lang="en-US" sz="2000" dirty="0" smtClean="0"/>
              <a:t> free space equation</a:t>
            </a:r>
          </a:p>
          <a:p>
            <a:pPr marL="346075" indent="-346075">
              <a:lnSpc>
                <a:spcPct val="150000"/>
              </a:lnSpc>
            </a:pPr>
            <a:r>
              <a:rPr lang="en-US" sz="2000" dirty="0" smtClean="0"/>
              <a:t>		P</a:t>
            </a:r>
            <a:r>
              <a:rPr lang="en-US" sz="2000" baseline="-25000" dirty="0" smtClean="0"/>
              <a:t>r</a:t>
            </a:r>
            <a:r>
              <a:rPr lang="en-US" sz="2000" dirty="0" smtClean="0"/>
              <a:t>(d)= </a:t>
            </a:r>
            <a:r>
              <a:rPr lang="en-US" sz="2000" dirty="0" err="1" smtClean="0"/>
              <a:t>P</a:t>
            </a:r>
            <a:r>
              <a:rPr lang="en-US" sz="2000" baseline="-25000" dirty="0" err="1" smtClean="0"/>
              <a:t>t</a:t>
            </a:r>
            <a:r>
              <a:rPr lang="en-US" sz="2000" dirty="0" err="1" smtClean="0"/>
              <a:t>G</a:t>
            </a:r>
            <a:r>
              <a:rPr lang="en-US" sz="2000" baseline="-25000" dirty="0" err="1" smtClean="0"/>
              <a:t>t</a:t>
            </a:r>
            <a:r>
              <a:rPr lang="en-US" sz="2000" dirty="0" err="1" smtClean="0"/>
              <a:t>G</a:t>
            </a:r>
            <a:r>
              <a:rPr lang="en-US" sz="2000" baseline="-25000" dirty="0" err="1" smtClean="0"/>
              <a:t>R</a:t>
            </a:r>
            <a:r>
              <a:rPr lang="el-GR" sz="2000" dirty="0" smtClean="0"/>
              <a:t>λ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/(4</a:t>
            </a:r>
            <a:r>
              <a:rPr lang="el-GR" sz="2000" dirty="0" smtClean="0"/>
              <a:t>π</a:t>
            </a:r>
            <a:r>
              <a:rPr lang="en-US" sz="2000" dirty="0" smtClean="0"/>
              <a:t>)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d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L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gain of antenna G is related to its effective aperture by</a:t>
            </a:r>
          </a:p>
          <a:p>
            <a:pPr marL="346075" indent="-346075">
              <a:lnSpc>
                <a:spcPct val="150000"/>
              </a:lnSpc>
            </a:pPr>
            <a:r>
              <a:rPr lang="en-US" sz="2000" dirty="0" smtClean="0"/>
              <a:t>			G= 4</a:t>
            </a:r>
            <a:r>
              <a:rPr lang="el-GR" sz="2000" dirty="0" smtClean="0"/>
              <a:t>π</a:t>
            </a:r>
            <a:r>
              <a:rPr lang="en-US" sz="2000" dirty="0" smtClean="0"/>
              <a:t> </a:t>
            </a:r>
            <a:r>
              <a:rPr lang="en-US" sz="2000" dirty="0" err="1" smtClean="0"/>
              <a:t>A</a:t>
            </a:r>
            <a:r>
              <a:rPr lang="en-US" sz="2000" baseline="-25000" dirty="0" err="1" smtClean="0"/>
              <a:t>e</a:t>
            </a:r>
            <a:r>
              <a:rPr lang="en-US" sz="2000" dirty="0" smtClean="0"/>
              <a:t>/</a:t>
            </a:r>
            <a:r>
              <a:rPr lang="el-GR" sz="2000" dirty="0" smtClean="0"/>
              <a:t>λ</a:t>
            </a:r>
            <a:r>
              <a:rPr lang="en-US" sz="2000" baseline="30000" dirty="0" smtClean="0"/>
              <a:t>2</a:t>
            </a:r>
          </a:p>
          <a:p>
            <a:pPr marL="346075" indent="-346075">
              <a:lnSpc>
                <a:spcPct val="150000"/>
              </a:lnSpc>
            </a:pPr>
            <a:r>
              <a:rPr lang="en-US" sz="2000" dirty="0" smtClean="0"/>
              <a:t>      Where the effective aperture </a:t>
            </a:r>
            <a:r>
              <a:rPr lang="en-US" sz="2000" dirty="0" err="1" smtClean="0"/>
              <a:t>A</a:t>
            </a:r>
            <a:r>
              <a:rPr lang="en-US" sz="2000" baseline="-25000" dirty="0" err="1" smtClean="0"/>
              <a:t>e</a:t>
            </a:r>
            <a:r>
              <a:rPr lang="en-US" sz="2000" dirty="0" smtClean="0"/>
              <a:t> is related to physical size of antenna 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</a:t>
            </a:r>
            <a:r>
              <a:rPr lang="el-GR" sz="2000" dirty="0" smtClean="0"/>
              <a:t>λ</a:t>
            </a:r>
            <a:r>
              <a:rPr lang="en-US" sz="2000" dirty="0" smtClean="0"/>
              <a:t> is related to carrier frequency by</a:t>
            </a:r>
          </a:p>
          <a:p>
            <a:pPr marL="346075" indent="-346075">
              <a:lnSpc>
                <a:spcPct val="150000"/>
              </a:lnSpc>
            </a:pPr>
            <a:r>
              <a:rPr lang="en-US" sz="2000" dirty="0" smtClean="0"/>
              <a:t>			</a:t>
            </a:r>
            <a:r>
              <a:rPr lang="el-GR" sz="2000" dirty="0" smtClean="0"/>
              <a:t> λ</a:t>
            </a:r>
            <a:r>
              <a:rPr lang="en-US" sz="2000" dirty="0" smtClean="0"/>
              <a:t>=c/f   = 2</a:t>
            </a:r>
            <a:r>
              <a:rPr lang="el-GR" sz="2000" dirty="0" smtClean="0"/>
              <a:t> π</a:t>
            </a:r>
            <a:r>
              <a:rPr lang="en-US" sz="2000" dirty="0" smtClean="0"/>
              <a:t> c/ </a:t>
            </a:r>
            <a:r>
              <a:rPr lang="el-GR" sz="2000" dirty="0" smtClean="0"/>
              <a:t>ω</a:t>
            </a:r>
            <a:r>
              <a:rPr lang="en-US" sz="2000" baseline="-25000" dirty="0" smtClean="0"/>
              <a:t>c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Higher the frequency , higher the gain for same size antenna</a:t>
            </a:r>
          </a:p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1" y="65325"/>
            <a:ext cx="9144001" cy="6792675"/>
            <a:chOff x="-1" y="65325"/>
            <a:chExt cx="9144001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1" y="404838"/>
              <a:ext cx="9144001" cy="6453162"/>
              <a:chOff x="-323095" y="776786"/>
              <a:chExt cx="14645897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5" y="1232011"/>
                <a:ext cx="14645897" cy="7680891"/>
                <a:chOff x="-323095" y="1232011"/>
                <a:chExt cx="14645897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6820" y="7511610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1537" y="7952943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28600" y="990600"/>
            <a:ext cx="853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An isotropic radiator is an ideal antenna that radiates power with unit gain uniformly in all directions. It is used as the reference antenna in wireless systems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effective isotropic radiated power(EIRP) is defined as 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/>
              <a:t>					EIRP= P</a:t>
            </a:r>
            <a:r>
              <a:rPr lang="en-US" sz="2000" baseline="-25000" dirty="0" smtClean="0"/>
              <a:t>T</a:t>
            </a:r>
            <a:r>
              <a:rPr lang="en-US" sz="2000" dirty="0" smtClean="0"/>
              <a:t>G</a:t>
            </a:r>
            <a:r>
              <a:rPr lang="en-US" sz="2000" baseline="-25000" dirty="0" smtClean="0"/>
              <a:t>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effective radiated power(ERP) is the radiated power in comparison to the half wave dipole antenna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Since dipole antenna has a gain of 1.64(2.15dB)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/>
              <a:t>					ERP=EIRP-2.15(dB)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In practical antenna gains are given in units of dBi(dB gain with respect to an isotropic source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Antenna basics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1" y="65325"/>
            <a:ext cx="9144001" cy="6792675"/>
            <a:chOff x="-1" y="65325"/>
            <a:chExt cx="9144001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1" y="404838"/>
              <a:ext cx="9144001" cy="6453162"/>
              <a:chOff x="-323095" y="776786"/>
              <a:chExt cx="14645897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5" y="1232011"/>
                <a:ext cx="14645897" cy="7680891"/>
                <a:chOff x="-323095" y="1232011"/>
                <a:chExt cx="14645897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6820" y="7511610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1537" y="7952943"/>
                  <a:ext cx="903684" cy="1016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52400" y="796290"/>
            <a:ext cx="88392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path loss represents the signal attenuation as positive quantity and measured in dB</a:t>
            </a:r>
          </a:p>
          <a:p>
            <a:pPr marL="284163" indent="-284163">
              <a:lnSpc>
                <a:spcPct val="150000"/>
              </a:lnSpc>
            </a:pPr>
            <a:r>
              <a:rPr lang="en-US" dirty="0" smtClean="0"/>
              <a:t>			P</a:t>
            </a:r>
            <a:r>
              <a:rPr lang="en-US" baseline="-25000" dirty="0" smtClean="0"/>
              <a:t>L</a:t>
            </a:r>
            <a:r>
              <a:rPr lang="en-US" dirty="0" smtClean="0"/>
              <a:t>(dB)=10 log ( P</a:t>
            </a:r>
            <a:r>
              <a:rPr lang="en-US" baseline="-25000" dirty="0" smtClean="0"/>
              <a:t>t</a:t>
            </a:r>
            <a:r>
              <a:rPr lang="en-US" dirty="0" smtClean="0"/>
              <a:t>/P</a:t>
            </a:r>
            <a:r>
              <a:rPr lang="en-US" baseline="-25000" dirty="0" smtClean="0"/>
              <a:t>r</a:t>
            </a:r>
            <a:r>
              <a:rPr lang="en-US" dirty="0" smtClean="0"/>
              <a:t>)= -10 log( </a:t>
            </a:r>
            <a:r>
              <a:rPr lang="en-US" dirty="0" err="1" smtClean="0"/>
              <a:t>G</a:t>
            </a:r>
            <a:r>
              <a:rPr lang="en-US" baseline="-25000" dirty="0" err="1" smtClean="0"/>
              <a:t>t</a:t>
            </a:r>
            <a:r>
              <a:rPr lang="en-US" dirty="0" err="1" smtClean="0"/>
              <a:t>G</a:t>
            </a:r>
            <a:r>
              <a:rPr lang="en-US" baseline="-25000" dirty="0" err="1" smtClean="0"/>
              <a:t>R</a:t>
            </a:r>
            <a:r>
              <a:rPr lang="el-GR" dirty="0" smtClean="0"/>
              <a:t>λ</a:t>
            </a:r>
            <a:r>
              <a:rPr lang="en-US" baseline="30000" dirty="0" smtClean="0"/>
              <a:t>2</a:t>
            </a:r>
            <a:r>
              <a:rPr lang="en-US" dirty="0" smtClean="0"/>
              <a:t>/(4</a:t>
            </a:r>
            <a:r>
              <a:rPr lang="el-GR" dirty="0" smtClean="0"/>
              <a:t>π</a:t>
            </a:r>
            <a:r>
              <a:rPr lang="en-US" dirty="0" smtClean="0"/>
              <a:t>)</a:t>
            </a:r>
            <a:r>
              <a:rPr lang="en-US" baseline="30000" dirty="0" smtClean="0"/>
              <a:t>2</a:t>
            </a:r>
            <a:r>
              <a:rPr lang="en-US" dirty="0" smtClean="0"/>
              <a:t>d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When the antenna gains are excluded</a:t>
            </a:r>
          </a:p>
          <a:p>
            <a:pPr marL="284163" indent="-284163">
              <a:lnSpc>
                <a:spcPct val="150000"/>
              </a:lnSpc>
            </a:pPr>
            <a:r>
              <a:rPr lang="en-US" dirty="0" smtClean="0"/>
              <a:t>			P</a:t>
            </a:r>
            <a:r>
              <a:rPr lang="en-US" baseline="-25000" dirty="0" smtClean="0"/>
              <a:t>L</a:t>
            </a:r>
            <a:r>
              <a:rPr lang="en-US" dirty="0" smtClean="0"/>
              <a:t>(dB)=10 log ( P</a:t>
            </a:r>
            <a:r>
              <a:rPr lang="en-US" baseline="-25000" dirty="0" smtClean="0"/>
              <a:t>t</a:t>
            </a:r>
            <a:r>
              <a:rPr lang="en-US" dirty="0" smtClean="0"/>
              <a:t>/P</a:t>
            </a:r>
            <a:r>
              <a:rPr lang="en-US" baseline="-25000" dirty="0" smtClean="0"/>
              <a:t>r</a:t>
            </a:r>
            <a:r>
              <a:rPr lang="en-US" dirty="0" smtClean="0"/>
              <a:t>)= -10 log( </a:t>
            </a:r>
            <a:r>
              <a:rPr lang="el-GR" dirty="0" smtClean="0"/>
              <a:t>λ</a:t>
            </a:r>
            <a:r>
              <a:rPr lang="en-US" baseline="30000" dirty="0" smtClean="0"/>
              <a:t>2</a:t>
            </a:r>
            <a:r>
              <a:rPr lang="en-US" dirty="0" smtClean="0"/>
              <a:t>/(4</a:t>
            </a:r>
            <a:r>
              <a:rPr lang="el-GR" dirty="0" smtClean="0"/>
              <a:t>π</a:t>
            </a:r>
            <a:r>
              <a:rPr lang="en-US" dirty="0" smtClean="0"/>
              <a:t>)</a:t>
            </a:r>
            <a:r>
              <a:rPr lang="en-US" baseline="30000" dirty="0" smtClean="0"/>
              <a:t>2</a:t>
            </a:r>
            <a:r>
              <a:rPr lang="en-US" dirty="0" smtClean="0"/>
              <a:t>d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err="1" smtClean="0"/>
              <a:t>Friis</a:t>
            </a:r>
            <a:r>
              <a:rPr lang="en-US" dirty="0" smtClean="0"/>
              <a:t> free space model is valid only in the far field or </a:t>
            </a:r>
            <a:r>
              <a:rPr lang="en-US" dirty="0" err="1" smtClean="0"/>
              <a:t>Fraunhofer</a:t>
            </a:r>
            <a:r>
              <a:rPr lang="en-US" dirty="0" smtClean="0"/>
              <a:t> region.</a:t>
            </a:r>
          </a:p>
          <a:p>
            <a:pPr marL="284163" indent="-284163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err="1" smtClean="0"/>
              <a:t>Fraunhofer</a:t>
            </a:r>
            <a:r>
              <a:rPr lang="en-US" dirty="0" smtClean="0"/>
              <a:t>  distance is defined as </a:t>
            </a:r>
            <a:r>
              <a:rPr lang="en-US" dirty="0" err="1" smtClean="0"/>
              <a:t>d</a:t>
            </a:r>
            <a:r>
              <a:rPr lang="en-US" baseline="-25000" dirty="0" err="1" smtClean="0"/>
              <a:t>f</a:t>
            </a:r>
            <a:r>
              <a:rPr lang="en-US" dirty="0" smtClean="0"/>
              <a:t>=2D</a:t>
            </a:r>
            <a:r>
              <a:rPr lang="en-US" baseline="30000" dirty="0" smtClean="0"/>
              <a:t>2</a:t>
            </a:r>
            <a:r>
              <a:rPr lang="en-US" dirty="0" smtClean="0"/>
              <a:t>/</a:t>
            </a:r>
            <a:r>
              <a:rPr lang="el-GR" dirty="0" smtClean="0"/>
              <a:t>λ</a:t>
            </a:r>
            <a:r>
              <a:rPr lang="en-US" dirty="0" smtClean="0"/>
              <a:t>, Where  D is the largest physical linear dimensions of antenna and additionally we must have </a:t>
            </a:r>
            <a:r>
              <a:rPr lang="en-US" dirty="0" err="1" smtClean="0"/>
              <a:t>d</a:t>
            </a:r>
            <a:r>
              <a:rPr lang="en-US" baseline="-25000" dirty="0" err="1" smtClean="0"/>
              <a:t>f</a:t>
            </a:r>
            <a:r>
              <a:rPr lang="en-US" dirty="0" smtClean="0"/>
              <a:t>&gt;&gt; D and </a:t>
            </a:r>
            <a:r>
              <a:rPr lang="en-US" dirty="0" err="1" smtClean="0"/>
              <a:t>d</a:t>
            </a:r>
            <a:r>
              <a:rPr lang="en-US" baseline="-25000" dirty="0" err="1" smtClean="0"/>
              <a:t>f</a:t>
            </a:r>
            <a:r>
              <a:rPr lang="en-US" dirty="0" smtClean="0"/>
              <a:t>&gt;&gt;</a:t>
            </a:r>
            <a:r>
              <a:rPr lang="el-GR" dirty="0" smtClean="0"/>
              <a:t> λ</a:t>
            </a:r>
            <a:endParaRPr lang="en-US" dirty="0" smtClean="0"/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 The </a:t>
            </a:r>
            <a:r>
              <a:rPr lang="en-US" dirty="0" err="1" smtClean="0"/>
              <a:t>Friis</a:t>
            </a:r>
            <a:r>
              <a:rPr lang="en-US" dirty="0" smtClean="0"/>
              <a:t> free space equation does not hold for d=0 Hence , we use a close-in power reference at distance d</a:t>
            </a:r>
            <a:r>
              <a:rPr lang="en-US" baseline="-25000" dirty="0" smtClean="0"/>
              <a:t>0</a:t>
            </a:r>
            <a:r>
              <a:rPr lang="en-US" baseline="30000" dirty="0" smtClean="0"/>
              <a:t> </a:t>
            </a:r>
            <a:r>
              <a:rPr lang="en-US" dirty="0" smtClean="0"/>
              <a:t> The reference distance is chosen such that d</a:t>
            </a:r>
            <a:r>
              <a:rPr lang="en-US" baseline="-25000" dirty="0" smtClean="0"/>
              <a:t>o</a:t>
            </a:r>
            <a:r>
              <a:rPr lang="en-US" dirty="0" smtClean="0"/>
              <a:t>&gt;</a:t>
            </a:r>
            <a:r>
              <a:rPr lang="en-US" dirty="0" err="1" smtClean="0"/>
              <a:t>d</a:t>
            </a:r>
            <a:r>
              <a:rPr lang="en-US" baseline="-25000" dirty="0" err="1" smtClean="0"/>
              <a:t>f</a:t>
            </a:r>
            <a:r>
              <a:rPr lang="en-US" baseline="-25000" dirty="0" smtClean="0"/>
              <a:t>. </a:t>
            </a:r>
            <a:r>
              <a:rPr lang="en-US" dirty="0" smtClean="0"/>
              <a:t>Thus</a:t>
            </a:r>
            <a:endParaRPr lang="en-US" baseline="-25000" dirty="0" smtClean="0"/>
          </a:p>
          <a:p>
            <a:pPr marL="346075" indent="-346075">
              <a:lnSpc>
                <a:spcPct val="150000"/>
              </a:lnSpc>
            </a:pPr>
            <a:r>
              <a:rPr lang="en-US" dirty="0" smtClean="0"/>
              <a:t>			 P</a:t>
            </a:r>
            <a:r>
              <a:rPr lang="en-US" baseline="-25000" dirty="0" smtClean="0"/>
              <a:t>r</a:t>
            </a:r>
            <a:r>
              <a:rPr lang="en-US" dirty="0" smtClean="0"/>
              <a:t>(d)=P</a:t>
            </a:r>
            <a:r>
              <a:rPr lang="en-US" baseline="-25000" dirty="0" smtClean="0"/>
              <a:t>r</a:t>
            </a:r>
            <a:r>
              <a:rPr lang="en-US" dirty="0" smtClean="0"/>
              <a:t>(d</a:t>
            </a:r>
            <a:r>
              <a:rPr lang="en-US" baseline="-25000" dirty="0" smtClean="0"/>
              <a:t>0</a:t>
            </a:r>
            <a:r>
              <a:rPr lang="en-US" dirty="0" smtClean="0"/>
              <a:t>)log(d</a:t>
            </a:r>
            <a:r>
              <a:rPr lang="en-US" baseline="-25000" dirty="0" smtClean="0"/>
              <a:t>o</a:t>
            </a:r>
            <a:r>
              <a:rPr lang="en-US" dirty="0" smtClean="0"/>
              <a:t>/d)</a:t>
            </a:r>
            <a:r>
              <a:rPr lang="en-US" baseline="30000" dirty="0" smtClean="0"/>
              <a:t>2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Sometimes we define the received power with reference to 1 </a:t>
            </a:r>
            <a:r>
              <a:rPr lang="en-US" dirty="0" err="1" smtClean="0"/>
              <a:t>milli</a:t>
            </a:r>
            <a:r>
              <a:rPr lang="en-US" dirty="0" smtClean="0"/>
              <a:t>-watts as </a:t>
            </a:r>
          </a:p>
          <a:p>
            <a:pPr marL="346075" indent="-346075">
              <a:lnSpc>
                <a:spcPct val="150000"/>
              </a:lnSpc>
            </a:pPr>
            <a:r>
              <a:rPr lang="en-US" dirty="0" smtClean="0"/>
              <a:t>			Pr(d)=10log (P</a:t>
            </a:r>
            <a:r>
              <a:rPr lang="en-US" baseline="-25000" dirty="0" smtClean="0"/>
              <a:t>r</a:t>
            </a:r>
            <a:r>
              <a:rPr lang="en-US" dirty="0" smtClean="0"/>
              <a:t>(d</a:t>
            </a:r>
            <a:r>
              <a:rPr lang="en-US" baseline="-25000" dirty="0" smtClean="0"/>
              <a:t>0</a:t>
            </a:r>
            <a:r>
              <a:rPr lang="en-US" dirty="0" smtClean="0"/>
              <a:t>)/0.001W)+20 log(d</a:t>
            </a:r>
            <a:r>
              <a:rPr lang="en-US" baseline="-25000" dirty="0" smtClean="0"/>
              <a:t>0</a:t>
            </a:r>
            <a:r>
              <a:rPr lang="en-US" dirty="0" smtClean="0"/>
              <a:t>/d)  [in </a:t>
            </a:r>
            <a:r>
              <a:rPr lang="en-US" dirty="0" err="1" smtClean="0"/>
              <a:t>dBm</a:t>
            </a:r>
            <a:r>
              <a:rPr lang="en-US" dirty="0" smtClean="0"/>
              <a:t>]</a:t>
            </a:r>
          </a:p>
          <a:p>
            <a:pPr marL="396875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 smtClean="0"/>
          </a:p>
          <a:p>
            <a:pPr marL="284163" indent="-284163" algn="just">
              <a:lnSpc>
                <a:spcPct val="150000"/>
              </a:lnSpc>
              <a:buFont typeface="Wingdings" pitchFamily="2" charset="2"/>
              <a:buChar char="Ø"/>
            </a:pPr>
            <a:endParaRPr lang="en-US" dirty="0" smtClean="0"/>
          </a:p>
        </p:txBody>
      </p:sp>
      <p:sp>
        <p:nvSpPr>
          <p:cNvPr id="16" name="Rectangle 15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Antenna basics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914400"/>
            <a:ext cx="8077200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Example(1)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2400" y="685800"/>
            <a:ext cx="86868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Q. What will be the far field distance for a base station antenna with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Largest antenna dimensions =0.5 m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Frequency of operation f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=900 MHz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Frequency of operation f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=1800MHz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Solution :</a:t>
            </a:r>
          </a:p>
          <a:p>
            <a:pPr marL="568325" indent="-3349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 smtClean="0"/>
              <a:t>For 900 MHz</a:t>
            </a:r>
          </a:p>
          <a:p>
            <a:pPr marL="568325" indent="-508000">
              <a:lnSpc>
                <a:spcPct val="150000"/>
              </a:lnSpc>
            </a:pPr>
            <a:r>
              <a:rPr lang="en-US" sz="2000" dirty="0" smtClean="0"/>
              <a:t>	</a:t>
            </a:r>
            <a:r>
              <a:rPr lang="el-GR" sz="2000" dirty="0" smtClean="0"/>
              <a:t>λ</a:t>
            </a:r>
            <a:r>
              <a:rPr lang="en-US" sz="2000" dirty="0" smtClean="0"/>
              <a:t>= (3*10</a:t>
            </a:r>
            <a:r>
              <a:rPr lang="en-US" sz="2000" baseline="30000" dirty="0" smtClean="0"/>
              <a:t>8</a:t>
            </a:r>
            <a:r>
              <a:rPr lang="en-US" sz="2000" dirty="0" smtClean="0"/>
              <a:t>/900 * 10</a:t>
            </a:r>
            <a:r>
              <a:rPr lang="en-US" sz="2000" baseline="30000" dirty="0" smtClean="0"/>
              <a:t>6</a:t>
            </a:r>
            <a:r>
              <a:rPr lang="en-US" sz="2000" dirty="0" smtClean="0"/>
              <a:t>)=0.33 m, </a:t>
            </a:r>
          </a:p>
          <a:p>
            <a:pPr marL="568325" indent="-508000">
              <a:lnSpc>
                <a:spcPct val="150000"/>
              </a:lnSpc>
            </a:pPr>
            <a:r>
              <a:rPr lang="en-US" sz="2000" dirty="0" smtClean="0"/>
              <a:t>        </a:t>
            </a:r>
            <a:r>
              <a:rPr lang="en-US" sz="2000" dirty="0" err="1" smtClean="0"/>
              <a:t>d</a:t>
            </a:r>
            <a:r>
              <a:rPr lang="en-US" sz="2000" baseline="-25000" dirty="0" err="1" smtClean="0"/>
              <a:t>f</a:t>
            </a:r>
            <a:r>
              <a:rPr lang="en-US" sz="2000" dirty="0" smtClean="0"/>
              <a:t>=2D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/</a:t>
            </a:r>
            <a:r>
              <a:rPr lang="el-GR" sz="2000" dirty="0" smtClean="0"/>
              <a:t> λ</a:t>
            </a:r>
            <a:r>
              <a:rPr lang="en-US" sz="2000" dirty="0" smtClean="0"/>
              <a:t>=2(0.5)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 / (0.33)=  1.5 m</a:t>
            </a:r>
            <a:endParaRPr lang="en-US" sz="2000" baseline="-25000" dirty="0" smtClean="0"/>
          </a:p>
          <a:p>
            <a:pPr marL="568325" indent="-3349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 smtClean="0"/>
              <a:t>For 1800 MHz</a:t>
            </a:r>
          </a:p>
          <a:p>
            <a:pPr marL="568325" indent="-508000">
              <a:lnSpc>
                <a:spcPct val="150000"/>
              </a:lnSpc>
            </a:pPr>
            <a:r>
              <a:rPr lang="en-US" sz="2000" dirty="0" smtClean="0"/>
              <a:t>	</a:t>
            </a:r>
            <a:r>
              <a:rPr lang="el-GR" sz="2000" dirty="0" smtClean="0"/>
              <a:t>λ</a:t>
            </a:r>
            <a:r>
              <a:rPr lang="en-US" sz="2000" dirty="0" smtClean="0"/>
              <a:t>= (3*10</a:t>
            </a:r>
            <a:r>
              <a:rPr lang="en-US" sz="2000" baseline="30000" dirty="0" smtClean="0"/>
              <a:t>8</a:t>
            </a:r>
            <a:r>
              <a:rPr lang="en-US" sz="2000" dirty="0" smtClean="0"/>
              <a:t>/1800 * 10</a:t>
            </a:r>
            <a:r>
              <a:rPr lang="en-US" sz="2000" baseline="30000" dirty="0" smtClean="0"/>
              <a:t>6</a:t>
            </a:r>
            <a:r>
              <a:rPr lang="en-US" sz="2000" dirty="0" smtClean="0"/>
              <a:t>)=0.17 m</a:t>
            </a:r>
          </a:p>
          <a:p>
            <a:pPr marL="568325" indent="-508000">
              <a:lnSpc>
                <a:spcPct val="150000"/>
              </a:lnSpc>
            </a:pPr>
            <a:r>
              <a:rPr lang="en-US" sz="2000" dirty="0" smtClean="0"/>
              <a:t>        </a:t>
            </a:r>
            <a:r>
              <a:rPr lang="en-US" sz="2000" dirty="0" err="1" smtClean="0"/>
              <a:t>d</a:t>
            </a:r>
            <a:r>
              <a:rPr lang="en-US" sz="2000" baseline="-25000" dirty="0" err="1" smtClean="0"/>
              <a:t>f</a:t>
            </a:r>
            <a:r>
              <a:rPr lang="en-US" sz="2000" dirty="0" smtClean="0"/>
              <a:t>=2D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/</a:t>
            </a:r>
            <a:r>
              <a:rPr lang="el-GR" sz="2000" dirty="0" smtClean="0"/>
              <a:t> λ</a:t>
            </a:r>
            <a:r>
              <a:rPr lang="en-US" sz="2000" dirty="0" smtClean="0"/>
              <a:t>=2(0.5)</a:t>
            </a:r>
            <a:r>
              <a:rPr lang="en-US" sz="2000" baseline="30000" dirty="0" smtClean="0"/>
              <a:t>2</a:t>
            </a:r>
            <a:r>
              <a:rPr lang="en-US" sz="2000" dirty="0" smtClean="0"/>
              <a:t> / (0.17)</a:t>
            </a:r>
            <a:r>
              <a:rPr lang="en-US" sz="2000" baseline="30000" dirty="0" smtClean="0"/>
              <a:t> </a:t>
            </a:r>
            <a:r>
              <a:rPr lang="en-US" sz="2000" dirty="0" smtClean="0"/>
              <a:t>=3 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51329" y="65325"/>
            <a:ext cx="9195329" cy="6879195"/>
            <a:chOff x="-51329" y="65325"/>
            <a:chExt cx="9195329" cy="687919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51329" y="404838"/>
              <a:ext cx="9195329" cy="6539682"/>
              <a:chOff x="-405307" y="776786"/>
              <a:chExt cx="14728109" cy="8245200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405307" y="1232011"/>
                <a:ext cx="14728109" cy="7789975"/>
                <a:chOff x="-405307" y="1232011"/>
                <a:chExt cx="14728109" cy="7789975"/>
              </a:xfrm>
            </p:grpSpPr>
            <p:sp>
              <p:nvSpPr>
                <p:cNvPr id="12" name="Half Frame 11"/>
                <p:cNvSpPr/>
                <p:nvPr/>
              </p:nvSpPr>
              <p:spPr>
                <a:xfrm rot="16200000">
                  <a:off x="-275467" y="7245901"/>
                  <a:ext cx="1204914" cy="146459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72888" y="7687231"/>
                  <a:ext cx="1204916" cy="146459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61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Example(2)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220" name="AutoShape 4" descr="See the sourc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8600" y="838200"/>
            <a:ext cx="8229600" cy="4389120"/>
          </a:xfrm>
          <a:prstGeom prst="rect">
            <a:avLst/>
          </a:prstGeom>
        </p:spPr>
        <p:txBody>
          <a:bodyPr/>
          <a:lstStyle/>
          <a:p>
            <a:pPr marL="284163" marR="0" lvl="0" indent="-28416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BS , let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0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10W,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=900 MHz,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=2,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=1, The Mobile Station is at a distance of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KM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What is the received power in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dBm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860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1050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7400" y="2971800"/>
            <a:ext cx="5943600" cy="1470025"/>
          </a:xfrm>
          <a:prstGeom prst="rect">
            <a:avLst/>
          </a:prstGeom>
          <a:noFill/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09800" y="4800600"/>
            <a:ext cx="4784725" cy="342900"/>
          </a:xfrm>
          <a:prstGeom prst="rect">
            <a:avLst/>
          </a:prstGeom>
          <a:noFill/>
        </p:spPr>
      </p:pic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0" y="227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1000" y="2057400"/>
            <a:ext cx="131991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4163" lvl="0" indent="-284163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b="1" dirty="0" smtClean="0"/>
              <a:t>Solution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31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51329" y="65325"/>
            <a:ext cx="9195329" cy="6879195"/>
            <a:chOff x="-51329" y="65325"/>
            <a:chExt cx="9195329" cy="687919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51329" y="404838"/>
              <a:ext cx="9195329" cy="6539682"/>
              <a:chOff x="-405307" y="776786"/>
              <a:chExt cx="14728109" cy="8245200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405307" y="1232011"/>
                <a:ext cx="14728109" cy="7789975"/>
                <a:chOff x="-405307" y="1232011"/>
                <a:chExt cx="14728109" cy="7789975"/>
              </a:xfrm>
            </p:grpSpPr>
            <p:sp>
              <p:nvSpPr>
                <p:cNvPr id="12" name="Half Frame 11"/>
                <p:cNvSpPr/>
                <p:nvPr/>
              </p:nvSpPr>
              <p:spPr>
                <a:xfrm rot="16200000">
                  <a:off x="-275467" y="7245901"/>
                  <a:ext cx="1204914" cy="146459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72888" y="7687231"/>
                  <a:ext cx="1204916" cy="146459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61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Example(3)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800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220" name="AutoShape 4" descr="See the sourc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8600" y="838200"/>
            <a:ext cx="8229600" cy="4389120"/>
          </a:xfrm>
          <a:prstGeom prst="rect">
            <a:avLst/>
          </a:prstGeom>
        </p:spPr>
        <p:txBody>
          <a:bodyPr/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For a GSM BS , let </a:t>
            </a:r>
            <a:r>
              <a:rPr lang="en-US" sz="2000" b="1" dirty="0" smtClean="0"/>
              <a:t>P</a:t>
            </a:r>
            <a:r>
              <a:rPr lang="en-US" sz="2000" b="1" baseline="-25000" dirty="0" smtClean="0"/>
              <a:t>t</a:t>
            </a:r>
            <a:r>
              <a:rPr lang="en-US" sz="2000" b="1" dirty="0" smtClean="0"/>
              <a:t>= 500 </a:t>
            </a:r>
            <a:r>
              <a:rPr lang="en-US" sz="2000" b="1" dirty="0" err="1" smtClean="0"/>
              <a:t>mW</a:t>
            </a:r>
            <a:r>
              <a:rPr lang="en-US" sz="2000" b="1" dirty="0" smtClean="0"/>
              <a:t>,</a:t>
            </a:r>
            <a:r>
              <a:rPr lang="en-US" sz="2000" dirty="0" smtClean="0"/>
              <a:t> </a:t>
            </a:r>
            <a:r>
              <a:rPr lang="en-US" sz="2000" dirty="0" err="1" smtClean="0"/>
              <a:t>f</a:t>
            </a:r>
            <a:r>
              <a:rPr lang="en-US" sz="2000" baseline="-25000" dirty="0" err="1" smtClean="0"/>
              <a:t>c</a:t>
            </a:r>
            <a:r>
              <a:rPr lang="en-US" sz="2000" dirty="0" smtClean="0"/>
              <a:t>=900 MHz, </a:t>
            </a:r>
            <a:r>
              <a:rPr lang="en-US" sz="2000" dirty="0" err="1" smtClean="0"/>
              <a:t>G</a:t>
            </a:r>
            <a:r>
              <a:rPr lang="en-US" sz="2000" baseline="-25000" dirty="0" err="1" smtClean="0"/>
              <a:t>t</a:t>
            </a:r>
            <a:r>
              <a:rPr lang="en-US" sz="2000" dirty="0" smtClean="0"/>
              <a:t>=2, </a:t>
            </a:r>
            <a:r>
              <a:rPr lang="en-US" sz="2000" dirty="0" err="1" smtClean="0"/>
              <a:t>G</a:t>
            </a:r>
            <a:r>
              <a:rPr lang="en-US" sz="2000" baseline="-25000" dirty="0" err="1" smtClean="0"/>
              <a:t>r</a:t>
            </a:r>
            <a:r>
              <a:rPr lang="en-US" sz="2000" dirty="0" smtClean="0"/>
              <a:t>=1, The Mobile Station is at a distance of </a:t>
            </a:r>
            <a:r>
              <a:rPr lang="en-US" sz="2000" b="1" dirty="0" smtClean="0"/>
              <a:t>10 KM</a:t>
            </a:r>
            <a:r>
              <a:rPr lang="en-US" sz="2000" dirty="0" smtClean="0"/>
              <a:t>, What is the received power in </a:t>
            </a:r>
            <a:r>
              <a:rPr lang="en-US" sz="2000" dirty="0" err="1" smtClean="0"/>
              <a:t>dBm</a:t>
            </a:r>
            <a:r>
              <a:rPr lang="en-US" sz="2000" dirty="0" smtClean="0"/>
              <a:t>?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endParaRPr lang="en-US" sz="2000" dirty="0" smtClean="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860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1050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0" y="227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2819400"/>
            <a:ext cx="5943600" cy="1470025"/>
          </a:xfrm>
          <a:prstGeom prst="rect">
            <a:avLst/>
          </a:prstGeom>
          <a:noFill/>
        </p:spPr>
      </p:pic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4533900"/>
            <a:ext cx="4922838" cy="342900"/>
          </a:xfrm>
          <a:prstGeom prst="rect">
            <a:avLst/>
          </a:prstGeom>
          <a:noFill/>
        </p:spPr>
      </p:pic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227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4800" y="2133600"/>
            <a:ext cx="138211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6075" lvl="0" indent="-346075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b="1" dirty="0" smtClean="0"/>
              <a:t>Solution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9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-51329" y="65325"/>
            <a:ext cx="9195329" cy="6879195"/>
            <a:chOff x="-51329" y="65325"/>
            <a:chExt cx="9195329" cy="687919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-51329" y="404838"/>
              <a:ext cx="9195329" cy="6539682"/>
              <a:chOff x="-405307" y="776786"/>
              <a:chExt cx="14728109" cy="8245200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405307" y="1232011"/>
                <a:ext cx="14728109" cy="7789975"/>
                <a:chOff x="-405307" y="1232011"/>
                <a:chExt cx="14728109" cy="7789975"/>
              </a:xfrm>
            </p:grpSpPr>
            <p:sp>
              <p:nvSpPr>
                <p:cNvPr id="12" name="Half Frame 11"/>
                <p:cNvSpPr/>
                <p:nvPr/>
              </p:nvSpPr>
              <p:spPr>
                <a:xfrm rot="16200000">
                  <a:off x="-275467" y="7245901"/>
                  <a:ext cx="1204914" cy="146459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72888" y="7687231"/>
                  <a:ext cx="1204916" cy="146459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61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Example(4)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0" y="8001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220" name="AutoShape 4" descr="See the sourc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8600" y="838200"/>
            <a:ext cx="8229600" cy="438912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If a transmitter produces 50 W of power, express the transmit power in units of (a) </a:t>
            </a:r>
            <a:r>
              <a:rPr lang="en-US" sz="2000" dirty="0" err="1" smtClean="0"/>
              <a:t>dBm</a:t>
            </a:r>
            <a:r>
              <a:rPr lang="en-US" sz="2000" dirty="0" smtClean="0"/>
              <a:t>, and (b) </a:t>
            </a:r>
            <a:r>
              <a:rPr lang="en-US" sz="2000" dirty="0" err="1" smtClean="0"/>
              <a:t>dBW</a:t>
            </a:r>
            <a:r>
              <a:rPr lang="en-US" sz="2000" dirty="0" smtClean="0"/>
              <a:t>. If 50 W is applied to a unity gain antenna with a 900 MHz carrier frequency, find the received power in </a:t>
            </a:r>
            <a:r>
              <a:rPr lang="en-US" sz="2000" dirty="0" err="1" smtClean="0"/>
              <a:t>dBm</a:t>
            </a:r>
            <a:r>
              <a:rPr lang="en-US" sz="2000" dirty="0" smtClean="0"/>
              <a:t> at a free space distance of 100m from the antenna. Also find is </a:t>
            </a:r>
            <a:r>
              <a:rPr lang="en-US" sz="2000" i="1" dirty="0" smtClean="0"/>
              <a:t>P</a:t>
            </a:r>
            <a:r>
              <a:rPr lang="en-US" sz="2000" i="1" baseline="-25000" dirty="0" smtClean="0"/>
              <a:t>r</a:t>
            </a:r>
            <a:r>
              <a:rPr lang="en-US" sz="2000" i="1" dirty="0" smtClean="0"/>
              <a:t> at 10 km ? Assume </a:t>
            </a:r>
            <a:r>
              <a:rPr lang="en-US" sz="2000" dirty="0" smtClean="0"/>
              <a:t>unity gain for the receiver antenna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860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1050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0" y="227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22701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" y="3200400"/>
            <a:ext cx="7239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Solution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Given:    </a:t>
            </a:r>
            <a:r>
              <a:rPr lang="nb-NO" dirty="0" smtClean="0"/>
              <a:t>Transmitter power, </a:t>
            </a:r>
            <a:r>
              <a:rPr lang="nb-NO" i="1" dirty="0" smtClean="0"/>
              <a:t>P</a:t>
            </a:r>
            <a:r>
              <a:rPr lang="nb-NO" i="1" baseline="-25000" dirty="0" smtClean="0"/>
              <a:t>t</a:t>
            </a:r>
            <a:r>
              <a:rPr lang="nb-NO" i="1" dirty="0" smtClean="0"/>
              <a:t> = 50 W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          Carrier frequency,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c</a:t>
            </a:r>
            <a:r>
              <a:rPr lang="en-US" dirty="0" smtClean="0"/>
              <a:t> = 900 MHz</a:t>
            </a:r>
          </a:p>
          <a:p>
            <a:endParaRPr lang="en-US" dirty="0" smtClean="0"/>
          </a:p>
        </p:txBody>
      </p:sp>
      <p:sp>
        <p:nvSpPr>
          <p:cNvPr id="28" name="Rectangle 27"/>
          <p:cNvSpPr/>
          <p:nvPr/>
        </p:nvSpPr>
        <p:spPr>
          <a:xfrm>
            <a:off x="304800" y="4419600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1363" indent="-50800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Transmitter power in </a:t>
            </a:r>
            <a:r>
              <a:rPr lang="en-US" b="1" dirty="0" err="1" smtClean="0"/>
              <a:t>dBm</a:t>
            </a:r>
            <a:endParaRPr lang="en-US" b="1" dirty="0" smtClean="0"/>
          </a:p>
          <a:p>
            <a:pPr marL="741363" indent="-508000">
              <a:lnSpc>
                <a:spcPct val="150000"/>
              </a:lnSpc>
            </a:pPr>
            <a:r>
              <a:rPr lang="nn-NO" dirty="0" smtClean="0"/>
              <a:t>          Pt(dBm) = 101og [Pt(mW)/(1 mW)]</a:t>
            </a:r>
            <a:r>
              <a:rPr lang="en-US" dirty="0" smtClean="0"/>
              <a:t>= 101og [50 x 103] = 47.0 </a:t>
            </a:r>
            <a:r>
              <a:rPr lang="en-US" dirty="0" err="1" smtClean="0"/>
              <a:t>dBm</a:t>
            </a:r>
            <a:r>
              <a:rPr lang="en-US" dirty="0" smtClean="0"/>
              <a:t>.</a:t>
            </a:r>
          </a:p>
          <a:p>
            <a:pPr marL="741363" indent="-50800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Transmitter power, in </a:t>
            </a:r>
            <a:r>
              <a:rPr lang="en-US" b="1" dirty="0" err="1" smtClean="0"/>
              <a:t>dBW</a:t>
            </a:r>
            <a:endParaRPr lang="en-US" b="1" dirty="0" smtClean="0"/>
          </a:p>
          <a:p>
            <a:pPr marL="741363" indent="-508000">
              <a:lnSpc>
                <a:spcPct val="150000"/>
              </a:lnSpc>
            </a:pPr>
            <a:r>
              <a:rPr lang="en-US" dirty="0" smtClean="0"/>
              <a:t>	Pt(</a:t>
            </a:r>
            <a:r>
              <a:rPr lang="en-US" dirty="0" err="1" smtClean="0"/>
              <a:t>dBW</a:t>
            </a:r>
            <a:r>
              <a:rPr lang="en-US" dirty="0" smtClean="0"/>
              <a:t>) = 101og[Pt(W)/(1 W)] = 101og[50] = 17.0 </a:t>
            </a:r>
            <a:r>
              <a:rPr lang="en-US" dirty="0" err="1" smtClean="0"/>
              <a:t>dBW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7" grpId="0" build="allAtOnce"/>
      <p:bldP spid="2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7026491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81000" y="1"/>
            <a:ext cx="899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Mechanisms that affect the radio propagation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914400"/>
            <a:ext cx="469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received power at 100m can be determined</a:t>
            </a:r>
            <a:endParaRPr lang="en-US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799" y="1600200"/>
            <a:ext cx="688570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/>
          <p:cNvSpPr/>
          <p:nvPr/>
        </p:nvSpPr>
        <p:spPr>
          <a:xfrm>
            <a:off x="609600" y="3200400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Given  </a:t>
            </a:r>
            <a:r>
              <a:rPr lang="en-US" i="1" dirty="0" smtClean="0"/>
              <a:t>d</a:t>
            </a:r>
            <a:r>
              <a:rPr lang="en-US" i="1" baseline="-25000" dirty="0" smtClean="0"/>
              <a:t>0</a:t>
            </a:r>
            <a:r>
              <a:rPr lang="en-US" i="1" dirty="0" smtClean="0"/>
              <a:t> = 100m and d = 10 km, </a:t>
            </a:r>
            <a:r>
              <a:rPr lang="en-US" dirty="0" smtClean="0"/>
              <a:t>The received power at 10 km can be expressed in terms of </a:t>
            </a:r>
            <a:r>
              <a:rPr lang="en-US" dirty="0" err="1" smtClean="0"/>
              <a:t>dBm</a:t>
            </a:r>
            <a:r>
              <a:rPr lang="en-US" dirty="0" smtClean="0"/>
              <a:t>  as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267200"/>
            <a:ext cx="702000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allAtOnce"/>
      <p:bldP spid="22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639&quot;&gt;&lt;/object&gt;&lt;object type=&quot;2&quot; unique_id=&quot;15640&quot;&gt;&lt;object type=&quot;3&quot; unique_id=&quot;1564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5642&quot;&gt;&lt;property id=&quot;20148&quot; value=&quot;5&quot;/&gt;&lt;property id=&quot;20300&quot; value=&quot;Slide 2&quot;/&gt;&lt;property id=&quot;20307&quot; value=&quot;258&quot;/&gt;&lt;/object&gt;&lt;object type=&quot;3&quot; unique_id=&quot;15783&quot;&gt;&lt;property id=&quot;20148&quot; value=&quot;5&quot;/&gt;&lt;property id=&quot;20300&quot; value=&quot;Slide 14&quot;/&gt;&lt;property id=&quot;20307&quot; value=&quot;267&quot;/&gt;&lt;/object&gt;&lt;object type=&quot;3&quot; unique_id=&quot;17791&quot;&gt;&lt;property id=&quot;20148&quot; value=&quot;5&quot;/&gt;&lt;property id=&quot;20300&quot; value=&quot;Slide 5&quot;/&gt;&lt;property id=&quot;20307&quot; value=&quot;273&quot;/&gt;&lt;/object&gt;&lt;object type=&quot;3&quot; unique_id=&quot;17792&quot;&gt;&lt;property id=&quot;20148&quot; value=&quot;5&quot;/&gt;&lt;property id=&quot;20300&quot; value=&quot;Slide 9&quot;/&gt;&lt;property id=&quot;20307&quot; value=&quot;274&quot;/&gt;&lt;/object&gt;&lt;object type=&quot;3&quot; unique_id=&quot;17793&quot;&gt;&lt;property id=&quot;20148&quot; value=&quot;5&quot;/&gt;&lt;property id=&quot;20300&quot; value=&quot;Slide 10&quot;/&gt;&lt;property id=&quot;20307&quot; value=&quot;275&quot;/&gt;&lt;/object&gt;&lt;object type=&quot;3&quot; unique_id=&quot;17794&quot;&gt;&lt;property id=&quot;20148&quot; value=&quot;5&quot;/&gt;&lt;property id=&quot;20300&quot; value=&quot;Slide 13&quot;/&gt;&lt;property id=&quot;20307&quot; value=&quot;276&quot;/&gt;&lt;/object&gt;&lt;object type=&quot;3&quot; unique_id=&quot;18610&quot;&gt;&lt;property id=&quot;20148&quot; value=&quot;5&quot;/&gt;&lt;property id=&quot;20300&quot; value=&quot;Slide 3&quot;/&gt;&lt;property id=&quot;20307&quot; value=&quot;280&quot;/&gt;&lt;/object&gt;&lt;object type=&quot;3&quot; unique_id=&quot;18668&quot;&gt;&lt;property id=&quot;20148&quot; value=&quot;5&quot;/&gt;&lt;property id=&quot;20300&quot; value=&quot;Slide 7&quot;/&gt;&lt;property id=&quot;20307&quot; value=&quot;281&quot;/&gt;&lt;/object&gt;&lt;object type=&quot;3&quot; unique_id=&quot;19377&quot;&gt;&lt;property id=&quot;20148&quot; value=&quot;5&quot;/&gt;&lt;property id=&quot;20300&quot; value=&quot;Slide 8&quot;/&gt;&lt;property id=&quot;20307&quot; value=&quot;285&quot;/&gt;&lt;/object&gt;&lt;object type=&quot;3&quot; unique_id=&quot;19771&quot;&gt;&lt;property id=&quot;20148&quot; value=&quot;5&quot;/&gt;&lt;property id=&quot;20300&quot; value=&quot;Slide 4&quot;/&gt;&lt;property id=&quot;20307&quot; value=&quot;286&quot;/&gt;&lt;/object&gt;&lt;object type=&quot;3&quot; unique_id=&quot;19772&quot;&gt;&lt;property id=&quot;20148&quot; value=&quot;5&quot;/&gt;&lt;property id=&quot;20300&quot; value=&quot;Slide 6&quot;/&gt;&lt;property id=&quot;20307&quot; value=&quot;287&quot;/&gt;&lt;/object&gt;&lt;object type=&quot;3&quot; unique_id=&quot;19858&quot;&gt;&lt;property id=&quot;20148&quot; value=&quot;5&quot;/&gt;&lt;property id=&quot;20300&quot; value=&quot;Slide 11&quot;/&gt;&lt;property id=&quot;20307&quot; value=&quot;288&quot;/&gt;&lt;/object&gt;&lt;object type=&quot;3&quot; unique_id=&quot;19859&quot;&gt;&lt;property id=&quot;20148&quot; value=&quot;5&quot;/&gt;&lt;property id=&quot;20300&quot; value=&quot;Slide 12&quot;/&gt;&lt;property id=&quot;20307&quot; value=&quot;28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7516</TotalTime>
  <Words>635</Words>
  <Application>Microsoft Office PowerPoint</Application>
  <PresentationFormat>On-screen Show (4:3)</PresentationFormat>
  <Paragraphs>113</Paragraphs>
  <Slides>14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62</cp:revision>
  <dcterms:created xsi:type="dcterms:W3CDTF">2020-06-07T16:43:59Z</dcterms:created>
  <dcterms:modified xsi:type="dcterms:W3CDTF">2020-09-23T06:25:18Z</dcterms:modified>
</cp:coreProperties>
</file>
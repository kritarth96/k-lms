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2"/>
  </p:notesMasterIdLst>
  <p:sldIdLst>
    <p:sldId id="305" r:id="rId2"/>
    <p:sldId id="266" r:id="rId3"/>
    <p:sldId id="267" r:id="rId4"/>
    <p:sldId id="274" r:id="rId5"/>
    <p:sldId id="276" r:id="rId6"/>
    <p:sldId id="306" r:id="rId7"/>
    <p:sldId id="303" r:id="rId8"/>
    <p:sldId id="270" r:id="rId9"/>
    <p:sldId id="279" r:id="rId10"/>
    <p:sldId id="307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3" autoAdjust="0"/>
    <p:restoredTop sz="94660"/>
  </p:normalViewPr>
  <p:slideViewPr>
    <p:cSldViewPr>
      <p:cViewPr varScale="1">
        <p:scale>
          <a:sx n="65" d="100"/>
          <a:sy n="65" d="100"/>
        </p:scale>
        <p:origin x="1328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24BE06-80F5-44DE-B4DF-C20C092E703C}" type="datetimeFigureOut">
              <a:rPr lang="en-US" smtClean="0"/>
              <a:pPr/>
              <a:t>5/3/2021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5967C6-E534-4B03-91AF-65368ECF6D7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5967C6-E534-4B03-91AF-65368ECF6D7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427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339F-794F-4E8B-B10B-F4B86DCBD40E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Kaur, Assistant Professor, ECED , TIET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ACC2F-598E-4D83-86A4-534AA625D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661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3CCDD-1A55-4222-B8DF-1732F4823700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Kaur, Assistant Professor, ECED , TIET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ACC2F-598E-4D83-86A4-534AA625D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68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C0072-EA6C-4E0C-809E-CA234ECEBB6D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Kaur, Assistant Professor, ECED , TIET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ACC2F-598E-4D83-86A4-534AA625D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997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6B6C4-6DD7-45DD-9C14-ADE71B970EC4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Kaur, Assistant Professor, ECED , TIET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ACC2F-598E-4D83-86A4-534AA625D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750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9E6BE-5234-4328-B122-C5C367EF2D6B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Kaur, Assistant Professor, ECED , TIET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ACC2F-598E-4D83-86A4-534AA625D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874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F1A0F-0287-4D77-A4A8-FA36D5F9B6A9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Kaur, Assistant Professor, ECED , TIET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ACC2F-598E-4D83-86A4-534AA625D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727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62678-B6B8-4304-945B-563F4011A5B5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Kaur, Assistant Professor, ECED , TIET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ACC2F-598E-4D83-86A4-534AA625D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868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D9076-2B00-4D99-8707-ABF939F4977E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Kaur, Assistant Professor, ECED , TIET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ACC2F-598E-4D83-86A4-534AA625D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542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077F3-5C97-4C42-90C0-C519651228D1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Kaur, Assistant Professor, ECED , TIET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ACC2F-598E-4D83-86A4-534AA625D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966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31AE2-D18D-4D89-A595-E3CF11AAD00F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Kaur, Assistant Professor, ECED , TIET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ACC2F-598E-4D83-86A4-534AA625D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531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D4046-A3FA-4B9D-881A-374244D35505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Kaur, Assistant Professor, ECED , TIET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ACC2F-598E-4D83-86A4-534AA625D9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450175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D3385-18FA-4C18-AFB3-802B62BFA4E8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Kaur, Assistant Professor, ECED , TIET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ACC2F-598E-4D83-86A4-534AA625D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3244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EBBA2-CACB-425F-AEAC-435FA2D73D6E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Kaur, Assistant Professor, ECED , TIET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ACC2F-598E-4D83-86A4-534AA625D9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521512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927C3-2524-4ED2-A350-DE5FC2ED5621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Kaur, Assistant Professor, ECED , TIET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ACC2F-598E-4D83-86A4-534AA625D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56233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9C23A-C205-4AF2-A561-217293C4187F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Kaur, Assistant Professor, ECED , TIET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ACC2F-598E-4D83-86A4-534AA625D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5822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735FD-C042-473A-B78E-50ADBFD3B798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Kaur, Assistant Professor, ECED , TIET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ACC2F-598E-4D83-86A4-534AA625D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103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1103DD-989F-46F7-B65C-75A03FCF7518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Amanpreet Kaur, Assistant Professor, ECED , TIET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62ACC2F-598E-4D83-86A4-534AA625D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51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914400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ntenna Arrays </a:t>
            </a:r>
            <a:endParaRPr lang="en-US" sz="4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3048000"/>
            <a:ext cx="8305801" cy="3374363"/>
          </a:xfrm>
        </p:spPr>
        <p:txBody>
          <a:bodyPr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4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marL="0" indent="0" algn="r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Amanpreet Kaur(Sr.)</a:t>
            </a:r>
          </a:p>
          <a:p>
            <a:pPr marL="0" indent="0" algn="r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marL="0" indent="0" algn="r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Communication Engineering,</a:t>
            </a:r>
          </a:p>
          <a:p>
            <a:pPr marL="0" indent="0" algn="r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Thapar Institute of Engineering and Technology, Patiala  </a:t>
            </a:r>
          </a:p>
          <a:p>
            <a:pPr marL="0" indent="0" algn="ctr">
              <a:buNone/>
            </a:pPr>
            <a:endParaRPr lang="en-US" sz="44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9741" y="609600"/>
            <a:ext cx="2480490" cy="2118591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1066800" y="6422363"/>
            <a:ext cx="4622973" cy="365125"/>
          </a:xfrm>
        </p:spPr>
        <p:txBody>
          <a:bodyPr/>
          <a:lstStyle/>
          <a:p>
            <a:r>
              <a:rPr lang="en-US" dirty="0" smtClean="0"/>
              <a:t>Amanpreet Kaur, Assistant Professor, ECED , TIET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539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5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Antenna arrays</a:t>
            </a:r>
            <a:endParaRPr lang="en-US" sz="5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5626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many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-&gt; </a:t>
            </a:r>
            <a:r>
              <a:rPr lang="en-US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antennas with very directive characteristics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(very high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gains) to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 the demands of long distance communication. </a:t>
            </a:r>
            <a:endParaRPr lang="en-US" sz="3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3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radiation pattern of a </a:t>
            </a:r>
            <a:r>
              <a:rPr lang="en-US" sz="3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single element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usually wide, and each element provides </a:t>
            </a:r>
            <a:r>
              <a:rPr lang="en-US" sz="3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 values of directivity (gain).</a:t>
            </a:r>
          </a:p>
          <a:p>
            <a:pPr marL="0" indent="0" algn="just">
              <a:buNone/>
            </a:pPr>
            <a:endParaRPr lang="en-US" sz="3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only be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accomplished by </a:t>
            </a:r>
            <a:r>
              <a:rPr lang="en-US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the electrical </a:t>
            </a:r>
            <a:r>
              <a:rPr lang="en-US" sz="3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size </a:t>
            </a:r>
            <a:r>
              <a:rPr lang="en-US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antenna</a:t>
            </a:r>
            <a:r>
              <a:rPr lang="en-US" sz="3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66800" y="6324600"/>
            <a:ext cx="4622973" cy="365125"/>
          </a:xfrm>
        </p:spPr>
        <p:txBody>
          <a:bodyPr/>
          <a:lstStyle/>
          <a:p>
            <a:r>
              <a:rPr lang="en-US" dirty="0" smtClean="0"/>
              <a:t>Amanpreet Kaur, Assistant Professor, ECED , TIET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04800" y="381000"/>
            <a:ext cx="8229600" cy="6019800"/>
          </a:xfrm>
        </p:spPr>
        <p:txBody>
          <a:bodyPr>
            <a:normAutofit/>
          </a:bodyPr>
          <a:lstStyle/>
          <a:p>
            <a:pPr algn="just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Physically not realizable</a:t>
            </a:r>
          </a:p>
          <a:p>
            <a:pPr marL="0" indent="0" algn="just">
              <a:buNone/>
            </a:pP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orm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assembly of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radiating elements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an electrical and geometrical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configuration. referred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as an </a:t>
            </a:r>
            <a:r>
              <a:rPr lang="en-US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</a:p>
          <a:p>
            <a:pPr marL="0" indent="0" algn="just">
              <a:buNone/>
            </a:pPr>
            <a:endParaRPr 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convenience- elements can be same or they 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be of any form (wires, apertures, etc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.).</a:t>
            </a:r>
          </a:p>
          <a:p>
            <a:pPr marL="0" indent="0" algn="just">
              <a:buNone/>
            </a:pP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field of the array is determined by the vector addition of the fields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radiated  by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individual elements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1828800" y="6363929"/>
            <a:ext cx="4622973" cy="365125"/>
          </a:xfrm>
        </p:spPr>
        <p:txBody>
          <a:bodyPr/>
          <a:lstStyle/>
          <a:p>
            <a:r>
              <a:rPr lang="en-US" dirty="0" smtClean="0"/>
              <a:t>Amanpreet Kaur, Assistant Professor, ECED , TIET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9694" y="685800"/>
            <a:ext cx="8305800" cy="6055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276837" y="228600"/>
            <a:ext cx="8839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Assuming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current fed to all the elements is same and there is no mutual coupling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497007" y="6492875"/>
            <a:ext cx="4622973" cy="365125"/>
          </a:xfrm>
        </p:spPr>
        <p:txBody>
          <a:bodyPr/>
          <a:lstStyle/>
          <a:p>
            <a:r>
              <a:rPr lang="en-US" dirty="0" smtClean="0"/>
              <a:t>Amanpreet Kaur, Assistant Professor, ECED , TIET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87476" y="2514600"/>
            <a:ext cx="7794523" cy="4114800"/>
          </a:xfrm>
        </p:spPr>
        <p:txBody>
          <a:bodyPr>
            <a:norm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wire antenna with a single feed point produces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 gain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with several large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side lobes.</a:t>
            </a:r>
          </a:p>
          <a:p>
            <a:pPr marL="0" indent="0" algn="just">
              <a:buNone/>
            </a:pP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antenna of the same length with multiple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feed points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a large gain narrow beam pattern with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 side lobes.</a:t>
            </a:r>
          </a:p>
          <a:p>
            <a:pPr marL="0" indent="0" algn="just">
              <a:buNone/>
            </a:pP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individual feed currents can be adjusted to produce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very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side lobe pattern.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>
            <a:biLevel thresh="50000"/>
          </a:blip>
          <a:srcRect/>
          <a:stretch>
            <a:fillRect/>
          </a:stretch>
        </p:blipFill>
        <p:spPr bwMode="auto">
          <a:xfrm>
            <a:off x="587477" y="152400"/>
            <a:ext cx="7696200" cy="208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1905000" y="6446837"/>
            <a:ext cx="4622973" cy="365125"/>
          </a:xfrm>
        </p:spPr>
        <p:txBody>
          <a:bodyPr/>
          <a:lstStyle/>
          <a:p>
            <a:r>
              <a:rPr lang="en-US" dirty="0" smtClean="0"/>
              <a:t>Amanpreet Kaur, Assistant Professor, ECED , TIET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304800"/>
            <a:ext cx="8077200" cy="6400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an array of identical elements, the five controls that shape the overall pattern of array are:</a:t>
            </a:r>
          </a:p>
          <a:p>
            <a:pPr>
              <a:buNone/>
            </a:pP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The Geometrical Configuration of the Overall Array (Linear, Circular, Rectangular.)</a:t>
            </a:r>
          </a:p>
          <a:p>
            <a:pPr marL="0" indent="0">
              <a:buNone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Relative Displacement Between the Elements</a:t>
            </a:r>
          </a:p>
          <a:p>
            <a:pPr>
              <a:buNone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The Excitation Amplitude of the Individual Elements</a:t>
            </a:r>
          </a:p>
          <a:p>
            <a:pPr>
              <a:buNone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The Excitation Phase of the Individual Elements.</a:t>
            </a:r>
          </a:p>
          <a:p>
            <a:pPr>
              <a:buNone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The Relative Pattern of the Individual Elements.</a:t>
            </a:r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1600200" y="6492875"/>
            <a:ext cx="4622973" cy="365125"/>
          </a:xfrm>
        </p:spPr>
        <p:txBody>
          <a:bodyPr/>
          <a:lstStyle/>
          <a:p>
            <a:r>
              <a:rPr lang="en-US" dirty="0" smtClean="0"/>
              <a:t>Amanpreet Kaur, Assistant Professor, ECED , TIET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824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 descr="Chapt04_Page_185"/>
          <p:cNvSpPr>
            <a:spLocks noGrp="1" noChangeAspect="1" noChangeArrowheads="1"/>
          </p:cNvSpPr>
          <p:nvPr isPhoto="1"/>
        </p:nvSpPr>
        <p:spPr bwMode="auto">
          <a:xfrm>
            <a:off x="131763" y="0"/>
            <a:ext cx="8880475" cy="685800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 r="-3"/>
            </a:stretch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762000" y="6324600"/>
            <a:ext cx="4622973" cy="365125"/>
          </a:xfrm>
        </p:spPr>
        <p:txBody>
          <a:bodyPr/>
          <a:lstStyle/>
          <a:p>
            <a:r>
              <a:rPr lang="en-US" dirty="0" smtClean="0"/>
              <a:t>Amanpreet Kaur, Assistant Professor, ECED , TIET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112059"/>
            <a:ext cx="8458200" cy="61363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381000" y="6172200"/>
            <a:ext cx="5715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Yagi uda antenna: array of dipoles</a:t>
            </a:r>
            <a:endParaRPr lang="en-US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5257800" y="5807075"/>
            <a:ext cx="4622973" cy="365125"/>
          </a:xfrm>
        </p:spPr>
        <p:txBody>
          <a:bodyPr/>
          <a:lstStyle/>
          <a:p>
            <a:r>
              <a:rPr lang="en-US" dirty="0" smtClean="0"/>
              <a:t>Amanpreet Kaur, Assistant Professor, ECED , TIET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Types of arrays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715000"/>
          </a:xfrm>
        </p:spPr>
        <p:txBody>
          <a:bodyPr>
            <a:normAutofit fontScale="85000" lnSpcReduction="20000"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Broadside: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Elements are perpendicular to the array axis; max is at 90 degrees to array axis.</a:t>
            </a:r>
          </a:p>
          <a:p>
            <a:pPr marL="0" indent="0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End fire: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Currents 180 degrees phase shifted with respect to each other; max along array axis</a:t>
            </a:r>
          </a:p>
          <a:p>
            <a:pPr marL="0" indent="0"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Collinear: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Coaxially arranged; max is at 90 degrees to array axis, but circular symmetry .</a:t>
            </a:r>
          </a:p>
          <a:p>
            <a:pPr marL="0" indent="0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Parasitic 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Elements are electromagnetically coupled</a:t>
            </a:r>
          </a:p>
          <a:p>
            <a:pPr marL="0" indent="0"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Binomial: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Currents fed to elements are proportional to binomial coefficients</a:t>
            </a:r>
          </a:p>
          <a:p>
            <a:pPr marL="0" indent="0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Tchebyscheff: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Currents fed to elements are proportional to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tchebyscheff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coefficients.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362200" y="6492875"/>
            <a:ext cx="4622973" cy="365125"/>
          </a:xfrm>
        </p:spPr>
        <p:txBody>
          <a:bodyPr/>
          <a:lstStyle/>
          <a:p>
            <a:r>
              <a:rPr lang="en-US" dirty="0" smtClean="0"/>
              <a:t>Amanpreet Kaur, Assistant Professor, ECED , TIET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References 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295400"/>
            <a:ext cx="7543801" cy="4745963"/>
          </a:xfrm>
        </p:spPr>
        <p:txBody>
          <a:bodyPr/>
          <a:lstStyle/>
          <a:p>
            <a:r>
              <a:rPr lang="en-IN" dirty="0" smtClean="0"/>
              <a:t>[1]. Constantine A Balanis , “Antenna theory , Analysis and Design , 2</a:t>
            </a:r>
            <a:r>
              <a:rPr lang="en-IN" baseline="30000" dirty="0" smtClean="0"/>
              <a:t>nd</a:t>
            </a:r>
            <a:r>
              <a:rPr lang="en-IN" dirty="0" smtClean="0"/>
              <a:t> Edition” </a:t>
            </a:r>
            <a:r>
              <a:rPr lang="en-IN" dirty="0" err="1" smtClean="0"/>
              <a:t>Jhon</a:t>
            </a:r>
            <a:r>
              <a:rPr lang="en-IN" dirty="0" smtClean="0"/>
              <a:t> Wiley and Sons 2007.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895600" y="6248400"/>
            <a:ext cx="4622973" cy="365125"/>
          </a:xfrm>
        </p:spPr>
        <p:txBody>
          <a:bodyPr/>
          <a:lstStyle/>
          <a:p>
            <a:r>
              <a:rPr lang="en-US" smtClean="0"/>
              <a:t>Amanpreet Kaur, Assistant Professor, ECED , TIET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887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10857</TotalTime>
  <Words>482</Words>
  <Application>Microsoft Office PowerPoint</Application>
  <PresentationFormat>On-screen Show (4:3)</PresentationFormat>
  <Paragraphs>64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Times New Roman</vt:lpstr>
      <vt:lpstr>Trebuchet MS</vt:lpstr>
      <vt:lpstr>Wingdings 3</vt:lpstr>
      <vt:lpstr>Facet</vt:lpstr>
      <vt:lpstr>Antenna Arrays </vt:lpstr>
      <vt:lpstr>Antenna arrays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Types of arrays</vt:lpstr>
      <vt:lpstr>References :</vt:lpstr>
    </vt:vector>
  </TitlesOfParts>
  <Company>ECED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Dr. A.K. Chatterjee</dc:creator>
  <cp:lastModifiedBy>amanp</cp:lastModifiedBy>
  <cp:revision>47</cp:revision>
  <dcterms:created xsi:type="dcterms:W3CDTF">2010-09-28T05:42:49Z</dcterms:created>
  <dcterms:modified xsi:type="dcterms:W3CDTF">2021-05-03T14:37:06Z</dcterms:modified>
</cp:coreProperties>
</file>
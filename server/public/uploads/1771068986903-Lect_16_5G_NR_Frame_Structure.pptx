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75" r:id="rId2"/>
    <p:sldId id="476" r:id="rId3"/>
    <p:sldId id="477" r:id="rId4"/>
    <p:sldId id="549" r:id="rId5"/>
    <p:sldId id="550" r:id="rId6"/>
    <p:sldId id="551" r:id="rId7"/>
    <p:sldId id="552" r:id="rId8"/>
    <p:sldId id="553" r:id="rId9"/>
    <p:sldId id="554" r:id="rId10"/>
    <p:sldId id="555" r:id="rId11"/>
    <p:sldId id="556" r:id="rId12"/>
    <p:sldId id="557" r:id="rId13"/>
    <p:sldId id="558" r:id="rId14"/>
    <p:sldId id="559" r:id="rId15"/>
    <p:sldId id="560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3B2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ECA2C06-48EA-444B-B9BC-9DB7AAF658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5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B88AE-A3C3-4D8D-9F8A-519F4C44DA0F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16A62-86D7-437F-94CD-618077AE3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19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0E37C-F364-4050-AAD7-C22EEAF077E7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CB056-FB42-45E8-8E76-4D14E449F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65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0CFC-E9C9-483B-8829-AE6C01B14053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DB0094-847B-40FE-8075-AE7E1A86F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73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3F39A-5137-4B5F-ADB4-573C3237F1D6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267B8-7F74-423C-B4D2-FEA9FCA2EF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74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D9F2D-822C-444A-B2D8-1DA876E06AF1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0B7D7-301D-431B-9398-1CAA57139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66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7F092-CB28-406F-8F4D-A9CB9C6DDF6E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99854B-65BC-43BE-A440-239932B51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02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07E84-0DE2-4EBA-A409-4F43CD13252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F4165-8E61-41BD-BC99-D27EFE733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4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E5DB6-A284-4473-8D52-2F93B221A663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5AC913-5F39-4B24-BFD0-B77263A5C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28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AB68A-FDA8-4C6A-8D84-B7BB18575DE0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63986-ACC6-45AD-BDD0-5F965E378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280E-22ED-4EE1-B707-2A227E6C5DF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C7317-8101-4973-AC7E-BD1AD42ECD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8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ACD89-3346-458A-A6CB-1C441E96DBEA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E295A-1F21-45D2-9B8C-DF51B8F8C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674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4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C3EC6-FBA6-45B6-B3D5-58AC3D9E5AB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6CEE9F-ABAF-4D64-B423-0B2F034D9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73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fld id="{97959B4A-5782-4BCA-8A5F-9502DE7283C4}" type="datetime1">
              <a:rPr lang="en-US"/>
              <a:pPr>
                <a:defRPr/>
              </a:pPr>
              <a:t>9/2/2025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855D25F-EAF1-44F4-B045-AF33E30AA7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28600" y="762000"/>
            <a:ext cx="8534400" cy="147002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5G WIRELESS </a:t>
            </a:r>
            <a: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COMMUNICATION </a:t>
            </a:r>
            <a:b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</a:br>
            <a:r>
              <a:rPr lang="en-US" b="1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(UEC 719) </a:t>
            </a:r>
            <a:endParaRPr lang="en-US" b="1" dirty="0">
              <a:solidFill>
                <a:srgbClr val="000099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7" name="Slide Number Placeholder 14"/>
          <p:cNvSpPr txBox="1">
            <a:spLocks/>
          </p:cNvSpPr>
          <p:nvPr/>
        </p:nvSpPr>
        <p:spPr bwMode="auto">
          <a:xfrm>
            <a:off x="7594600" y="6378575"/>
            <a:ext cx="28448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4846ABB7-46DB-4F16-AB8B-BFEDDDD52D19}" type="slidenum">
              <a:rPr lang="en-US" smtClean="0">
                <a:latin typeface="Cambria" pitchFamily="18" charset="0"/>
                <a:ea typeface="Cambria" pitchFamily="18" charset="0"/>
              </a:rPr>
              <a:pPr/>
              <a:t>1</a:t>
            </a:fld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670414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Amit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Mishra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62600" y="4534475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Surbhi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Sharma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57895" y="1752600"/>
            <a:ext cx="5029200" cy="1749425"/>
          </a:xfrm>
        </p:spPr>
        <p:txBody>
          <a:bodyPr>
            <a:normAutofit fontScale="70000" lnSpcReduction="20000"/>
          </a:bodyPr>
          <a:lstStyle/>
          <a:p>
            <a:pPr algn="ctr">
              <a:buFontTx/>
              <a:buNone/>
              <a:defRPr/>
            </a:pPr>
            <a:r>
              <a:rPr lang="en-US" sz="6000" dirty="0">
                <a:solidFill>
                  <a:srgbClr val="00B0F0"/>
                </a:solidFill>
              </a:rPr>
              <a:t>Lecture: </a:t>
            </a:r>
            <a:r>
              <a:rPr lang="en-US" sz="6000" dirty="0" smtClean="0">
                <a:solidFill>
                  <a:srgbClr val="00B0F0"/>
                </a:solidFill>
              </a:rPr>
              <a:t>16</a:t>
            </a:r>
            <a:endParaRPr lang="en-US" sz="6000" dirty="0">
              <a:solidFill>
                <a:srgbClr val="00B0F0"/>
              </a:solidFill>
            </a:endParaRPr>
          </a:p>
          <a:p>
            <a:pPr algn="ctr">
              <a:buFontTx/>
              <a:buNone/>
              <a:defRPr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5700" dirty="0" smtClean="0">
                <a:solidFill>
                  <a:srgbClr val="C00000"/>
                </a:solidFill>
              </a:rPr>
              <a:t>5G NR</a:t>
            </a: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307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70C2B-F570-482D-B7D8-379B0AD8AD3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4" name="Rectangle 3"/>
          <p:cNvSpPr/>
          <p:nvPr/>
        </p:nvSpPr>
        <p:spPr>
          <a:xfrm>
            <a:off x="3074704" y="3733800"/>
            <a:ext cx="25955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en-US" sz="2600" dirty="0">
                <a:solidFill>
                  <a:srgbClr val="C00000"/>
                </a:solidFill>
              </a:rPr>
              <a:t>Frame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4294967295"/>
          </p:nvPr>
        </p:nvSpPr>
        <p:spPr>
          <a:xfrm>
            <a:off x="2365375" y="187325"/>
            <a:ext cx="4171950" cy="8794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300" smtClean="0">
                <a:solidFill>
                  <a:srgbClr val="00B0F0"/>
                </a:solidFill>
              </a:rPr>
              <a:t>Contents</a:t>
            </a:r>
          </a:p>
        </p:txBody>
      </p:sp>
      <p:sp>
        <p:nvSpPr>
          <p:cNvPr id="4099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E9BFDC-D866-4011-871E-84FBC2DB700C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" name="Rectangle 6"/>
          <p:cNvSpPr/>
          <p:nvPr/>
        </p:nvSpPr>
        <p:spPr>
          <a:xfrm>
            <a:off x="304800" y="990600"/>
            <a:ext cx="7924800" cy="577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Frame Structure in Time Domain</a:t>
            </a:r>
            <a:endParaRPr lang="en-US" sz="2400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7073" y="152400"/>
            <a:ext cx="626985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Frame</a:t>
            </a:r>
            <a:r>
              <a:rPr spc="-5" dirty="0"/>
              <a:t> </a:t>
            </a:r>
            <a:r>
              <a:rPr spc="-10" dirty="0"/>
              <a:t>Structure</a:t>
            </a:r>
            <a:r>
              <a:rPr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Time</a:t>
            </a:r>
            <a:r>
              <a:rPr spc="-10" dirty="0"/>
              <a:t> </a:t>
            </a:r>
            <a:r>
              <a:rPr spc="-5" dirty="0"/>
              <a:t>domain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98" y="4495800"/>
            <a:ext cx="1257292" cy="6096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486159" y="5638800"/>
            <a:ext cx="2171700" cy="1143000"/>
            <a:chOff x="4648212" y="5638800"/>
            <a:chExt cx="2895600" cy="1143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7400" y="5638800"/>
              <a:ext cx="1676400" cy="609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8212" y="6172200"/>
              <a:ext cx="1676387" cy="6096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24606" y="1579078"/>
            <a:ext cx="2370993" cy="4013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4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3200" spc="-7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4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244060"/>
              </a:buClr>
              <a:buFont typeface="Arial MT"/>
              <a:buChar char="•"/>
            </a:pPr>
            <a:endParaRPr sz="4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266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2360" y="117006"/>
            <a:ext cx="282223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Radio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Frame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211" y="5628133"/>
            <a:ext cx="3785615" cy="7726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1812" y="5717401"/>
            <a:ext cx="3510439" cy="537327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118360" marR="5080" indent="-2106295" algn="ctr">
              <a:lnSpc>
                <a:spcPts val="1760"/>
              </a:lnSpc>
              <a:spcBef>
                <a:spcPts val="290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Symbol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Varies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according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 smtClean="0">
                <a:solidFill>
                  <a:srgbClr val="FFFFFF"/>
                </a:solidFill>
                <a:latin typeface="Calibri"/>
                <a:cs typeface="Calibri"/>
              </a:rPr>
              <a:t>sub</a:t>
            </a:r>
            <a:endParaRPr lang="en-US" sz="1600" b="1" spc="-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2118360" marR="5080" indent="-2106295" algn="ctr">
              <a:lnSpc>
                <a:spcPts val="1760"/>
              </a:lnSpc>
              <a:spcBef>
                <a:spcPts val="290"/>
              </a:spcBef>
            </a:pPr>
            <a:r>
              <a:rPr sz="1600" b="1" spc="-5" dirty="0" smtClean="0">
                <a:solidFill>
                  <a:srgbClr val="FFFFFF"/>
                </a:solidFill>
                <a:latin typeface="Calibri"/>
                <a:cs typeface="Calibri"/>
              </a:rPr>
              <a:t>carrier</a:t>
            </a:r>
            <a:r>
              <a:rPr sz="1600" b="1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spacing </a:t>
            </a:r>
            <a:r>
              <a:rPr sz="1600" b="1" spc="-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used.</a:t>
            </a:r>
            <a:endParaRPr sz="1600" b="1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210" y="4589527"/>
            <a:ext cx="3761041" cy="113309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73875" y="4757659"/>
            <a:ext cx="27306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OFDM</a:t>
            </a:r>
            <a:r>
              <a:rPr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Symbols</a:t>
            </a:r>
            <a:r>
              <a:rPr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slot</a:t>
            </a:r>
            <a:r>
              <a:rPr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b="1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210" y="3551683"/>
            <a:ext cx="3761041" cy="11323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2321" y="3567625"/>
            <a:ext cx="3825326" cy="537327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982470" marR="5080" indent="-1970405" algn="ctr">
              <a:lnSpc>
                <a:spcPts val="1760"/>
              </a:lnSpc>
              <a:spcBef>
                <a:spcPts val="290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Slot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Varies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according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5" dirty="0" smtClean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lang="en-US" sz="1600" b="1" spc="-1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1982470" marR="5080" indent="-1970405" algn="ctr">
              <a:lnSpc>
                <a:spcPts val="1760"/>
              </a:lnSpc>
              <a:spcBef>
                <a:spcPts val="290"/>
              </a:spcBef>
            </a:pPr>
            <a:r>
              <a:rPr sz="1600" b="1" spc="-5" dirty="0" smtClean="0">
                <a:solidFill>
                  <a:srgbClr val="FFFFFF"/>
                </a:solidFill>
                <a:latin typeface="Calibri"/>
                <a:cs typeface="Calibri"/>
              </a:rPr>
              <a:t>sub</a:t>
            </a:r>
            <a:r>
              <a:rPr sz="1600" b="1" spc="5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carrier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spacing </a:t>
            </a:r>
            <a:r>
              <a:rPr sz="1600" b="1" spc="-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used.</a:t>
            </a:r>
            <a:endParaRPr sz="1600" b="1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210" y="2513077"/>
            <a:ext cx="3761041" cy="113233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86481" y="2687238"/>
            <a:ext cx="31054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Subframe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1msec</a:t>
            </a:r>
            <a:endParaRPr sz="2000" b="1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7210" y="1474471"/>
            <a:ext cx="3761041" cy="113233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15035" y="1674704"/>
            <a:ext cx="27547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10msec</a:t>
            </a:r>
            <a:endParaRPr sz="2000" b="1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6036" y="1464565"/>
            <a:ext cx="3292982" cy="474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3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0" y="299124"/>
            <a:ext cx="2720858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Slot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Length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67509" y="1103377"/>
            <a:ext cx="8009096" cy="5755005"/>
            <a:chOff x="756678" y="1103376"/>
            <a:chExt cx="10678795" cy="57550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6678" y="1103376"/>
              <a:ext cx="10678642" cy="57546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1090" y="1447812"/>
              <a:ext cx="9989807" cy="51899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56640" y="1403350"/>
              <a:ext cx="10078720" cy="5279390"/>
            </a:xfrm>
            <a:custGeom>
              <a:avLst/>
              <a:gdLst/>
              <a:ahLst/>
              <a:cxnLst/>
              <a:rect l="l" t="t" r="r" b="b"/>
              <a:pathLst>
                <a:path w="10078720" h="5279390">
                  <a:moveTo>
                    <a:pt x="0" y="0"/>
                  </a:moveTo>
                  <a:lnTo>
                    <a:pt x="10078720" y="0"/>
                  </a:lnTo>
                  <a:lnTo>
                    <a:pt x="10078720" y="5278882"/>
                  </a:lnTo>
                  <a:lnTo>
                    <a:pt x="0" y="5278882"/>
                  </a:lnTo>
                  <a:lnTo>
                    <a:pt x="0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7148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11" y="-91281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5227" y="214341"/>
            <a:ext cx="6310118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No. of Slots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in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15" dirty="0">
                <a:solidFill>
                  <a:srgbClr val="FF0000"/>
                </a:solidFill>
              </a:rPr>
              <a:t>frame/Sub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Frame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160095"/>
            <a:ext cx="5112544" cy="5698490"/>
            <a:chOff x="0" y="1160095"/>
            <a:chExt cx="6816725" cy="5698490"/>
          </a:xfrm>
        </p:grpSpPr>
        <p:sp>
          <p:nvSpPr>
            <p:cNvPr id="5" name="object 5"/>
            <p:cNvSpPr/>
            <p:nvPr/>
          </p:nvSpPr>
          <p:spPr>
            <a:xfrm>
              <a:off x="0" y="1166443"/>
              <a:ext cx="6810375" cy="931544"/>
            </a:xfrm>
            <a:custGeom>
              <a:avLst/>
              <a:gdLst/>
              <a:ahLst/>
              <a:cxnLst/>
              <a:rect l="l" t="t" r="r" b="b"/>
              <a:pathLst>
                <a:path w="6810375" h="931544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31506"/>
                  </a:lnTo>
                  <a:lnTo>
                    <a:pt x="1247330" y="931506"/>
                  </a:lnTo>
                  <a:lnTo>
                    <a:pt x="3838130" y="931506"/>
                  </a:lnTo>
                  <a:lnTo>
                    <a:pt x="6809918" y="931506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136050"/>
              <a:ext cx="6810375" cy="931544"/>
            </a:xfrm>
            <a:custGeom>
              <a:avLst/>
              <a:gdLst/>
              <a:ahLst/>
              <a:cxnLst/>
              <a:rect l="l" t="t" r="r" b="b"/>
              <a:pathLst>
                <a:path w="6810375" h="931544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31481"/>
                  </a:lnTo>
                  <a:lnTo>
                    <a:pt x="1247330" y="931481"/>
                  </a:lnTo>
                  <a:lnTo>
                    <a:pt x="3838130" y="931481"/>
                  </a:lnTo>
                  <a:lnTo>
                    <a:pt x="6809918" y="931481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067532"/>
              <a:ext cx="6810375" cy="950594"/>
            </a:xfrm>
            <a:custGeom>
              <a:avLst/>
              <a:gdLst/>
              <a:ahLst/>
              <a:cxnLst/>
              <a:rect l="l" t="t" r="r" b="b"/>
              <a:pathLst>
                <a:path w="6810375" h="950595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1247330" y="950544"/>
                  </a:lnTo>
                  <a:lnTo>
                    <a:pt x="3838130" y="950544"/>
                  </a:lnTo>
                  <a:lnTo>
                    <a:pt x="6809918" y="950544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018076"/>
              <a:ext cx="6810375" cy="950594"/>
            </a:xfrm>
            <a:custGeom>
              <a:avLst/>
              <a:gdLst/>
              <a:ahLst/>
              <a:cxnLst/>
              <a:rect l="l" t="t" r="r" b="b"/>
              <a:pathLst>
                <a:path w="6810375" h="950595">
                  <a:moveTo>
                    <a:pt x="6809918" y="12"/>
                  </a:moveTo>
                  <a:lnTo>
                    <a:pt x="3838130" y="12"/>
                  </a:lnTo>
                  <a:lnTo>
                    <a:pt x="1247330" y="12"/>
                  </a:lnTo>
                  <a:lnTo>
                    <a:pt x="0" y="0"/>
                  </a:lnTo>
                  <a:lnTo>
                    <a:pt x="0" y="950556"/>
                  </a:lnTo>
                  <a:lnTo>
                    <a:pt x="1247330" y="950556"/>
                  </a:lnTo>
                  <a:lnTo>
                    <a:pt x="3838130" y="950556"/>
                  </a:lnTo>
                  <a:lnTo>
                    <a:pt x="6809918" y="950556"/>
                  </a:lnTo>
                  <a:lnTo>
                    <a:pt x="6809918" y="12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968633"/>
              <a:ext cx="6810375" cy="950594"/>
            </a:xfrm>
            <a:custGeom>
              <a:avLst/>
              <a:gdLst/>
              <a:ahLst/>
              <a:cxnLst/>
              <a:rect l="l" t="t" r="r" b="b"/>
              <a:pathLst>
                <a:path w="6810375" h="950595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1247330" y="950544"/>
                  </a:lnTo>
                  <a:lnTo>
                    <a:pt x="3838130" y="950544"/>
                  </a:lnTo>
                  <a:lnTo>
                    <a:pt x="6809918" y="950544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5919177"/>
              <a:ext cx="6810375" cy="939165"/>
            </a:xfrm>
            <a:custGeom>
              <a:avLst/>
              <a:gdLst/>
              <a:ahLst/>
              <a:cxnLst/>
              <a:rect l="l" t="t" r="r" b="b"/>
              <a:pathLst>
                <a:path w="6810375" h="939165">
                  <a:moveTo>
                    <a:pt x="6809918" y="0"/>
                  </a:moveTo>
                  <a:lnTo>
                    <a:pt x="3838130" y="0"/>
                  </a:lnTo>
                  <a:lnTo>
                    <a:pt x="1247330" y="0"/>
                  </a:lnTo>
                  <a:lnTo>
                    <a:pt x="0" y="0"/>
                  </a:lnTo>
                  <a:lnTo>
                    <a:pt x="0" y="938822"/>
                  </a:lnTo>
                  <a:lnTo>
                    <a:pt x="1247330" y="938822"/>
                  </a:lnTo>
                  <a:lnTo>
                    <a:pt x="3838130" y="938822"/>
                  </a:lnTo>
                  <a:lnTo>
                    <a:pt x="6809918" y="938822"/>
                  </a:lnTo>
                  <a:lnTo>
                    <a:pt x="6809918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160106"/>
              <a:ext cx="6816725" cy="5698490"/>
            </a:xfrm>
            <a:custGeom>
              <a:avLst/>
              <a:gdLst/>
              <a:ahLst/>
              <a:cxnLst/>
              <a:rect l="l" t="t" r="r" b="b"/>
              <a:pathLst>
                <a:path w="6816725" h="5698490">
                  <a:moveTo>
                    <a:pt x="6816280" y="0"/>
                  </a:moveTo>
                  <a:lnTo>
                    <a:pt x="6803580" y="0"/>
                  </a:lnTo>
                  <a:lnTo>
                    <a:pt x="6803580" y="12700"/>
                  </a:lnTo>
                  <a:lnTo>
                    <a:pt x="6803580" y="937844"/>
                  </a:lnTo>
                  <a:lnTo>
                    <a:pt x="6803580" y="4752721"/>
                  </a:lnTo>
                  <a:lnTo>
                    <a:pt x="3844480" y="4752721"/>
                  </a:lnTo>
                  <a:lnTo>
                    <a:pt x="3844480" y="3814876"/>
                  </a:lnTo>
                  <a:lnTo>
                    <a:pt x="6803580" y="3814876"/>
                  </a:lnTo>
                  <a:lnTo>
                    <a:pt x="6803580" y="3802176"/>
                  </a:lnTo>
                  <a:lnTo>
                    <a:pt x="3844480" y="3802176"/>
                  </a:lnTo>
                  <a:lnTo>
                    <a:pt x="3844480" y="2864332"/>
                  </a:lnTo>
                  <a:lnTo>
                    <a:pt x="6803580" y="2864332"/>
                  </a:lnTo>
                  <a:lnTo>
                    <a:pt x="6803580" y="2851632"/>
                  </a:lnTo>
                  <a:lnTo>
                    <a:pt x="3844480" y="2851632"/>
                  </a:lnTo>
                  <a:lnTo>
                    <a:pt x="3844480" y="1913788"/>
                  </a:lnTo>
                  <a:lnTo>
                    <a:pt x="6803580" y="1913788"/>
                  </a:lnTo>
                  <a:lnTo>
                    <a:pt x="6803580" y="1901088"/>
                  </a:lnTo>
                  <a:lnTo>
                    <a:pt x="3844480" y="1901088"/>
                  </a:lnTo>
                  <a:lnTo>
                    <a:pt x="3844480" y="975944"/>
                  </a:lnTo>
                  <a:lnTo>
                    <a:pt x="6803580" y="975944"/>
                  </a:lnTo>
                  <a:lnTo>
                    <a:pt x="6803580" y="937844"/>
                  </a:lnTo>
                  <a:lnTo>
                    <a:pt x="3844480" y="937844"/>
                  </a:lnTo>
                  <a:lnTo>
                    <a:pt x="3844480" y="12700"/>
                  </a:lnTo>
                  <a:lnTo>
                    <a:pt x="6803580" y="12700"/>
                  </a:lnTo>
                  <a:lnTo>
                    <a:pt x="6803580" y="0"/>
                  </a:lnTo>
                  <a:lnTo>
                    <a:pt x="3844480" y="0"/>
                  </a:lnTo>
                  <a:lnTo>
                    <a:pt x="3831780" y="0"/>
                  </a:lnTo>
                  <a:lnTo>
                    <a:pt x="3831780" y="12700"/>
                  </a:lnTo>
                  <a:lnTo>
                    <a:pt x="3831780" y="4752721"/>
                  </a:lnTo>
                  <a:lnTo>
                    <a:pt x="1253680" y="4752721"/>
                  </a:lnTo>
                  <a:lnTo>
                    <a:pt x="1253680" y="3814876"/>
                  </a:lnTo>
                  <a:lnTo>
                    <a:pt x="3831780" y="3814876"/>
                  </a:lnTo>
                  <a:lnTo>
                    <a:pt x="3831780" y="3802176"/>
                  </a:lnTo>
                  <a:lnTo>
                    <a:pt x="1253680" y="3802176"/>
                  </a:lnTo>
                  <a:lnTo>
                    <a:pt x="1253680" y="2864332"/>
                  </a:lnTo>
                  <a:lnTo>
                    <a:pt x="3831780" y="2864332"/>
                  </a:lnTo>
                  <a:lnTo>
                    <a:pt x="3831780" y="2851632"/>
                  </a:lnTo>
                  <a:lnTo>
                    <a:pt x="1253680" y="2851632"/>
                  </a:lnTo>
                  <a:lnTo>
                    <a:pt x="1253680" y="1913788"/>
                  </a:lnTo>
                  <a:lnTo>
                    <a:pt x="3831780" y="1913788"/>
                  </a:lnTo>
                  <a:lnTo>
                    <a:pt x="3831780" y="1901088"/>
                  </a:lnTo>
                  <a:lnTo>
                    <a:pt x="1253680" y="1901088"/>
                  </a:lnTo>
                  <a:lnTo>
                    <a:pt x="1253680" y="975944"/>
                  </a:lnTo>
                  <a:lnTo>
                    <a:pt x="3831780" y="975944"/>
                  </a:lnTo>
                  <a:lnTo>
                    <a:pt x="3831780" y="937844"/>
                  </a:lnTo>
                  <a:lnTo>
                    <a:pt x="1253680" y="937844"/>
                  </a:lnTo>
                  <a:lnTo>
                    <a:pt x="1253680" y="12700"/>
                  </a:lnTo>
                  <a:lnTo>
                    <a:pt x="3831780" y="12700"/>
                  </a:lnTo>
                  <a:lnTo>
                    <a:pt x="3831780" y="0"/>
                  </a:lnTo>
                  <a:lnTo>
                    <a:pt x="1253680" y="0"/>
                  </a:lnTo>
                  <a:lnTo>
                    <a:pt x="124098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1240980" y="12700"/>
                  </a:lnTo>
                  <a:lnTo>
                    <a:pt x="1240980" y="937844"/>
                  </a:lnTo>
                  <a:lnTo>
                    <a:pt x="0" y="937844"/>
                  </a:lnTo>
                  <a:lnTo>
                    <a:pt x="0" y="975944"/>
                  </a:lnTo>
                  <a:lnTo>
                    <a:pt x="1240980" y="975944"/>
                  </a:lnTo>
                  <a:lnTo>
                    <a:pt x="1240980" y="1901088"/>
                  </a:lnTo>
                  <a:lnTo>
                    <a:pt x="0" y="1901088"/>
                  </a:lnTo>
                  <a:lnTo>
                    <a:pt x="0" y="1913788"/>
                  </a:lnTo>
                  <a:lnTo>
                    <a:pt x="1240980" y="1913788"/>
                  </a:lnTo>
                  <a:lnTo>
                    <a:pt x="1240980" y="2851632"/>
                  </a:lnTo>
                  <a:lnTo>
                    <a:pt x="0" y="2851632"/>
                  </a:lnTo>
                  <a:lnTo>
                    <a:pt x="0" y="2864332"/>
                  </a:lnTo>
                  <a:lnTo>
                    <a:pt x="1240980" y="2864332"/>
                  </a:lnTo>
                  <a:lnTo>
                    <a:pt x="1240980" y="3802176"/>
                  </a:lnTo>
                  <a:lnTo>
                    <a:pt x="0" y="3802176"/>
                  </a:lnTo>
                  <a:lnTo>
                    <a:pt x="0" y="3814876"/>
                  </a:lnTo>
                  <a:lnTo>
                    <a:pt x="1240980" y="3814876"/>
                  </a:lnTo>
                  <a:lnTo>
                    <a:pt x="1240980" y="4752721"/>
                  </a:lnTo>
                  <a:lnTo>
                    <a:pt x="0" y="4752721"/>
                  </a:lnTo>
                  <a:lnTo>
                    <a:pt x="0" y="4765421"/>
                  </a:lnTo>
                  <a:lnTo>
                    <a:pt x="1240980" y="4765421"/>
                  </a:lnTo>
                  <a:lnTo>
                    <a:pt x="1240980" y="5697893"/>
                  </a:lnTo>
                  <a:lnTo>
                    <a:pt x="1253680" y="5697893"/>
                  </a:lnTo>
                  <a:lnTo>
                    <a:pt x="1253680" y="4765421"/>
                  </a:lnTo>
                  <a:lnTo>
                    <a:pt x="3831780" y="4765421"/>
                  </a:lnTo>
                  <a:lnTo>
                    <a:pt x="3831780" y="5697893"/>
                  </a:lnTo>
                  <a:lnTo>
                    <a:pt x="3844480" y="5697893"/>
                  </a:lnTo>
                  <a:lnTo>
                    <a:pt x="3844480" y="4765421"/>
                  </a:lnTo>
                  <a:lnTo>
                    <a:pt x="6803580" y="4765421"/>
                  </a:lnTo>
                  <a:lnTo>
                    <a:pt x="6803580" y="5697893"/>
                  </a:lnTo>
                  <a:lnTo>
                    <a:pt x="6816280" y="5697893"/>
                  </a:lnTo>
                  <a:lnTo>
                    <a:pt x="6816280" y="12700"/>
                  </a:lnTo>
                  <a:lnTo>
                    <a:pt x="6816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711" y="1176606"/>
            <a:ext cx="80801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4646" y="1176606"/>
            <a:ext cx="201789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Slot per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Sub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2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(1ms)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37875" y="1176606"/>
            <a:ext cx="238007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Symbols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Sub </a:t>
            </a:r>
            <a:r>
              <a:rPr sz="24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Frame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 (1ms)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978" y="2361112"/>
            <a:ext cx="1385249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15KHz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30KHz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60KHz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120KHz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US" sz="2800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 smtClean="0">
                <a:latin typeface="Calibri"/>
                <a:cs typeface="Calibri"/>
              </a:rPr>
              <a:t>240KHz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02687" y="1148374"/>
            <a:ext cx="4041458" cy="5709920"/>
            <a:chOff x="6803583" y="1148374"/>
            <a:chExt cx="5388610" cy="5709920"/>
          </a:xfrm>
        </p:grpSpPr>
        <p:sp>
          <p:nvSpPr>
            <p:cNvPr id="17" name="object 17"/>
            <p:cNvSpPr/>
            <p:nvPr/>
          </p:nvSpPr>
          <p:spPr>
            <a:xfrm>
              <a:off x="6809930" y="1154721"/>
              <a:ext cx="5382260" cy="931544"/>
            </a:xfrm>
            <a:custGeom>
              <a:avLst/>
              <a:gdLst/>
              <a:ahLst/>
              <a:cxnLst/>
              <a:rect l="l" t="t" r="r" b="b"/>
              <a:pathLst>
                <a:path w="5382259" h="931544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31506"/>
                  </a:lnTo>
                  <a:lnTo>
                    <a:pt x="208280" y="931506"/>
                  </a:lnTo>
                  <a:lnTo>
                    <a:pt x="2715069" y="931506"/>
                  </a:lnTo>
                  <a:lnTo>
                    <a:pt x="5382082" y="931506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930" y="2124328"/>
              <a:ext cx="5382260" cy="931544"/>
            </a:xfrm>
            <a:custGeom>
              <a:avLst/>
              <a:gdLst/>
              <a:ahLst/>
              <a:cxnLst/>
              <a:rect l="l" t="t" r="r" b="b"/>
              <a:pathLst>
                <a:path w="5382259" h="931544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31481"/>
                  </a:lnTo>
                  <a:lnTo>
                    <a:pt x="208280" y="931481"/>
                  </a:lnTo>
                  <a:lnTo>
                    <a:pt x="2715069" y="931481"/>
                  </a:lnTo>
                  <a:lnTo>
                    <a:pt x="5382082" y="93149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930" y="3055810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5382082" y="12"/>
                  </a:moveTo>
                  <a:lnTo>
                    <a:pt x="2715069" y="12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69" y="950544"/>
                  </a:lnTo>
                  <a:lnTo>
                    <a:pt x="5382082" y="950556"/>
                  </a:lnTo>
                  <a:lnTo>
                    <a:pt x="5382082" y="12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930" y="4006367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69" y="950544"/>
                  </a:lnTo>
                  <a:lnTo>
                    <a:pt x="5382082" y="95054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930" y="4956911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5382082" y="0"/>
                  </a:moveTo>
                  <a:lnTo>
                    <a:pt x="2715069" y="0"/>
                  </a:ln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69" y="950544"/>
                  </a:lnTo>
                  <a:lnTo>
                    <a:pt x="5382082" y="95054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09930" y="5907455"/>
              <a:ext cx="5382260" cy="950594"/>
            </a:xfrm>
            <a:custGeom>
              <a:avLst/>
              <a:gdLst/>
              <a:ahLst/>
              <a:cxnLst/>
              <a:rect l="l" t="t" r="r" b="b"/>
              <a:pathLst>
                <a:path w="5382259" h="950595">
                  <a:moveTo>
                    <a:pt x="2715056" y="0"/>
                  </a:moveTo>
                  <a:lnTo>
                    <a:pt x="208280" y="0"/>
                  </a:lnTo>
                  <a:lnTo>
                    <a:pt x="0" y="0"/>
                  </a:lnTo>
                  <a:lnTo>
                    <a:pt x="0" y="950544"/>
                  </a:lnTo>
                  <a:lnTo>
                    <a:pt x="208280" y="950544"/>
                  </a:lnTo>
                  <a:lnTo>
                    <a:pt x="2715056" y="950544"/>
                  </a:lnTo>
                  <a:lnTo>
                    <a:pt x="2715056" y="0"/>
                  </a:lnTo>
                  <a:close/>
                </a:path>
                <a:path w="5382259" h="950595">
                  <a:moveTo>
                    <a:pt x="5382082" y="0"/>
                  </a:moveTo>
                  <a:lnTo>
                    <a:pt x="2715069" y="0"/>
                  </a:lnTo>
                  <a:lnTo>
                    <a:pt x="2715069" y="950544"/>
                  </a:lnTo>
                  <a:lnTo>
                    <a:pt x="5382082" y="950544"/>
                  </a:lnTo>
                  <a:lnTo>
                    <a:pt x="5382082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03580" y="1148384"/>
              <a:ext cx="5388610" cy="5709920"/>
            </a:xfrm>
            <a:custGeom>
              <a:avLst/>
              <a:gdLst/>
              <a:ahLst/>
              <a:cxnLst/>
              <a:rect l="l" t="t" r="r" b="b"/>
              <a:pathLst>
                <a:path w="5388609" h="5709920">
                  <a:moveTo>
                    <a:pt x="5388419" y="0"/>
                  </a:moveTo>
                  <a:lnTo>
                    <a:pt x="2727769" y="0"/>
                  </a:lnTo>
                  <a:lnTo>
                    <a:pt x="2715069" y="0"/>
                  </a:lnTo>
                  <a:lnTo>
                    <a:pt x="2715069" y="12700"/>
                  </a:lnTo>
                  <a:lnTo>
                    <a:pt x="2715069" y="5703265"/>
                  </a:lnTo>
                  <a:lnTo>
                    <a:pt x="220980" y="5703265"/>
                  </a:lnTo>
                  <a:lnTo>
                    <a:pt x="220980" y="4765421"/>
                  </a:lnTo>
                  <a:lnTo>
                    <a:pt x="2715069" y="4765421"/>
                  </a:lnTo>
                  <a:lnTo>
                    <a:pt x="2715069" y="4752721"/>
                  </a:lnTo>
                  <a:lnTo>
                    <a:pt x="220980" y="4752721"/>
                  </a:lnTo>
                  <a:lnTo>
                    <a:pt x="220980" y="3814876"/>
                  </a:lnTo>
                  <a:lnTo>
                    <a:pt x="2715069" y="3814876"/>
                  </a:lnTo>
                  <a:lnTo>
                    <a:pt x="2715069" y="3802176"/>
                  </a:lnTo>
                  <a:lnTo>
                    <a:pt x="220980" y="3802176"/>
                  </a:lnTo>
                  <a:lnTo>
                    <a:pt x="220980" y="2864332"/>
                  </a:lnTo>
                  <a:lnTo>
                    <a:pt x="2715069" y="2864332"/>
                  </a:lnTo>
                  <a:lnTo>
                    <a:pt x="2715069" y="2851632"/>
                  </a:lnTo>
                  <a:lnTo>
                    <a:pt x="220980" y="2851632"/>
                  </a:lnTo>
                  <a:lnTo>
                    <a:pt x="220980" y="1913788"/>
                  </a:lnTo>
                  <a:lnTo>
                    <a:pt x="2715069" y="1913788"/>
                  </a:lnTo>
                  <a:lnTo>
                    <a:pt x="2715069" y="1901088"/>
                  </a:lnTo>
                  <a:lnTo>
                    <a:pt x="220980" y="1901088"/>
                  </a:lnTo>
                  <a:lnTo>
                    <a:pt x="220980" y="975944"/>
                  </a:lnTo>
                  <a:lnTo>
                    <a:pt x="2715069" y="975944"/>
                  </a:lnTo>
                  <a:lnTo>
                    <a:pt x="2715069" y="937844"/>
                  </a:lnTo>
                  <a:lnTo>
                    <a:pt x="220980" y="937844"/>
                  </a:lnTo>
                  <a:lnTo>
                    <a:pt x="220980" y="12700"/>
                  </a:lnTo>
                  <a:lnTo>
                    <a:pt x="2715069" y="12700"/>
                  </a:lnTo>
                  <a:lnTo>
                    <a:pt x="2715069" y="0"/>
                  </a:lnTo>
                  <a:lnTo>
                    <a:pt x="220980" y="0"/>
                  </a:lnTo>
                  <a:lnTo>
                    <a:pt x="208280" y="0"/>
                  </a:lnTo>
                  <a:lnTo>
                    <a:pt x="208280" y="12700"/>
                  </a:lnTo>
                  <a:lnTo>
                    <a:pt x="208280" y="5703265"/>
                  </a:lnTo>
                  <a:lnTo>
                    <a:pt x="12700" y="5703265"/>
                  </a:lnTo>
                  <a:lnTo>
                    <a:pt x="12700" y="4765421"/>
                  </a:lnTo>
                  <a:lnTo>
                    <a:pt x="208280" y="4765421"/>
                  </a:lnTo>
                  <a:lnTo>
                    <a:pt x="208280" y="4752721"/>
                  </a:lnTo>
                  <a:lnTo>
                    <a:pt x="12700" y="4752721"/>
                  </a:lnTo>
                  <a:lnTo>
                    <a:pt x="12700" y="3814876"/>
                  </a:lnTo>
                  <a:lnTo>
                    <a:pt x="208280" y="3814876"/>
                  </a:lnTo>
                  <a:lnTo>
                    <a:pt x="208280" y="3802176"/>
                  </a:lnTo>
                  <a:lnTo>
                    <a:pt x="12700" y="3802176"/>
                  </a:lnTo>
                  <a:lnTo>
                    <a:pt x="12700" y="2864332"/>
                  </a:lnTo>
                  <a:lnTo>
                    <a:pt x="208280" y="2864332"/>
                  </a:lnTo>
                  <a:lnTo>
                    <a:pt x="208280" y="2851632"/>
                  </a:lnTo>
                  <a:lnTo>
                    <a:pt x="12700" y="2851632"/>
                  </a:lnTo>
                  <a:lnTo>
                    <a:pt x="12700" y="1913788"/>
                  </a:lnTo>
                  <a:lnTo>
                    <a:pt x="208280" y="1913788"/>
                  </a:lnTo>
                  <a:lnTo>
                    <a:pt x="208280" y="1901088"/>
                  </a:lnTo>
                  <a:lnTo>
                    <a:pt x="12700" y="1901088"/>
                  </a:lnTo>
                  <a:lnTo>
                    <a:pt x="12700" y="975944"/>
                  </a:lnTo>
                  <a:lnTo>
                    <a:pt x="208280" y="975944"/>
                  </a:lnTo>
                  <a:lnTo>
                    <a:pt x="208280" y="937844"/>
                  </a:lnTo>
                  <a:lnTo>
                    <a:pt x="12700" y="937844"/>
                  </a:lnTo>
                  <a:lnTo>
                    <a:pt x="12700" y="12700"/>
                  </a:lnTo>
                  <a:lnTo>
                    <a:pt x="208280" y="12700"/>
                  </a:lnTo>
                  <a:lnTo>
                    <a:pt x="20828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5709615"/>
                  </a:lnTo>
                  <a:lnTo>
                    <a:pt x="12700" y="5709615"/>
                  </a:lnTo>
                  <a:lnTo>
                    <a:pt x="5388419" y="5709615"/>
                  </a:lnTo>
                  <a:lnTo>
                    <a:pt x="5388419" y="5703265"/>
                  </a:lnTo>
                  <a:lnTo>
                    <a:pt x="2727769" y="5703265"/>
                  </a:lnTo>
                  <a:lnTo>
                    <a:pt x="2727769" y="4765421"/>
                  </a:lnTo>
                  <a:lnTo>
                    <a:pt x="5388419" y="4765421"/>
                  </a:lnTo>
                  <a:lnTo>
                    <a:pt x="5388419" y="4752721"/>
                  </a:lnTo>
                  <a:lnTo>
                    <a:pt x="2727769" y="4752721"/>
                  </a:lnTo>
                  <a:lnTo>
                    <a:pt x="2727769" y="3814876"/>
                  </a:lnTo>
                  <a:lnTo>
                    <a:pt x="5388419" y="3814876"/>
                  </a:lnTo>
                  <a:lnTo>
                    <a:pt x="5388419" y="3802176"/>
                  </a:lnTo>
                  <a:lnTo>
                    <a:pt x="2727769" y="3802176"/>
                  </a:lnTo>
                  <a:lnTo>
                    <a:pt x="2727769" y="2864332"/>
                  </a:lnTo>
                  <a:lnTo>
                    <a:pt x="5388419" y="2864332"/>
                  </a:lnTo>
                  <a:lnTo>
                    <a:pt x="5388419" y="2851632"/>
                  </a:lnTo>
                  <a:lnTo>
                    <a:pt x="2727769" y="2851632"/>
                  </a:lnTo>
                  <a:lnTo>
                    <a:pt x="2727769" y="1913788"/>
                  </a:lnTo>
                  <a:lnTo>
                    <a:pt x="5388419" y="1913788"/>
                  </a:lnTo>
                  <a:lnTo>
                    <a:pt x="5388419" y="1901088"/>
                  </a:lnTo>
                  <a:lnTo>
                    <a:pt x="2727769" y="1901088"/>
                  </a:lnTo>
                  <a:lnTo>
                    <a:pt x="2727769" y="975944"/>
                  </a:lnTo>
                  <a:lnTo>
                    <a:pt x="5388419" y="975944"/>
                  </a:lnTo>
                  <a:lnTo>
                    <a:pt x="5388419" y="937844"/>
                  </a:lnTo>
                  <a:lnTo>
                    <a:pt x="2727769" y="937844"/>
                  </a:lnTo>
                  <a:lnTo>
                    <a:pt x="2727769" y="12700"/>
                  </a:lnTo>
                  <a:lnTo>
                    <a:pt x="5388419" y="12700"/>
                  </a:lnTo>
                  <a:lnTo>
                    <a:pt x="53884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22716" y="1164885"/>
            <a:ext cx="187521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Slot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Frame </a:t>
            </a:r>
            <a:r>
              <a:rPr sz="24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(10ms)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02692" y="1164885"/>
            <a:ext cx="171270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Symbol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per 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am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e(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10m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s)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680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611" y="45209"/>
            <a:ext cx="3094672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15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KHz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sub </a:t>
            </a:r>
            <a:r>
              <a:rPr spc="-10" dirty="0">
                <a:solidFill>
                  <a:srgbClr val="FF0000"/>
                </a:solidFill>
              </a:rPr>
              <a:t>carrier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947" y="3733800"/>
            <a:ext cx="3810000" cy="238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10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r>
              <a:rPr sz="2200" spc="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1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Slots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per</a:t>
            </a:r>
            <a:r>
              <a:rPr sz="22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1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per</a:t>
            </a:r>
            <a:r>
              <a:rPr sz="22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14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140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57" y="1223011"/>
            <a:ext cx="9014840" cy="203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3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610" y="299124"/>
            <a:ext cx="420638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30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KHz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sub </a:t>
            </a:r>
            <a:r>
              <a:rPr spc="-10" dirty="0">
                <a:solidFill>
                  <a:srgbClr val="FF0000"/>
                </a:solidFill>
              </a:rPr>
              <a:t>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1" y="1214628"/>
            <a:ext cx="9116558" cy="25953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00" y="3999731"/>
            <a:ext cx="5152291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duration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10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 frame</a:t>
            </a:r>
            <a:r>
              <a:rPr sz="2500" spc="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1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Slots/</a:t>
            </a:r>
            <a:r>
              <a:rPr sz="25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subframe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 =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Symbols/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5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 14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5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28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5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280</a:t>
            </a:r>
            <a:endParaRPr sz="2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478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610" y="299124"/>
            <a:ext cx="405398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60</a:t>
            </a:r>
            <a:r>
              <a:rPr spc="-30" dirty="0"/>
              <a:t> </a:t>
            </a:r>
            <a:r>
              <a:rPr spc="-5" dirty="0"/>
              <a:t>KHz</a:t>
            </a:r>
            <a:r>
              <a:rPr spc="-15" dirty="0"/>
              <a:t> </a:t>
            </a:r>
            <a:r>
              <a:rPr spc="-5" dirty="0"/>
              <a:t>sub </a:t>
            </a:r>
            <a:r>
              <a:rPr spc="-10" dirty="0"/>
              <a:t>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698" y="842691"/>
            <a:ext cx="9116567" cy="31127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9600" y="4191000"/>
            <a:ext cx="5155407" cy="238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10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Sub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frame</a:t>
            </a:r>
            <a:r>
              <a:rPr sz="2200" spc="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244060"/>
                </a:solidFill>
                <a:latin typeface="Calibri"/>
                <a:cs typeface="Calibri"/>
              </a:rPr>
              <a:t>duration</a:t>
            </a:r>
            <a:r>
              <a:rPr sz="22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1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 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duration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0.25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Symbols/</a:t>
            </a:r>
            <a:r>
              <a:rPr sz="22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2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=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12/</a:t>
            </a:r>
            <a:r>
              <a:rPr sz="2200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22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56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560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9926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2485" y="34636"/>
            <a:ext cx="4068707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120</a:t>
            </a:r>
            <a:r>
              <a:rPr spc="-35" dirty="0"/>
              <a:t> </a:t>
            </a:r>
            <a:r>
              <a:rPr spc="-5" dirty="0"/>
              <a:t>KHz</a:t>
            </a:r>
            <a:r>
              <a:rPr spc="-10" dirty="0"/>
              <a:t> </a:t>
            </a:r>
            <a:r>
              <a:rPr spc="-5" dirty="0"/>
              <a:t>sub</a:t>
            </a:r>
            <a:r>
              <a:rPr spc="-10" dirty="0"/>
              <a:t> 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838953"/>
            <a:ext cx="7744976" cy="31546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73705" y="4266851"/>
            <a:ext cx="5789295" cy="257249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Slots/SF</a:t>
            </a:r>
            <a:r>
              <a:rPr sz="3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8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3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0.125</a:t>
            </a:r>
            <a:r>
              <a:rPr sz="30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r>
              <a:rPr sz="3000" spc="-15" dirty="0">
                <a:solidFill>
                  <a:srgbClr val="244060"/>
                </a:solidFill>
                <a:latin typeface="Calibri"/>
                <a:cs typeface="Calibri"/>
              </a:rPr>
              <a:t> /slot </a:t>
            </a:r>
            <a:r>
              <a:rPr sz="30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30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3000" spc="-10" dirty="0">
                <a:solidFill>
                  <a:srgbClr val="244060"/>
                </a:solidFill>
                <a:latin typeface="Calibri"/>
                <a:cs typeface="Calibri"/>
              </a:rPr>
              <a:t> symbols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3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=112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=1120</a:t>
            </a:r>
            <a:endParaRPr sz="3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091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019" y="0"/>
            <a:ext cx="4541288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240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KHz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sub</a:t>
            </a:r>
            <a:r>
              <a:rPr spc="-10" dirty="0">
                <a:solidFill>
                  <a:srgbClr val="FF0000"/>
                </a:solidFill>
              </a:rPr>
              <a:t> carrier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169" y="685800"/>
            <a:ext cx="6800840" cy="31882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00" y="4343400"/>
            <a:ext cx="4960326" cy="19364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Slots</a:t>
            </a:r>
            <a:r>
              <a:rPr sz="25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subframe</a:t>
            </a:r>
            <a:r>
              <a:rPr sz="25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16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Slot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duration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 0.0625</a:t>
            </a:r>
            <a:r>
              <a:rPr sz="25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msec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/</a:t>
            </a:r>
            <a:r>
              <a:rPr sz="25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slot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060"/>
                </a:solidFill>
                <a:latin typeface="Calibri"/>
                <a:cs typeface="Calibri"/>
              </a:rPr>
              <a:t>=</a:t>
            </a:r>
            <a:r>
              <a:rPr sz="25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244060"/>
                </a:solidFill>
                <a:latin typeface="Calibri"/>
                <a:cs typeface="Calibri"/>
              </a:rPr>
              <a:t>14</a:t>
            </a:r>
            <a:r>
              <a:rPr sz="25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44060"/>
                </a:solidFill>
                <a:latin typeface="Calibri"/>
                <a:cs typeface="Calibri"/>
              </a:rPr>
              <a:t>symbols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Symbols</a:t>
            </a:r>
            <a:r>
              <a:rPr sz="25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r>
              <a:rPr sz="25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288</a:t>
            </a:r>
            <a:endParaRPr sz="25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Symbol</a:t>
            </a:r>
            <a:r>
              <a:rPr sz="25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per</a:t>
            </a:r>
            <a:r>
              <a:rPr sz="25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25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Calibri"/>
                <a:cs typeface="Calibri"/>
              </a:rPr>
              <a:t>=2880</a:t>
            </a:r>
            <a:endParaRPr sz="2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1917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152400"/>
            <a:ext cx="495680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Frame</a:t>
            </a:r>
            <a:r>
              <a:rPr spc="-75" dirty="0"/>
              <a:t> </a:t>
            </a:r>
            <a:r>
              <a:rPr spc="-10" dirty="0"/>
              <a:t>Structure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04800" y="914400"/>
            <a:ext cx="8610600" cy="5598795"/>
            <a:chOff x="1741170" y="1232153"/>
            <a:chExt cx="8785860" cy="5598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1170" y="1232153"/>
              <a:ext cx="8785860" cy="55984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4416" y="1295400"/>
              <a:ext cx="8606027" cy="541858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85366" y="1276349"/>
              <a:ext cx="8644255" cy="5457190"/>
            </a:xfrm>
            <a:custGeom>
              <a:avLst/>
              <a:gdLst/>
              <a:ahLst/>
              <a:cxnLst/>
              <a:rect l="l" t="t" r="r" b="b"/>
              <a:pathLst>
                <a:path w="8644255" h="5457190">
                  <a:moveTo>
                    <a:pt x="0" y="0"/>
                  </a:moveTo>
                  <a:lnTo>
                    <a:pt x="8644128" y="0"/>
                  </a:lnTo>
                  <a:lnTo>
                    <a:pt x="8644128" y="5456682"/>
                  </a:lnTo>
                  <a:lnTo>
                    <a:pt x="0" y="545668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4212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5018" y="-6927"/>
            <a:ext cx="7811071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Sub</a:t>
            </a:r>
            <a:r>
              <a:rPr spc="5" dirty="0"/>
              <a:t> </a:t>
            </a:r>
            <a:r>
              <a:rPr spc="-10" dirty="0"/>
              <a:t>carrier</a:t>
            </a:r>
            <a:r>
              <a:rPr spc="20" dirty="0"/>
              <a:t> </a:t>
            </a:r>
            <a:r>
              <a:rPr spc="-10" dirty="0"/>
              <a:t>spacing</a:t>
            </a:r>
            <a:r>
              <a:rPr spc="35" dirty="0"/>
              <a:t> </a:t>
            </a:r>
            <a:r>
              <a:rPr spc="-5" dirty="0"/>
              <a:t>and</a:t>
            </a:r>
            <a:r>
              <a:rPr spc="20" dirty="0"/>
              <a:t> </a:t>
            </a:r>
            <a:r>
              <a:rPr spc="-5" dirty="0"/>
              <a:t>slot</a:t>
            </a:r>
            <a:r>
              <a:rPr spc="20" dirty="0"/>
              <a:t> </a:t>
            </a:r>
            <a:r>
              <a:rPr spc="-25" dirty="0"/>
              <a:t>duration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7200" y="914400"/>
            <a:ext cx="8229600" cy="5562600"/>
            <a:chOff x="914400" y="1245869"/>
            <a:chExt cx="10212070" cy="50933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6" y="1245869"/>
              <a:ext cx="9763505" cy="50932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71600" y="1523999"/>
              <a:ext cx="5638800" cy="3352800"/>
            </a:xfrm>
            <a:custGeom>
              <a:avLst/>
              <a:gdLst/>
              <a:ahLst/>
              <a:cxnLst/>
              <a:rect l="l" t="t" r="r" b="b"/>
              <a:pathLst>
                <a:path w="5638800" h="3352800">
                  <a:moveTo>
                    <a:pt x="5638800" y="0"/>
                  </a:moveTo>
                  <a:lnTo>
                    <a:pt x="0" y="0"/>
                  </a:lnTo>
                  <a:lnTo>
                    <a:pt x="0" y="3352800"/>
                  </a:lnTo>
                  <a:lnTo>
                    <a:pt x="5638800" y="3352800"/>
                  </a:lnTo>
                  <a:lnTo>
                    <a:pt x="563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604771"/>
              <a:ext cx="7543799" cy="26266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0918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0800" y="152400"/>
            <a:ext cx="3396193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Symbol</a:t>
            </a:r>
            <a:r>
              <a:rPr spc="-25" dirty="0"/>
              <a:t> </a:t>
            </a:r>
            <a:r>
              <a:rPr spc="-5" dirty="0"/>
              <a:t>in</a:t>
            </a:r>
            <a:r>
              <a:rPr spc="-25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slot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072" y="1524000"/>
            <a:ext cx="8007857" cy="518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608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2573</TotalTime>
  <Words>325</Words>
  <Application>Microsoft Office PowerPoint</Application>
  <PresentationFormat>On-screen Show (4:3)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MT</vt:lpstr>
      <vt:lpstr>Calibri</vt:lpstr>
      <vt:lpstr>Cambria</vt:lpstr>
      <vt:lpstr>Default Design</vt:lpstr>
      <vt:lpstr>5G WIRELESS COMMUNICATION  (UEC 719) </vt:lpstr>
      <vt:lpstr>PowerPoint Presentation</vt:lpstr>
      <vt:lpstr>PowerPoint Presentation</vt:lpstr>
      <vt:lpstr>Frame Structure in Time domain</vt:lpstr>
      <vt:lpstr>Radio Frame</vt:lpstr>
      <vt:lpstr>Slot Length</vt:lpstr>
      <vt:lpstr>No. of Slots in frame/Sub Frame</vt:lpstr>
      <vt:lpstr>15 KHz sub carrier</vt:lpstr>
      <vt:lpstr>30 KHz sub carrier</vt:lpstr>
      <vt:lpstr>60 KHz sub carrier</vt:lpstr>
      <vt:lpstr>120 KHz sub carrier</vt:lpstr>
      <vt:lpstr>240 KHz sub carrier</vt:lpstr>
      <vt:lpstr>Frame Structure</vt:lpstr>
      <vt:lpstr>Sub carrier spacing and slot duration</vt:lpstr>
      <vt:lpstr>Symbol in a slot</vt:lpstr>
    </vt:vector>
  </TitlesOfParts>
  <Company>jiet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Research</dc:title>
  <dc:creator>hemdutt.joshi</dc:creator>
  <cp:lastModifiedBy>ti</cp:lastModifiedBy>
  <cp:revision>355</cp:revision>
  <dcterms:created xsi:type="dcterms:W3CDTF">2007-08-08T07:13:51Z</dcterms:created>
  <dcterms:modified xsi:type="dcterms:W3CDTF">2025-09-02T11:28:34Z</dcterms:modified>
</cp:coreProperties>
</file>
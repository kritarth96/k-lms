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475" r:id="rId2"/>
    <p:sldId id="625" r:id="rId3"/>
    <p:sldId id="476" r:id="rId4"/>
    <p:sldId id="477" r:id="rId5"/>
    <p:sldId id="511" r:id="rId6"/>
    <p:sldId id="491" r:id="rId7"/>
    <p:sldId id="514" r:id="rId8"/>
    <p:sldId id="515" r:id="rId9"/>
    <p:sldId id="516" r:id="rId10"/>
    <p:sldId id="518" r:id="rId11"/>
    <p:sldId id="520" r:id="rId12"/>
    <p:sldId id="517" r:id="rId13"/>
    <p:sldId id="624" r:id="rId14"/>
    <p:sldId id="521" r:id="rId15"/>
    <p:sldId id="522" r:id="rId16"/>
    <p:sldId id="523" r:id="rId17"/>
    <p:sldId id="524" r:id="rId18"/>
    <p:sldId id="525" r:id="rId19"/>
    <p:sldId id="527" r:id="rId20"/>
    <p:sldId id="528" r:id="rId21"/>
    <p:sldId id="529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D3B2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5ECA2C06-48EA-444B-B9BC-9DB7AAF658D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1059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CA2C06-48EA-444B-B9BC-9DB7AAF658DE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49165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CA2C06-48EA-444B-B9BC-9DB7AAF658DE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98734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1B88AE-A3C3-4D8D-9F8A-519F4C44DA0F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616A62-86D7-437F-94CD-618077AE3B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919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30E37C-F364-4050-AAD7-C22EEAF077E7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7FCB056-FB42-45E8-8E76-4D14E449FAF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5650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230CFC-E9C9-483B-8829-AE6C01B14053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DB0094-847B-40FE-8075-AE7E1A86F6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4733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3F39A-5137-4B5F-ADB4-573C3237F1D6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267B8-7F74-423C-B4D2-FEA9FCA2EF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745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9D9F2D-822C-444A-B2D8-1DA876E06AF1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C0B7D7-301D-431B-9398-1CAA5713967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7668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7F092-CB28-406F-8F4D-A9CB9C6DDF6E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99854B-65BC-43BE-A440-239932B51D9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7025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007E84-0DE2-4EBA-A409-4F43CD132524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31F4165-8E61-41BD-BC99-D27EFE7336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1470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4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8E5DB6-A284-4473-8D52-2F93B221A663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65AC913-5F39-4B24-BFD0-B77263A5C7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289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2AB68A-FDA8-4C6A-8D84-B7BB18575DE0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063986-ACC6-45AD-BDD0-5F965E3788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1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D4280E-22ED-4EE1-B707-2A227E6C5DF4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C7C7317-8101-4973-AC7E-BD1AD42ECD8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9808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ACD89-3346-458A-A6CB-1C441E96DBEA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8E295A-1F21-45D2-9B8C-DF51B8F8C32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674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4"/>
            <a:ext cx="8229600" cy="4525963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C3EC6-FBA6-45B6-B3D5-58AC3D9E5AB4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F6CEE9F-ABAF-4D64-B423-0B2F034D90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73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fld id="{97959B4A-5782-4BCA-8A5F-9502DE7283C4}" type="datetime1">
              <a:rPr lang="en-US"/>
              <a:pPr>
                <a:defRPr/>
              </a:pPr>
              <a:t>9/1/2025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Paper No – 50; Session No - 41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6855D25F-EAF1-44F4-B045-AF33E30AA7E5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2"/>
          </a:solidFill>
          <a:latin typeface="Arial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n-lt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har char="•"/>
        <a:defRPr>
          <a:solidFill>
            <a:schemeClr val="tx1"/>
          </a:solidFill>
          <a:latin typeface="+mn-lt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har char="–"/>
        <a:defRPr sz="1500">
          <a:solidFill>
            <a:schemeClr val="tx1"/>
          </a:solidFill>
          <a:latin typeface="+mn-lt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sz="1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pn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jpg"/><Relationship Id="rId5" Type="http://schemas.openxmlformats.org/officeDocument/2006/relationships/image" Target="../media/image15.png"/><Relationship Id="rId4" Type="http://schemas.openxmlformats.org/officeDocument/2006/relationships/image" Target="../media/image7.jpg"/><Relationship Id="rId9" Type="http://schemas.openxmlformats.org/officeDocument/2006/relationships/image" Target="../media/image1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jp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5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1657350" y="1085850"/>
            <a:ext cx="5829300" cy="1103313"/>
          </a:xfrm>
        </p:spPr>
        <p:txBody>
          <a:bodyPr/>
          <a:lstStyle/>
          <a:p>
            <a:r>
              <a:rPr lang="en-US" altLang="en-US" sz="2700" b="1" smtClean="0">
                <a:solidFill>
                  <a:srgbClr val="00B0F0"/>
                </a:solidFill>
              </a:rPr>
              <a:t>5G WIRELESS COMMUNICATION </a:t>
            </a:r>
            <a:br>
              <a:rPr lang="en-US" altLang="en-US" sz="2700" b="1" smtClean="0">
                <a:solidFill>
                  <a:srgbClr val="00B0F0"/>
                </a:solidFill>
              </a:rPr>
            </a:br>
            <a:r>
              <a:rPr lang="en-US" altLang="en-US" sz="2700" b="1" smtClean="0">
                <a:solidFill>
                  <a:srgbClr val="00B0F0"/>
                </a:solidFill>
              </a:rPr>
              <a:t>(UEC 719) </a:t>
            </a:r>
          </a:p>
        </p:txBody>
      </p:sp>
      <p:sp>
        <p:nvSpPr>
          <p:cNvPr id="2051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DA2316-809F-4484-8675-B1A5134D60BD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000"/>
          </a:p>
        </p:txBody>
      </p:sp>
      <p:sp>
        <p:nvSpPr>
          <p:cNvPr id="3" name="TextBox 2"/>
          <p:cNvSpPr txBox="1"/>
          <p:nvPr/>
        </p:nvSpPr>
        <p:spPr>
          <a:xfrm>
            <a:off x="2820988" y="2935288"/>
            <a:ext cx="3348037" cy="18462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sz="3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Course Instructor  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Dr. Hem </a:t>
            </a:r>
            <a:r>
              <a:rPr lang="en-US" sz="2100" dirty="0" err="1">
                <a:latin typeface="+mj-lt"/>
                <a:ea typeface="+mj-ea"/>
                <a:cs typeface="+mj-cs"/>
              </a:rPr>
              <a:t>Dutt</a:t>
            </a:r>
            <a:r>
              <a:rPr lang="en-US" sz="2100" dirty="0">
                <a:latin typeface="+mj-lt"/>
                <a:ea typeface="+mj-ea"/>
                <a:cs typeface="+mj-cs"/>
              </a:rPr>
              <a:t> Joshi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Dr. </a:t>
            </a:r>
            <a:r>
              <a:rPr lang="en-US" sz="2100" dirty="0" err="1">
                <a:latin typeface="+mj-lt"/>
                <a:ea typeface="+mj-ea"/>
                <a:cs typeface="+mj-cs"/>
              </a:rPr>
              <a:t>Surbhi</a:t>
            </a:r>
            <a:r>
              <a:rPr lang="en-US" sz="2100" dirty="0">
                <a:latin typeface="+mj-lt"/>
                <a:ea typeface="+mj-ea"/>
                <a:cs typeface="+mj-cs"/>
              </a:rPr>
              <a:t> Sharma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Associate Professor, </a:t>
            </a:r>
          </a:p>
          <a:p>
            <a:pPr algn="ctr" eaLnBrk="1" hangingPunct="1">
              <a:defRPr/>
            </a:pPr>
            <a:r>
              <a:rPr lang="en-US" sz="2100" dirty="0">
                <a:latin typeface="+mj-lt"/>
                <a:ea typeface="+mj-ea"/>
                <a:cs typeface="+mj-cs"/>
              </a:rPr>
              <a:t>TIET, Patiala</a:t>
            </a:r>
            <a:endParaRPr lang="en-IN" sz="2100" dirty="0"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-30480" y="685800"/>
            <a:ext cx="856488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5pPr>
            <a:lvl6pPr marL="3429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6pPr>
            <a:lvl7pPr marL="6858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7pPr>
            <a:lvl8pPr marL="10287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8pPr>
            <a:lvl9pPr marL="1371600" algn="ctr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2"/>
                </a:solidFill>
                <a:latin typeface="Arial" charset="0"/>
              </a:defRPr>
            </a:lvl9pPr>
          </a:lstStyle>
          <a:p>
            <a:r>
              <a:rPr lang="en-US" b="1" kern="0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5G WIRELESS COMMUNICATION </a:t>
            </a:r>
            <a:br>
              <a:rPr lang="en-US" b="1" kern="0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</a:br>
            <a:r>
              <a:rPr lang="en-US" b="1" kern="0" dirty="0" smtClean="0">
                <a:solidFill>
                  <a:srgbClr val="000099"/>
                </a:solidFill>
                <a:latin typeface="Cambria" pitchFamily="18" charset="0"/>
                <a:ea typeface="Cambria" pitchFamily="18" charset="0"/>
              </a:rPr>
              <a:t>(UEC 719) </a:t>
            </a:r>
            <a:endParaRPr lang="en-US" b="1" kern="0" dirty="0">
              <a:solidFill>
                <a:srgbClr val="000099"/>
              </a:solidFill>
              <a:latin typeface="Cambria" pitchFamily="18" charset="0"/>
              <a:ea typeface="Cambria" pitchFamily="18" charset="0"/>
            </a:endParaRPr>
          </a:p>
        </p:txBody>
      </p:sp>
      <p:sp>
        <p:nvSpPr>
          <p:cNvPr id="5" name="Slide Number Placeholder 14"/>
          <p:cNvSpPr>
            <a:spLocks noGrp="1"/>
          </p:cNvSpPr>
          <p:nvPr>
            <p:ph type="sldNum" sz="quarter" idx="4294967295"/>
          </p:nvPr>
        </p:nvSpPr>
        <p:spPr>
          <a:xfrm>
            <a:off x="7792720" y="6302375"/>
            <a:ext cx="2844800" cy="276999"/>
          </a:xfrm>
          <a:prstGeom prst="rect">
            <a:avLst/>
          </a:prstGeom>
        </p:spPr>
        <p:txBody>
          <a:bodyPr/>
          <a:lstStyle/>
          <a:p>
            <a:fld id="{4846ABB7-46DB-4F16-AB8B-BFEDDDD52D19}" type="slidenum">
              <a:rPr lang="en-US" smtClean="0">
                <a:latin typeface="Cambria" pitchFamily="18" charset="0"/>
                <a:ea typeface="Cambria" pitchFamily="18" charset="0"/>
              </a:rPr>
              <a:pPr/>
              <a:t>1</a:t>
            </a:fld>
            <a:endParaRPr lang="en-US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8120" y="4594214"/>
            <a:ext cx="33425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8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Amit</a:t>
            </a:r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Mishra</a:t>
            </a:r>
            <a:endParaRPr lang="en-US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334000" y="4594213"/>
            <a:ext cx="334258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Dr</a:t>
            </a:r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. </a:t>
            </a:r>
            <a:r>
              <a:rPr lang="en-US" sz="2800" dirty="0" err="1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Surbhi</a:t>
            </a:r>
            <a:r>
              <a:rPr lang="en-US" sz="2800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 Sharma</a:t>
            </a:r>
            <a:endParaRPr lang="en-US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Associate Professor, </a:t>
            </a:r>
          </a:p>
          <a:p>
            <a:pPr algn="ctr"/>
            <a:r>
              <a:rPr lang="en-US" sz="2800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+mj-cs"/>
              </a:rPr>
              <a:t>TIET, Patiala</a:t>
            </a:r>
            <a:endParaRPr lang="en-IN" sz="2800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1073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857895" y="1752601"/>
            <a:ext cx="5029200" cy="1749424"/>
          </a:xfrm>
        </p:spPr>
        <p:txBody>
          <a:bodyPr>
            <a:normAutofit fontScale="70000" lnSpcReduction="20000"/>
          </a:bodyPr>
          <a:lstStyle/>
          <a:p>
            <a:pPr algn="ctr">
              <a:buFontTx/>
              <a:buNone/>
              <a:defRPr/>
            </a:pPr>
            <a:r>
              <a:rPr lang="en-US" sz="6000" dirty="0">
                <a:solidFill>
                  <a:srgbClr val="00B0F0"/>
                </a:solidFill>
              </a:rPr>
              <a:t>Lecture: </a:t>
            </a:r>
            <a:r>
              <a:rPr lang="en-US" sz="6000" dirty="0" smtClean="0">
                <a:solidFill>
                  <a:srgbClr val="00B0F0"/>
                </a:solidFill>
              </a:rPr>
              <a:t>13</a:t>
            </a:r>
            <a:endParaRPr lang="en-US" sz="6000" dirty="0">
              <a:solidFill>
                <a:srgbClr val="00B0F0"/>
              </a:solidFill>
            </a:endParaRPr>
          </a:p>
          <a:p>
            <a:pPr algn="ctr">
              <a:buFontTx/>
              <a:buNone/>
              <a:defRPr/>
            </a:pPr>
            <a:endParaRPr lang="en-US" sz="495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r>
              <a:rPr lang="en-US" sz="5700" dirty="0" smtClean="0">
                <a:solidFill>
                  <a:srgbClr val="C00000"/>
                </a:solidFill>
              </a:rPr>
              <a:t>5G NR</a:t>
            </a:r>
            <a:endParaRPr lang="en-US" sz="5700" dirty="0">
              <a:solidFill>
                <a:srgbClr val="C00000"/>
              </a:solidFill>
            </a:endParaRPr>
          </a:p>
          <a:p>
            <a:pPr algn="ctr">
              <a:buFontTx/>
              <a:buNone/>
              <a:defRPr/>
            </a:pPr>
            <a:endParaRPr lang="en-US" sz="1725" dirty="0">
              <a:solidFill>
                <a:srgbClr val="C00000"/>
              </a:solidFill>
            </a:endParaRPr>
          </a:p>
        </p:txBody>
      </p:sp>
      <p:sp>
        <p:nvSpPr>
          <p:cNvPr id="3075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70C2B-F570-482D-B7D8-379B0AD8AD3A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2" name="Rectangle 1"/>
          <p:cNvSpPr/>
          <p:nvPr/>
        </p:nvSpPr>
        <p:spPr>
          <a:xfrm>
            <a:off x="990600" y="3657600"/>
            <a:ext cx="69301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FontTx/>
              <a:buNone/>
              <a:defRPr/>
            </a:pPr>
            <a:r>
              <a:rPr lang="en-US" sz="3600" dirty="0">
                <a:solidFill>
                  <a:srgbClr val="C00000"/>
                </a:solidFill>
              </a:rPr>
              <a:t>Numerology and Resource Block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Content Placeholder 2"/>
          <p:cNvSpPr>
            <a:spLocks noGrp="1"/>
          </p:cNvSpPr>
          <p:nvPr>
            <p:ph idx="4294967295"/>
          </p:nvPr>
        </p:nvSpPr>
        <p:spPr>
          <a:xfrm>
            <a:off x="2365375" y="187325"/>
            <a:ext cx="4171950" cy="879475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3300" smtClean="0">
                <a:solidFill>
                  <a:srgbClr val="00B0F0"/>
                </a:solidFill>
              </a:rPr>
              <a:t>Contents</a:t>
            </a:r>
          </a:p>
        </p:txBody>
      </p:sp>
      <p:sp>
        <p:nvSpPr>
          <p:cNvPr id="4099" name="Slide Number Placeholder 14"/>
          <p:cNvSpPr>
            <a:spLocks noGrp="1"/>
          </p:cNvSpPr>
          <p:nvPr>
            <p:ph type="sldNum" sz="quarter" idx="12"/>
          </p:nvPr>
        </p:nvSpPr>
        <p:spPr>
          <a:xfrm>
            <a:off x="6057900" y="5624513"/>
            <a:ext cx="1600200" cy="274637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charset="0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chemeClr val="tx1"/>
                </a:solidFill>
                <a:latin typeface="Arial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E9BFDC-D866-4011-871E-84FBC2DB700C}" type="slidenum">
              <a:rPr lang="en-US" altLang="en-US" sz="100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7" name="Rectangle 6"/>
          <p:cNvSpPr/>
          <p:nvPr/>
        </p:nvSpPr>
        <p:spPr>
          <a:xfrm>
            <a:off x="304800" y="1066800"/>
            <a:ext cx="7924800" cy="240065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OFDM SYSTEM MODEL</a:t>
            </a: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C00000"/>
                </a:solidFill>
                <a:latin typeface="+mj-lt"/>
              </a:rPr>
              <a:t>5G NR Numerologies, </a:t>
            </a:r>
            <a:endParaRPr lang="en-US" sz="2000" dirty="0" smtClean="0">
              <a:solidFill>
                <a:srgbClr val="C00000"/>
              </a:solidFill>
              <a:latin typeface="+mj-lt"/>
            </a:endParaRP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Sub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Carrier </a:t>
            </a: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Spacing </a:t>
            </a: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2000" dirty="0" smtClean="0">
                <a:solidFill>
                  <a:srgbClr val="C00000"/>
                </a:solidFill>
                <a:latin typeface="+mj-lt"/>
              </a:rPr>
              <a:t>Resource </a:t>
            </a:r>
            <a:r>
              <a:rPr lang="en-US" sz="2000" dirty="0">
                <a:solidFill>
                  <a:srgbClr val="C00000"/>
                </a:solidFill>
                <a:latin typeface="+mj-lt"/>
              </a:rPr>
              <a:t>Block</a:t>
            </a:r>
          </a:p>
          <a:p>
            <a:pPr marL="214313" indent="-214313" algn="just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en-US" sz="2000" dirty="0">
              <a:solidFill>
                <a:srgbClr val="C00000"/>
              </a:solidFill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7000" y="165786"/>
            <a:ext cx="356097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spc="-5" dirty="0">
                <a:solidFill>
                  <a:schemeClr val="bg1"/>
                </a:solidFill>
              </a:rPr>
              <a:t>OFDM</a:t>
            </a:r>
            <a:r>
              <a:rPr b="1" spc="-80" dirty="0">
                <a:solidFill>
                  <a:schemeClr val="bg1"/>
                </a:solidFill>
              </a:rPr>
              <a:t> </a:t>
            </a:r>
            <a:r>
              <a:rPr b="1" spc="-35" dirty="0">
                <a:solidFill>
                  <a:schemeClr val="bg1"/>
                </a:solidFill>
              </a:rPr>
              <a:t>System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5019961" y="1258694"/>
            <a:ext cx="3627120" cy="2599690"/>
            <a:chOff x="6693281" y="1258694"/>
            <a:chExt cx="4836160" cy="2599690"/>
          </a:xfrm>
        </p:grpSpPr>
        <p:sp>
          <p:nvSpPr>
            <p:cNvPr id="5" name="object 5"/>
            <p:cNvSpPr/>
            <p:nvPr/>
          </p:nvSpPr>
          <p:spPr>
            <a:xfrm>
              <a:off x="6705981" y="1271394"/>
              <a:ext cx="4810760" cy="2574290"/>
            </a:xfrm>
            <a:custGeom>
              <a:avLst/>
              <a:gdLst/>
              <a:ahLst/>
              <a:cxnLst/>
              <a:rect l="l" t="t" r="r" b="b"/>
              <a:pathLst>
                <a:path w="4810759" h="2574290">
                  <a:moveTo>
                    <a:pt x="4381487" y="0"/>
                  </a:moveTo>
                  <a:lnTo>
                    <a:pt x="429018" y="0"/>
                  </a:lnTo>
                  <a:lnTo>
                    <a:pt x="382271" y="2517"/>
                  </a:lnTo>
                  <a:lnTo>
                    <a:pt x="336983" y="9895"/>
                  </a:lnTo>
                  <a:lnTo>
                    <a:pt x="293414" y="21871"/>
                  </a:lnTo>
                  <a:lnTo>
                    <a:pt x="251827" y="38184"/>
                  </a:lnTo>
                  <a:lnTo>
                    <a:pt x="212483" y="58572"/>
                  </a:lnTo>
                  <a:lnTo>
                    <a:pt x="175644" y="82774"/>
                  </a:lnTo>
                  <a:lnTo>
                    <a:pt x="141572" y="110528"/>
                  </a:lnTo>
                  <a:lnTo>
                    <a:pt x="110528" y="141572"/>
                  </a:lnTo>
                  <a:lnTo>
                    <a:pt x="82774" y="175644"/>
                  </a:lnTo>
                  <a:lnTo>
                    <a:pt x="58572" y="212483"/>
                  </a:lnTo>
                  <a:lnTo>
                    <a:pt x="38184" y="251827"/>
                  </a:lnTo>
                  <a:lnTo>
                    <a:pt x="21871" y="293414"/>
                  </a:lnTo>
                  <a:lnTo>
                    <a:pt x="9895" y="336983"/>
                  </a:lnTo>
                  <a:lnTo>
                    <a:pt x="2517" y="382271"/>
                  </a:lnTo>
                  <a:lnTo>
                    <a:pt x="0" y="429018"/>
                  </a:lnTo>
                  <a:lnTo>
                    <a:pt x="0" y="2145017"/>
                  </a:lnTo>
                  <a:lnTo>
                    <a:pt x="2517" y="2191764"/>
                  </a:lnTo>
                  <a:lnTo>
                    <a:pt x="9895" y="2237052"/>
                  </a:lnTo>
                  <a:lnTo>
                    <a:pt x="21871" y="2280621"/>
                  </a:lnTo>
                  <a:lnTo>
                    <a:pt x="38184" y="2322208"/>
                  </a:lnTo>
                  <a:lnTo>
                    <a:pt x="58572" y="2361552"/>
                  </a:lnTo>
                  <a:lnTo>
                    <a:pt x="82774" y="2398391"/>
                  </a:lnTo>
                  <a:lnTo>
                    <a:pt x="110528" y="2432463"/>
                  </a:lnTo>
                  <a:lnTo>
                    <a:pt x="141572" y="2463507"/>
                  </a:lnTo>
                  <a:lnTo>
                    <a:pt x="175644" y="2491261"/>
                  </a:lnTo>
                  <a:lnTo>
                    <a:pt x="212483" y="2515463"/>
                  </a:lnTo>
                  <a:lnTo>
                    <a:pt x="251827" y="2535851"/>
                  </a:lnTo>
                  <a:lnTo>
                    <a:pt x="293414" y="2552164"/>
                  </a:lnTo>
                  <a:lnTo>
                    <a:pt x="336983" y="2564140"/>
                  </a:lnTo>
                  <a:lnTo>
                    <a:pt x="382271" y="2571518"/>
                  </a:lnTo>
                  <a:lnTo>
                    <a:pt x="429018" y="2574036"/>
                  </a:lnTo>
                  <a:lnTo>
                    <a:pt x="4381487" y="2574036"/>
                  </a:lnTo>
                  <a:lnTo>
                    <a:pt x="4428234" y="2571518"/>
                  </a:lnTo>
                  <a:lnTo>
                    <a:pt x="4473522" y="2564140"/>
                  </a:lnTo>
                  <a:lnTo>
                    <a:pt x="4517091" y="2552164"/>
                  </a:lnTo>
                  <a:lnTo>
                    <a:pt x="4558678" y="2535851"/>
                  </a:lnTo>
                  <a:lnTo>
                    <a:pt x="4598022" y="2515463"/>
                  </a:lnTo>
                  <a:lnTo>
                    <a:pt x="4634861" y="2491261"/>
                  </a:lnTo>
                  <a:lnTo>
                    <a:pt x="4668933" y="2463507"/>
                  </a:lnTo>
                  <a:lnTo>
                    <a:pt x="4699977" y="2432463"/>
                  </a:lnTo>
                  <a:lnTo>
                    <a:pt x="4727731" y="2398391"/>
                  </a:lnTo>
                  <a:lnTo>
                    <a:pt x="4751933" y="2361552"/>
                  </a:lnTo>
                  <a:lnTo>
                    <a:pt x="4772321" y="2322208"/>
                  </a:lnTo>
                  <a:lnTo>
                    <a:pt x="4788634" y="2280621"/>
                  </a:lnTo>
                  <a:lnTo>
                    <a:pt x="4800610" y="2237052"/>
                  </a:lnTo>
                  <a:lnTo>
                    <a:pt x="4807988" y="2191764"/>
                  </a:lnTo>
                  <a:lnTo>
                    <a:pt x="4810506" y="2145017"/>
                  </a:lnTo>
                  <a:lnTo>
                    <a:pt x="4810506" y="429018"/>
                  </a:lnTo>
                  <a:lnTo>
                    <a:pt x="4807988" y="382271"/>
                  </a:lnTo>
                  <a:lnTo>
                    <a:pt x="4800610" y="336983"/>
                  </a:lnTo>
                  <a:lnTo>
                    <a:pt x="4788634" y="293414"/>
                  </a:lnTo>
                  <a:lnTo>
                    <a:pt x="4772321" y="251827"/>
                  </a:lnTo>
                  <a:lnTo>
                    <a:pt x="4751933" y="212483"/>
                  </a:lnTo>
                  <a:lnTo>
                    <a:pt x="4727731" y="175644"/>
                  </a:lnTo>
                  <a:lnTo>
                    <a:pt x="4699977" y="141572"/>
                  </a:lnTo>
                  <a:lnTo>
                    <a:pt x="4668933" y="110528"/>
                  </a:lnTo>
                  <a:lnTo>
                    <a:pt x="4634861" y="82774"/>
                  </a:lnTo>
                  <a:lnTo>
                    <a:pt x="4598022" y="58572"/>
                  </a:lnTo>
                  <a:lnTo>
                    <a:pt x="4558678" y="38184"/>
                  </a:lnTo>
                  <a:lnTo>
                    <a:pt x="4517091" y="21871"/>
                  </a:lnTo>
                  <a:lnTo>
                    <a:pt x="4473522" y="9895"/>
                  </a:lnTo>
                  <a:lnTo>
                    <a:pt x="4428234" y="2517"/>
                  </a:lnTo>
                  <a:lnTo>
                    <a:pt x="43814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705981" y="1271394"/>
              <a:ext cx="4810760" cy="2574290"/>
            </a:xfrm>
            <a:custGeom>
              <a:avLst/>
              <a:gdLst/>
              <a:ahLst/>
              <a:cxnLst/>
              <a:rect l="l" t="t" r="r" b="b"/>
              <a:pathLst>
                <a:path w="4810759" h="2574290">
                  <a:moveTo>
                    <a:pt x="0" y="429018"/>
                  </a:moveTo>
                  <a:lnTo>
                    <a:pt x="2517" y="382271"/>
                  </a:lnTo>
                  <a:lnTo>
                    <a:pt x="9895" y="336983"/>
                  </a:lnTo>
                  <a:lnTo>
                    <a:pt x="21871" y="293414"/>
                  </a:lnTo>
                  <a:lnTo>
                    <a:pt x="38184" y="251827"/>
                  </a:lnTo>
                  <a:lnTo>
                    <a:pt x="58572" y="212483"/>
                  </a:lnTo>
                  <a:lnTo>
                    <a:pt x="82774" y="175644"/>
                  </a:lnTo>
                  <a:lnTo>
                    <a:pt x="110528" y="141572"/>
                  </a:lnTo>
                  <a:lnTo>
                    <a:pt x="141572" y="110528"/>
                  </a:lnTo>
                  <a:lnTo>
                    <a:pt x="175644" y="82774"/>
                  </a:lnTo>
                  <a:lnTo>
                    <a:pt x="212483" y="58572"/>
                  </a:lnTo>
                  <a:lnTo>
                    <a:pt x="251827" y="38184"/>
                  </a:lnTo>
                  <a:lnTo>
                    <a:pt x="293414" y="21871"/>
                  </a:lnTo>
                  <a:lnTo>
                    <a:pt x="336983" y="9895"/>
                  </a:lnTo>
                  <a:lnTo>
                    <a:pt x="382271" y="2517"/>
                  </a:lnTo>
                  <a:lnTo>
                    <a:pt x="429018" y="0"/>
                  </a:lnTo>
                  <a:lnTo>
                    <a:pt x="4381487" y="0"/>
                  </a:lnTo>
                  <a:lnTo>
                    <a:pt x="4428234" y="2517"/>
                  </a:lnTo>
                  <a:lnTo>
                    <a:pt x="4473522" y="9895"/>
                  </a:lnTo>
                  <a:lnTo>
                    <a:pt x="4517091" y="21871"/>
                  </a:lnTo>
                  <a:lnTo>
                    <a:pt x="4558678" y="38184"/>
                  </a:lnTo>
                  <a:lnTo>
                    <a:pt x="4598022" y="58572"/>
                  </a:lnTo>
                  <a:lnTo>
                    <a:pt x="4634861" y="82774"/>
                  </a:lnTo>
                  <a:lnTo>
                    <a:pt x="4668933" y="110528"/>
                  </a:lnTo>
                  <a:lnTo>
                    <a:pt x="4699977" y="141572"/>
                  </a:lnTo>
                  <a:lnTo>
                    <a:pt x="4727731" y="175644"/>
                  </a:lnTo>
                  <a:lnTo>
                    <a:pt x="4751933" y="212483"/>
                  </a:lnTo>
                  <a:lnTo>
                    <a:pt x="4772321" y="251827"/>
                  </a:lnTo>
                  <a:lnTo>
                    <a:pt x="4788634" y="293414"/>
                  </a:lnTo>
                  <a:lnTo>
                    <a:pt x="4800610" y="336983"/>
                  </a:lnTo>
                  <a:lnTo>
                    <a:pt x="4807988" y="382271"/>
                  </a:lnTo>
                  <a:lnTo>
                    <a:pt x="4810506" y="429018"/>
                  </a:lnTo>
                  <a:lnTo>
                    <a:pt x="4810506" y="2145017"/>
                  </a:lnTo>
                  <a:lnTo>
                    <a:pt x="4807988" y="2191764"/>
                  </a:lnTo>
                  <a:lnTo>
                    <a:pt x="4800610" y="2237052"/>
                  </a:lnTo>
                  <a:lnTo>
                    <a:pt x="4788634" y="2280621"/>
                  </a:lnTo>
                  <a:lnTo>
                    <a:pt x="4772321" y="2322208"/>
                  </a:lnTo>
                  <a:lnTo>
                    <a:pt x="4751933" y="2361552"/>
                  </a:lnTo>
                  <a:lnTo>
                    <a:pt x="4727731" y="2398391"/>
                  </a:lnTo>
                  <a:lnTo>
                    <a:pt x="4699977" y="2432463"/>
                  </a:lnTo>
                  <a:lnTo>
                    <a:pt x="4668933" y="2463507"/>
                  </a:lnTo>
                  <a:lnTo>
                    <a:pt x="4634861" y="2491261"/>
                  </a:lnTo>
                  <a:lnTo>
                    <a:pt x="4598022" y="2515463"/>
                  </a:lnTo>
                  <a:lnTo>
                    <a:pt x="4558678" y="2535851"/>
                  </a:lnTo>
                  <a:lnTo>
                    <a:pt x="4517091" y="2552164"/>
                  </a:lnTo>
                  <a:lnTo>
                    <a:pt x="4473522" y="2564140"/>
                  </a:lnTo>
                  <a:lnTo>
                    <a:pt x="4428234" y="2571518"/>
                  </a:lnTo>
                  <a:lnTo>
                    <a:pt x="4381487" y="2574036"/>
                  </a:lnTo>
                  <a:lnTo>
                    <a:pt x="429018" y="2574036"/>
                  </a:lnTo>
                  <a:lnTo>
                    <a:pt x="382271" y="2571518"/>
                  </a:lnTo>
                  <a:lnTo>
                    <a:pt x="336983" y="2564140"/>
                  </a:lnTo>
                  <a:lnTo>
                    <a:pt x="293414" y="2552164"/>
                  </a:lnTo>
                  <a:lnTo>
                    <a:pt x="251827" y="2535851"/>
                  </a:lnTo>
                  <a:lnTo>
                    <a:pt x="212483" y="2515463"/>
                  </a:lnTo>
                  <a:lnTo>
                    <a:pt x="175644" y="2491261"/>
                  </a:lnTo>
                  <a:lnTo>
                    <a:pt x="141572" y="2463507"/>
                  </a:lnTo>
                  <a:lnTo>
                    <a:pt x="110528" y="2432463"/>
                  </a:lnTo>
                  <a:lnTo>
                    <a:pt x="82774" y="2398391"/>
                  </a:lnTo>
                  <a:lnTo>
                    <a:pt x="58572" y="2361552"/>
                  </a:lnTo>
                  <a:lnTo>
                    <a:pt x="38184" y="2322208"/>
                  </a:lnTo>
                  <a:lnTo>
                    <a:pt x="21871" y="2280621"/>
                  </a:lnTo>
                  <a:lnTo>
                    <a:pt x="9895" y="2237052"/>
                  </a:lnTo>
                  <a:lnTo>
                    <a:pt x="2517" y="2191764"/>
                  </a:lnTo>
                  <a:lnTo>
                    <a:pt x="0" y="2145017"/>
                  </a:lnTo>
                  <a:lnTo>
                    <a:pt x="0" y="4290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28600" y="1292352"/>
            <a:ext cx="4486275" cy="5412740"/>
            <a:chOff x="304800" y="1292352"/>
            <a:chExt cx="5981700" cy="541274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3609594"/>
              <a:ext cx="5445252" cy="309498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1292352"/>
              <a:ext cx="5981699" cy="23431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185351" y="1444516"/>
            <a:ext cx="3277553" cy="321562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355"/>
              </a:spcBef>
            </a:pPr>
            <a:r>
              <a:rPr sz="2500" b="1" spc="-5" dirty="0">
                <a:solidFill>
                  <a:srgbClr val="FFFFFF"/>
                </a:solidFill>
                <a:latin typeface="Calibri"/>
                <a:cs typeface="Calibri"/>
              </a:rPr>
              <a:t>IFFT</a:t>
            </a:r>
            <a:r>
              <a:rPr sz="25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takes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frequency-domain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input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(complex numbers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representing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the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 modulated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subcarriers)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converts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it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the </a:t>
            </a:r>
            <a:r>
              <a:rPr sz="2500" spc="-5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time-domain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output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ts val="2745"/>
              </a:lnSpc>
            </a:pP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(analog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FFFFFF"/>
                </a:solidFill>
                <a:latin typeface="Calibri"/>
                <a:cs typeface="Calibri"/>
              </a:rPr>
              <a:t>OFDM</a:t>
            </a:r>
            <a:r>
              <a:rPr sz="25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symbol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waveform)</a:t>
            </a:r>
            <a:endParaRPr sz="25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019961" y="3904358"/>
            <a:ext cx="3627120" cy="2599690"/>
            <a:chOff x="6693281" y="3904358"/>
            <a:chExt cx="4836160" cy="2599690"/>
          </a:xfrm>
        </p:grpSpPr>
        <p:sp>
          <p:nvSpPr>
            <p:cNvPr id="12" name="object 12"/>
            <p:cNvSpPr/>
            <p:nvPr/>
          </p:nvSpPr>
          <p:spPr>
            <a:xfrm>
              <a:off x="6705981" y="3917058"/>
              <a:ext cx="4810760" cy="2574290"/>
            </a:xfrm>
            <a:custGeom>
              <a:avLst/>
              <a:gdLst/>
              <a:ahLst/>
              <a:cxnLst/>
              <a:rect l="l" t="t" r="r" b="b"/>
              <a:pathLst>
                <a:path w="4810759" h="2574290">
                  <a:moveTo>
                    <a:pt x="4381487" y="0"/>
                  </a:moveTo>
                  <a:lnTo>
                    <a:pt x="429018" y="0"/>
                  </a:lnTo>
                  <a:lnTo>
                    <a:pt x="382271" y="2517"/>
                  </a:lnTo>
                  <a:lnTo>
                    <a:pt x="336983" y="9895"/>
                  </a:lnTo>
                  <a:lnTo>
                    <a:pt x="293414" y="21871"/>
                  </a:lnTo>
                  <a:lnTo>
                    <a:pt x="251827" y="38184"/>
                  </a:lnTo>
                  <a:lnTo>
                    <a:pt x="212483" y="58572"/>
                  </a:lnTo>
                  <a:lnTo>
                    <a:pt x="175644" y="82774"/>
                  </a:lnTo>
                  <a:lnTo>
                    <a:pt x="141572" y="110528"/>
                  </a:lnTo>
                  <a:lnTo>
                    <a:pt x="110528" y="141572"/>
                  </a:lnTo>
                  <a:lnTo>
                    <a:pt x="82774" y="175644"/>
                  </a:lnTo>
                  <a:lnTo>
                    <a:pt x="58572" y="212483"/>
                  </a:lnTo>
                  <a:lnTo>
                    <a:pt x="38184" y="251827"/>
                  </a:lnTo>
                  <a:lnTo>
                    <a:pt x="21871" y="293414"/>
                  </a:lnTo>
                  <a:lnTo>
                    <a:pt x="9895" y="336983"/>
                  </a:lnTo>
                  <a:lnTo>
                    <a:pt x="2517" y="382271"/>
                  </a:lnTo>
                  <a:lnTo>
                    <a:pt x="0" y="429018"/>
                  </a:lnTo>
                  <a:lnTo>
                    <a:pt x="0" y="2145017"/>
                  </a:lnTo>
                  <a:lnTo>
                    <a:pt x="2517" y="2191764"/>
                  </a:lnTo>
                  <a:lnTo>
                    <a:pt x="9895" y="2237052"/>
                  </a:lnTo>
                  <a:lnTo>
                    <a:pt x="21871" y="2280621"/>
                  </a:lnTo>
                  <a:lnTo>
                    <a:pt x="38184" y="2322208"/>
                  </a:lnTo>
                  <a:lnTo>
                    <a:pt x="58572" y="2361552"/>
                  </a:lnTo>
                  <a:lnTo>
                    <a:pt x="82774" y="2398391"/>
                  </a:lnTo>
                  <a:lnTo>
                    <a:pt x="110528" y="2432463"/>
                  </a:lnTo>
                  <a:lnTo>
                    <a:pt x="141572" y="2463507"/>
                  </a:lnTo>
                  <a:lnTo>
                    <a:pt x="175644" y="2491261"/>
                  </a:lnTo>
                  <a:lnTo>
                    <a:pt x="212483" y="2515463"/>
                  </a:lnTo>
                  <a:lnTo>
                    <a:pt x="251827" y="2535851"/>
                  </a:lnTo>
                  <a:lnTo>
                    <a:pt x="293414" y="2552164"/>
                  </a:lnTo>
                  <a:lnTo>
                    <a:pt x="336983" y="2564140"/>
                  </a:lnTo>
                  <a:lnTo>
                    <a:pt x="382271" y="2571518"/>
                  </a:lnTo>
                  <a:lnTo>
                    <a:pt x="429018" y="2574036"/>
                  </a:lnTo>
                  <a:lnTo>
                    <a:pt x="4381487" y="2574036"/>
                  </a:lnTo>
                  <a:lnTo>
                    <a:pt x="4428234" y="2571518"/>
                  </a:lnTo>
                  <a:lnTo>
                    <a:pt x="4473522" y="2564140"/>
                  </a:lnTo>
                  <a:lnTo>
                    <a:pt x="4517091" y="2552164"/>
                  </a:lnTo>
                  <a:lnTo>
                    <a:pt x="4558678" y="2535851"/>
                  </a:lnTo>
                  <a:lnTo>
                    <a:pt x="4598022" y="2515463"/>
                  </a:lnTo>
                  <a:lnTo>
                    <a:pt x="4634861" y="2491261"/>
                  </a:lnTo>
                  <a:lnTo>
                    <a:pt x="4668933" y="2463507"/>
                  </a:lnTo>
                  <a:lnTo>
                    <a:pt x="4699977" y="2432463"/>
                  </a:lnTo>
                  <a:lnTo>
                    <a:pt x="4727731" y="2398391"/>
                  </a:lnTo>
                  <a:lnTo>
                    <a:pt x="4751933" y="2361552"/>
                  </a:lnTo>
                  <a:lnTo>
                    <a:pt x="4772321" y="2322208"/>
                  </a:lnTo>
                  <a:lnTo>
                    <a:pt x="4788634" y="2280621"/>
                  </a:lnTo>
                  <a:lnTo>
                    <a:pt x="4800610" y="2237052"/>
                  </a:lnTo>
                  <a:lnTo>
                    <a:pt x="4807988" y="2191764"/>
                  </a:lnTo>
                  <a:lnTo>
                    <a:pt x="4810506" y="2145017"/>
                  </a:lnTo>
                  <a:lnTo>
                    <a:pt x="4810506" y="429018"/>
                  </a:lnTo>
                  <a:lnTo>
                    <a:pt x="4807988" y="382271"/>
                  </a:lnTo>
                  <a:lnTo>
                    <a:pt x="4800610" y="336983"/>
                  </a:lnTo>
                  <a:lnTo>
                    <a:pt x="4788634" y="293414"/>
                  </a:lnTo>
                  <a:lnTo>
                    <a:pt x="4772321" y="251827"/>
                  </a:lnTo>
                  <a:lnTo>
                    <a:pt x="4751933" y="212483"/>
                  </a:lnTo>
                  <a:lnTo>
                    <a:pt x="4727731" y="175644"/>
                  </a:lnTo>
                  <a:lnTo>
                    <a:pt x="4699977" y="141572"/>
                  </a:lnTo>
                  <a:lnTo>
                    <a:pt x="4668933" y="110528"/>
                  </a:lnTo>
                  <a:lnTo>
                    <a:pt x="4634861" y="82774"/>
                  </a:lnTo>
                  <a:lnTo>
                    <a:pt x="4598022" y="58572"/>
                  </a:lnTo>
                  <a:lnTo>
                    <a:pt x="4558678" y="38184"/>
                  </a:lnTo>
                  <a:lnTo>
                    <a:pt x="4517091" y="21871"/>
                  </a:lnTo>
                  <a:lnTo>
                    <a:pt x="4473522" y="9895"/>
                  </a:lnTo>
                  <a:lnTo>
                    <a:pt x="4428234" y="2517"/>
                  </a:lnTo>
                  <a:lnTo>
                    <a:pt x="43814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705981" y="3917058"/>
              <a:ext cx="4810760" cy="2574290"/>
            </a:xfrm>
            <a:custGeom>
              <a:avLst/>
              <a:gdLst/>
              <a:ahLst/>
              <a:cxnLst/>
              <a:rect l="l" t="t" r="r" b="b"/>
              <a:pathLst>
                <a:path w="4810759" h="2574290">
                  <a:moveTo>
                    <a:pt x="0" y="429018"/>
                  </a:moveTo>
                  <a:lnTo>
                    <a:pt x="2517" y="382271"/>
                  </a:lnTo>
                  <a:lnTo>
                    <a:pt x="9895" y="336983"/>
                  </a:lnTo>
                  <a:lnTo>
                    <a:pt x="21871" y="293414"/>
                  </a:lnTo>
                  <a:lnTo>
                    <a:pt x="38184" y="251827"/>
                  </a:lnTo>
                  <a:lnTo>
                    <a:pt x="58572" y="212483"/>
                  </a:lnTo>
                  <a:lnTo>
                    <a:pt x="82774" y="175644"/>
                  </a:lnTo>
                  <a:lnTo>
                    <a:pt x="110528" y="141572"/>
                  </a:lnTo>
                  <a:lnTo>
                    <a:pt x="141572" y="110528"/>
                  </a:lnTo>
                  <a:lnTo>
                    <a:pt x="175644" y="82774"/>
                  </a:lnTo>
                  <a:lnTo>
                    <a:pt x="212483" y="58572"/>
                  </a:lnTo>
                  <a:lnTo>
                    <a:pt x="251827" y="38184"/>
                  </a:lnTo>
                  <a:lnTo>
                    <a:pt x="293414" y="21871"/>
                  </a:lnTo>
                  <a:lnTo>
                    <a:pt x="336983" y="9895"/>
                  </a:lnTo>
                  <a:lnTo>
                    <a:pt x="382271" y="2517"/>
                  </a:lnTo>
                  <a:lnTo>
                    <a:pt x="429018" y="0"/>
                  </a:lnTo>
                  <a:lnTo>
                    <a:pt x="4381487" y="0"/>
                  </a:lnTo>
                  <a:lnTo>
                    <a:pt x="4428234" y="2517"/>
                  </a:lnTo>
                  <a:lnTo>
                    <a:pt x="4473522" y="9895"/>
                  </a:lnTo>
                  <a:lnTo>
                    <a:pt x="4517091" y="21871"/>
                  </a:lnTo>
                  <a:lnTo>
                    <a:pt x="4558678" y="38184"/>
                  </a:lnTo>
                  <a:lnTo>
                    <a:pt x="4598022" y="58572"/>
                  </a:lnTo>
                  <a:lnTo>
                    <a:pt x="4634861" y="82774"/>
                  </a:lnTo>
                  <a:lnTo>
                    <a:pt x="4668933" y="110528"/>
                  </a:lnTo>
                  <a:lnTo>
                    <a:pt x="4699977" y="141572"/>
                  </a:lnTo>
                  <a:lnTo>
                    <a:pt x="4727731" y="175644"/>
                  </a:lnTo>
                  <a:lnTo>
                    <a:pt x="4751933" y="212483"/>
                  </a:lnTo>
                  <a:lnTo>
                    <a:pt x="4772321" y="251827"/>
                  </a:lnTo>
                  <a:lnTo>
                    <a:pt x="4788634" y="293414"/>
                  </a:lnTo>
                  <a:lnTo>
                    <a:pt x="4800610" y="336983"/>
                  </a:lnTo>
                  <a:lnTo>
                    <a:pt x="4807988" y="382271"/>
                  </a:lnTo>
                  <a:lnTo>
                    <a:pt x="4810506" y="429018"/>
                  </a:lnTo>
                  <a:lnTo>
                    <a:pt x="4810506" y="2145017"/>
                  </a:lnTo>
                  <a:lnTo>
                    <a:pt x="4807988" y="2191764"/>
                  </a:lnTo>
                  <a:lnTo>
                    <a:pt x="4800610" y="2237052"/>
                  </a:lnTo>
                  <a:lnTo>
                    <a:pt x="4788634" y="2280621"/>
                  </a:lnTo>
                  <a:lnTo>
                    <a:pt x="4772321" y="2322208"/>
                  </a:lnTo>
                  <a:lnTo>
                    <a:pt x="4751933" y="2361552"/>
                  </a:lnTo>
                  <a:lnTo>
                    <a:pt x="4727731" y="2398391"/>
                  </a:lnTo>
                  <a:lnTo>
                    <a:pt x="4699977" y="2432463"/>
                  </a:lnTo>
                  <a:lnTo>
                    <a:pt x="4668933" y="2463507"/>
                  </a:lnTo>
                  <a:lnTo>
                    <a:pt x="4634861" y="2491261"/>
                  </a:lnTo>
                  <a:lnTo>
                    <a:pt x="4598022" y="2515463"/>
                  </a:lnTo>
                  <a:lnTo>
                    <a:pt x="4558678" y="2535851"/>
                  </a:lnTo>
                  <a:lnTo>
                    <a:pt x="4517091" y="2552164"/>
                  </a:lnTo>
                  <a:lnTo>
                    <a:pt x="4473522" y="2564140"/>
                  </a:lnTo>
                  <a:lnTo>
                    <a:pt x="4428234" y="2571518"/>
                  </a:lnTo>
                  <a:lnTo>
                    <a:pt x="4381487" y="2574036"/>
                  </a:lnTo>
                  <a:lnTo>
                    <a:pt x="429018" y="2574036"/>
                  </a:lnTo>
                  <a:lnTo>
                    <a:pt x="382271" y="2571518"/>
                  </a:lnTo>
                  <a:lnTo>
                    <a:pt x="336983" y="2564140"/>
                  </a:lnTo>
                  <a:lnTo>
                    <a:pt x="293414" y="2552164"/>
                  </a:lnTo>
                  <a:lnTo>
                    <a:pt x="251827" y="2535851"/>
                  </a:lnTo>
                  <a:lnTo>
                    <a:pt x="212483" y="2515463"/>
                  </a:lnTo>
                  <a:lnTo>
                    <a:pt x="175644" y="2491261"/>
                  </a:lnTo>
                  <a:lnTo>
                    <a:pt x="141572" y="2463507"/>
                  </a:lnTo>
                  <a:lnTo>
                    <a:pt x="110528" y="2432463"/>
                  </a:lnTo>
                  <a:lnTo>
                    <a:pt x="82774" y="2398391"/>
                  </a:lnTo>
                  <a:lnTo>
                    <a:pt x="58572" y="2361552"/>
                  </a:lnTo>
                  <a:lnTo>
                    <a:pt x="38184" y="2322208"/>
                  </a:lnTo>
                  <a:lnTo>
                    <a:pt x="21871" y="2280621"/>
                  </a:lnTo>
                  <a:lnTo>
                    <a:pt x="9895" y="2237052"/>
                  </a:lnTo>
                  <a:lnTo>
                    <a:pt x="2517" y="2191764"/>
                  </a:lnTo>
                  <a:lnTo>
                    <a:pt x="0" y="2145017"/>
                  </a:lnTo>
                  <a:lnTo>
                    <a:pt x="0" y="429018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185352" y="4613818"/>
            <a:ext cx="2986564" cy="1846659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marR="5080">
              <a:lnSpc>
                <a:spcPts val="2750"/>
              </a:lnSpc>
              <a:spcBef>
                <a:spcPts val="400"/>
              </a:spcBef>
            </a:pP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Thus, the </a:t>
            </a:r>
            <a:r>
              <a:rPr sz="2500" b="1" spc="-5" dirty="0">
                <a:solidFill>
                  <a:srgbClr val="FFFFFF"/>
                </a:solidFill>
                <a:latin typeface="Calibri"/>
                <a:cs typeface="Calibri"/>
              </a:rPr>
              <a:t>IFFT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block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provides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a </a:t>
            </a:r>
            <a:r>
              <a:rPr sz="2500" spc="-5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simple </a:t>
            </a:r>
            <a:r>
              <a:rPr sz="2500" spc="-30" dirty="0">
                <a:solidFill>
                  <a:srgbClr val="FFFFFF"/>
                </a:solidFill>
                <a:latin typeface="Calibri"/>
                <a:cs typeface="Calibri"/>
              </a:rPr>
              <a:t>way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to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modulate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5" dirty="0">
                <a:solidFill>
                  <a:srgbClr val="FFFFFF"/>
                </a:solidFill>
                <a:latin typeface="Calibri"/>
                <a:cs typeface="Calibri"/>
              </a:rPr>
              <a:t>onto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dirty="0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sz="2500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5" dirty="0">
                <a:solidFill>
                  <a:srgbClr val="FFFFFF"/>
                </a:solidFill>
                <a:latin typeface="Calibri"/>
                <a:cs typeface="Calibri"/>
              </a:rPr>
              <a:t>orthogonal</a:t>
            </a:r>
            <a:r>
              <a:rPr sz="25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Calibri"/>
                <a:cs typeface="Calibri"/>
              </a:rPr>
              <a:t>subcarriers.</a:t>
            </a:r>
            <a:endParaRPr sz="25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8592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92532" y="299124"/>
            <a:ext cx="448719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>
                <a:solidFill>
                  <a:srgbClr val="FF0000"/>
                </a:solidFill>
              </a:rPr>
              <a:t>Numerologies</a:t>
            </a:r>
            <a:r>
              <a:rPr spc="-5" dirty="0">
                <a:solidFill>
                  <a:srgbClr val="FF0000"/>
                </a:solidFill>
              </a:rPr>
              <a:t> in</a:t>
            </a:r>
            <a:r>
              <a:rPr spc="-2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5G</a:t>
            </a:r>
            <a:r>
              <a:rPr spc="-30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NR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7714" y="2514600"/>
            <a:ext cx="2866292" cy="15240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76200" y="1295400"/>
            <a:ext cx="6011514" cy="4732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400" spc="-5" dirty="0">
                <a:latin typeface="Calibri"/>
                <a:cs typeface="Calibri"/>
              </a:rPr>
              <a:t>5G NR supports </a:t>
            </a:r>
            <a:r>
              <a:rPr lang="en-US" sz="2400" b="1" spc="-5" dirty="0">
                <a:latin typeface="Calibri"/>
                <a:cs typeface="Calibri"/>
              </a:rPr>
              <a:t>QPSK, 16 QAM, 64 </a:t>
            </a:r>
            <a:r>
              <a:rPr lang="en-US" sz="2400" b="1" spc="-350" dirty="0">
                <a:latin typeface="Calibri"/>
                <a:cs typeface="Calibri"/>
              </a:rPr>
              <a:t> </a:t>
            </a:r>
            <a:r>
              <a:rPr lang="en-US" sz="2400" b="1" spc="-5" dirty="0">
                <a:latin typeface="Calibri"/>
                <a:cs typeface="Calibri"/>
              </a:rPr>
              <a:t>QAM</a:t>
            </a:r>
            <a:r>
              <a:rPr lang="en-US" sz="2400" b="1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and</a:t>
            </a:r>
            <a:r>
              <a:rPr lang="en-US" sz="2400" spc="-10" dirty="0">
                <a:latin typeface="Calibri"/>
                <a:cs typeface="Calibri"/>
              </a:rPr>
              <a:t> </a:t>
            </a:r>
            <a:r>
              <a:rPr lang="en-US" sz="2400" b="1" spc="-5" dirty="0">
                <a:latin typeface="Calibri"/>
                <a:cs typeface="Calibri"/>
              </a:rPr>
              <a:t>256 QAM</a:t>
            </a:r>
            <a:r>
              <a:rPr lang="en-US" sz="2400" b="1" spc="-10" dirty="0">
                <a:latin typeface="Calibri"/>
                <a:cs typeface="Calibri"/>
              </a:rPr>
              <a:t> </a:t>
            </a:r>
            <a:r>
              <a:rPr lang="en-US" sz="2400" spc="-5" dirty="0">
                <a:latin typeface="Calibri"/>
                <a:cs typeface="Calibri"/>
              </a:rPr>
              <a:t>modulation</a:t>
            </a:r>
            <a:endParaRPr lang="en-US" sz="2400" dirty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2200" spc="-5" dirty="0" smtClean="0">
                <a:latin typeface="Calibri"/>
                <a:cs typeface="Calibri"/>
              </a:rPr>
              <a:t>5G</a:t>
            </a:r>
            <a:r>
              <a:rPr lang="en-US" sz="2200" spc="-10" dirty="0" smtClean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New</a:t>
            </a:r>
            <a:r>
              <a:rPr lang="en-US" sz="2200" spc="-15" dirty="0">
                <a:latin typeface="Calibri"/>
                <a:cs typeface="Calibri"/>
              </a:rPr>
              <a:t> </a:t>
            </a:r>
            <a:r>
              <a:rPr lang="en-US" sz="2200" spc="-5" dirty="0">
                <a:latin typeface="Calibri"/>
                <a:cs typeface="Calibri"/>
              </a:rPr>
              <a:t>Radio</a:t>
            </a:r>
            <a:r>
              <a:rPr lang="en-US" sz="2200" spc="-1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uses</a:t>
            </a:r>
            <a:r>
              <a:rPr lang="en-US" sz="2200" spc="-20" dirty="0">
                <a:latin typeface="Calibri"/>
                <a:cs typeface="Calibri"/>
              </a:rPr>
              <a:t> </a:t>
            </a:r>
            <a:r>
              <a:rPr lang="en-US" sz="2200" dirty="0">
                <a:latin typeface="Calibri"/>
                <a:cs typeface="Calibri"/>
              </a:rPr>
              <a:t>OFDM</a:t>
            </a:r>
            <a:r>
              <a:rPr lang="en-US" sz="2200" spc="-20" dirty="0">
                <a:latin typeface="Calibri"/>
                <a:cs typeface="Calibri"/>
              </a:rPr>
              <a:t> </a:t>
            </a:r>
            <a:r>
              <a:rPr lang="en-US" sz="2200" spc="-25" dirty="0">
                <a:latin typeface="Calibri"/>
                <a:cs typeface="Calibri"/>
              </a:rPr>
              <a:t>wave</a:t>
            </a:r>
            <a:r>
              <a:rPr lang="en-US" sz="2200" spc="-10" dirty="0">
                <a:latin typeface="Calibri"/>
                <a:cs typeface="Calibri"/>
              </a:rPr>
              <a:t> </a:t>
            </a:r>
            <a:r>
              <a:rPr lang="en-US" sz="2200" spc="-15" dirty="0">
                <a:latin typeface="Calibri"/>
                <a:cs typeface="Calibri"/>
              </a:rPr>
              <a:t>form</a:t>
            </a:r>
            <a:endParaRPr lang="en-US" sz="2200" dirty="0"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sz="2200" spc="-5" dirty="0" smtClean="0">
                <a:latin typeface="Calibri"/>
                <a:cs typeface="Calibri"/>
              </a:rPr>
              <a:t>It</a:t>
            </a:r>
            <a:r>
              <a:rPr sz="2200" spc="-10" dirty="0" smtClean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variable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sub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carrier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spacing</a:t>
            </a:r>
            <a:endParaRPr sz="2200" dirty="0">
              <a:latin typeface="Calibri"/>
              <a:cs typeface="Calibri"/>
            </a:endParaRPr>
          </a:p>
          <a:p>
            <a:pPr marL="355600" marR="3238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spc="-5" dirty="0" smtClean="0">
                <a:latin typeface="Calibri"/>
                <a:cs typeface="Calibri"/>
              </a:rPr>
              <a:t>In</a:t>
            </a:r>
            <a:r>
              <a:rPr sz="2200" dirty="0" smtClean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4G </a:t>
            </a:r>
            <a:r>
              <a:rPr sz="2200" spc="-45" dirty="0">
                <a:latin typeface="Calibri"/>
                <a:cs typeface="Calibri"/>
              </a:rPr>
              <a:t>LTE,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subcarrier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spacing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used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dirty="0" smtClean="0">
                <a:latin typeface="Calibri"/>
                <a:cs typeface="Calibri"/>
              </a:rPr>
              <a:t>15KHz</a:t>
            </a:r>
            <a:endParaRPr lang="en-US" sz="2200" dirty="0" smtClean="0">
              <a:latin typeface="Calibri"/>
              <a:cs typeface="Calibri"/>
            </a:endParaRPr>
          </a:p>
          <a:p>
            <a:pPr marL="355600" marR="32385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200" spc="-5" dirty="0" smtClean="0">
                <a:latin typeface="Calibri"/>
                <a:cs typeface="Calibri"/>
              </a:rPr>
              <a:t>In </a:t>
            </a:r>
            <a:r>
              <a:rPr sz="2200" spc="-5" dirty="0">
                <a:latin typeface="Calibri"/>
                <a:cs typeface="Calibri"/>
              </a:rPr>
              <a:t>5G, possible </a:t>
            </a:r>
            <a:r>
              <a:rPr sz="2200" dirty="0">
                <a:latin typeface="Calibri"/>
                <a:cs typeface="Calibri"/>
              </a:rPr>
              <a:t>sub </a:t>
            </a:r>
            <a:r>
              <a:rPr sz="2200" spc="-5" dirty="0">
                <a:latin typeface="Calibri"/>
                <a:cs typeface="Calibri"/>
              </a:rPr>
              <a:t>carrier spacings </a:t>
            </a:r>
            <a:r>
              <a:rPr sz="2200" spc="-10" dirty="0">
                <a:latin typeface="Calibri"/>
                <a:cs typeface="Calibri"/>
              </a:rPr>
              <a:t>are </a:t>
            </a:r>
            <a:endParaRPr lang="en-US" sz="2200" spc="-10" dirty="0" smtClean="0">
              <a:latin typeface="Calibri"/>
              <a:cs typeface="Calibri"/>
            </a:endParaRPr>
          </a:p>
          <a:p>
            <a:pPr marL="812800" marR="5080" lvl="1" indent="-342900">
              <a:spcBef>
                <a:spcPts val="1440"/>
              </a:spcBef>
              <a:buFont typeface="Arial" panose="020B0604020202020204" pitchFamily="34" charset="0"/>
              <a:buChar char="•"/>
            </a:pPr>
            <a:r>
              <a:rPr sz="2200" spc="-484" dirty="0" smtClean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15KHz,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lang="en-US" sz="2200" b="1" spc="-15" dirty="0" smtClean="0">
                <a:latin typeface="Calibri"/>
                <a:cs typeface="Calibri"/>
              </a:rPr>
              <a:t> </a:t>
            </a:r>
            <a:r>
              <a:rPr sz="2200" b="1" spc="-5" dirty="0" smtClean="0">
                <a:latin typeface="Calibri"/>
                <a:cs typeface="Calibri"/>
              </a:rPr>
              <a:t>30KHz,</a:t>
            </a:r>
            <a:r>
              <a:rPr lang="en-US" sz="2200" b="1" spc="-5" dirty="0" smtClean="0">
                <a:latin typeface="Calibri"/>
                <a:cs typeface="Calibri"/>
              </a:rPr>
              <a:t> </a:t>
            </a:r>
          </a:p>
          <a:p>
            <a:pPr marL="812800" marR="5080" lvl="1" indent="-342900">
              <a:spcBef>
                <a:spcPts val="1440"/>
              </a:spcBef>
              <a:buFont typeface="Arial" panose="020B0604020202020204" pitchFamily="34" charset="0"/>
              <a:buChar char="•"/>
            </a:pPr>
            <a:r>
              <a:rPr sz="2200" b="1" spc="-5" dirty="0" smtClean="0">
                <a:latin typeface="Calibri"/>
                <a:cs typeface="Calibri"/>
              </a:rPr>
              <a:t>60KHz,</a:t>
            </a:r>
            <a:r>
              <a:rPr lang="en-US" sz="2200" b="1" spc="-5" dirty="0" smtClean="0">
                <a:latin typeface="Calibri"/>
                <a:cs typeface="Calibri"/>
              </a:rPr>
              <a:t> </a:t>
            </a:r>
            <a:r>
              <a:rPr sz="2200" b="1" spc="-5" dirty="0" smtClean="0">
                <a:latin typeface="Calibri"/>
                <a:cs typeface="Calibri"/>
              </a:rPr>
              <a:t>120KHz</a:t>
            </a:r>
            <a:r>
              <a:rPr sz="2200" b="1" spc="-20" dirty="0" smtClean="0">
                <a:latin typeface="Calibri"/>
                <a:cs typeface="Calibri"/>
              </a:rPr>
              <a:t> </a:t>
            </a:r>
            <a:endParaRPr lang="en-US" sz="2200" b="1" spc="-20" dirty="0" smtClean="0">
              <a:latin typeface="Calibri"/>
              <a:cs typeface="Calibri"/>
            </a:endParaRPr>
          </a:p>
          <a:p>
            <a:pPr marL="812800" marR="5080" lvl="1" indent="-342900">
              <a:spcBef>
                <a:spcPts val="1440"/>
              </a:spcBef>
              <a:buFont typeface="Arial" panose="020B0604020202020204" pitchFamily="34" charset="0"/>
              <a:buChar char="•"/>
            </a:pPr>
            <a:r>
              <a:rPr sz="2200" b="1" dirty="0" smtClean="0">
                <a:latin typeface="Calibri"/>
                <a:cs typeface="Calibri"/>
              </a:rPr>
              <a:t>240KHz</a:t>
            </a:r>
            <a:endParaRPr sz="22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84606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80568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82877" y="146604"/>
            <a:ext cx="738401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>
                <a:solidFill>
                  <a:schemeClr val="bg1"/>
                </a:solidFill>
              </a:rPr>
              <a:t>Numerology</a:t>
            </a:r>
            <a:r>
              <a:rPr spc="2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and</a:t>
            </a:r>
            <a:r>
              <a:rPr spc="2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Sub</a:t>
            </a:r>
            <a:r>
              <a:rPr spc="15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Carrier</a:t>
            </a:r>
            <a:r>
              <a:rPr spc="20" dirty="0">
                <a:solidFill>
                  <a:schemeClr val="bg1"/>
                </a:solidFill>
              </a:rPr>
              <a:t> </a:t>
            </a:r>
            <a:r>
              <a:rPr spc="-10" dirty="0">
                <a:solidFill>
                  <a:schemeClr val="bg1"/>
                </a:solidFill>
              </a:rPr>
              <a:t>Spacing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84072" y="1676327"/>
            <a:ext cx="3373528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600" spc="-5" dirty="0">
                <a:latin typeface="Calibri"/>
                <a:cs typeface="Calibri"/>
              </a:rPr>
              <a:t>µ=1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(Numerology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1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897290" y="1676327"/>
            <a:ext cx="2073512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Calibri"/>
                <a:cs typeface="Calibri"/>
              </a:rPr>
              <a:t>SCS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=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30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KHz</a:t>
            </a:r>
            <a:endParaRPr sz="2600" dirty="0">
              <a:latin typeface="Calibri"/>
              <a:cs typeface="Calibri"/>
            </a:endParaRPr>
          </a:p>
        </p:txBody>
      </p: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82732" y="4352439"/>
            <a:ext cx="3512429" cy="2210561"/>
          </a:xfrm>
          <a:prstGeom prst="rect">
            <a:avLst/>
          </a:prstGeom>
        </p:spPr>
      </p:pic>
      <p:sp>
        <p:nvSpPr>
          <p:cNvPr id="20" name="object 7"/>
          <p:cNvSpPr txBox="1"/>
          <p:nvPr/>
        </p:nvSpPr>
        <p:spPr>
          <a:xfrm>
            <a:off x="196416" y="959668"/>
            <a:ext cx="538631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Sub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Carrier Spacing =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1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800" b="1" spc="22" baseline="25641" dirty="0">
                <a:solidFill>
                  <a:srgbClr val="FF0000"/>
                </a:solidFill>
                <a:latin typeface="Calibri"/>
                <a:cs typeface="Calibri"/>
              </a:rPr>
              <a:t>µ</a:t>
            </a:r>
            <a:r>
              <a:rPr sz="2800" b="1" spc="225" baseline="2564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Calibri"/>
                <a:cs typeface="Calibri"/>
              </a:rPr>
              <a:t>x 15</a:t>
            </a:r>
            <a:r>
              <a:rPr sz="28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800" b="1" spc="-10" dirty="0" smtClean="0">
                <a:solidFill>
                  <a:srgbClr val="FF0000"/>
                </a:solidFill>
                <a:latin typeface="Calibri"/>
                <a:cs typeface="Calibri"/>
              </a:rPr>
              <a:t>KHz</a:t>
            </a:r>
            <a:endParaRPr sz="28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1" name="object 9"/>
          <p:cNvSpPr txBox="1"/>
          <p:nvPr/>
        </p:nvSpPr>
        <p:spPr>
          <a:xfrm>
            <a:off x="248050" y="2476332"/>
            <a:ext cx="3373528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600" spc="-5" dirty="0" smtClean="0">
                <a:latin typeface="Calibri"/>
                <a:cs typeface="Calibri"/>
              </a:rPr>
              <a:t>µ=</a:t>
            </a:r>
            <a:r>
              <a:rPr lang="en-US" sz="2600" spc="-5" dirty="0" smtClean="0">
                <a:latin typeface="Calibri"/>
                <a:cs typeface="Calibri"/>
              </a:rPr>
              <a:t>2</a:t>
            </a:r>
            <a:r>
              <a:rPr sz="2600" spc="-15" dirty="0" smtClean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(Numerology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2</a:t>
            </a:r>
            <a:r>
              <a:rPr sz="2600" spc="-20" dirty="0" smtClean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2" name="object 10"/>
          <p:cNvSpPr txBox="1"/>
          <p:nvPr/>
        </p:nvSpPr>
        <p:spPr>
          <a:xfrm>
            <a:off x="3861268" y="2476332"/>
            <a:ext cx="2073512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Calibri"/>
                <a:cs typeface="Calibri"/>
              </a:rPr>
              <a:t>SCS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=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lang="en-US" sz="2600" spc="-5" dirty="0">
                <a:latin typeface="Calibri"/>
                <a:cs typeface="Calibri"/>
              </a:rPr>
              <a:t>6</a:t>
            </a:r>
            <a:r>
              <a:rPr sz="2600" spc="-5" dirty="0" smtClean="0">
                <a:latin typeface="Calibri"/>
                <a:cs typeface="Calibri"/>
              </a:rPr>
              <a:t>0</a:t>
            </a:r>
            <a:r>
              <a:rPr sz="2600" spc="-30" dirty="0" smtClean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KHz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3" name="object 9"/>
          <p:cNvSpPr txBox="1"/>
          <p:nvPr/>
        </p:nvSpPr>
        <p:spPr>
          <a:xfrm>
            <a:off x="248050" y="3282292"/>
            <a:ext cx="3373528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600" spc="-5" dirty="0" smtClean="0">
                <a:latin typeface="Calibri"/>
                <a:cs typeface="Calibri"/>
              </a:rPr>
              <a:t>µ=</a:t>
            </a:r>
            <a:r>
              <a:rPr lang="en-US" sz="2600" spc="-5" dirty="0" smtClean="0">
                <a:latin typeface="Calibri"/>
                <a:cs typeface="Calibri"/>
              </a:rPr>
              <a:t>3</a:t>
            </a:r>
            <a:r>
              <a:rPr sz="2600" spc="-15" dirty="0" smtClean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(Numerology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lang="en-US" sz="2600" spc="-15" dirty="0" smtClean="0">
                <a:latin typeface="Calibri"/>
                <a:cs typeface="Calibri"/>
              </a:rPr>
              <a:t>3</a:t>
            </a:r>
            <a:r>
              <a:rPr sz="2600" spc="-20" dirty="0" smtClean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4" name="object 10"/>
          <p:cNvSpPr txBox="1"/>
          <p:nvPr/>
        </p:nvSpPr>
        <p:spPr>
          <a:xfrm>
            <a:off x="3861268" y="3282292"/>
            <a:ext cx="2073512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Calibri"/>
                <a:cs typeface="Calibri"/>
              </a:rPr>
              <a:t>SCS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=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lang="en-US" sz="2600" spc="-5" dirty="0" smtClean="0">
                <a:latin typeface="Calibri"/>
                <a:cs typeface="Calibri"/>
              </a:rPr>
              <a:t>12</a:t>
            </a:r>
            <a:r>
              <a:rPr sz="2600" spc="-5" dirty="0" smtClean="0">
                <a:latin typeface="Calibri"/>
                <a:cs typeface="Calibri"/>
              </a:rPr>
              <a:t>0</a:t>
            </a:r>
            <a:r>
              <a:rPr sz="2600" spc="-30" dirty="0" smtClean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KHz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5" name="object 9"/>
          <p:cNvSpPr txBox="1"/>
          <p:nvPr/>
        </p:nvSpPr>
        <p:spPr>
          <a:xfrm>
            <a:off x="248050" y="4088252"/>
            <a:ext cx="3373528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600" spc="-5" dirty="0" smtClean="0">
                <a:latin typeface="Calibri"/>
                <a:cs typeface="Calibri"/>
              </a:rPr>
              <a:t>µ=</a:t>
            </a:r>
            <a:r>
              <a:rPr lang="en-US" sz="2600" spc="-5" dirty="0" smtClean="0">
                <a:latin typeface="Calibri"/>
                <a:cs typeface="Calibri"/>
              </a:rPr>
              <a:t>4</a:t>
            </a:r>
            <a:r>
              <a:rPr sz="2600" spc="-15" dirty="0" smtClean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(Numerology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lang="en-US" sz="2600" spc="-15" dirty="0" smtClean="0">
                <a:latin typeface="Calibri"/>
                <a:cs typeface="Calibri"/>
              </a:rPr>
              <a:t>4</a:t>
            </a:r>
            <a:r>
              <a:rPr sz="2600" spc="-20" dirty="0" smtClean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)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26" name="object 10"/>
          <p:cNvSpPr txBox="1"/>
          <p:nvPr/>
        </p:nvSpPr>
        <p:spPr>
          <a:xfrm>
            <a:off x="3861268" y="4088252"/>
            <a:ext cx="2073512" cy="41229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600" spc="-5" dirty="0">
                <a:latin typeface="Calibri"/>
                <a:cs typeface="Calibri"/>
              </a:rPr>
              <a:t>SCS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=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lang="en-US" sz="2600" spc="-30" dirty="0" smtClean="0">
                <a:latin typeface="Calibri"/>
                <a:cs typeface="Calibri"/>
              </a:rPr>
              <a:t>24</a:t>
            </a:r>
            <a:r>
              <a:rPr sz="2600" spc="-5" dirty="0" smtClean="0">
                <a:latin typeface="Calibri"/>
                <a:cs typeface="Calibri"/>
              </a:rPr>
              <a:t>0</a:t>
            </a:r>
            <a:r>
              <a:rPr sz="2600" spc="-30" dirty="0" smtClean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KHz</a:t>
            </a:r>
            <a:endParaRPr sz="2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824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209800" y="914400"/>
            <a:ext cx="4416743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4400" spc="-20" dirty="0">
                <a:solidFill>
                  <a:srgbClr val="FF0000"/>
                </a:solidFill>
                <a:latin typeface="Calibri"/>
                <a:cs typeface="Calibri"/>
              </a:rPr>
              <a:t>Resource</a:t>
            </a:r>
            <a:r>
              <a:rPr sz="4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4400" spc="-5" dirty="0">
                <a:solidFill>
                  <a:srgbClr val="FF0000"/>
                </a:solidFill>
                <a:latin typeface="Calibri"/>
                <a:cs typeface="Calibri"/>
              </a:rPr>
              <a:t>Block</a:t>
            </a:r>
            <a:endParaRPr sz="4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5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3"/>
            <a:ext cx="9127427" cy="68351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230810" y="138796"/>
            <a:ext cx="6698951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>
                <a:solidFill>
                  <a:srgbClr val="FF0000"/>
                </a:solidFill>
              </a:rPr>
              <a:t>Resource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Block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and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its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Bandwidth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94956" y="1524000"/>
            <a:ext cx="6172200" cy="5062728"/>
            <a:chOff x="3450335" y="1795272"/>
            <a:chExt cx="8741664" cy="5062728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50335" y="5482602"/>
              <a:ext cx="1899666" cy="137539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41597" y="5673851"/>
              <a:ext cx="1517141" cy="104317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19849" y="1795272"/>
              <a:ext cx="5772150" cy="50627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611111" y="1986533"/>
              <a:ext cx="5561838" cy="474802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003304" y="4609338"/>
              <a:ext cx="1799056" cy="224866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4553" y="4800600"/>
              <a:ext cx="1416557" cy="191643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52401" y="976715"/>
            <a:ext cx="4648200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0" marR="17780" indent="-457200" algn="just">
              <a:lnSpc>
                <a:spcPts val="2960"/>
              </a:lnSpc>
              <a:buFont typeface="Arial" panose="020B0604020202020204" pitchFamily="34" charset="0"/>
              <a:buChar char="•"/>
            </a:pPr>
            <a:r>
              <a:rPr sz="2700" b="1" dirty="0" smtClean="0">
                <a:solidFill>
                  <a:srgbClr val="00B0F0"/>
                </a:solidFill>
                <a:latin typeface="Calibri"/>
                <a:cs typeface="Calibri"/>
              </a:rPr>
              <a:t>12</a:t>
            </a:r>
            <a:r>
              <a:rPr sz="2700" b="1" spc="-5" dirty="0" smtClean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700" b="1" spc="-10" dirty="0">
                <a:solidFill>
                  <a:srgbClr val="00B0F0"/>
                </a:solidFill>
                <a:latin typeface="Calibri"/>
                <a:cs typeface="Calibri"/>
              </a:rPr>
              <a:t>Consecutive</a:t>
            </a:r>
            <a:r>
              <a:rPr sz="2700" b="1" spc="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B0F0"/>
                </a:solidFill>
                <a:latin typeface="Calibri"/>
                <a:cs typeface="Calibri"/>
              </a:rPr>
              <a:t>Sub </a:t>
            </a:r>
            <a:r>
              <a:rPr sz="2700" b="1" spc="-10" dirty="0">
                <a:solidFill>
                  <a:srgbClr val="00B0F0"/>
                </a:solidFill>
                <a:latin typeface="Calibri"/>
                <a:cs typeface="Calibri"/>
              </a:rPr>
              <a:t>carriers </a:t>
            </a:r>
            <a:r>
              <a:rPr sz="2700" b="1" spc="-5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00B0F0"/>
                </a:solidFill>
                <a:latin typeface="Calibri"/>
                <a:cs typeface="Calibri"/>
              </a:rPr>
              <a:t>constitute</a:t>
            </a:r>
            <a:r>
              <a:rPr sz="2700" b="1" spc="-5" dirty="0">
                <a:solidFill>
                  <a:srgbClr val="00B0F0"/>
                </a:solidFill>
                <a:latin typeface="Calibri"/>
                <a:cs typeface="Calibri"/>
              </a:rPr>
              <a:t> one</a:t>
            </a:r>
            <a:r>
              <a:rPr sz="2700" b="1" spc="-10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700" b="1" spc="-15" dirty="0">
                <a:solidFill>
                  <a:srgbClr val="00B0F0"/>
                </a:solidFill>
                <a:latin typeface="Calibri"/>
                <a:cs typeface="Calibri"/>
              </a:rPr>
              <a:t>Resource</a:t>
            </a:r>
            <a:r>
              <a:rPr sz="2700" b="1" dirty="0">
                <a:solidFill>
                  <a:srgbClr val="00B0F0"/>
                </a:solidFill>
                <a:latin typeface="Calibri"/>
                <a:cs typeface="Calibri"/>
              </a:rPr>
              <a:t> </a:t>
            </a:r>
            <a:r>
              <a:rPr sz="2700" b="1" spc="-5" dirty="0">
                <a:solidFill>
                  <a:srgbClr val="00B0F0"/>
                </a:solidFill>
                <a:latin typeface="Calibri"/>
                <a:cs typeface="Calibri"/>
              </a:rPr>
              <a:t>Block (RB)</a:t>
            </a:r>
            <a:endParaRPr sz="2700" b="1" dirty="0">
              <a:solidFill>
                <a:srgbClr val="00B0F0"/>
              </a:solidFill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3516642"/>
            <a:ext cx="2786643" cy="3200400"/>
          </a:xfrm>
          <a:prstGeom prst="rect">
            <a:avLst/>
          </a:prstGeom>
        </p:spPr>
      </p:pic>
      <p:sp>
        <p:nvSpPr>
          <p:cNvPr id="15" name="object 7"/>
          <p:cNvSpPr txBox="1"/>
          <p:nvPr/>
        </p:nvSpPr>
        <p:spPr>
          <a:xfrm>
            <a:off x="152401" y="2458432"/>
            <a:ext cx="46482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Sub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Carrier Spacing =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1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400" b="1" spc="22" baseline="25641" dirty="0">
                <a:solidFill>
                  <a:srgbClr val="FF0000"/>
                </a:solidFill>
                <a:latin typeface="Calibri"/>
                <a:cs typeface="Calibri"/>
              </a:rPr>
              <a:t>µ</a:t>
            </a:r>
            <a:r>
              <a:rPr sz="2400" b="1" spc="225" baseline="2564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 15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 smtClean="0">
                <a:solidFill>
                  <a:srgbClr val="FF0000"/>
                </a:solidFill>
                <a:latin typeface="Calibri"/>
                <a:cs typeface="Calibri"/>
              </a:rPr>
              <a:t>KHz</a:t>
            </a:r>
            <a:endParaRPr sz="24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36591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12275" y="147183"/>
            <a:ext cx="5293786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30" dirty="0">
                <a:solidFill>
                  <a:schemeClr val="bg1"/>
                </a:solidFill>
              </a:rPr>
              <a:t>Recourse</a:t>
            </a:r>
            <a:r>
              <a:rPr spc="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Block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and</a:t>
            </a:r>
            <a:r>
              <a:rPr spc="1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its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spc="-30" dirty="0">
                <a:solidFill>
                  <a:schemeClr val="bg1"/>
                </a:solidFill>
              </a:rPr>
              <a:t>BW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3356" y="1103453"/>
            <a:ext cx="3956209" cy="52450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2915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solidFill>
                  <a:srgbClr val="244060"/>
                </a:solidFill>
                <a:latin typeface="Calibri"/>
                <a:cs typeface="Calibri"/>
              </a:rPr>
              <a:t>BW</a:t>
            </a:r>
            <a:r>
              <a:rPr sz="27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244060"/>
                </a:solidFill>
                <a:latin typeface="Calibri"/>
                <a:cs typeface="Calibri"/>
              </a:rPr>
              <a:t>of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244060"/>
                </a:solidFill>
                <a:latin typeface="Calibri"/>
                <a:cs typeface="Calibri"/>
              </a:rPr>
              <a:t>RG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244060"/>
                </a:solidFill>
                <a:latin typeface="Calibri"/>
                <a:cs typeface="Calibri"/>
              </a:rPr>
              <a:t>for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 various</a:t>
            </a:r>
            <a:r>
              <a:rPr sz="27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Numerologies</a:t>
            </a:r>
            <a:endParaRPr sz="2700" dirty="0">
              <a:latin typeface="Calibri"/>
              <a:cs typeface="Calibri"/>
            </a:endParaRPr>
          </a:p>
          <a:p>
            <a:pPr marL="355600">
              <a:lnSpc>
                <a:spcPts val="2915"/>
              </a:lnSpc>
            </a:pPr>
            <a:r>
              <a:rPr sz="2700" spc="-5" dirty="0">
                <a:solidFill>
                  <a:srgbClr val="244060"/>
                </a:solidFill>
                <a:latin typeface="Calibri"/>
                <a:cs typeface="Calibri"/>
              </a:rPr>
              <a:t>=SCSx12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solidFill>
                  <a:srgbClr val="244060"/>
                </a:solidFill>
                <a:latin typeface="Calibri"/>
                <a:cs typeface="Calibri"/>
              </a:rPr>
              <a:t>µ=0</a:t>
            </a:r>
            <a:r>
              <a:rPr sz="27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(Numerology</a:t>
            </a:r>
            <a:r>
              <a:rPr sz="27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4060"/>
                </a:solidFill>
                <a:latin typeface="Calibri"/>
                <a:cs typeface="Calibri"/>
              </a:rPr>
              <a:t>0</a:t>
            </a:r>
            <a:r>
              <a:rPr sz="27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4060"/>
                </a:solidFill>
                <a:latin typeface="Calibri"/>
                <a:cs typeface="Calibri"/>
              </a:rPr>
              <a:t>)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44060"/>
              </a:buClr>
              <a:buFont typeface="Arial MT"/>
              <a:buChar char="•"/>
            </a:pPr>
            <a:endParaRPr sz="2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solidFill>
                  <a:srgbClr val="244060"/>
                </a:solidFill>
                <a:latin typeface="Calibri"/>
                <a:cs typeface="Calibri"/>
              </a:rPr>
              <a:t>µ=1</a:t>
            </a:r>
            <a:r>
              <a:rPr sz="27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(Numerology</a:t>
            </a:r>
            <a:r>
              <a:rPr sz="27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4060"/>
                </a:solidFill>
                <a:latin typeface="Calibri"/>
                <a:cs typeface="Calibri"/>
              </a:rPr>
              <a:t>1</a:t>
            </a:r>
            <a:r>
              <a:rPr sz="27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4060"/>
                </a:solidFill>
                <a:latin typeface="Calibri"/>
                <a:cs typeface="Calibri"/>
              </a:rPr>
              <a:t>)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44060"/>
              </a:buClr>
              <a:buFont typeface="Arial MT"/>
              <a:buChar char="•"/>
            </a:pPr>
            <a:endParaRPr sz="2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solidFill>
                  <a:srgbClr val="244060"/>
                </a:solidFill>
                <a:latin typeface="Calibri"/>
                <a:cs typeface="Calibri"/>
              </a:rPr>
              <a:t>µ=2</a:t>
            </a:r>
            <a:r>
              <a:rPr sz="27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(Numerology </a:t>
            </a:r>
            <a:r>
              <a:rPr sz="2700" spc="-5" dirty="0">
                <a:solidFill>
                  <a:srgbClr val="244060"/>
                </a:solidFill>
                <a:latin typeface="Calibri"/>
                <a:cs typeface="Calibri"/>
              </a:rPr>
              <a:t>2)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44060"/>
              </a:buClr>
              <a:buFont typeface="Arial MT"/>
              <a:buChar char="•"/>
            </a:pPr>
            <a:endParaRPr sz="2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solidFill>
                  <a:srgbClr val="244060"/>
                </a:solidFill>
                <a:latin typeface="Calibri"/>
                <a:cs typeface="Calibri"/>
              </a:rPr>
              <a:t>µ=3</a:t>
            </a:r>
            <a:r>
              <a:rPr sz="27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(Numerology</a:t>
            </a:r>
            <a:r>
              <a:rPr sz="27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4060"/>
                </a:solidFill>
                <a:latin typeface="Calibri"/>
                <a:cs typeface="Calibri"/>
              </a:rPr>
              <a:t>3</a:t>
            </a:r>
            <a:r>
              <a:rPr sz="2700" spc="-2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4060"/>
                </a:solidFill>
                <a:latin typeface="Calibri"/>
                <a:cs typeface="Calibri"/>
              </a:rPr>
              <a:t>)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244060"/>
              </a:buClr>
              <a:buFont typeface="Arial MT"/>
              <a:buChar char="•"/>
            </a:pPr>
            <a:endParaRPr sz="2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5" dirty="0">
                <a:solidFill>
                  <a:srgbClr val="244060"/>
                </a:solidFill>
                <a:latin typeface="Calibri"/>
                <a:cs typeface="Calibri"/>
              </a:rPr>
              <a:t>µ=4</a:t>
            </a:r>
            <a:r>
              <a:rPr sz="2700" spc="-2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244060"/>
                </a:solidFill>
                <a:latin typeface="Calibri"/>
                <a:cs typeface="Calibri"/>
              </a:rPr>
              <a:t>(Numerology</a:t>
            </a:r>
            <a:r>
              <a:rPr sz="2700" spc="-15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4060"/>
                </a:solidFill>
                <a:latin typeface="Calibri"/>
                <a:cs typeface="Calibri"/>
              </a:rPr>
              <a:t>4</a:t>
            </a:r>
            <a:r>
              <a:rPr sz="2700" spc="-30" dirty="0">
                <a:solidFill>
                  <a:srgbClr val="244060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244060"/>
                </a:solidFill>
                <a:latin typeface="Calibri"/>
                <a:cs typeface="Calibri"/>
              </a:rPr>
              <a:t>)</a:t>
            </a:r>
            <a:endParaRPr sz="27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733800" y="1981200"/>
            <a:ext cx="4228814" cy="4622669"/>
            <a:chOff x="6553581" y="1466472"/>
            <a:chExt cx="5638419" cy="4622669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90829" y="2019312"/>
              <a:ext cx="4901171" cy="406982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553581" y="1466472"/>
              <a:ext cx="5410200" cy="553720"/>
            </a:xfrm>
            <a:custGeom>
              <a:avLst/>
              <a:gdLst/>
              <a:ahLst/>
              <a:cxnLst/>
              <a:rect l="l" t="t" r="r" b="b"/>
              <a:pathLst>
                <a:path w="5410200" h="553719">
                  <a:moveTo>
                    <a:pt x="0" y="92201"/>
                  </a:moveTo>
                  <a:lnTo>
                    <a:pt x="7246" y="56310"/>
                  </a:lnTo>
                  <a:lnTo>
                    <a:pt x="27008" y="27003"/>
                  </a:lnTo>
                  <a:lnTo>
                    <a:pt x="56315" y="7244"/>
                  </a:lnTo>
                  <a:lnTo>
                    <a:pt x="92202" y="0"/>
                  </a:lnTo>
                  <a:lnTo>
                    <a:pt x="5317998" y="0"/>
                  </a:lnTo>
                  <a:lnTo>
                    <a:pt x="5353884" y="7244"/>
                  </a:lnTo>
                  <a:lnTo>
                    <a:pt x="5383191" y="27003"/>
                  </a:lnTo>
                  <a:lnTo>
                    <a:pt x="5402953" y="56310"/>
                  </a:lnTo>
                  <a:lnTo>
                    <a:pt x="5410200" y="92201"/>
                  </a:lnTo>
                  <a:lnTo>
                    <a:pt x="5410200" y="460997"/>
                  </a:lnTo>
                  <a:lnTo>
                    <a:pt x="5402953" y="496890"/>
                  </a:lnTo>
                  <a:lnTo>
                    <a:pt x="5383191" y="526202"/>
                  </a:lnTo>
                  <a:lnTo>
                    <a:pt x="5353884" y="545965"/>
                  </a:lnTo>
                  <a:lnTo>
                    <a:pt x="5317998" y="553211"/>
                  </a:lnTo>
                  <a:lnTo>
                    <a:pt x="92202" y="553211"/>
                  </a:lnTo>
                  <a:lnTo>
                    <a:pt x="56315" y="545965"/>
                  </a:lnTo>
                  <a:lnTo>
                    <a:pt x="27008" y="526202"/>
                  </a:lnTo>
                  <a:lnTo>
                    <a:pt x="7246" y="496890"/>
                  </a:lnTo>
                  <a:lnTo>
                    <a:pt x="0" y="460997"/>
                  </a:lnTo>
                  <a:lnTo>
                    <a:pt x="0" y="92201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9829800" y="923246"/>
            <a:ext cx="3449955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latin typeface="Calibri"/>
                <a:cs typeface="Calibri"/>
              </a:rPr>
              <a:t>RB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=</a:t>
            </a:r>
            <a:r>
              <a:rPr sz="2800" b="1" spc="-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12</a:t>
            </a:r>
            <a:r>
              <a:rPr sz="2800" b="1" spc="-20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contiguous</a:t>
            </a:r>
            <a:r>
              <a:rPr sz="2800" b="1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Calibri"/>
                <a:cs typeface="Calibri"/>
              </a:rPr>
              <a:t>Sub</a:t>
            </a:r>
            <a:r>
              <a:rPr sz="2800" b="1" spc="-10" dirty="0">
                <a:latin typeface="Calibri"/>
                <a:cs typeface="Calibri"/>
              </a:rPr>
              <a:t> Carriers</a:t>
            </a:r>
            <a:endParaRPr sz="2800" b="1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4530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41978" y="-59467"/>
            <a:ext cx="827913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" dirty="0">
                <a:solidFill>
                  <a:srgbClr val="FF0000"/>
                </a:solidFill>
              </a:rPr>
              <a:t>Numerology</a:t>
            </a:r>
            <a:r>
              <a:rPr sz="4000" spc="-5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, </a:t>
            </a:r>
            <a:r>
              <a:rPr sz="4000" spc="-5" dirty="0">
                <a:solidFill>
                  <a:srgbClr val="FF0000"/>
                </a:solidFill>
              </a:rPr>
              <a:t>Sub </a:t>
            </a:r>
            <a:r>
              <a:rPr sz="4000" dirty="0">
                <a:solidFill>
                  <a:srgbClr val="FF0000"/>
                </a:solidFill>
              </a:rPr>
              <a:t>Carrier</a:t>
            </a:r>
            <a:r>
              <a:rPr sz="4000" spc="-5" dirty="0">
                <a:solidFill>
                  <a:srgbClr val="FF0000"/>
                </a:solidFill>
              </a:rPr>
              <a:t> Spacing</a:t>
            </a:r>
            <a:r>
              <a:rPr sz="4000" spc="-10" dirty="0">
                <a:solidFill>
                  <a:srgbClr val="FF0000"/>
                </a:solidFill>
              </a:rPr>
              <a:t> </a:t>
            </a:r>
            <a:r>
              <a:rPr sz="4000" spc="-5" dirty="0">
                <a:solidFill>
                  <a:srgbClr val="FF0000"/>
                </a:solidFill>
              </a:rPr>
              <a:t>and</a:t>
            </a:r>
            <a:r>
              <a:rPr sz="4000" spc="-15" dirty="0">
                <a:solidFill>
                  <a:srgbClr val="FF0000"/>
                </a:solidFill>
              </a:rPr>
              <a:t> </a:t>
            </a:r>
            <a:r>
              <a:rPr sz="4000" spc="-20" dirty="0">
                <a:solidFill>
                  <a:srgbClr val="FF0000"/>
                </a:solidFill>
              </a:rPr>
              <a:t>Resource</a:t>
            </a:r>
            <a:r>
              <a:rPr sz="4000" spc="-5" dirty="0">
                <a:solidFill>
                  <a:srgbClr val="FF0000"/>
                </a:solidFill>
              </a:rPr>
              <a:t> </a:t>
            </a:r>
            <a:r>
              <a:rPr sz="4000" dirty="0">
                <a:solidFill>
                  <a:srgbClr val="FF0000"/>
                </a:solidFill>
              </a:rPr>
              <a:t>Block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97180" y="1226058"/>
            <a:ext cx="7795260" cy="5632450"/>
            <a:chOff x="396240" y="1226058"/>
            <a:chExt cx="10393680" cy="56324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6240" y="5295150"/>
              <a:ext cx="2377439" cy="15628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502" y="5486400"/>
              <a:ext cx="1994915" cy="137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90772" y="1226058"/>
              <a:ext cx="6899147" cy="56319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82034" y="1417320"/>
              <a:ext cx="6516623" cy="54406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59152" y="4632959"/>
              <a:ext cx="1906523" cy="222504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50413" y="4824221"/>
              <a:ext cx="1524011" cy="203377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7502" y="1512570"/>
              <a:ext cx="2873501" cy="2498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6606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00419" y="299124"/>
            <a:ext cx="615696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Example</a:t>
            </a:r>
            <a:endParaRPr spc="-5" dirty="0">
              <a:solidFill>
                <a:schemeClr val="bg1"/>
              </a:solidFill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860937" y="5639024"/>
            <a:ext cx="745331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3400" spc="-9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400" spc="-5" dirty="0">
                <a:solidFill>
                  <a:srgbClr val="FFFFFF"/>
                </a:solidFill>
                <a:latin typeface="Calibri"/>
                <a:cs typeface="Calibri"/>
              </a:rPr>
              <a:t>135</a:t>
            </a:r>
            <a:endParaRPr sz="3400" dirty="0">
              <a:latin typeface="Calibri"/>
              <a:cs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4" y="3043072"/>
            <a:ext cx="4714875" cy="34194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13"/>
              <p:cNvSpPr txBox="1"/>
              <p:nvPr/>
            </p:nvSpPr>
            <p:spPr>
              <a:xfrm>
                <a:off x="4665560" y="5095007"/>
                <a:ext cx="4478440" cy="38985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𝟓𝟎</m:t>
                      </m:r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Calibri"/>
                        </a:rPr>
                        <m:t> ×</m:t>
                      </m:r>
                      <m:sSup>
                        <m:sSupPr>
                          <m:ctrlPr>
                            <a:rPr lang="ar-A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𝟏𝟎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𝟔</m:t>
                          </m:r>
                        </m:sup>
                      </m:sSup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−</m:t>
                      </m:r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𝟐</m:t>
                      </m:r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</m:t>
                      </m:r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𝟔𝟗𝟐</m:t>
                      </m:r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.</m:t>
                      </m:r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𝟓</m:t>
                      </m:r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×</m:t>
                      </m:r>
                      <m:r>
                        <a:rPr lang="ar-AE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𝟏</m:t>
                      </m:r>
                      <m:sSup>
                        <m:sSupPr>
                          <m:ctrlPr>
                            <a:rPr lang="ar-A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pPr>
                        <m:e>
                          <m:r>
                            <a:rPr lang="ar-A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𝟎</m:t>
                          </m:r>
                        </m:e>
                        <m:sup>
                          <m:r>
                            <a:rPr lang="ar-AE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ar-AE" sz="2400" b="1" dirty="0">
                  <a:solidFill>
                    <a:srgbClr val="FF0000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5560" y="5095007"/>
                <a:ext cx="4478440" cy="389850"/>
              </a:xfrm>
              <a:prstGeom prst="rect">
                <a:avLst/>
              </a:prstGeom>
              <a:blipFill>
                <a:blip r:embed="rId5"/>
                <a:stretch>
                  <a:fillRect t="-18750" b="-468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13"/>
              <p:cNvSpPr txBox="1"/>
              <p:nvPr/>
            </p:nvSpPr>
            <p:spPr>
              <a:xfrm>
                <a:off x="4975237" y="5584663"/>
                <a:ext cx="2209800" cy="76270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𝟒𝟖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.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𝟔𝟏𝟕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libri"/>
                            </a:rPr>
                            <m:t> ×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𝟏</m:t>
                          </m:r>
                          <m:sSup>
                            <m:sSupPr>
                              <m:ctrlP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𝟔</m:t>
                              </m:r>
                            </m:sup>
                          </m:sSup>
                        </m:num>
                        <m:den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𝟏𝟓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×</m:t>
                          </m:r>
                          <m:r>
                            <a:rPr lang="en-US" sz="2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𝟏</m:t>
                          </m:r>
                          <m:sSup>
                            <m:sSup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𝟎</m:t>
                              </m:r>
                            </m:e>
                            <m:sup>
                              <m: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ar-AE" sz="2400" b="1" dirty="0">
                  <a:solidFill>
                    <a:srgbClr val="FF0000"/>
                  </a:solidFill>
                  <a:latin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237" y="5584663"/>
                <a:ext cx="2209800" cy="762709"/>
              </a:xfrm>
              <a:prstGeom prst="rect">
                <a:avLst/>
              </a:prstGeom>
              <a:blipFill>
                <a:blip r:embed="rId6"/>
                <a:stretch>
                  <a:fillRect r="-5510" b="-72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3"/>
          <p:cNvSpPr txBox="1"/>
          <p:nvPr/>
        </p:nvSpPr>
        <p:spPr>
          <a:xfrm>
            <a:off x="173140" y="1234467"/>
            <a:ext cx="8437460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spc="-10" dirty="0" smtClean="0">
                <a:latin typeface="Calibri"/>
                <a:cs typeface="Calibri"/>
              </a:rPr>
              <a:t>For the following parameters: </a:t>
            </a:r>
            <a:r>
              <a:rPr sz="2400" spc="-10" dirty="0" smtClean="0">
                <a:latin typeface="Calibri"/>
                <a:cs typeface="Calibri"/>
              </a:rPr>
              <a:t>Channel</a:t>
            </a:r>
            <a:r>
              <a:rPr sz="2400" spc="-5" dirty="0" smtClean="0">
                <a:latin typeface="Calibri"/>
                <a:cs typeface="Calibri"/>
              </a:rPr>
              <a:t> </a:t>
            </a:r>
            <a:r>
              <a:rPr sz="2400" spc="-25" dirty="0" smtClean="0">
                <a:latin typeface="Calibri"/>
                <a:cs typeface="Calibri"/>
              </a:rPr>
              <a:t>BW</a:t>
            </a:r>
            <a:r>
              <a:rPr lang="en-US" sz="2400" spc="-25" dirty="0" smtClean="0">
                <a:latin typeface="Calibri"/>
                <a:cs typeface="Calibri"/>
              </a:rPr>
              <a:t>=50 MHz</a:t>
            </a:r>
            <a:r>
              <a:rPr lang="en-US" sz="2400" spc="-5" dirty="0" smtClean="0">
                <a:latin typeface="Calibri"/>
                <a:cs typeface="Calibri"/>
              </a:rPr>
              <a:t>,  Numerology =0, and </a:t>
            </a:r>
            <a:r>
              <a:rPr sz="2400" spc="-15" dirty="0" smtClean="0">
                <a:latin typeface="Calibri"/>
                <a:cs typeface="Calibri"/>
              </a:rPr>
              <a:t>Guard</a:t>
            </a:r>
            <a:r>
              <a:rPr sz="2400" spc="-10" dirty="0" smtClean="0">
                <a:latin typeface="Calibri"/>
                <a:cs typeface="Calibri"/>
              </a:rPr>
              <a:t> </a:t>
            </a:r>
            <a:r>
              <a:rPr sz="2400" spc="-5" dirty="0" smtClean="0">
                <a:latin typeface="Calibri"/>
                <a:cs typeface="Calibri"/>
              </a:rPr>
              <a:t>Band</a:t>
            </a:r>
            <a:r>
              <a:rPr lang="en-US" sz="2400" spc="-5" dirty="0" smtClean="0">
                <a:latin typeface="Calibri"/>
                <a:cs typeface="Calibri"/>
              </a:rPr>
              <a:t> = 692.5 KHz; Determine Transmission BW and No. of Sub-carriers. 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1" name="object 7"/>
          <p:cNvSpPr txBox="1"/>
          <p:nvPr/>
        </p:nvSpPr>
        <p:spPr>
          <a:xfrm>
            <a:off x="4860937" y="3845905"/>
            <a:ext cx="46482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Sub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Carrier Spacing =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1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sz="2400" b="1" spc="22" baseline="25641" dirty="0">
                <a:solidFill>
                  <a:srgbClr val="FF0000"/>
                </a:solidFill>
                <a:latin typeface="Calibri"/>
                <a:cs typeface="Calibri"/>
              </a:rPr>
              <a:t>µ</a:t>
            </a:r>
            <a:r>
              <a:rPr sz="2400" b="1" spc="225" baseline="2564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0000"/>
                </a:solidFill>
                <a:latin typeface="Calibri"/>
                <a:cs typeface="Calibri"/>
              </a:rPr>
              <a:t>x 15</a:t>
            </a:r>
            <a:r>
              <a:rPr sz="2400" b="1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400" b="1" spc="-10" dirty="0" smtClean="0">
                <a:solidFill>
                  <a:srgbClr val="FF0000"/>
                </a:solidFill>
                <a:latin typeface="Calibri"/>
                <a:cs typeface="Calibri"/>
              </a:rPr>
              <a:t>KHz</a:t>
            </a:r>
            <a:endParaRPr sz="24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412704" y="3185196"/>
            <a:ext cx="6654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spc="15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lang="en-IN" b="1" spc="22" baseline="25641" dirty="0">
                <a:solidFill>
                  <a:srgbClr val="FF0000"/>
                </a:solidFill>
                <a:latin typeface="Calibri"/>
                <a:cs typeface="Calibri"/>
              </a:rPr>
              <a:t>µ </a:t>
            </a:r>
            <a:r>
              <a:rPr lang="en-IN" b="1" spc="15" dirty="0" smtClean="0">
                <a:solidFill>
                  <a:srgbClr val="FF0000"/>
                </a:solidFill>
                <a:latin typeface="Calibri"/>
                <a:cs typeface="Calibri"/>
              </a:rPr>
              <a:t>=1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606268" y="3180214"/>
            <a:ext cx="6574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spc="22" baseline="25641" dirty="0">
                <a:solidFill>
                  <a:srgbClr val="FF0000"/>
                </a:solidFill>
                <a:latin typeface="Calibri"/>
                <a:cs typeface="Calibri"/>
              </a:rPr>
              <a:t>µ = 0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967425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73" y="23622"/>
            <a:ext cx="9127427" cy="795516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52400" y="956889"/>
            <a:ext cx="8437460" cy="57188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spc="-10" dirty="0" smtClean="0">
                <a:latin typeface="Calibri"/>
                <a:cs typeface="Calibri"/>
              </a:rPr>
              <a:t>Given Parameters: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spc="-10" dirty="0" smtClean="0">
                <a:latin typeface="Calibri"/>
                <a:cs typeface="Calibri"/>
              </a:rPr>
              <a:t>Channel</a:t>
            </a:r>
            <a:r>
              <a:rPr sz="2400" spc="-5" dirty="0" smtClean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BW</a:t>
            </a:r>
            <a:r>
              <a:rPr sz="2400" spc="-5" dirty="0">
                <a:latin typeface="Calibri"/>
                <a:cs typeface="Calibri"/>
              </a:rPr>
              <a:t> 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100 </a:t>
            </a:r>
            <a:r>
              <a:rPr sz="2400" spc="-5" dirty="0" smtClean="0">
                <a:latin typeface="Calibri"/>
                <a:cs typeface="Calibri"/>
              </a:rPr>
              <a:t>MHz</a:t>
            </a:r>
            <a:endParaRPr lang="en-US"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400" spc="-5" dirty="0" smtClean="0">
                <a:latin typeface="Calibri"/>
                <a:cs typeface="Calibri"/>
              </a:rPr>
              <a:t>Numerology-2 (</a:t>
            </a:r>
            <a:r>
              <a:rPr sz="2400" spc="-5" dirty="0" smtClean="0">
                <a:latin typeface="Calibri"/>
                <a:cs typeface="Calibri"/>
              </a:rPr>
              <a:t>µ=2</a:t>
            </a:r>
            <a:r>
              <a:rPr lang="en-US" sz="2400" spc="-5" dirty="0" smtClean="0">
                <a:latin typeface="Calibri"/>
                <a:cs typeface="Calibri"/>
              </a:rPr>
              <a:t>) --- </a:t>
            </a:r>
            <a:r>
              <a:rPr sz="2400" spc="-5" dirty="0">
                <a:latin typeface="Calibri"/>
                <a:cs typeface="Calibri"/>
              </a:rPr>
              <a:t>	SCS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=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 smtClean="0">
                <a:latin typeface="Calibri"/>
                <a:cs typeface="Calibri"/>
              </a:rPr>
              <a:t>60KHz</a:t>
            </a:r>
            <a:endParaRPr lang="en-US" sz="2400" dirty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sz="2400" spc="-15" dirty="0" smtClean="0">
                <a:latin typeface="Calibri"/>
                <a:cs typeface="Calibri"/>
              </a:rPr>
              <a:t>Guard</a:t>
            </a:r>
            <a:r>
              <a:rPr sz="2400" spc="-10" dirty="0" smtClean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Band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=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1370 </a:t>
            </a:r>
            <a:r>
              <a:rPr sz="2400" spc="-5" dirty="0" smtClean="0">
                <a:latin typeface="Calibri"/>
                <a:cs typeface="Calibri"/>
              </a:rPr>
              <a:t>KHz</a:t>
            </a:r>
            <a:endParaRPr lang="en-US" sz="2400" spc="-5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en-US" sz="2400" spc="-5" dirty="0" smtClean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400" spc="-5" dirty="0" smtClean="0">
                <a:latin typeface="Calibri"/>
                <a:cs typeface="Calibri"/>
              </a:rPr>
              <a:t>Determine Transmission BW, No. of Sub-carriers and Resource Block , Bandwidth of RB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2400" spc="-5" dirty="0" smtClean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400" spc="-5" dirty="0" smtClean="0">
                <a:latin typeface="Calibri"/>
                <a:cs typeface="Calibri"/>
              </a:rPr>
              <a:t>Transmission BW = </a:t>
            </a:r>
            <a:r>
              <a:rPr lang="en-US" sz="2400" spc="-5" dirty="0" smtClean="0">
                <a:solidFill>
                  <a:srgbClr val="FF0000"/>
                </a:solidFill>
                <a:latin typeface="Calibri"/>
                <a:cs typeface="Calibri"/>
              </a:rPr>
              <a:t>97.26 MHz </a:t>
            </a:r>
            <a:r>
              <a:rPr lang="en-US" sz="2400" spc="-5" dirty="0" smtClean="0">
                <a:latin typeface="Calibri"/>
                <a:cs typeface="Calibri"/>
              </a:rPr>
              <a:t>(100 MHz- 2 * 11370 kHz)</a:t>
            </a: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2400" spc="-5" dirty="0" smtClean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400" spc="-5" dirty="0" smtClean="0">
                <a:latin typeface="Calibri"/>
                <a:cs typeface="Calibri"/>
              </a:rPr>
              <a:t>No. of Sub-Carriers = </a:t>
            </a:r>
            <a:r>
              <a:rPr lang="en-US" sz="2400" spc="-5" dirty="0" smtClean="0">
                <a:solidFill>
                  <a:srgbClr val="FF0000"/>
                </a:solidFill>
                <a:latin typeface="Calibri"/>
                <a:cs typeface="Calibri"/>
              </a:rPr>
              <a:t>1621</a:t>
            </a:r>
            <a:r>
              <a:rPr lang="en-US" sz="2400" spc="-5" dirty="0" smtClean="0">
                <a:latin typeface="Calibri"/>
                <a:cs typeface="Calibri"/>
              </a:rPr>
              <a:t>  (97.26 * 10^6 / 60 KHz)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2400" spc="-5" dirty="0" smtClean="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400" spc="-5" dirty="0" smtClean="0">
                <a:latin typeface="Calibri"/>
                <a:cs typeface="Calibri"/>
              </a:rPr>
              <a:t>No. of RBs = 1621/12 = </a:t>
            </a:r>
            <a:r>
              <a:rPr lang="en-US" sz="2400" spc="-5" dirty="0" smtClean="0">
                <a:solidFill>
                  <a:srgbClr val="FF0000"/>
                </a:solidFill>
                <a:latin typeface="Calibri"/>
                <a:cs typeface="Calibri"/>
              </a:rPr>
              <a:t>135</a:t>
            </a: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endParaRPr lang="en-US" sz="2400" spc="-5" dirty="0" smtClean="0">
              <a:solidFill>
                <a:srgbClr val="FF0000"/>
              </a:solidFill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95"/>
              </a:spcBef>
              <a:buFont typeface="Arial" panose="020B0604020202020204" pitchFamily="34" charset="0"/>
              <a:buChar char="•"/>
            </a:pPr>
            <a:r>
              <a:rPr lang="en-US" sz="2400" spc="-5" dirty="0" smtClean="0">
                <a:latin typeface="Calibri"/>
                <a:cs typeface="Calibri"/>
              </a:rPr>
              <a:t>Band width of one RB </a:t>
            </a:r>
            <a:r>
              <a:rPr lang="en-US" sz="2400" spc="-5" dirty="0" smtClean="0">
                <a:solidFill>
                  <a:srgbClr val="FF0000"/>
                </a:solidFill>
                <a:latin typeface="Calibri"/>
                <a:cs typeface="Calibri"/>
              </a:rPr>
              <a:t>= 12 * 60 = 720 KHz</a:t>
            </a:r>
            <a:endParaRPr sz="2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01806" y="161373"/>
            <a:ext cx="6156960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pc="-15" dirty="0" smtClean="0">
                <a:solidFill>
                  <a:schemeClr val="bg1"/>
                </a:solidFill>
              </a:rPr>
              <a:t>Example</a:t>
            </a:r>
            <a:endParaRPr spc="-5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04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30704" y="299124"/>
            <a:ext cx="4707965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bg1"/>
                </a:solidFill>
              </a:rPr>
              <a:t>UE</a:t>
            </a:r>
            <a:r>
              <a:rPr spc="-10" dirty="0">
                <a:solidFill>
                  <a:schemeClr val="bg1"/>
                </a:solidFill>
              </a:rPr>
              <a:t> Channel</a:t>
            </a:r>
            <a:r>
              <a:rPr spc="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Bandwidth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14300" y="1149097"/>
            <a:ext cx="9029700" cy="4646295"/>
            <a:chOff x="152400" y="1149096"/>
            <a:chExt cx="12039600" cy="464629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400" y="1828800"/>
              <a:ext cx="8474963" cy="39662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25383" y="1149096"/>
              <a:ext cx="4166614" cy="14897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25384" y="2568702"/>
              <a:ext cx="4166615" cy="14897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5384" y="3988308"/>
              <a:ext cx="4166615" cy="149961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207214" y="1298197"/>
            <a:ext cx="2860358" cy="4105868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60325">
              <a:lnSpc>
                <a:spcPts val="2200"/>
              </a:lnSpc>
              <a:spcBef>
                <a:spcPts val="335"/>
              </a:spcBef>
            </a:pP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The UE channel bandwidth supports </a:t>
            </a:r>
            <a:r>
              <a:rPr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a single</a:t>
            </a:r>
            <a:r>
              <a:rPr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NR RF </a:t>
            </a:r>
            <a:r>
              <a:rPr spc="-10" dirty="0">
                <a:solidFill>
                  <a:srgbClr val="FFFFFF"/>
                </a:solidFill>
                <a:latin typeface="Calibri"/>
                <a:cs typeface="Calibri"/>
              </a:rPr>
              <a:t>carrier</a:t>
            </a:r>
            <a:endParaRPr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dirty="0">
              <a:latin typeface="Calibri"/>
              <a:cs typeface="Calibri"/>
            </a:endParaRPr>
          </a:p>
          <a:p>
            <a:pPr marL="12700" marR="409575">
              <a:lnSpc>
                <a:spcPts val="2200"/>
              </a:lnSpc>
            </a:pPr>
            <a:endParaRPr lang="en-US" spc="-5" dirty="0" smtClean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409575">
              <a:lnSpc>
                <a:spcPts val="2200"/>
              </a:lnSpc>
            </a:pPr>
            <a:r>
              <a:rPr spc="-5" dirty="0" smtClean="0">
                <a:solidFill>
                  <a:srgbClr val="FFFFFF"/>
                </a:solidFill>
                <a:latin typeface="Calibri"/>
                <a:cs typeface="Calibri"/>
              </a:rPr>
              <a:t>BS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supports 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different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UE channel </a:t>
            </a:r>
            <a:r>
              <a:rPr spc="-4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bandwidths within the same BS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spectrum.</a:t>
            </a:r>
            <a:endParaRPr dirty="0">
              <a:latin typeface="Calibri"/>
              <a:cs typeface="Calibri"/>
            </a:endParaRPr>
          </a:p>
          <a:p>
            <a:pPr marL="12700" marR="5080">
              <a:lnSpc>
                <a:spcPct val="91600"/>
              </a:lnSpc>
            </a:pPr>
            <a:endParaRPr lang="en-US" spc="-5" dirty="0" smtClean="0">
              <a:solidFill>
                <a:srgbClr val="FFFFFF"/>
              </a:solidFill>
              <a:latin typeface="Calibri"/>
              <a:cs typeface="Calibri"/>
            </a:endParaRPr>
          </a:p>
          <a:p>
            <a:pPr marL="12700" marR="5080">
              <a:lnSpc>
                <a:spcPct val="91600"/>
              </a:lnSpc>
            </a:pPr>
            <a:r>
              <a:rPr spc="-5" dirty="0" smtClean="0">
                <a:solidFill>
                  <a:srgbClr val="FFFFFF"/>
                </a:solidFill>
                <a:latin typeface="Calibri"/>
                <a:cs typeface="Calibri"/>
              </a:rPr>
              <a:t>BS</a:t>
            </a:r>
            <a:r>
              <a:rPr spc="-1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supports</a:t>
            </a:r>
            <a:r>
              <a:rPr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Transmission</a:t>
            </a:r>
            <a:r>
              <a:rPr spc="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of</a:t>
            </a:r>
            <a:r>
              <a:rPr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multiple </a:t>
            </a:r>
            <a:r>
              <a:rPr spc="-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carriers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the same</a:t>
            </a:r>
            <a:r>
              <a:rPr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UE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(CA) or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multiple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carriers</a:t>
            </a:r>
            <a:r>
              <a:rPr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different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 UEs 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within</a:t>
            </a:r>
            <a:r>
              <a:rPr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BS</a:t>
            </a:r>
            <a:r>
              <a:rPr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5" dirty="0">
                <a:solidFill>
                  <a:srgbClr val="FFFFFF"/>
                </a:solidFill>
                <a:latin typeface="Calibri"/>
                <a:cs typeface="Calibri"/>
              </a:rPr>
              <a:t>Channel</a:t>
            </a:r>
            <a:r>
              <a:rPr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pc="-15" dirty="0">
                <a:solidFill>
                  <a:srgbClr val="FFFFFF"/>
                </a:solidFill>
                <a:latin typeface="Calibri"/>
                <a:cs typeface="Calibri"/>
              </a:rPr>
              <a:t>BW</a:t>
            </a:r>
            <a:endParaRPr dirty="0">
              <a:latin typeface="Calibri"/>
              <a:cs typeface="Calibri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19037" y="5407915"/>
            <a:ext cx="3124961" cy="1450085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6156981" y="5655903"/>
            <a:ext cx="2834164" cy="117147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 marR="5080">
              <a:lnSpc>
                <a:spcPts val="2200"/>
              </a:lnSpc>
              <a:spcBef>
                <a:spcPts val="335"/>
              </a:spcBef>
            </a:pP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UE is 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configured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with</a:t>
            </a:r>
            <a:r>
              <a:rPr sz="2000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one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or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more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BWP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/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carriers,</a:t>
            </a:r>
            <a:r>
              <a:rPr sz="20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each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with its</a:t>
            </a:r>
            <a:r>
              <a:rPr sz="2000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own UE </a:t>
            </a:r>
            <a:r>
              <a:rPr sz="2000" spc="-43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FFFFFF"/>
                </a:solidFill>
                <a:latin typeface="Calibri"/>
                <a:cs typeface="Calibri"/>
              </a:rPr>
              <a:t>channel </a:t>
            </a:r>
            <a:r>
              <a:rPr sz="2000" spc="-15" dirty="0">
                <a:solidFill>
                  <a:srgbClr val="FFFFFF"/>
                </a:solidFill>
                <a:latin typeface="Calibri"/>
                <a:cs typeface="Calibri"/>
              </a:rPr>
              <a:t>BW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0704" y="6106843"/>
            <a:ext cx="120872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3GPP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TS38.101-1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121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0200" y="299124"/>
            <a:ext cx="4938469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chemeClr val="bg1"/>
                </a:solidFill>
              </a:rPr>
              <a:t>UE</a:t>
            </a:r>
            <a:r>
              <a:rPr spc="-10" dirty="0">
                <a:solidFill>
                  <a:schemeClr val="bg1"/>
                </a:solidFill>
              </a:rPr>
              <a:t> Channel</a:t>
            </a:r>
            <a:r>
              <a:rPr spc="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Bandwidth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28600" y="1295400"/>
            <a:ext cx="8670608" cy="5087620"/>
            <a:chOff x="304800" y="1295400"/>
            <a:chExt cx="11560810" cy="50876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86934" y="3657600"/>
              <a:ext cx="6678167" cy="272491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4800" y="1295400"/>
              <a:ext cx="5714999" cy="3185159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4402455" y="6421740"/>
            <a:ext cx="120872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3GPP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TS38.101-1</a:t>
            </a:r>
            <a:endParaRPr sz="18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8600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2744" y="138777"/>
            <a:ext cx="6799421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09280" algn="l"/>
              </a:tabLst>
            </a:pPr>
            <a:r>
              <a:rPr spc="-5" dirty="0">
                <a:solidFill>
                  <a:srgbClr val="FF0000"/>
                </a:solidFill>
              </a:rPr>
              <a:t>M</a:t>
            </a:r>
            <a:r>
              <a:rPr spc="-50" dirty="0">
                <a:solidFill>
                  <a:srgbClr val="FF0000"/>
                </a:solidFill>
              </a:rPr>
              <a:t>a</a:t>
            </a:r>
            <a:r>
              <a:rPr spc="-10" dirty="0">
                <a:solidFill>
                  <a:srgbClr val="FF0000"/>
                </a:solidFill>
              </a:rPr>
              <a:t>ximu</a:t>
            </a:r>
            <a:r>
              <a:rPr spc="-5" dirty="0">
                <a:solidFill>
                  <a:srgbClr val="FF0000"/>
                </a:solidFill>
              </a:rPr>
              <a:t>m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285" dirty="0">
                <a:solidFill>
                  <a:srgbClr val="FF0000"/>
                </a:solidFill>
              </a:rPr>
              <a:t>T</a:t>
            </a:r>
            <a:r>
              <a:rPr spc="-95" dirty="0">
                <a:solidFill>
                  <a:srgbClr val="FF0000"/>
                </a:solidFill>
              </a:rPr>
              <a:t>r</a:t>
            </a:r>
            <a:r>
              <a:rPr spc="-5" dirty="0">
                <a:solidFill>
                  <a:srgbClr val="FF0000"/>
                </a:solidFill>
              </a:rPr>
              <a:t>ansmis</a:t>
            </a:r>
            <a:r>
              <a:rPr dirty="0">
                <a:solidFill>
                  <a:srgbClr val="FF0000"/>
                </a:solidFill>
              </a:rPr>
              <a:t>s</a:t>
            </a:r>
            <a:r>
              <a:rPr spc="-10" dirty="0">
                <a:solidFill>
                  <a:srgbClr val="FF0000"/>
                </a:solidFill>
              </a:rPr>
              <a:t>i</a:t>
            </a:r>
            <a:r>
              <a:rPr dirty="0">
                <a:solidFill>
                  <a:srgbClr val="FF0000"/>
                </a:solidFill>
              </a:rPr>
              <a:t>o</a:t>
            </a:r>
            <a:r>
              <a:rPr spc="-5" dirty="0">
                <a:solidFill>
                  <a:srgbClr val="FF0000"/>
                </a:solidFill>
              </a:rPr>
              <a:t>n</a:t>
            </a:r>
            <a:r>
              <a:rPr spc="25" dirty="0">
                <a:solidFill>
                  <a:srgbClr val="FF0000"/>
                </a:solidFill>
              </a:rPr>
              <a:t> </a:t>
            </a:r>
            <a:r>
              <a:rPr spc="-5" dirty="0" smtClean="0">
                <a:solidFill>
                  <a:srgbClr val="FF0000"/>
                </a:solidFill>
              </a:rPr>
              <a:t>Bandwidth</a:t>
            </a:r>
            <a:r>
              <a:rPr lang="en-US" spc="-5" dirty="0" smtClean="0">
                <a:solidFill>
                  <a:srgbClr val="FF0000"/>
                </a:solidFill>
              </a:rPr>
              <a:t> </a:t>
            </a:r>
            <a:r>
              <a:rPr spc="-5" dirty="0" smtClean="0">
                <a:solidFill>
                  <a:srgbClr val="FF0000"/>
                </a:solidFill>
              </a:rPr>
              <a:t>FR1</a:t>
            </a:r>
            <a:endParaRPr spc="-5" dirty="0">
              <a:solidFill>
                <a:srgbClr val="FF0000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432" y="946404"/>
            <a:ext cx="8840629" cy="5417820"/>
            <a:chOff x="36576" y="946404"/>
            <a:chExt cx="11787505" cy="54178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" y="946404"/>
              <a:ext cx="9680435" cy="541781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1000" y="1295401"/>
              <a:ext cx="8991599" cy="472439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36551" y="1248648"/>
              <a:ext cx="9080500" cy="4815840"/>
            </a:xfrm>
            <a:custGeom>
              <a:avLst/>
              <a:gdLst/>
              <a:ahLst/>
              <a:cxnLst/>
              <a:rect l="l" t="t" r="r" b="b"/>
              <a:pathLst>
                <a:path w="9080500" h="4815840">
                  <a:moveTo>
                    <a:pt x="876312" y="0"/>
                  </a:moveTo>
                  <a:lnTo>
                    <a:pt x="876312" y="2298"/>
                  </a:lnTo>
                  <a:lnTo>
                    <a:pt x="9080500" y="2298"/>
                  </a:lnTo>
                  <a:lnTo>
                    <a:pt x="9080500" y="3984853"/>
                  </a:lnTo>
                  <a:lnTo>
                    <a:pt x="9076258" y="4068724"/>
                  </a:lnTo>
                  <a:lnTo>
                    <a:pt x="9063659" y="4151337"/>
                  </a:lnTo>
                  <a:lnTo>
                    <a:pt x="9043149" y="4231093"/>
                  </a:lnTo>
                  <a:lnTo>
                    <a:pt x="9015158" y="4307560"/>
                  </a:lnTo>
                  <a:lnTo>
                    <a:pt x="8980119" y="4380306"/>
                  </a:lnTo>
                  <a:lnTo>
                    <a:pt x="8938450" y="4448898"/>
                  </a:lnTo>
                  <a:lnTo>
                    <a:pt x="8890571" y="4512932"/>
                  </a:lnTo>
                  <a:lnTo>
                    <a:pt x="8836888" y="4571987"/>
                  </a:lnTo>
                  <a:lnTo>
                    <a:pt x="8777833" y="4625670"/>
                  </a:lnTo>
                  <a:lnTo>
                    <a:pt x="8713800" y="4673549"/>
                  </a:lnTo>
                  <a:lnTo>
                    <a:pt x="8645194" y="4715230"/>
                  </a:lnTo>
                  <a:lnTo>
                    <a:pt x="8572461" y="4750269"/>
                  </a:lnTo>
                  <a:lnTo>
                    <a:pt x="8495995" y="4778248"/>
                  </a:lnTo>
                  <a:lnTo>
                    <a:pt x="8416239" y="4798758"/>
                  </a:lnTo>
                  <a:lnTo>
                    <a:pt x="8333625" y="4811369"/>
                  </a:lnTo>
                  <a:lnTo>
                    <a:pt x="8249754" y="4815598"/>
                  </a:lnTo>
                  <a:lnTo>
                    <a:pt x="0" y="4815598"/>
                  </a:lnTo>
                  <a:lnTo>
                    <a:pt x="0" y="833043"/>
                  </a:lnTo>
                  <a:lnTo>
                    <a:pt x="4229" y="749173"/>
                  </a:lnTo>
                  <a:lnTo>
                    <a:pt x="16840" y="666559"/>
                  </a:lnTo>
                  <a:lnTo>
                    <a:pt x="37350" y="586803"/>
                  </a:lnTo>
                  <a:lnTo>
                    <a:pt x="65341" y="510336"/>
                  </a:lnTo>
                  <a:lnTo>
                    <a:pt x="100380" y="437603"/>
                  </a:lnTo>
                  <a:lnTo>
                    <a:pt x="142049" y="369011"/>
                  </a:lnTo>
                  <a:lnTo>
                    <a:pt x="189928" y="304977"/>
                  </a:lnTo>
                  <a:lnTo>
                    <a:pt x="243611" y="245910"/>
                  </a:lnTo>
                  <a:lnTo>
                    <a:pt x="302666" y="192239"/>
                  </a:lnTo>
                  <a:lnTo>
                    <a:pt x="366699" y="144348"/>
                  </a:lnTo>
                  <a:lnTo>
                    <a:pt x="435305" y="102679"/>
                  </a:lnTo>
                  <a:lnTo>
                    <a:pt x="508038" y="67640"/>
                  </a:lnTo>
                  <a:lnTo>
                    <a:pt x="584504" y="39649"/>
                  </a:lnTo>
                  <a:lnTo>
                    <a:pt x="664260" y="19138"/>
                  </a:lnTo>
                  <a:lnTo>
                    <a:pt x="746874" y="6540"/>
                  </a:lnTo>
                  <a:lnTo>
                    <a:pt x="876312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601581" y="2020439"/>
              <a:ext cx="2209800" cy="2818130"/>
            </a:xfrm>
            <a:custGeom>
              <a:avLst/>
              <a:gdLst/>
              <a:ahLst/>
              <a:cxnLst/>
              <a:rect l="l" t="t" r="r" b="b"/>
              <a:pathLst>
                <a:path w="2209800" h="2818129">
                  <a:moveTo>
                    <a:pt x="1841487" y="0"/>
                  </a:moveTo>
                  <a:lnTo>
                    <a:pt x="368312" y="0"/>
                  </a:lnTo>
                  <a:lnTo>
                    <a:pt x="322111" y="2869"/>
                  </a:lnTo>
                  <a:lnTo>
                    <a:pt x="277623" y="11248"/>
                  </a:lnTo>
                  <a:lnTo>
                    <a:pt x="235193" y="24791"/>
                  </a:lnTo>
                  <a:lnTo>
                    <a:pt x="195165" y="43153"/>
                  </a:lnTo>
                  <a:lnTo>
                    <a:pt x="157886" y="65988"/>
                  </a:lnTo>
                  <a:lnTo>
                    <a:pt x="123700" y="92952"/>
                  </a:lnTo>
                  <a:lnTo>
                    <a:pt x="92952" y="123700"/>
                  </a:lnTo>
                  <a:lnTo>
                    <a:pt x="65988" y="157886"/>
                  </a:lnTo>
                  <a:lnTo>
                    <a:pt x="43153" y="195165"/>
                  </a:lnTo>
                  <a:lnTo>
                    <a:pt x="24791" y="235193"/>
                  </a:lnTo>
                  <a:lnTo>
                    <a:pt x="11248" y="277623"/>
                  </a:lnTo>
                  <a:lnTo>
                    <a:pt x="2869" y="322111"/>
                  </a:lnTo>
                  <a:lnTo>
                    <a:pt x="0" y="368312"/>
                  </a:lnTo>
                  <a:lnTo>
                    <a:pt x="0" y="2449575"/>
                  </a:lnTo>
                  <a:lnTo>
                    <a:pt x="2869" y="2495774"/>
                  </a:lnTo>
                  <a:lnTo>
                    <a:pt x="11248" y="2540259"/>
                  </a:lnTo>
                  <a:lnTo>
                    <a:pt x="24791" y="2582688"/>
                  </a:lnTo>
                  <a:lnTo>
                    <a:pt x="43153" y="2622714"/>
                  </a:lnTo>
                  <a:lnTo>
                    <a:pt x="65988" y="2659992"/>
                  </a:lnTo>
                  <a:lnTo>
                    <a:pt x="92952" y="2694177"/>
                  </a:lnTo>
                  <a:lnTo>
                    <a:pt x="123700" y="2724924"/>
                  </a:lnTo>
                  <a:lnTo>
                    <a:pt x="157886" y="2751888"/>
                  </a:lnTo>
                  <a:lnTo>
                    <a:pt x="195165" y="2774723"/>
                  </a:lnTo>
                  <a:lnTo>
                    <a:pt x="235193" y="2793084"/>
                  </a:lnTo>
                  <a:lnTo>
                    <a:pt x="277623" y="2806627"/>
                  </a:lnTo>
                  <a:lnTo>
                    <a:pt x="322111" y="2815006"/>
                  </a:lnTo>
                  <a:lnTo>
                    <a:pt x="368312" y="2817875"/>
                  </a:lnTo>
                  <a:lnTo>
                    <a:pt x="1841487" y="2817875"/>
                  </a:lnTo>
                  <a:lnTo>
                    <a:pt x="1887688" y="2815006"/>
                  </a:lnTo>
                  <a:lnTo>
                    <a:pt x="1932176" y="2806627"/>
                  </a:lnTo>
                  <a:lnTo>
                    <a:pt x="1974606" y="2793084"/>
                  </a:lnTo>
                  <a:lnTo>
                    <a:pt x="2014634" y="2774723"/>
                  </a:lnTo>
                  <a:lnTo>
                    <a:pt x="2051913" y="2751888"/>
                  </a:lnTo>
                  <a:lnTo>
                    <a:pt x="2086099" y="2724924"/>
                  </a:lnTo>
                  <a:lnTo>
                    <a:pt x="2116847" y="2694177"/>
                  </a:lnTo>
                  <a:lnTo>
                    <a:pt x="2143811" y="2659992"/>
                  </a:lnTo>
                  <a:lnTo>
                    <a:pt x="2166646" y="2622714"/>
                  </a:lnTo>
                  <a:lnTo>
                    <a:pt x="2185008" y="2582688"/>
                  </a:lnTo>
                  <a:lnTo>
                    <a:pt x="2198551" y="2540259"/>
                  </a:lnTo>
                  <a:lnTo>
                    <a:pt x="2206930" y="2495774"/>
                  </a:lnTo>
                  <a:lnTo>
                    <a:pt x="2209800" y="2449575"/>
                  </a:lnTo>
                  <a:lnTo>
                    <a:pt x="2209800" y="368312"/>
                  </a:lnTo>
                  <a:lnTo>
                    <a:pt x="2206930" y="322111"/>
                  </a:lnTo>
                  <a:lnTo>
                    <a:pt x="2198551" y="277623"/>
                  </a:lnTo>
                  <a:lnTo>
                    <a:pt x="2185008" y="235193"/>
                  </a:lnTo>
                  <a:lnTo>
                    <a:pt x="2166646" y="195165"/>
                  </a:lnTo>
                  <a:lnTo>
                    <a:pt x="2143811" y="157886"/>
                  </a:lnTo>
                  <a:lnTo>
                    <a:pt x="2116847" y="123700"/>
                  </a:lnTo>
                  <a:lnTo>
                    <a:pt x="2086099" y="92952"/>
                  </a:lnTo>
                  <a:lnTo>
                    <a:pt x="2051913" y="65988"/>
                  </a:lnTo>
                  <a:lnTo>
                    <a:pt x="2014634" y="43153"/>
                  </a:lnTo>
                  <a:lnTo>
                    <a:pt x="1974606" y="24791"/>
                  </a:lnTo>
                  <a:lnTo>
                    <a:pt x="1932176" y="11248"/>
                  </a:lnTo>
                  <a:lnTo>
                    <a:pt x="1887688" y="2869"/>
                  </a:lnTo>
                  <a:lnTo>
                    <a:pt x="184148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01581" y="2020439"/>
              <a:ext cx="2209800" cy="2818130"/>
            </a:xfrm>
            <a:custGeom>
              <a:avLst/>
              <a:gdLst/>
              <a:ahLst/>
              <a:cxnLst/>
              <a:rect l="l" t="t" r="r" b="b"/>
              <a:pathLst>
                <a:path w="2209800" h="2818129">
                  <a:moveTo>
                    <a:pt x="0" y="368312"/>
                  </a:moveTo>
                  <a:lnTo>
                    <a:pt x="2869" y="322111"/>
                  </a:lnTo>
                  <a:lnTo>
                    <a:pt x="11248" y="277623"/>
                  </a:lnTo>
                  <a:lnTo>
                    <a:pt x="24791" y="235193"/>
                  </a:lnTo>
                  <a:lnTo>
                    <a:pt x="43153" y="195165"/>
                  </a:lnTo>
                  <a:lnTo>
                    <a:pt x="65988" y="157886"/>
                  </a:lnTo>
                  <a:lnTo>
                    <a:pt x="92952" y="123700"/>
                  </a:lnTo>
                  <a:lnTo>
                    <a:pt x="123700" y="92952"/>
                  </a:lnTo>
                  <a:lnTo>
                    <a:pt x="157886" y="65988"/>
                  </a:lnTo>
                  <a:lnTo>
                    <a:pt x="195165" y="43153"/>
                  </a:lnTo>
                  <a:lnTo>
                    <a:pt x="235193" y="24791"/>
                  </a:lnTo>
                  <a:lnTo>
                    <a:pt x="277623" y="11248"/>
                  </a:lnTo>
                  <a:lnTo>
                    <a:pt x="322111" y="2869"/>
                  </a:lnTo>
                  <a:lnTo>
                    <a:pt x="368312" y="0"/>
                  </a:lnTo>
                  <a:lnTo>
                    <a:pt x="1841487" y="0"/>
                  </a:lnTo>
                  <a:lnTo>
                    <a:pt x="1887688" y="2869"/>
                  </a:lnTo>
                  <a:lnTo>
                    <a:pt x="1932176" y="11248"/>
                  </a:lnTo>
                  <a:lnTo>
                    <a:pt x="1974606" y="24791"/>
                  </a:lnTo>
                  <a:lnTo>
                    <a:pt x="2014634" y="43153"/>
                  </a:lnTo>
                  <a:lnTo>
                    <a:pt x="2051913" y="65988"/>
                  </a:lnTo>
                  <a:lnTo>
                    <a:pt x="2086099" y="92952"/>
                  </a:lnTo>
                  <a:lnTo>
                    <a:pt x="2116847" y="123700"/>
                  </a:lnTo>
                  <a:lnTo>
                    <a:pt x="2143811" y="157886"/>
                  </a:lnTo>
                  <a:lnTo>
                    <a:pt x="2166646" y="195165"/>
                  </a:lnTo>
                  <a:lnTo>
                    <a:pt x="2185008" y="235193"/>
                  </a:lnTo>
                  <a:lnTo>
                    <a:pt x="2198551" y="277623"/>
                  </a:lnTo>
                  <a:lnTo>
                    <a:pt x="2206930" y="322111"/>
                  </a:lnTo>
                  <a:lnTo>
                    <a:pt x="2209800" y="368312"/>
                  </a:lnTo>
                  <a:lnTo>
                    <a:pt x="2209800" y="2449575"/>
                  </a:lnTo>
                  <a:lnTo>
                    <a:pt x="2206930" y="2495774"/>
                  </a:lnTo>
                  <a:lnTo>
                    <a:pt x="2198551" y="2540259"/>
                  </a:lnTo>
                  <a:lnTo>
                    <a:pt x="2185008" y="2582688"/>
                  </a:lnTo>
                  <a:lnTo>
                    <a:pt x="2166646" y="2622714"/>
                  </a:lnTo>
                  <a:lnTo>
                    <a:pt x="2143811" y="2659992"/>
                  </a:lnTo>
                  <a:lnTo>
                    <a:pt x="2116847" y="2694177"/>
                  </a:lnTo>
                  <a:lnTo>
                    <a:pt x="2086099" y="2724924"/>
                  </a:lnTo>
                  <a:lnTo>
                    <a:pt x="2051913" y="2751888"/>
                  </a:lnTo>
                  <a:lnTo>
                    <a:pt x="2014634" y="2774723"/>
                  </a:lnTo>
                  <a:lnTo>
                    <a:pt x="1974606" y="2793084"/>
                  </a:lnTo>
                  <a:lnTo>
                    <a:pt x="1932176" y="2806627"/>
                  </a:lnTo>
                  <a:lnTo>
                    <a:pt x="1887688" y="2815006"/>
                  </a:lnTo>
                  <a:lnTo>
                    <a:pt x="1841487" y="2817875"/>
                  </a:lnTo>
                  <a:lnTo>
                    <a:pt x="368312" y="2817875"/>
                  </a:lnTo>
                  <a:lnTo>
                    <a:pt x="322111" y="2815006"/>
                  </a:lnTo>
                  <a:lnTo>
                    <a:pt x="277623" y="2806627"/>
                  </a:lnTo>
                  <a:lnTo>
                    <a:pt x="235193" y="2793084"/>
                  </a:lnTo>
                  <a:lnTo>
                    <a:pt x="195165" y="2774723"/>
                  </a:lnTo>
                  <a:lnTo>
                    <a:pt x="157886" y="2751888"/>
                  </a:lnTo>
                  <a:lnTo>
                    <a:pt x="123700" y="2724924"/>
                  </a:lnTo>
                  <a:lnTo>
                    <a:pt x="92952" y="2694177"/>
                  </a:lnTo>
                  <a:lnTo>
                    <a:pt x="65988" y="2659992"/>
                  </a:lnTo>
                  <a:lnTo>
                    <a:pt x="43153" y="2622714"/>
                  </a:lnTo>
                  <a:lnTo>
                    <a:pt x="24791" y="2582688"/>
                  </a:lnTo>
                  <a:lnTo>
                    <a:pt x="11248" y="2540259"/>
                  </a:lnTo>
                  <a:lnTo>
                    <a:pt x="2869" y="2495774"/>
                  </a:lnTo>
                  <a:lnTo>
                    <a:pt x="0" y="2449575"/>
                  </a:lnTo>
                  <a:lnTo>
                    <a:pt x="0" y="368312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402455" y="6421740"/>
            <a:ext cx="120872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libri"/>
                <a:cs typeface="Calibri"/>
              </a:rPr>
              <a:t>3GPP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TS38.101-1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352290" y="2183383"/>
            <a:ext cx="1331595" cy="2427781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>
              <a:lnSpc>
                <a:spcPct val="91500"/>
              </a:lnSpc>
              <a:spcBef>
                <a:spcPts val="385"/>
              </a:spcBef>
            </a:pP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3GPP has </a:t>
            </a:r>
            <a:r>
              <a:rPr sz="2400" b="1" spc="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specified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Channel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 bandwi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d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ths  </a:t>
            </a:r>
            <a:r>
              <a:rPr sz="2400" b="1" spc="-20" dirty="0">
                <a:solidFill>
                  <a:srgbClr val="FFFFFF"/>
                </a:solidFill>
                <a:latin typeface="Calibri"/>
                <a:cs typeface="Calibri"/>
              </a:rPr>
              <a:t>for </a:t>
            </a:r>
            <a:r>
              <a:rPr sz="2400" b="1" spc="-5" dirty="0">
                <a:solidFill>
                  <a:srgbClr val="FFFFFF"/>
                </a:solidFill>
                <a:latin typeface="Calibri"/>
                <a:cs typeface="Calibri"/>
              </a:rPr>
              <a:t>each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NR </a:t>
            </a:r>
            <a:r>
              <a:rPr sz="2400" b="1" spc="-6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FFFFF"/>
                </a:solidFill>
                <a:latin typeface="Calibri"/>
                <a:cs typeface="Calibri"/>
              </a:rPr>
              <a:t>band</a:t>
            </a:r>
            <a:endParaRPr sz="24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1626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90600" y="70659"/>
            <a:ext cx="6799421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09280" algn="l"/>
              </a:tabLst>
            </a:pPr>
            <a:r>
              <a:rPr spc="-5" dirty="0">
                <a:solidFill>
                  <a:srgbClr val="FF0000"/>
                </a:solidFill>
              </a:rPr>
              <a:t>M</a:t>
            </a:r>
            <a:r>
              <a:rPr spc="-50" dirty="0">
                <a:solidFill>
                  <a:srgbClr val="FF0000"/>
                </a:solidFill>
              </a:rPr>
              <a:t>a</a:t>
            </a:r>
            <a:r>
              <a:rPr spc="-10" dirty="0">
                <a:solidFill>
                  <a:srgbClr val="FF0000"/>
                </a:solidFill>
              </a:rPr>
              <a:t>ximu</a:t>
            </a:r>
            <a:r>
              <a:rPr spc="-5" dirty="0">
                <a:solidFill>
                  <a:srgbClr val="FF0000"/>
                </a:solidFill>
              </a:rPr>
              <a:t>m</a:t>
            </a:r>
            <a:r>
              <a:rPr spc="5" dirty="0">
                <a:solidFill>
                  <a:srgbClr val="FF0000"/>
                </a:solidFill>
              </a:rPr>
              <a:t> </a:t>
            </a:r>
            <a:r>
              <a:rPr spc="-285" dirty="0">
                <a:solidFill>
                  <a:srgbClr val="FF0000"/>
                </a:solidFill>
              </a:rPr>
              <a:t>T</a:t>
            </a:r>
            <a:r>
              <a:rPr spc="-95" dirty="0">
                <a:solidFill>
                  <a:srgbClr val="FF0000"/>
                </a:solidFill>
              </a:rPr>
              <a:t>r</a:t>
            </a:r>
            <a:r>
              <a:rPr spc="-5" dirty="0">
                <a:solidFill>
                  <a:srgbClr val="FF0000"/>
                </a:solidFill>
              </a:rPr>
              <a:t>ansmis</a:t>
            </a:r>
            <a:r>
              <a:rPr dirty="0">
                <a:solidFill>
                  <a:srgbClr val="FF0000"/>
                </a:solidFill>
              </a:rPr>
              <a:t>s</a:t>
            </a:r>
            <a:r>
              <a:rPr spc="-10" dirty="0">
                <a:solidFill>
                  <a:srgbClr val="FF0000"/>
                </a:solidFill>
              </a:rPr>
              <a:t>i</a:t>
            </a:r>
            <a:r>
              <a:rPr dirty="0">
                <a:solidFill>
                  <a:srgbClr val="FF0000"/>
                </a:solidFill>
              </a:rPr>
              <a:t>o</a:t>
            </a:r>
            <a:r>
              <a:rPr spc="-5" dirty="0">
                <a:solidFill>
                  <a:srgbClr val="FF0000"/>
                </a:solidFill>
              </a:rPr>
              <a:t>n</a:t>
            </a:r>
            <a:r>
              <a:rPr spc="25" dirty="0">
                <a:solidFill>
                  <a:srgbClr val="FF0000"/>
                </a:solidFill>
              </a:rPr>
              <a:t> </a:t>
            </a:r>
            <a:r>
              <a:rPr spc="-5" dirty="0" smtClean="0">
                <a:solidFill>
                  <a:srgbClr val="FF0000"/>
                </a:solidFill>
              </a:rPr>
              <a:t>Bandwidth</a:t>
            </a:r>
            <a:r>
              <a:rPr lang="en-US" spc="-5" dirty="0" smtClean="0">
                <a:solidFill>
                  <a:srgbClr val="FF0000"/>
                </a:solidFill>
              </a:rPr>
              <a:t> </a:t>
            </a:r>
            <a:r>
              <a:rPr spc="-5" dirty="0" smtClean="0">
                <a:solidFill>
                  <a:srgbClr val="FF0000"/>
                </a:solidFill>
              </a:rPr>
              <a:t>FR2</a:t>
            </a:r>
            <a:endParaRPr spc="-5" dirty="0">
              <a:solidFill>
                <a:srgbClr val="FF0000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145541"/>
            <a:ext cx="7970996" cy="3897629"/>
            <a:chOff x="24383" y="1374648"/>
            <a:chExt cx="10627995" cy="3897629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900" y="1374648"/>
              <a:ext cx="9067787" cy="231952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383" y="3429000"/>
              <a:ext cx="10627613" cy="184327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7236618" y="5383160"/>
            <a:ext cx="1208723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3GPP</a:t>
            </a:r>
            <a:r>
              <a:rPr sz="18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Calibri"/>
                <a:cs typeface="Calibri"/>
              </a:rPr>
              <a:t>TS38.101-2</a:t>
            </a:r>
            <a:endParaRPr sz="18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2400" y="5021797"/>
            <a:ext cx="6522529" cy="1323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3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600200" y="299124"/>
            <a:ext cx="5199453" cy="520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>
                <a:solidFill>
                  <a:srgbClr val="FF0000"/>
                </a:solidFill>
              </a:rPr>
              <a:t>Min</a:t>
            </a:r>
            <a:r>
              <a:rPr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and</a:t>
            </a:r>
            <a:r>
              <a:rPr spc="10" dirty="0">
                <a:solidFill>
                  <a:srgbClr val="FF0000"/>
                </a:solidFill>
              </a:rPr>
              <a:t> </a:t>
            </a:r>
            <a:r>
              <a:rPr spc="-20" dirty="0">
                <a:solidFill>
                  <a:srgbClr val="FF0000"/>
                </a:solidFill>
              </a:rPr>
              <a:t>Max</a:t>
            </a:r>
            <a:r>
              <a:rPr spc="-5" dirty="0">
                <a:solidFill>
                  <a:srgbClr val="FF0000"/>
                </a:solidFill>
              </a:rPr>
              <a:t> </a:t>
            </a:r>
            <a:r>
              <a:rPr spc="-10" dirty="0">
                <a:solidFill>
                  <a:srgbClr val="FF0000"/>
                </a:solidFill>
              </a:rPr>
              <a:t>Channel</a:t>
            </a:r>
            <a:r>
              <a:rPr spc="15" dirty="0">
                <a:solidFill>
                  <a:srgbClr val="FF0000"/>
                </a:solidFill>
              </a:rPr>
              <a:t> </a:t>
            </a:r>
            <a:r>
              <a:rPr spc="-30" dirty="0">
                <a:solidFill>
                  <a:srgbClr val="FF0000"/>
                </a:solidFill>
              </a:rPr>
              <a:t>BW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190" y="1188209"/>
            <a:ext cx="83058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393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84282" y="383763"/>
            <a:ext cx="7990046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5" dirty="0">
                <a:solidFill>
                  <a:srgbClr val="FF0000"/>
                </a:solidFill>
              </a:rPr>
              <a:t>Maximum</a:t>
            </a:r>
            <a:r>
              <a:rPr sz="2200" spc="10" dirty="0">
                <a:solidFill>
                  <a:srgbClr val="FF0000"/>
                </a:solidFill>
              </a:rPr>
              <a:t> </a:t>
            </a:r>
            <a:r>
              <a:rPr sz="2200" spc="-10" dirty="0">
                <a:solidFill>
                  <a:srgbClr val="FF0000"/>
                </a:solidFill>
              </a:rPr>
              <a:t>Supported</a:t>
            </a:r>
            <a:r>
              <a:rPr sz="2200" spc="25" dirty="0">
                <a:solidFill>
                  <a:srgbClr val="FF0000"/>
                </a:solidFill>
              </a:rPr>
              <a:t> </a:t>
            </a:r>
            <a:r>
              <a:rPr sz="2200" spc="-30" dirty="0">
                <a:solidFill>
                  <a:srgbClr val="FF0000"/>
                </a:solidFill>
              </a:rPr>
              <a:t>BW</a:t>
            </a:r>
            <a:r>
              <a:rPr sz="2200" dirty="0">
                <a:solidFill>
                  <a:srgbClr val="FF0000"/>
                </a:solidFill>
              </a:rPr>
              <a:t> </a:t>
            </a:r>
            <a:r>
              <a:rPr sz="2200" spc="-35" dirty="0">
                <a:solidFill>
                  <a:srgbClr val="FF0000"/>
                </a:solidFill>
              </a:rPr>
              <a:t>for</a:t>
            </a:r>
            <a:r>
              <a:rPr sz="2200" spc="5" dirty="0">
                <a:solidFill>
                  <a:srgbClr val="FF0000"/>
                </a:solidFill>
              </a:rPr>
              <a:t> </a:t>
            </a:r>
            <a:r>
              <a:rPr sz="2200" spc="-5" dirty="0">
                <a:solidFill>
                  <a:srgbClr val="FF0000"/>
                </a:solidFill>
              </a:rPr>
              <a:t>each</a:t>
            </a:r>
            <a:r>
              <a:rPr sz="2200" spc="20" dirty="0">
                <a:solidFill>
                  <a:srgbClr val="FF0000"/>
                </a:solidFill>
              </a:rPr>
              <a:t> </a:t>
            </a:r>
            <a:r>
              <a:rPr sz="2200" spc="-15" dirty="0">
                <a:solidFill>
                  <a:srgbClr val="FF0000"/>
                </a:solidFill>
              </a:rPr>
              <a:t>Numerology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61900" y="1232917"/>
            <a:ext cx="3012947" cy="9258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216777" y="1456946"/>
            <a:ext cx="1507646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lang="en-US" sz="2200" dirty="0" smtClean="0">
                <a:latin typeface="Calibri"/>
                <a:cs typeface="Calibri"/>
              </a:rPr>
              <a:t> </a:t>
            </a:r>
            <a:r>
              <a:rPr sz="2200" dirty="0" smtClean="0">
                <a:latin typeface="Calibri"/>
                <a:cs typeface="Calibri"/>
              </a:rPr>
              <a:t>50</a:t>
            </a:r>
            <a:r>
              <a:rPr sz="2200" spc="-85" dirty="0" smtClean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MHz</a:t>
            </a: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38600" y="1228345"/>
            <a:ext cx="2198751" cy="88468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85633" y="1424276"/>
            <a:ext cx="178593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SCS</a:t>
            </a:r>
            <a:r>
              <a:rPr sz="2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=15</a:t>
            </a:r>
            <a:r>
              <a:rPr sz="220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KHz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61901" y="2050543"/>
            <a:ext cx="3012947" cy="92506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281495" y="2224709"/>
            <a:ext cx="130254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sz="2200" dirty="0">
                <a:latin typeface="Calibri"/>
                <a:cs typeface="Calibri"/>
              </a:rPr>
              <a:t>100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MHz</a:t>
            </a:r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038599" y="2045208"/>
            <a:ext cx="2229041" cy="885443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279494" y="2235515"/>
            <a:ext cx="194681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SCS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30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KHz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30468" y="2874265"/>
            <a:ext cx="3012376" cy="925067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313366" y="3031985"/>
            <a:ext cx="130254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indent="-285750">
              <a:lnSpc>
                <a:spcPct val="100000"/>
              </a:lnSpc>
              <a:spcBef>
                <a:spcPts val="100"/>
              </a:spcBef>
              <a:buChar char="•"/>
              <a:tabLst>
                <a:tab pos="298450" algn="l"/>
              </a:tabLst>
            </a:pPr>
            <a:r>
              <a:rPr sz="2200" dirty="0">
                <a:latin typeface="Calibri"/>
                <a:cs typeface="Calibri"/>
              </a:rPr>
              <a:t>100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MHz</a:t>
            </a:r>
          </a:p>
        </p:txBody>
      </p:sp>
      <p:pic>
        <p:nvPicPr>
          <p:cNvPr id="1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38599" y="2894457"/>
            <a:ext cx="2178178" cy="88468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259813" y="3112414"/>
            <a:ext cx="180383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SCS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60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KHz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66854" y="4061461"/>
            <a:ext cx="3000946" cy="815339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267640" y="4214192"/>
            <a:ext cx="1787891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200" dirty="0">
                <a:latin typeface="Calibri"/>
                <a:cs typeface="Calibri"/>
              </a:rPr>
              <a:t>200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MHz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59812" y="3938455"/>
            <a:ext cx="1607587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chemeClr val="bg1"/>
                </a:solidFill>
                <a:latin typeface="Calibri"/>
                <a:cs typeface="Calibri"/>
              </a:rPr>
              <a:t>SCS</a:t>
            </a:r>
            <a:r>
              <a:rPr sz="2200" spc="-4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chemeClr val="bg1"/>
                </a:solidFill>
                <a:latin typeface="Calibri"/>
                <a:cs typeface="Calibri"/>
              </a:rPr>
              <a:t>=60</a:t>
            </a:r>
            <a:r>
              <a:rPr sz="2200" spc="-3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bg1"/>
                </a:solidFill>
                <a:latin typeface="Calibri"/>
                <a:cs typeface="Calibri"/>
              </a:rPr>
              <a:t>KHz</a:t>
            </a:r>
          </a:p>
        </p:txBody>
      </p: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073901" y="4861348"/>
            <a:ext cx="3000946" cy="81610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237351" y="5101435"/>
            <a:ext cx="1595848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200" dirty="0">
                <a:latin typeface="Calibri"/>
                <a:cs typeface="Calibri"/>
              </a:rPr>
              <a:t>400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MHz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22" name="object 2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038599" y="4079959"/>
            <a:ext cx="2198752" cy="78562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4221519" y="4225953"/>
            <a:ext cx="1955340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chemeClr val="bg1"/>
                </a:solidFill>
                <a:latin typeface="Calibri"/>
                <a:cs typeface="Calibri"/>
              </a:rPr>
              <a:t>SCS</a:t>
            </a:r>
            <a:r>
              <a:rPr sz="2200" spc="-30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bg1"/>
                </a:solidFill>
                <a:latin typeface="Calibri"/>
                <a:cs typeface="Calibri"/>
              </a:rPr>
              <a:t>=</a:t>
            </a:r>
            <a:r>
              <a:rPr sz="2200" spc="-25" dirty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lang="en-US" sz="2200" spc="-25" dirty="0" smtClean="0">
                <a:solidFill>
                  <a:schemeClr val="bg1"/>
                </a:solidFill>
                <a:latin typeface="Calibri"/>
                <a:cs typeface="Calibri"/>
              </a:rPr>
              <a:t>6</a:t>
            </a:r>
            <a:r>
              <a:rPr sz="2200" spc="-5" dirty="0" smtClean="0">
                <a:solidFill>
                  <a:schemeClr val="bg1"/>
                </a:solidFill>
                <a:latin typeface="Calibri"/>
                <a:cs typeface="Calibri"/>
              </a:rPr>
              <a:t>0</a:t>
            </a:r>
            <a:r>
              <a:rPr sz="2200" spc="-25" dirty="0" smtClean="0">
                <a:solidFill>
                  <a:schemeClr val="bg1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chemeClr val="bg1"/>
                </a:solidFill>
                <a:latin typeface="Calibri"/>
                <a:cs typeface="Calibri"/>
              </a:rPr>
              <a:t>KHz</a:t>
            </a:r>
          </a:p>
        </p:txBody>
      </p:sp>
      <p:pic>
        <p:nvPicPr>
          <p:cNvPr id="24" name="object 2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42470" y="5638800"/>
            <a:ext cx="3000374" cy="816101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237350" y="5815321"/>
            <a:ext cx="161214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har char="•"/>
              <a:tabLst>
                <a:tab pos="241935" algn="l"/>
              </a:tabLst>
            </a:pPr>
            <a:r>
              <a:rPr sz="2200" dirty="0">
                <a:latin typeface="Calibri"/>
                <a:cs typeface="Calibri"/>
              </a:rPr>
              <a:t>400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MHz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11058" y="3434172"/>
            <a:ext cx="216194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SCS</a:t>
            </a:r>
            <a:r>
              <a:rPr sz="22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240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KHz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3492" y="1509523"/>
            <a:ext cx="2826638" cy="2010917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373410" y="2046223"/>
            <a:ext cx="79581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FR1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0" name="object 3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03492" y="4481322"/>
            <a:ext cx="2826638" cy="2010917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373410" y="5018023"/>
            <a:ext cx="795814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FR2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32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08310" y="4830319"/>
            <a:ext cx="2229040" cy="808481"/>
          </a:xfrm>
          <a:prstGeom prst="rect">
            <a:avLst/>
          </a:prstGeom>
        </p:spPr>
      </p:pic>
      <p:sp>
        <p:nvSpPr>
          <p:cNvPr id="33" name="object 15"/>
          <p:cNvSpPr txBox="1"/>
          <p:nvPr/>
        </p:nvSpPr>
        <p:spPr>
          <a:xfrm>
            <a:off x="4215968" y="5048276"/>
            <a:ext cx="180383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SCS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200" dirty="0" smtClean="0">
                <a:solidFill>
                  <a:srgbClr val="FFFFFF"/>
                </a:solidFill>
                <a:latin typeface="Calibri"/>
                <a:cs typeface="Calibri"/>
              </a:rPr>
              <a:t>12</a:t>
            </a:r>
            <a:r>
              <a:rPr sz="2200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2200" spc="-3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KHz</a:t>
            </a:r>
            <a:endParaRPr sz="2200" dirty="0">
              <a:latin typeface="Calibri"/>
              <a:cs typeface="Calibri"/>
            </a:endParaRPr>
          </a:p>
        </p:txBody>
      </p:sp>
      <p:pic>
        <p:nvPicPr>
          <p:cNvPr id="34" name="object 1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08310" y="5664876"/>
            <a:ext cx="2229040" cy="808481"/>
          </a:xfrm>
          <a:prstGeom prst="rect">
            <a:avLst/>
          </a:prstGeom>
        </p:spPr>
      </p:pic>
      <p:sp>
        <p:nvSpPr>
          <p:cNvPr id="35" name="object 15"/>
          <p:cNvSpPr txBox="1"/>
          <p:nvPr/>
        </p:nvSpPr>
        <p:spPr>
          <a:xfrm>
            <a:off x="4215968" y="5882833"/>
            <a:ext cx="1803832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5" dirty="0">
                <a:solidFill>
                  <a:srgbClr val="FFFFFF"/>
                </a:solidFill>
                <a:latin typeface="Calibri"/>
                <a:cs typeface="Calibri"/>
              </a:rPr>
              <a:t>SCS</a:t>
            </a:r>
            <a:r>
              <a:rPr sz="22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=</a:t>
            </a:r>
            <a:r>
              <a:rPr sz="22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lang="en-US" sz="2200" spc="-25" dirty="0" smtClean="0">
                <a:solidFill>
                  <a:srgbClr val="FFFFFF"/>
                </a:solidFill>
                <a:latin typeface="Calibri"/>
                <a:cs typeface="Calibri"/>
              </a:rPr>
              <a:t>24</a:t>
            </a:r>
            <a:r>
              <a:rPr sz="2200" dirty="0" smtClean="0">
                <a:solidFill>
                  <a:srgbClr val="FFFFFF"/>
                </a:solidFill>
                <a:latin typeface="Calibri"/>
                <a:cs typeface="Calibri"/>
              </a:rPr>
              <a:t>0</a:t>
            </a:r>
            <a:r>
              <a:rPr sz="2200" spc="-30" dirty="0" smtClean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FFFFFF"/>
                </a:solidFill>
                <a:latin typeface="Calibri"/>
                <a:cs typeface="Calibri"/>
              </a:rPr>
              <a:t>KHz</a:t>
            </a:r>
            <a:endParaRPr sz="22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75147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3393" y="5579"/>
            <a:ext cx="849249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solidFill>
                  <a:schemeClr val="bg1"/>
                </a:solidFill>
              </a:rPr>
              <a:t>Usage</a:t>
            </a:r>
            <a:r>
              <a:rPr sz="3600" spc="5" dirty="0">
                <a:solidFill>
                  <a:schemeClr val="bg1"/>
                </a:solidFill>
              </a:rPr>
              <a:t> </a:t>
            </a:r>
            <a:r>
              <a:rPr sz="3600" spc="-20" dirty="0">
                <a:solidFill>
                  <a:schemeClr val="bg1"/>
                </a:solidFill>
              </a:rPr>
              <a:t>example</a:t>
            </a:r>
            <a:r>
              <a:rPr sz="3600" spc="-15" dirty="0">
                <a:solidFill>
                  <a:schemeClr val="bg1"/>
                </a:solidFill>
              </a:rPr>
              <a:t> </a:t>
            </a:r>
            <a:r>
              <a:rPr sz="3600" spc="-5" dirty="0">
                <a:solidFill>
                  <a:schemeClr val="bg1"/>
                </a:solidFill>
              </a:rPr>
              <a:t>of</a:t>
            </a:r>
            <a:r>
              <a:rPr sz="3600" dirty="0">
                <a:solidFill>
                  <a:schemeClr val="bg1"/>
                </a:solidFill>
              </a:rPr>
              <a:t> </a:t>
            </a:r>
            <a:r>
              <a:rPr sz="3600" spc="-10" dirty="0">
                <a:solidFill>
                  <a:schemeClr val="bg1"/>
                </a:solidFill>
              </a:rPr>
              <a:t>numerologies,</a:t>
            </a:r>
            <a:r>
              <a:rPr sz="3600" spc="-15" dirty="0">
                <a:solidFill>
                  <a:schemeClr val="bg1"/>
                </a:solidFill>
              </a:rPr>
              <a:t> </a:t>
            </a:r>
            <a:r>
              <a:rPr sz="3600" spc="-5" dirty="0">
                <a:solidFill>
                  <a:schemeClr val="bg1"/>
                </a:solidFill>
              </a:rPr>
              <a:t>Spectrum</a:t>
            </a:r>
            <a:r>
              <a:rPr sz="3600" spc="-30" dirty="0">
                <a:solidFill>
                  <a:schemeClr val="bg1"/>
                </a:solidFill>
              </a:rPr>
              <a:t> </a:t>
            </a:r>
            <a:r>
              <a:rPr sz="3600" spc="-5" dirty="0">
                <a:solidFill>
                  <a:schemeClr val="bg1"/>
                </a:solidFill>
              </a:rPr>
              <a:t>Band</a:t>
            </a:r>
            <a:r>
              <a:rPr sz="3600" spc="5" dirty="0">
                <a:solidFill>
                  <a:schemeClr val="bg1"/>
                </a:solidFill>
              </a:rPr>
              <a:t> </a:t>
            </a:r>
            <a:r>
              <a:rPr sz="3600" spc="-5" dirty="0">
                <a:solidFill>
                  <a:schemeClr val="bg1"/>
                </a:solidFill>
              </a:rPr>
              <a:t>and</a:t>
            </a:r>
            <a:r>
              <a:rPr sz="3600" spc="-10" dirty="0">
                <a:solidFill>
                  <a:schemeClr val="bg1"/>
                </a:solidFill>
              </a:rPr>
              <a:t> </a:t>
            </a:r>
            <a:r>
              <a:rPr sz="3600" dirty="0">
                <a:solidFill>
                  <a:schemeClr val="bg1"/>
                </a:solidFill>
              </a:rPr>
              <a:t>cell</a:t>
            </a:r>
            <a:r>
              <a:rPr sz="3600" spc="-20" dirty="0">
                <a:solidFill>
                  <a:schemeClr val="bg1"/>
                </a:solidFill>
              </a:rPr>
              <a:t> </a:t>
            </a:r>
            <a:r>
              <a:rPr sz="3600" spc="-25" dirty="0">
                <a:solidFill>
                  <a:schemeClr val="bg1"/>
                </a:solidFill>
              </a:rPr>
              <a:t>size</a:t>
            </a:r>
            <a:endParaRPr sz="3600" dirty="0">
              <a:solidFill>
                <a:schemeClr val="bg1"/>
              </a:solidFill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98892" y="1022603"/>
            <a:ext cx="7409021" cy="5835650"/>
            <a:chOff x="265188" y="1022603"/>
            <a:chExt cx="9878695" cy="58356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188" y="1022603"/>
              <a:ext cx="9878542" cy="58353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9600" y="1371600"/>
              <a:ext cx="9189719" cy="51815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65153" y="1324848"/>
              <a:ext cx="9278620" cy="5273040"/>
            </a:xfrm>
            <a:custGeom>
              <a:avLst/>
              <a:gdLst/>
              <a:ahLst/>
              <a:cxnLst/>
              <a:rect l="l" t="t" r="r" b="b"/>
              <a:pathLst>
                <a:path w="9278620" h="5273040">
                  <a:moveTo>
                    <a:pt x="952512" y="0"/>
                  </a:moveTo>
                  <a:lnTo>
                    <a:pt x="952512" y="2298"/>
                  </a:lnTo>
                  <a:lnTo>
                    <a:pt x="9278620" y="2298"/>
                  </a:lnTo>
                  <a:lnTo>
                    <a:pt x="9278620" y="4365853"/>
                  </a:lnTo>
                  <a:lnTo>
                    <a:pt x="9273984" y="4457522"/>
                  </a:lnTo>
                  <a:lnTo>
                    <a:pt x="9260230" y="4547692"/>
                  </a:lnTo>
                  <a:lnTo>
                    <a:pt x="9237840" y="4634750"/>
                  </a:lnTo>
                  <a:lnTo>
                    <a:pt x="9207284" y="4718215"/>
                  </a:lnTo>
                  <a:lnTo>
                    <a:pt x="9169044" y="4797615"/>
                  </a:lnTo>
                  <a:lnTo>
                    <a:pt x="9123553" y="4872494"/>
                  </a:lnTo>
                  <a:lnTo>
                    <a:pt x="9071279" y="4942395"/>
                  </a:lnTo>
                  <a:lnTo>
                    <a:pt x="9012682" y="5006873"/>
                  </a:lnTo>
                  <a:lnTo>
                    <a:pt x="8948216" y="5065471"/>
                  </a:lnTo>
                  <a:lnTo>
                    <a:pt x="8878316" y="5117731"/>
                  </a:lnTo>
                  <a:lnTo>
                    <a:pt x="8803436" y="5163223"/>
                  </a:lnTo>
                  <a:lnTo>
                    <a:pt x="8724036" y="5201475"/>
                  </a:lnTo>
                  <a:lnTo>
                    <a:pt x="8640572" y="5232031"/>
                  </a:lnTo>
                  <a:lnTo>
                    <a:pt x="8553513" y="5254409"/>
                  </a:lnTo>
                  <a:lnTo>
                    <a:pt x="8463330" y="5268175"/>
                  </a:lnTo>
                  <a:lnTo>
                    <a:pt x="8371674" y="5272798"/>
                  </a:lnTo>
                  <a:lnTo>
                    <a:pt x="0" y="5272798"/>
                  </a:lnTo>
                  <a:lnTo>
                    <a:pt x="0" y="909243"/>
                  </a:lnTo>
                  <a:lnTo>
                    <a:pt x="4622" y="817587"/>
                  </a:lnTo>
                  <a:lnTo>
                    <a:pt x="18389" y="727405"/>
                  </a:lnTo>
                  <a:lnTo>
                    <a:pt x="40767" y="640346"/>
                  </a:lnTo>
                  <a:lnTo>
                    <a:pt x="71323" y="556882"/>
                  </a:lnTo>
                  <a:lnTo>
                    <a:pt x="109575" y="477481"/>
                  </a:lnTo>
                  <a:lnTo>
                    <a:pt x="155054" y="402602"/>
                  </a:lnTo>
                  <a:lnTo>
                    <a:pt x="207327" y="332701"/>
                  </a:lnTo>
                  <a:lnTo>
                    <a:pt x="265925" y="268236"/>
                  </a:lnTo>
                  <a:lnTo>
                    <a:pt x="330403" y="209638"/>
                  </a:lnTo>
                  <a:lnTo>
                    <a:pt x="400304" y="157365"/>
                  </a:lnTo>
                  <a:lnTo>
                    <a:pt x="475170" y="111874"/>
                  </a:lnTo>
                  <a:lnTo>
                    <a:pt x="554583" y="73621"/>
                  </a:lnTo>
                  <a:lnTo>
                    <a:pt x="638048" y="43078"/>
                  </a:lnTo>
                  <a:lnTo>
                    <a:pt x="725106" y="20688"/>
                  </a:lnTo>
                  <a:lnTo>
                    <a:pt x="815276" y="6934"/>
                  </a:lnTo>
                  <a:lnTo>
                    <a:pt x="952512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867399" y="2438400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152400" y="0"/>
                  </a:moveTo>
                  <a:lnTo>
                    <a:pt x="0" y="0"/>
                  </a:lnTo>
                  <a:lnTo>
                    <a:pt x="0" y="152400"/>
                  </a:lnTo>
                  <a:lnTo>
                    <a:pt x="152400" y="152400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64133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73" y="23622"/>
            <a:ext cx="9127427" cy="1143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24919" y="45209"/>
            <a:ext cx="7311866" cy="10278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5" dirty="0">
                <a:solidFill>
                  <a:schemeClr val="bg1"/>
                </a:solidFill>
              </a:rPr>
              <a:t>Usage</a:t>
            </a:r>
            <a:r>
              <a:rPr spc="15" dirty="0">
                <a:solidFill>
                  <a:schemeClr val="bg1"/>
                </a:solidFill>
              </a:rPr>
              <a:t> </a:t>
            </a:r>
            <a:r>
              <a:rPr spc="-25" dirty="0">
                <a:solidFill>
                  <a:schemeClr val="bg1"/>
                </a:solidFill>
              </a:rPr>
              <a:t>example</a:t>
            </a:r>
            <a:r>
              <a:rPr spc="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of </a:t>
            </a:r>
            <a:r>
              <a:rPr spc="-10" dirty="0">
                <a:solidFill>
                  <a:schemeClr val="bg1"/>
                </a:solidFill>
              </a:rPr>
              <a:t>Frequency</a:t>
            </a:r>
            <a:r>
              <a:rPr spc="1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Band</a:t>
            </a:r>
            <a:r>
              <a:rPr spc="5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and</a:t>
            </a:r>
            <a:r>
              <a:rPr spc="10" dirty="0">
                <a:solidFill>
                  <a:schemeClr val="bg1"/>
                </a:solidFill>
              </a:rPr>
              <a:t> </a:t>
            </a:r>
            <a:r>
              <a:rPr spc="-5" dirty="0">
                <a:solidFill>
                  <a:schemeClr val="bg1"/>
                </a:solidFill>
              </a:rPr>
              <a:t>SCS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70333" y="1175016"/>
            <a:ext cx="7946231" cy="5683250"/>
            <a:chOff x="493776" y="1175016"/>
            <a:chExt cx="10594975" cy="56832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3776" y="1175016"/>
              <a:ext cx="10594847" cy="568298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1524000"/>
              <a:ext cx="9906000" cy="514502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93743" y="1477248"/>
              <a:ext cx="9994900" cy="5236845"/>
            </a:xfrm>
            <a:custGeom>
              <a:avLst/>
              <a:gdLst/>
              <a:ahLst/>
              <a:cxnLst/>
              <a:rect l="l" t="t" r="r" b="b"/>
              <a:pathLst>
                <a:path w="9994900" h="5236845">
                  <a:moveTo>
                    <a:pt x="946429" y="0"/>
                  </a:moveTo>
                  <a:lnTo>
                    <a:pt x="946429" y="2298"/>
                  </a:lnTo>
                  <a:lnTo>
                    <a:pt x="9994900" y="2298"/>
                  </a:lnTo>
                  <a:lnTo>
                    <a:pt x="9994900" y="4335373"/>
                  </a:lnTo>
                  <a:lnTo>
                    <a:pt x="9990315" y="4426407"/>
                  </a:lnTo>
                  <a:lnTo>
                    <a:pt x="9976637" y="4515980"/>
                  </a:lnTo>
                  <a:lnTo>
                    <a:pt x="9954399" y="4602454"/>
                  </a:lnTo>
                  <a:lnTo>
                    <a:pt x="9924059" y="4685360"/>
                  </a:lnTo>
                  <a:lnTo>
                    <a:pt x="9886061" y="4764227"/>
                  </a:lnTo>
                  <a:lnTo>
                    <a:pt x="9840887" y="4838611"/>
                  </a:lnTo>
                  <a:lnTo>
                    <a:pt x="9788956" y="4908042"/>
                  </a:lnTo>
                  <a:lnTo>
                    <a:pt x="9730765" y="4972075"/>
                  </a:lnTo>
                  <a:lnTo>
                    <a:pt x="9666719" y="5030279"/>
                  </a:lnTo>
                  <a:lnTo>
                    <a:pt x="9597288" y="5082197"/>
                  </a:lnTo>
                  <a:lnTo>
                    <a:pt x="9522917" y="5127383"/>
                  </a:lnTo>
                  <a:lnTo>
                    <a:pt x="9444050" y="5165382"/>
                  </a:lnTo>
                  <a:lnTo>
                    <a:pt x="9361144" y="5195722"/>
                  </a:lnTo>
                  <a:lnTo>
                    <a:pt x="9274657" y="5217960"/>
                  </a:lnTo>
                  <a:lnTo>
                    <a:pt x="9185097" y="5231625"/>
                  </a:lnTo>
                  <a:lnTo>
                    <a:pt x="9094050" y="5236222"/>
                  </a:lnTo>
                  <a:lnTo>
                    <a:pt x="0" y="5236222"/>
                  </a:lnTo>
                  <a:lnTo>
                    <a:pt x="0" y="903147"/>
                  </a:lnTo>
                  <a:lnTo>
                    <a:pt x="4597" y="812114"/>
                  </a:lnTo>
                  <a:lnTo>
                    <a:pt x="18275" y="722541"/>
                  </a:lnTo>
                  <a:lnTo>
                    <a:pt x="40513" y="636066"/>
                  </a:lnTo>
                  <a:lnTo>
                    <a:pt x="70853" y="553161"/>
                  </a:lnTo>
                  <a:lnTo>
                    <a:pt x="108839" y="474294"/>
                  </a:lnTo>
                  <a:lnTo>
                    <a:pt x="154025" y="399923"/>
                  </a:lnTo>
                  <a:lnTo>
                    <a:pt x="205943" y="330492"/>
                  </a:lnTo>
                  <a:lnTo>
                    <a:pt x="264147" y="266446"/>
                  </a:lnTo>
                  <a:lnTo>
                    <a:pt x="328193" y="208241"/>
                  </a:lnTo>
                  <a:lnTo>
                    <a:pt x="397624" y="156324"/>
                  </a:lnTo>
                  <a:lnTo>
                    <a:pt x="471995" y="111137"/>
                  </a:lnTo>
                  <a:lnTo>
                    <a:pt x="550862" y="73152"/>
                  </a:lnTo>
                  <a:lnTo>
                    <a:pt x="633768" y="42799"/>
                  </a:lnTo>
                  <a:lnTo>
                    <a:pt x="720242" y="20574"/>
                  </a:lnTo>
                  <a:lnTo>
                    <a:pt x="809815" y="6896"/>
                  </a:lnTo>
                  <a:lnTo>
                    <a:pt x="946429" y="0"/>
                  </a:lnTo>
                  <a:close/>
                </a:path>
              </a:pathLst>
            </a:custGeom>
            <a:ln w="889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9977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4498</TotalTime>
  <Words>544</Words>
  <Application>Microsoft Office PowerPoint</Application>
  <PresentationFormat>On-screen Show (4:3)</PresentationFormat>
  <Paragraphs>129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Arial MT</vt:lpstr>
      <vt:lpstr>Calibri</vt:lpstr>
      <vt:lpstr>Cambria</vt:lpstr>
      <vt:lpstr>Cambria Math</vt:lpstr>
      <vt:lpstr>Default Design</vt:lpstr>
      <vt:lpstr>5G WIRELESS COMMUNICATION  (UEC 719) </vt:lpstr>
      <vt:lpstr>PowerPoint Presentation</vt:lpstr>
      <vt:lpstr>PowerPoint Presentation</vt:lpstr>
      <vt:lpstr>PowerPoint Presentation</vt:lpstr>
      <vt:lpstr>OFDM System</vt:lpstr>
      <vt:lpstr>Numerologies in 5G NR</vt:lpstr>
      <vt:lpstr>Numerology and Sub Carrier Spacing</vt:lpstr>
      <vt:lpstr>PowerPoint Presentation</vt:lpstr>
      <vt:lpstr>Resource Block and its Bandwidth</vt:lpstr>
      <vt:lpstr>Recourse Block and its BW</vt:lpstr>
      <vt:lpstr>Numerology , Sub Carrier Spacing and Resource Block</vt:lpstr>
      <vt:lpstr>Example</vt:lpstr>
      <vt:lpstr>Example</vt:lpstr>
      <vt:lpstr>UE Channel Bandwidth</vt:lpstr>
      <vt:lpstr>UE Channel Bandwidth</vt:lpstr>
      <vt:lpstr>Maximum Transmission Bandwidth FR1</vt:lpstr>
      <vt:lpstr>Maximum Transmission Bandwidth FR2</vt:lpstr>
      <vt:lpstr>Min and Max Channel BW</vt:lpstr>
      <vt:lpstr>Maximum Supported BW for each Numerology</vt:lpstr>
      <vt:lpstr>Usage example of numerologies, Spectrum Band and cell size</vt:lpstr>
      <vt:lpstr>Usage example of Frequency Band and SCS</vt:lpstr>
    </vt:vector>
  </TitlesOfParts>
  <Company>jiet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Area of Research</dc:title>
  <dc:creator>hemdutt.joshi</dc:creator>
  <cp:lastModifiedBy>ti</cp:lastModifiedBy>
  <cp:revision>342</cp:revision>
  <dcterms:created xsi:type="dcterms:W3CDTF">2007-08-08T07:13:51Z</dcterms:created>
  <dcterms:modified xsi:type="dcterms:W3CDTF">2025-09-02T11:26:25Z</dcterms:modified>
</cp:coreProperties>
</file>
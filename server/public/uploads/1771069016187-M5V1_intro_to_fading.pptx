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80" r:id="rId4"/>
    <p:sldId id="286" r:id="rId5"/>
    <p:sldId id="288" r:id="rId6"/>
    <p:sldId id="287" r:id="rId7"/>
    <p:sldId id="289" r:id="rId8"/>
    <p:sldId id="290" r:id="rId9"/>
    <p:sldId id="267" r:id="rId10"/>
  </p:sldIdLst>
  <p:sldSz cx="9144000" cy="6858000" type="screen4x3"/>
  <p:notesSz cx="6858000" cy="91440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301" autoAdjust="0"/>
    <p:restoredTop sz="94660"/>
  </p:normalViewPr>
  <p:slideViewPr>
    <p:cSldViewPr>
      <p:cViewPr>
        <p:scale>
          <a:sx n="75" d="100"/>
          <a:sy n="75" d="100"/>
        </p:scale>
        <p:origin x="-1560" y="-1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CC512F-57E2-4347-8AB9-97726AFAFBD4}" type="datetimeFigureOut">
              <a:rPr lang="en-US" smtClean="0"/>
              <a:pPr/>
              <a:t>7/9/2020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376728-E605-4C9D-BB71-97F5CA16A84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376728-E605-4C9D-BB71-97F5CA16A84A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E5AC8-DF32-4530-BE70-4DF10E957B0F}" type="datetime1">
              <a:rPr lang="en-US" smtClean="0"/>
              <a:pPr/>
              <a:t>7/9/2020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4DC05-DC1C-4BC7-83D0-F2C687841CD6}" type="datetime1">
              <a:rPr lang="en-US" smtClean="0"/>
              <a:pPr/>
              <a:t>7/9/2020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84021-6D00-490C-8F05-8D1CB4FDB300}" type="datetime1">
              <a:rPr lang="en-US" smtClean="0"/>
              <a:pPr/>
              <a:t>7/9/2020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B5E5-83F0-489B-A5B1-2EA4EABA0270}" type="datetime1">
              <a:rPr lang="en-US" smtClean="0"/>
              <a:pPr/>
              <a:t>7/9/2020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758A4-F9DF-4793-AEFB-9444EF4A4B9E}" type="datetime1">
              <a:rPr lang="en-US" smtClean="0"/>
              <a:pPr/>
              <a:t>7/9/2020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DFC1B-246B-4E89-B316-110A873EC268}" type="datetime1">
              <a:rPr lang="en-US" smtClean="0"/>
              <a:pPr/>
              <a:t>7/9/2020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D7A26-3A9D-42B8-9383-DEFFCAB98889}" type="datetime1">
              <a:rPr lang="en-US" smtClean="0"/>
              <a:pPr/>
              <a:t>7/9/2020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79A30-FFAB-4DBF-94A6-2E145F2FCA2A}" type="datetime1">
              <a:rPr lang="en-US" smtClean="0"/>
              <a:pPr/>
              <a:t>7/9/2020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C8A4-2A60-4EF9-9287-209AD1D300D3}" type="datetime1">
              <a:rPr lang="en-US" smtClean="0"/>
              <a:pPr/>
              <a:t>7/9/2020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66E30-7210-464E-8302-9DD7751FDC36}" type="datetime1">
              <a:rPr lang="en-US" smtClean="0"/>
              <a:pPr/>
              <a:t>7/9/2020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50983-422B-47AA-A7F1-7ABBD3BE51B8}" type="datetime1">
              <a:rPr lang="en-US" smtClean="0"/>
              <a:pPr/>
              <a:t>7/9/2020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C72A2C-A8D6-4D99-8E80-99D45247B09F}" type="datetime1">
              <a:rPr lang="en-US" smtClean="0"/>
              <a:pPr/>
              <a:t>7/9/2020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39775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Wireless and Mobile Communication</a:t>
            </a:r>
            <a:br>
              <a:rPr lang="en-US" dirty="0" smtClean="0"/>
            </a:br>
            <a:r>
              <a:rPr lang="en-US" dirty="0" smtClean="0"/>
              <a:t>(UEC 804) </a:t>
            </a:r>
            <a:endParaRPr lang="en-US" dirty="0"/>
          </a:p>
        </p:txBody>
      </p:sp>
      <p:grpSp>
        <p:nvGrpSpPr>
          <p:cNvPr id="3" name="Group 4"/>
          <p:cNvGrpSpPr/>
          <p:nvPr/>
        </p:nvGrpSpPr>
        <p:grpSpPr>
          <a:xfrm>
            <a:off x="0" y="65325"/>
            <a:ext cx="8991600" cy="6158741"/>
            <a:chOff x="0" y="65325"/>
            <a:chExt cx="8991600" cy="6158741"/>
          </a:xfrm>
        </p:grpSpPr>
        <p:sp>
          <p:nvSpPr>
            <p:cNvPr id="6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333635" y="685800"/>
              <a:ext cx="8505563" cy="5538266"/>
              <a:chOff x="211286" y="1131023"/>
              <a:chExt cx="13623320" cy="6982618"/>
            </a:xfrm>
          </p:grpSpPr>
          <p:grpSp>
            <p:nvGrpSpPr>
              <p:cNvPr id="5" name="Group 44"/>
              <p:cNvGrpSpPr/>
              <p:nvPr/>
            </p:nvGrpSpPr>
            <p:grpSpPr>
              <a:xfrm>
                <a:off x="211286" y="1586248"/>
                <a:ext cx="13623320" cy="6527393"/>
                <a:chOff x="211286" y="1586248"/>
                <a:chExt cx="13623320" cy="6527393"/>
              </a:xfrm>
            </p:grpSpPr>
            <p:sp>
              <p:nvSpPr>
                <p:cNvPr id="10" name="Half Frame 9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16200000">
                  <a:off x="272317" y="6175105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5400000">
                  <a:off x="12337403" y="1525217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16200000">
                  <a:off x="720674" y="6616438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9" name="Half Frame 7"/>
              <p:cNvSpPr/>
              <p:nvPr/>
            </p:nvSpPr>
            <p:spPr>
              <a:xfrm rot="5400000">
                <a:off x="12013153" y="1022867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4" name="TextBox 13"/>
          <p:cNvSpPr txBox="1"/>
          <p:nvPr/>
        </p:nvSpPr>
        <p:spPr>
          <a:xfrm>
            <a:off x="1143000" y="4743271"/>
            <a:ext cx="685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Reference Text book</a:t>
            </a:r>
          </a:p>
          <a:p>
            <a:pPr algn="ctr"/>
            <a:r>
              <a:rPr lang="en-US" dirty="0" smtClean="0">
                <a:solidFill>
                  <a:srgbClr val="C00000"/>
                </a:solidFill>
              </a:rPr>
              <a:t>“Wireless communication_ principles and practices” (Second </a:t>
            </a:r>
            <a:r>
              <a:rPr lang="en-US" dirty="0">
                <a:solidFill>
                  <a:srgbClr val="C00000"/>
                </a:solidFill>
              </a:rPr>
              <a:t>E</a:t>
            </a:r>
            <a:r>
              <a:rPr lang="en-US" dirty="0" smtClean="0">
                <a:solidFill>
                  <a:srgbClr val="C00000"/>
                </a:solidFill>
              </a:rPr>
              <a:t>dition )</a:t>
            </a:r>
          </a:p>
          <a:p>
            <a:pPr algn="ctr"/>
            <a:r>
              <a:rPr lang="en-US" dirty="0" smtClean="0">
                <a:solidFill>
                  <a:srgbClr val="C00000"/>
                </a:solidFill>
              </a:rPr>
              <a:t>Author: Theodore s Rapport</a:t>
            </a:r>
          </a:p>
          <a:p>
            <a:pPr algn="ctr"/>
            <a:r>
              <a:rPr lang="en-US" dirty="0" smtClean="0">
                <a:solidFill>
                  <a:srgbClr val="C00000"/>
                </a:solidFill>
              </a:rPr>
              <a:t>Publisher: Prentice Hall (2002)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438400" y="2286000"/>
            <a:ext cx="5562600" cy="1447800"/>
          </a:xfrm>
        </p:spPr>
        <p:txBody>
          <a:bodyPr/>
          <a:lstStyle/>
          <a:p>
            <a:pPr>
              <a:buNone/>
            </a:pPr>
            <a:r>
              <a:rPr lang="en-US" sz="6600" smtClean="0">
                <a:solidFill>
                  <a:srgbClr val="C00000"/>
                </a:solidFill>
              </a:rPr>
              <a:t>MODULE -V</a:t>
            </a:r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2" name="Group 14"/>
          <p:cNvGrpSpPr/>
          <p:nvPr/>
        </p:nvGrpSpPr>
        <p:grpSpPr>
          <a:xfrm>
            <a:off x="0" y="65325"/>
            <a:ext cx="8991600" cy="6158741"/>
            <a:chOff x="0" y="65325"/>
            <a:chExt cx="8991600" cy="6158741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333635" y="685800"/>
              <a:ext cx="8505565" cy="5538266"/>
              <a:chOff x="211286" y="1131023"/>
              <a:chExt cx="13623320" cy="6982618"/>
            </a:xfrm>
          </p:grpSpPr>
          <p:grpSp>
            <p:nvGrpSpPr>
              <p:cNvPr id="6" name="Group 44"/>
              <p:cNvGrpSpPr/>
              <p:nvPr/>
            </p:nvGrpSpPr>
            <p:grpSpPr>
              <a:xfrm>
                <a:off x="211286" y="1586248"/>
                <a:ext cx="13623320" cy="6527393"/>
                <a:chOff x="211286" y="1586248"/>
                <a:chExt cx="13623320" cy="6527393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272317" y="6175105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337403" y="1525217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720674" y="6616438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013153" y="1022867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>
          <a:xfrm>
            <a:off x="1600200" y="3352800"/>
            <a:ext cx="6400800" cy="16002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TW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Mobile Radio Propagation: Small-Scale Fading and Multipath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TW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8991600" cy="6792675"/>
            <a:chOff x="0" y="65325"/>
            <a:chExt cx="89916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685800"/>
              <a:ext cx="8839200" cy="6172200"/>
              <a:chOff x="-323094" y="1131023"/>
              <a:chExt cx="14157700" cy="7781879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586248"/>
                <a:ext cx="14157700" cy="7326654"/>
                <a:chOff x="-323094" y="1586248"/>
                <a:chExt cx="14157700" cy="7326654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337403" y="1525217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013153" y="1022867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04800" y="838200"/>
            <a:ext cx="637758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  <a:ea typeface="+mj-ea"/>
                <a:cs typeface="+mj-cs"/>
              </a:rPr>
              <a:t>Topics </a:t>
            </a:r>
            <a:r>
              <a:rPr lang="en-US" sz="3600" dirty="0" smtClean="0">
                <a:solidFill>
                  <a:srgbClr val="C00000"/>
                </a:solidFill>
                <a:ea typeface="+mj-ea"/>
                <a:cs typeface="+mj-cs"/>
              </a:rPr>
              <a:t>to be covered </a:t>
            </a:r>
            <a:r>
              <a:rPr lang="en-US" sz="3600" dirty="0">
                <a:solidFill>
                  <a:srgbClr val="C00000"/>
                </a:solidFill>
                <a:ea typeface="+mj-ea"/>
                <a:cs typeface="+mj-cs"/>
              </a:rPr>
              <a:t>in </a:t>
            </a:r>
            <a:r>
              <a:rPr lang="en-US" sz="3600" dirty="0" smtClean="0">
                <a:solidFill>
                  <a:srgbClr val="C00000"/>
                </a:solidFill>
                <a:ea typeface="+mj-ea"/>
                <a:cs typeface="+mj-cs"/>
              </a:rPr>
              <a:t>this video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57200" y="167640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4163" indent="-284163">
              <a:buFont typeface="Arial" pitchFamily="34" charset="0"/>
              <a:buChar char="•"/>
            </a:pPr>
            <a:r>
              <a:rPr lang="en-US" dirty="0" smtClean="0"/>
              <a:t>Introduction to fading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1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Fading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04800" y="1066800"/>
            <a:ext cx="8229600" cy="4619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95300" indent="-49530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b="1" dirty="0" smtClean="0"/>
              <a:t>Fading: rapid fluctuations of received signal strength over short time intervals and/or travel distances </a:t>
            </a:r>
          </a:p>
          <a:p>
            <a:pPr marL="495300" indent="-49530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b="1" dirty="0" smtClean="0"/>
              <a:t>Caused by interference from multiple copies of </a:t>
            </a:r>
            <a:r>
              <a:rPr lang="en-US" altLang="zh-TW" b="1" dirty="0" err="1" smtClean="0"/>
              <a:t>Tx</a:t>
            </a:r>
            <a:r>
              <a:rPr lang="en-US" altLang="zh-TW" b="1" dirty="0" smtClean="0"/>
              <a:t> signal arriving @ Rx at slightly </a:t>
            </a:r>
            <a:r>
              <a:rPr lang="en-US" altLang="zh-TW" b="1" u="sng" dirty="0" smtClean="0"/>
              <a:t>different </a:t>
            </a:r>
            <a:r>
              <a:rPr lang="en-US" altLang="zh-TW" b="1" dirty="0" smtClean="0"/>
              <a:t>times </a:t>
            </a:r>
          </a:p>
          <a:p>
            <a:pPr marL="495300" indent="-49530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b="1" dirty="0" smtClean="0"/>
              <a:t>Three most important effects: 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zh-TW" b="1" dirty="0" smtClean="0"/>
              <a:t>Rapid changes in signal strengths over small travel distances or short time periods. 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zh-TW" b="1" dirty="0" smtClean="0"/>
              <a:t>Changes in the frequency of signals. 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zh-TW" b="1" dirty="0" smtClean="0"/>
              <a:t>Multiple signals arriving a different times. When added together at the antenna, signals are spread out in time. This can cause a smearing of the signal and interference between bits that are received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1"/>
            <a:ext cx="74676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Fading</a:t>
            </a:r>
          </a:p>
          <a:p>
            <a:pPr algn="ctr"/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81000" y="838200"/>
            <a:ext cx="8305800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6075" indent="-346075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000" b="1" i="1" dirty="0" smtClean="0"/>
              <a:t>Fading </a:t>
            </a:r>
            <a:r>
              <a:rPr lang="en-US" altLang="zh-TW" sz="2000" b="1" dirty="0" smtClean="0"/>
              <a:t>signals occur due to reflections from ground &amp; surrounding buildings (clutter) as well as scattered signals from trees, people, towers, etc. </a:t>
            </a:r>
          </a:p>
          <a:p>
            <a:pPr marL="854075" lvl="1" indent="-396875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zh-TW" sz="2000" b="1" dirty="0" smtClean="0"/>
              <a:t>often an LOS path is not available so the </a:t>
            </a:r>
            <a:r>
              <a:rPr lang="en-US" altLang="zh-TW" sz="2000" b="1" u="sng" dirty="0" smtClean="0"/>
              <a:t>first </a:t>
            </a:r>
            <a:r>
              <a:rPr lang="en-US" altLang="zh-TW" sz="2000" b="1" dirty="0" smtClean="0"/>
              <a:t>multipath signal arrival is probably the desired signal (the one which traveled the shortest distance) </a:t>
            </a:r>
          </a:p>
          <a:p>
            <a:pPr marL="854075" lvl="1" indent="-396875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zh-TW" sz="2000" b="1" dirty="0" smtClean="0"/>
              <a:t>allows service even when Rx is severely obstructed by surrounding clutter </a:t>
            </a:r>
            <a:endParaRPr lang="en-US" altLang="zh-TW" sz="2000" b="1" dirty="0" smtClean="0"/>
          </a:p>
          <a:p>
            <a:pPr marL="346075" lvl="1" indent="-346075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000" b="1" dirty="0" smtClean="0"/>
              <a:t>Even stationary</a:t>
            </a:r>
            <a:r>
              <a:rPr lang="en-US" altLang="zh-TW" sz="2000" b="1" i="1" dirty="0" smtClean="0"/>
              <a:t> </a:t>
            </a:r>
            <a:r>
              <a:rPr lang="en-US" altLang="zh-TW" sz="2000" b="1" dirty="0" err="1" smtClean="0"/>
              <a:t>Tx</a:t>
            </a:r>
            <a:r>
              <a:rPr lang="en-US" altLang="zh-TW" sz="2000" b="1" dirty="0" smtClean="0"/>
              <a:t>/Rx wireless links can experience fading due to the motion of objects (cars, people, trees, etc.) in surrounding environment off of which come the reflections </a:t>
            </a:r>
          </a:p>
          <a:p>
            <a:pPr marL="346075" lvl="1" indent="-346075">
              <a:lnSpc>
                <a:spcPct val="150000"/>
              </a:lnSpc>
              <a:buFont typeface="Wingdings" pitchFamily="2" charset="2"/>
              <a:buChar char="Ø"/>
            </a:pPr>
            <a:endParaRPr lang="en-US" altLang="zh-TW" sz="2000" b="1" dirty="0" smtClean="0"/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1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Fading</a:t>
            </a:r>
            <a:endParaRPr lang="en-US" sz="3200" b="1" dirty="0" smtClean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0" y="762000"/>
            <a:ext cx="8991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6075" indent="-346075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000" b="1" dirty="0" smtClean="0"/>
              <a:t>Multipath signals have randomly distributed amplitudes, phases, &amp; direction of arrival </a:t>
            </a:r>
          </a:p>
          <a:p>
            <a:pPr marL="741363" lvl="1" indent="-284163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zh-TW" sz="2000" b="1" dirty="0" smtClean="0"/>
              <a:t>vector summation of (</a:t>
            </a:r>
            <a:r>
              <a:rPr lang="en-US" altLang="zh-TW" sz="2000" b="1" i="1" dirty="0" smtClean="0"/>
              <a:t>A </a:t>
            </a:r>
            <a:r>
              <a:rPr lang="en-US" altLang="zh-TW" sz="2000" b="1" dirty="0" smtClean="0"/>
              <a:t>∠θ) @ Rx of multipath </a:t>
            </a:r>
            <a:r>
              <a:rPr lang="en-US" altLang="zh-TW" sz="2000" b="1" dirty="0" smtClean="0"/>
              <a:t>leads to Constructive/destructive </a:t>
            </a:r>
            <a:r>
              <a:rPr lang="en-US" altLang="zh-TW" sz="2000" b="1" dirty="0" smtClean="0"/>
              <a:t>interference as mobile Rx moves in space with respect to time </a:t>
            </a:r>
          </a:p>
          <a:p>
            <a:pPr marL="396875" indent="-396875" algn="just">
              <a:lnSpc>
                <a:spcPct val="150000"/>
              </a:lnSpc>
              <a:buFont typeface="Wingdings" pitchFamily="2" charset="2"/>
              <a:buChar char="Ø"/>
            </a:pP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1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Fading</a:t>
            </a:r>
            <a:endParaRPr lang="en-US" sz="3200" b="1" dirty="0" smtClean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0" y="762000"/>
            <a:ext cx="8915400" cy="41996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000" b="1" dirty="0" smtClean="0"/>
              <a:t> Received </a:t>
            </a:r>
            <a:r>
              <a:rPr lang="en-US" altLang="zh-TW" sz="2000" b="1" dirty="0" smtClean="0"/>
              <a:t>signal strength can vary by </a:t>
            </a:r>
            <a:r>
              <a:rPr lang="en-US" altLang="zh-TW" sz="2000" b="1" i="1" dirty="0" smtClean="0"/>
              <a:t>Small-scale fading </a:t>
            </a:r>
            <a:r>
              <a:rPr lang="en-US" altLang="zh-TW" sz="2000" b="1" dirty="0" smtClean="0"/>
              <a:t>over distances of </a:t>
            </a:r>
            <a:r>
              <a:rPr lang="en-US" altLang="zh-TW" sz="2000" b="1" i="1" dirty="0" smtClean="0"/>
              <a:t>a few  meter </a:t>
            </a:r>
            <a:r>
              <a:rPr lang="en-US" altLang="zh-TW" sz="2000" b="1" dirty="0" smtClean="0"/>
              <a:t>(about 7 cm at 1 GHz)! </a:t>
            </a:r>
          </a:p>
          <a:p>
            <a:pPr marL="854075" lvl="1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zh-TW" sz="2000" b="1" dirty="0" smtClean="0"/>
              <a:t>This is a variation between, say, 1 </a:t>
            </a:r>
            <a:r>
              <a:rPr lang="en-US" altLang="zh-TW" sz="2000" b="1" dirty="0" err="1" smtClean="0"/>
              <a:t>mW</a:t>
            </a:r>
            <a:r>
              <a:rPr lang="en-US" altLang="zh-TW" sz="2000" b="1" dirty="0" smtClean="0"/>
              <a:t> and 10</a:t>
            </a:r>
            <a:r>
              <a:rPr lang="en-US" altLang="zh-TW" sz="2000" b="1" baseline="30000" dirty="0" smtClean="0"/>
              <a:t>-6</a:t>
            </a:r>
            <a:r>
              <a:rPr lang="en-US" altLang="zh-TW" sz="2000" b="1" dirty="0" smtClean="0"/>
              <a:t> </a:t>
            </a:r>
            <a:r>
              <a:rPr lang="en-US" altLang="zh-TW" sz="2000" b="1" dirty="0" err="1" smtClean="0"/>
              <a:t>mW</a:t>
            </a:r>
            <a:r>
              <a:rPr lang="en-US" altLang="zh-TW" sz="2000" b="1" dirty="0" smtClean="0"/>
              <a:t>. </a:t>
            </a:r>
          </a:p>
          <a:p>
            <a:pPr marL="854075" lvl="1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zh-TW" sz="2000" b="1" dirty="0" smtClean="0"/>
              <a:t>If a user stops at a deeply faded point, the signal quality can be quite bad. </a:t>
            </a:r>
          </a:p>
          <a:p>
            <a:pPr marL="854075" lvl="1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zh-TW" sz="2000" b="1" dirty="0" smtClean="0"/>
              <a:t>However, even if a user stops, others around may still be moving and can change the fading characteristics. </a:t>
            </a:r>
          </a:p>
          <a:p>
            <a:pPr marL="854075" lvl="1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zh-TW" sz="2000" b="1" dirty="0" smtClean="0"/>
              <a:t>And if we have another antenna, say only 7 to 10 cm separated from the other antenna, that signal could be good. </a:t>
            </a:r>
          </a:p>
          <a:p>
            <a:pPr marL="854075" lvl="2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zh-TW" sz="2000" b="1" dirty="0" smtClean="0"/>
              <a:t>This is called making use of </a:t>
            </a:r>
            <a:r>
              <a:rPr lang="en-US" altLang="zh-TW" sz="2000" b="1" i="1" dirty="0" smtClean="0"/>
              <a:t> diversity </a:t>
            </a:r>
            <a:r>
              <a:rPr lang="en-US" altLang="zh-TW" sz="2000" b="1" dirty="0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0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Fading</a:t>
            </a:r>
            <a:endParaRPr lang="en-US" sz="3200" b="1" dirty="0" smtClean="0">
              <a:solidFill>
                <a:schemeClr val="bg1"/>
              </a:solidFill>
            </a:endParaRPr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539750" y="692150"/>
            <a:ext cx="8001000" cy="56896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fading occurs around received signal strength predicted from large-scale path loss models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altLang="zh-TW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87450" y="2205038"/>
            <a:ext cx="6480175" cy="400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/>
          <p:nvPr/>
        </p:nvGrpSpPr>
        <p:grpSpPr>
          <a:xfrm>
            <a:off x="76200" y="65325"/>
            <a:ext cx="9067800" cy="6855826"/>
            <a:chOff x="0" y="65325"/>
            <a:chExt cx="9067800" cy="6432478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504496"/>
              <a:ext cx="9067798" cy="5993307"/>
              <a:chOff x="-323093" y="902435"/>
              <a:chExt cx="14523851" cy="7556333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3" y="1357660"/>
                <a:ext cx="14523851" cy="7101108"/>
                <a:chOff x="-323093" y="1357660"/>
                <a:chExt cx="14523851" cy="7101108"/>
              </a:xfrm>
            </p:grpSpPr>
            <p:sp>
              <p:nvSpPr>
                <p:cNvPr id="9" name="Half Frame 8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Half Frame 9"/>
                <p:cNvSpPr/>
                <p:nvPr/>
              </p:nvSpPr>
              <p:spPr>
                <a:xfrm rot="16200000">
                  <a:off x="-262063" y="6520234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5400000">
                  <a:off x="12703555" y="1296630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186294" y="6961565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" name="Half Frame 7"/>
              <p:cNvSpPr/>
              <p:nvPr/>
            </p:nvSpPr>
            <p:spPr>
              <a:xfrm rot="5400000">
                <a:off x="12379305" y="794279"/>
                <a:ext cx="1341921" cy="1558233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6" name="image96.png"/>
          <p:cNvPicPr/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15892" y="1482242"/>
            <a:ext cx="6991913" cy="3928567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1.0&quot;&gt;&lt;object type=&quot;1&quot; unique_id=&quot;10001&quot;&gt;&lt;object type=&quot;8&quot; unique_id=&quot;15639&quot;&gt;&lt;/object&gt;&lt;object type=&quot;2&quot; unique_id=&quot;15640&quot;&gt;&lt;object type=&quot;3&quot; unique_id=&quot;15641&quot;&gt;&lt;property id=&quot;20148&quot; value=&quot;5&quot;/&gt;&lt;property id=&quot;20300&quot; value=&quot;Slide 1 - &amp;quot;Wireless and Mobile Communication (UEC 804) &amp;quot;&quot;/&gt;&lt;property id=&quot;20307&quot; value=&quot;257&quot;/&gt;&lt;/object&gt;&lt;object type=&quot;3&quot; unique_id=&quot;15642&quot;&gt;&lt;property id=&quot;20148&quot; value=&quot;5&quot;/&gt;&lt;property id=&quot;20300&quot; value=&quot;Slide 2&quot;/&gt;&lt;property id=&quot;20307&quot; value=&quot;258&quot;/&gt;&lt;/object&gt;&lt;object type=&quot;3&quot; unique_id=&quot;15783&quot;&gt;&lt;property id=&quot;20148&quot; value=&quot;5&quot;/&gt;&lt;property id=&quot;20300&quot; value=&quot;Slide 9&quot;/&gt;&lt;property id=&quot;20307&quot; value=&quot;267&quot;/&gt;&lt;/object&gt;&lt;object type=&quot;3&quot; unique_id=&quot;18610&quot;&gt;&lt;property id=&quot;20148&quot; value=&quot;5&quot;/&gt;&lt;property id=&quot;20300&quot; value=&quot;Slide 3&quot;/&gt;&lt;property id=&quot;20307&quot; value=&quot;280&quot;/&gt;&lt;/object&gt;&lt;object type=&quot;3&quot; unique_id=&quot;19771&quot;&gt;&lt;property id=&quot;20148&quot; value=&quot;5&quot;/&gt;&lt;property id=&quot;20300&quot; value=&quot;Slide 4&quot;/&gt;&lt;property id=&quot;20307&quot; value=&quot;286&quot;/&gt;&lt;/object&gt;&lt;object type=&quot;3&quot; unique_id=&quot;20678&quot;&gt;&lt;property id=&quot;20148&quot; value=&quot;5&quot;/&gt;&lt;property id=&quot;20300&quot; value=&quot;Slide 6&quot;/&gt;&lt;property id=&quot;20307&quot; value=&quot;287&quot;/&gt;&lt;/object&gt;&lt;object type=&quot;3&quot; unique_id=&quot;20679&quot;&gt;&lt;property id=&quot;20148&quot; value=&quot;5&quot;/&gt;&lt;property id=&quot;20300&quot; value=&quot;Slide 5&quot;/&gt;&lt;property id=&quot;20307&quot; value=&quot;288&quot;/&gt;&lt;/object&gt;&lt;object type=&quot;3&quot; unique_id=&quot;20680&quot;&gt;&lt;property id=&quot;20148&quot; value=&quot;5&quot;/&gt;&lt;property id=&quot;20300&quot; value=&quot;Slide 7&quot;/&gt;&lt;property id=&quot;20307&quot; value=&quot;289&quot;/&gt;&lt;/object&gt;&lt;object type=&quot;3&quot; unique_id=&quot;20681&quot;&gt;&lt;property id=&quot;20148&quot; value=&quot;5&quot;/&gt;&lt;property id=&quot;20300&quot; value=&quot;Slide 8&quot;/&gt;&lt;property id=&quot;20307&quot; value=&quot;290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11626</TotalTime>
  <Words>417</Words>
  <Application>Microsoft Office PowerPoint</Application>
  <PresentationFormat>On-screen Show (4:3)</PresentationFormat>
  <Paragraphs>43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Wireless and Mobile Communication (UEC 804) 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Wireless and Mobile Communication (UEC 804)</dc:title>
  <dc:creator>Surbhi Sharma</dc:creator>
  <cp:lastModifiedBy>Surbhi Sharma</cp:lastModifiedBy>
  <cp:revision>89</cp:revision>
  <dcterms:created xsi:type="dcterms:W3CDTF">2020-06-07T16:43:59Z</dcterms:created>
  <dcterms:modified xsi:type="dcterms:W3CDTF">2020-07-09T17:43:28Z</dcterms:modified>
</cp:coreProperties>
</file>
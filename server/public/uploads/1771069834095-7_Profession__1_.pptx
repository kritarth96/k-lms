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8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289" r:id="rId10"/>
    <p:sldId id="290" r:id="rId11"/>
    <p:sldId id="291" r:id="rId12"/>
    <p:sldId id="292" r:id="rId13"/>
    <p:sldId id="293" r:id="rId14"/>
    <p:sldId id="329" r:id="rId15"/>
    <p:sldId id="330" r:id="rId16"/>
    <p:sldId id="331" r:id="rId17"/>
    <p:sldId id="332" r:id="rId18"/>
    <p:sldId id="33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6A361-BC7D-4F9E-8E2E-38FF8BE418A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F9BE-B174-4406-AA7F-743F681D4E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3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DB2429-E685-44AD-B41B-91F46BC28F4A}" type="slidenum">
              <a:rPr lang="en-GB"/>
              <a:pPr/>
              <a:t>14</a:t>
            </a:fld>
            <a:endParaRPr lang="en-GB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673"/>
            <a:ext cx="5029200" cy="4114566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683B03-DE99-4802-A374-64EFC2D77490}" type="slidenum">
              <a:rPr lang="en-GB"/>
              <a:pPr/>
              <a:t>15</a:t>
            </a:fld>
            <a:endParaRPr lang="en-GB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673"/>
            <a:ext cx="5029200" cy="411456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0886CF-67DE-48A9-AF32-2569ED193593}" type="slidenum">
              <a:rPr lang="en-GB"/>
              <a:pPr/>
              <a:t>16</a:t>
            </a:fld>
            <a:endParaRPr lang="en-GB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673"/>
            <a:ext cx="5029200" cy="411456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216919-FCAB-4264-91CA-38B1B2F627BE}" type="slidenum">
              <a:rPr lang="en-GB"/>
              <a:pPr/>
              <a:t>17</a:t>
            </a:fld>
            <a:endParaRPr lang="en-GB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673"/>
            <a:ext cx="5029200" cy="411456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D4C833-083B-40EB-9475-B699AD8A6C57}" type="slidenum">
              <a:rPr lang="en-GB"/>
              <a:pPr/>
              <a:t>18</a:t>
            </a:fld>
            <a:endParaRPr lang="en-GB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673"/>
            <a:ext cx="5029200" cy="411456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00588D-9496-412F-DDC8-C98298191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BDDB14F-15E3-8005-F29E-11F81A3CA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0D8523-BAD6-F7A0-3EEB-ACDAEEBB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3DF276-1BF3-D0B9-AF3E-67ED6D19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82AED4-22DB-42E7-F72F-5B3ECA36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9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3827E7-D769-DCF8-82A3-EBDDB4FC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0A7C79-60A8-1BA2-3490-B30572CA6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98C3D00-140A-D2A5-79EF-E6D6B7A5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7A49582-6565-0DF9-E591-7DAB1C52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FA4D18-8CA3-0E29-7B82-4F4D4394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51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2C49C3-F2CD-9607-1F09-32B6E0BC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0DB02AC-05ED-23D1-F581-C23A7610B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B1353E7-80DE-37D8-E148-740EC404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716A203-36FD-CEE4-1D17-6988D142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523FBE-C000-935E-1335-B6C77A66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36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00302B-9DB7-DC11-70F8-724FA86B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04D445C-CD20-17FB-3AFF-190347E23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EC6F44F-63F6-768F-8FCE-533D0C8B1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8C497F-A501-5A7F-C5C6-C51C8043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70E2A1-78B6-F41B-29A1-38EB0F9E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96C3194-85C8-AE3D-5667-1D31147D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09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B9512D-6157-8AF2-1DEB-B767A4983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F3D8551-BC19-CD1F-FC97-CDD3FF301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16B52A3-4FB4-3D5F-172B-08B62A856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9491AA9-EB07-4D27-5A20-882771FEE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FA9C2C-0E77-1BBB-9C59-99EA96302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FE8919A-6AE0-51F6-6430-D0A11C6D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2378BDF-D31B-450A-DF57-3D0E4E14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9D7C581-F024-A208-06E5-61CD1F9E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7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0F5FED-C7B7-E44E-6C8B-1B058254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D4D8A67-C1AE-8D29-35BE-19FF399D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F91963B-ECBA-AE1A-3BB7-3CA2B467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A66DFBD-B84D-1222-C479-00E648A5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26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679380E-794B-4AF0-68FC-615F8A1C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87EC177-F60B-4917-AB04-A747BC1C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14EF516-E09C-CD43-839D-7F757B82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27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706EAF-C4DC-3478-9918-97C65B36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575434-3218-9E4B-EE54-CB6CF13C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859A13D-0352-DD16-3AE1-71DA26B6C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170B720-EC64-BA07-B909-00DF03C1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9556296-8511-6AFD-4FBD-97FF5D64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AE1CA01-FE99-1C83-1203-9F4C3996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0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7D329D-DEF9-CA67-5D65-6ADEC928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F8C68B9-5144-16CA-1DE4-C3C8395B3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74D8429-14AF-A69F-47F7-2C1333D4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63111F8-6B7D-E451-5921-ED5AD86EA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4B30C6D-083E-08EA-ACCF-FBDAF409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12DB433-49B3-D9FE-5617-AD654EFB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34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0BDFD4-6783-9FFC-E587-D833ABBA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C603758-7E42-50FB-D772-B98001777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9CDD85-F7B5-5A09-3890-428A2FBF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C0F376-885F-9C4B-73F7-293D234C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8379DD-4822-875B-0ED1-6754BE80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1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57207FA-A05B-E65F-E0AD-B6CB7561F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444369C-FB3B-7FB9-AC01-9436165C8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313F979-E247-0B78-BC14-6FF7B8C6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DF132BC-49E9-E026-6115-204FF568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DD0EDAB-E29C-329E-083B-3D023E93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87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2596A1C-3F82-20D3-6E93-D6AD84E15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7FE0AE2-40A1-D647-1312-B12357E75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0D00E13-5555-0EB6-6A84-AF7DEC1EF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91DA8-CF63-45C7-86D0-F5838E820E3C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7C0B1CE-DF99-B64E-5AEB-54A460594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D8D657-2088-7D09-0139-CD7964B94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00796-081E-418B-90B4-C14C6EE97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Profession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Attributes and Ethos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715000"/>
          </a:xfrm>
        </p:spPr>
        <p:txBody>
          <a:bodyPr rtlCol="0">
            <a:normAutofit/>
          </a:bodyPr>
          <a:lstStyle/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profession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 disciplined group of individuals who adhere to ethical standards. 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group positions itself as possessing special knowledge and skills in a widely recognized body of learning derived from research, education and training at a high level, and is recognized by the public as such. 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profession is also prepared to apply this knowledge and exercise these skills in the interest of others.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334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 Attributes of Profession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11684000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1. Systematic body of theory</a:t>
            </a:r>
          </a:p>
          <a:p>
            <a:pPr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Professional Authority</a:t>
            </a:r>
          </a:p>
          <a:p>
            <a:pPr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 Sanction of the community</a:t>
            </a:r>
          </a:p>
          <a:p>
            <a:pPr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4. Regulative code of ethics</a:t>
            </a:r>
          </a:p>
          <a:p>
            <a:pPr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5. The professional culture</a:t>
            </a:r>
          </a:p>
          <a:p>
            <a:pPr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4638"/>
            <a:ext cx="11074400" cy="102076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 Attributes of Profession: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Systematic body of theory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11480800" cy="5181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Distinct body of organized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theoretical knowledge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practical skills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Adequate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academic training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required: difference between professional and non-professional work skills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Advanced professional knowledge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create new area of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specialization and super-specialization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Professionals have to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update their knowledge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regularly.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 Attributes of Profession: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Professional Authority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8307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acquire authority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over their clients because of their specialized knowledge.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Clients have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trust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professionals.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 Attributes of Profession: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Sanction of the community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09600" y="1424066"/>
            <a:ext cx="10972800" cy="470209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professions are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social construct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Their growth and operation depends upon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community sanctions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Sanction is provided to them as they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serve the society and satisfy some indispensible needs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community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confers several powers and privileges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 the professionals. </a:t>
            </a:r>
          </a:p>
          <a:p>
            <a:pPr lvl="1" algn="just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Example: Protection of the confidentiality of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465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Five Attributes of Profession: 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4. Regulative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1" y="1071563"/>
            <a:ext cx="11620500" cy="5143500"/>
          </a:xfrm>
        </p:spPr>
        <p:txBody>
          <a:bodyPr rtlCol="0">
            <a:normAutofit/>
          </a:bodyPr>
          <a:lstStyle/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Many a times professionals lose sights of the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professional ideals.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Therefore, all higher professions have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evolved code of ethics. 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Such codes are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reminders to the members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their professional duties and obligations. 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Professional ethical codes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informs the 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ethical concerns of the profession. 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Such codes create a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climate of trust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between public and professionals.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 Attributes of Profession: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The professional culture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64820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 of professional culture: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views on the value and importance of profession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Elaborate system of inter-group relationships, role definitions and etiquettes </a:t>
            </a:r>
          </a:p>
          <a:p>
            <a:pPr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Professional Ethos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997"/>
            <a:ext cx="10515600" cy="46479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Striving for excellence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Motivation for service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Abiding sense of responsibility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365" y="474347"/>
            <a:ext cx="11100435" cy="55054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 Ethos: Striving for excellence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789" y="1024257"/>
            <a:ext cx="11469371" cy="55213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</a:rPr>
              <a:t>Mastery of </a:t>
            </a: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theoretical knowledge</a:t>
            </a:r>
            <a:r>
              <a:rPr lang="en-US">
                <a:latin typeface="Times New Roman" panose="02020603050405020304" pitchFamily="18" charset="0"/>
              </a:rPr>
              <a:t> as well as </a:t>
            </a: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practical skills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</a:rPr>
              <a:t>Continous </a:t>
            </a: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upgradation</a:t>
            </a:r>
            <a:r>
              <a:rPr lang="en-US">
                <a:latin typeface="Times New Roman" panose="02020603050405020304" pitchFamily="18" charset="0"/>
              </a:rPr>
              <a:t> of such skills</a:t>
            </a:r>
          </a:p>
          <a:p>
            <a:pPr algn="just">
              <a:lnSpc>
                <a:spcPct val="150000"/>
              </a:lnSpc>
            </a:pP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Enthusiasm for applying the knowledge</a:t>
            </a:r>
            <a:r>
              <a:rPr lang="en-US">
                <a:latin typeface="Times New Roman" panose="02020603050405020304" pitchFamily="18" charset="0"/>
              </a:rPr>
              <a:t> to find </a:t>
            </a: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innovative solutions</a:t>
            </a:r>
            <a:r>
              <a:rPr lang="en-US">
                <a:latin typeface="Times New Roman" panose="02020603050405020304" pitchFamily="18" charset="0"/>
              </a:rPr>
              <a:t> for chellanging problems </a:t>
            </a:r>
          </a:p>
          <a:p>
            <a:pPr algn="just">
              <a:lnSpc>
                <a:spcPct val="150000"/>
              </a:lnSpc>
            </a:pPr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" y="149225"/>
            <a:ext cx="11297920" cy="7861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 Ethos:Motivation for service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6" y="914401"/>
            <a:ext cx="11791315" cy="5703571"/>
          </a:xfrm>
        </p:spPr>
        <p:txBody>
          <a:bodyPr>
            <a:normAutofit fontScale="9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Motivation for service is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intrinsic</a:t>
            </a:r>
            <a:r>
              <a:rPr lang="en-US" dirty="0">
                <a:latin typeface="Times New Roman" panose="02020603050405020304" pitchFamily="18" charset="0"/>
              </a:rPr>
              <a:t> to professional work.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 Doctors, lawyers, engineers, teachers all dedicate their time and energies to helping other people.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It is entirely proper that a professional have other goals besides that of service and they should seek an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adequate </a:t>
            </a:r>
            <a:r>
              <a:rPr lang="en-US" b="1" i="1" dirty="0" err="1">
                <a:solidFill>
                  <a:schemeClr val="accent5"/>
                </a:solidFill>
                <a:latin typeface="Times New Roman" panose="02020603050405020304" pitchFamily="18" charset="0"/>
              </a:rPr>
              <a:t>renummeration</a:t>
            </a:r>
            <a:r>
              <a:rPr lang="en-US" dirty="0">
                <a:latin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If it seems that one’s work is not meeting a real need of other persons, people generally consider it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meaningless</a:t>
            </a:r>
            <a:r>
              <a:rPr lang="en-US" dirty="0">
                <a:latin typeface="Times New Roman" panose="02020603050405020304" pitchFamily="18" charset="0"/>
              </a:rPr>
              <a:t> and find it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difficult to be motivated</a:t>
            </a:r>
            <a:r>
              <a:rPr lang="en-US" dirty="0">
                <a:latin typeface="Times New Roman" panose="02020603050405020304" pitchFamily="18" charset="0"/>
              </a:rPr>
              <a:t> at all.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For most people their professional work is, apart perhaps from </a:t>
            </a:r>
            <a:r>
              <a:rPr lang="en-US" i="1" dirty="0">
                <a:latin typeface="Times New Roman" panose="02020603050405020304" pitchFamily="18" charset="0"/>
              </a:rPr>
              <a:t>raising their children</a:t>
            </a:r>
            <a:r>
              <a:rPr lang="en-US" dirty="0">
                <a:latin typeface="Times New Roman" panose="02020603050405020304" pitchFamily="18" charset="0"/>
              </a:rPr>
              <a:t>, their principal mode of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contributing to the good of society</a:t>
            </a:r>
            <a:r>
              <a:rPr lang="en-US" dirty="0">
                <a:latin typeface="Times New Roman" panose="02020603050405020304" pitchFamily="18" charset="0"/>
              </a:rPr>
              <a:t> and </a:t>
            </a:r>
            <a:r>
              <a:rPr lang="en-US" b="1" i="1" dirty="0">
                <a:solidFill>
                  <a:schemeClr val="accent5"/>
                </a:solidFill>
                <a:latin typeface="Times New Roman" panose="02020603050405020304" pitchFamily="18" charset="0"/>
              </a:rPr>
              <a:t>making a difference in the world.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" y="158115"/>
            <a:ext cx="11774805" cy="6616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 Ethos:Abiding sense of responsibility-</a:t>
            </a:r>
            <a:r>
              <a:rPr lang="en-US" b="1" dirty="0">
                <a:latin typeface="Times New Roman" panose="02020603050405020304" pitchFamily="18" charset="0"/>
                <a:sym typeface="+mn-ea"/>
              </a:rPr>
              <a:t>Towards the society </a:t>
            </a:r>
            <a:r>
              <a:rPr lang="en-US" b="1" dirty="0">
                <a:latin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856" y="1066800"/>
            <a:ext cx="11720195" cy="5407025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</a:rPr>
              <a:t>A professional ought to be ever conscious of his or her prime responsibility to use the accumulated wisdom, power and authority, knowledge and skills for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for social betterment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sym typeface="+mn-ea"/>
              </a:rPr>
              <a:t>helping others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sym typeface="+mn-ea"/>
              </a:rPr>
              <a:t>for advancing human well-being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sym typeface="+mn-ea"/>
              </a:rPr>
              <a:t>A professional is morally responsible for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sym typeface="+mn-ea"/>
              </a:rPr>
              <a:t>safeguarding the interests of their clients</a:t>
            </a:r>
            <a:r>
              <a:rPr lang="en-US" sz="2800" dirty="0">
                <a:latin typeface="Times New Roman" panose="02020603050405020304" pitchFamily="18" charset="0"/>
                <a:sym typeface="+mn-ea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sym typeface="+mn-ea"/>
              </a:rPr>
              <a:t>Sense of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sym typeface="+mn-ea"/>
              </a:rPr>
              <a:t>public service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 pitchFamily="18" charset="0"/>
                <a:sym typeface="+mn-ea"/>
              </a:rPr>
              <a:t>	Example: Doctors should fight for better healthcare services and engineers for better technology policy. 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184150"/>
            <a:ext cx="11720831" cy="8318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 Ethos:Abiding sense of responsibility-Towards the profession itself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730" y="1556387"/>
            <a:ext cx="11695431" cy="4962525"/>
          </a:xfrm>
        </p:spPr>
        <p:txBody>
          <a:bodyPr/>
          <a:lstStyle/>
          <a:p>
            <a:pPr marL="457200" lvl="1" indent="-457200"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includes professional colleagues, other persons related to the profession, professional societies, professional ideals and professional norms and respect for institutions. </a:t>
            </a:r>
          </a:p>
          <a:p>
            <a:pPr marL="457200" lvl="1" indent="-457200" algn="just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62708" y="293076"/>
            <a:ext cx="8581292" cy="1078523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a professional engineer?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1" y="1981201"/>
            <a:ext cx="11480799" cy="4678363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Has a bachelor’s degree in engineering from an accredited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Institution.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Performs engineering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a morally responsible way while practicing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engineering.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98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041644"/>
          </a:xfrm>
        </p:spPr>
        <p:txBody>
          <a:bodyPr/>
          <a:lstStyle/>
          <a:p>
            <a:r>
              <a:rPr lang="en-US" b="1" dirty="0"/>
              <a:t>The Engineering Profession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1" y="1371601"/>
            <a:ext cx="11292417" cy="4567238"/>
          </a:xfrm>
        </p:spPr>
        <p:txBody>
          <a:bodyPr/>
          <a:lstStyle/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 view ourselves: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Problem-solvers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Engineering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enjoyable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Engineering benefits people, provides a public service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Engineering provides the most freedom of all professions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Florman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1976)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Engineering is an honorable profession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51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Engineering </a:t>
            </a:r>
            <a:r>
              <a:rPr lang="en-US" b="1" dirty="0" smtClean="0"/>
              <a:t>Ethics</a:t>
            </a:r>
            <a:endParaRPr lang="en-US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study of the moral issues and decisions confronting individuals and organizations engaged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engineering.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study of related questions about the moral ideals, character, policies, and relationships of people and corporations involved in technological activity.</a:t>
            </a:r>
          </a:p>
        </p:txBody>
      </p: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2133600" y="6172200"/>
            <a:ext cx="8026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200" dirty="0">
                <a:latin typeface="Arial Unicode MS" pitchFamily="34" charset="-128"/>
                <a:cs typeface="Times New Roman" charset="0"/>
              </a:rPr>
              <a:t>* from Martin. M. &amp; </a:t>
            </a:r>
            <a:r>
              <a:rPr lang="en-US" sz="1200" dirty="0" err="1">
                <a:latin typeface="Arial Unicode MS" pitchFamily="34" charset="-128"/>
                <a:cs typeface="Times New Roman" charset="0"/>
              </a:rPr>
              <a:t>Schinzinger</a:t>
            </a:r>
            <a:r>
              <a:rPr lang="en-US" sz="1200" dirty="0">
                <a:latin typeface="Arial Unicode MS" pitchFamily="34" charset="-128"/>
                <a:cs typeface="Times New Roman" charset="0"/>
              </a:rPr>
              <a:t>, R. Ethics in Engineering (3</a:t>
            </a:r>
            <a:r>
              <a:rPr lang="en-US" sz="1200" baseline="30000" dirty="0">
                <a:latin typeface="Arial Unicode MS" pitchFamily="34" charset="-128"/>
                <a:cs typeface="Times New Roman" charset="0"/>
              </a:rPr>
              <a:t>rd</a:t>
            </a:r>
            <a:r>
              <a:rPr lang="en-US" sz="1200" dirty="0">
                <a:latin typeface="Arial Unicode MS" pitchFamily="34" charset="-128"/>
                <a:cs typeface="Times New Roman" charset="0"/>
              </a:rPr>
              <a:t> Ed.) (New York: McGraw-Hill, 1996, pp. 2-3.</a:t>
            </a:r>
          </a:p>
        </p:txBody>
      </p:sp>
    </p:spTree>
    <p:extLst>
      <p:ext uri="{BB962C8B-B14F-4D97-AF65-F5344CB8AC3E}">
        <p14:creationId xmlns:p14="http://schemas.microsoft.com/office/powerpoint/2010/main" val="66143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Ethics and Engineering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3999"/>
            <a:ext cx="10972800" cy="46021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>
                <a:latin typeface="+mj-lt"/>
                <a:ea typeface="Arial Unicode MS" pitchFamily="34" charset="-128"/>
                <a:cs typeface="Arial Unicode MS" pitchFamily="34" charset="-128"/>
              </a:rPr>
              <a:t>Impacts of an engineer’s ethical decisions:</a:t>
            </a:r>
            <a:endParaRPr lang="en-US" dirty="0">
              <a:latin typeface="+mj-lt"/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The Products &amp; Services (safety and utility)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The Company and its Stockholders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The Public and Society (benefits to the people)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Environment (Earth and beyond)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The Profession (how the public views it)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The Law (how legislation affects the profession and industry)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  <a:ea typeface="Arial Unicode MS" pitchFamily="34" charset="-128"/>
                <a:cs typeface="Arial Unicode MS" pitchFamily="34" charset="-128"/>
              </a:rPr>
              <a:t>Personal Position (job, internal moral conflict)</a:t>
            </a:r>
          </a:p>
        </p:txBody>
      </p:sp>
    </p:spTree>
    <p:extLst>
      <p:ext uri="{BB962C8B-B14F-4D97-AF65-F5344CB8AC3E}">
        <p14:creationId xmlns:p14="http://schemas.microsoft.com/office/powerpoint/2010/main" val="2215728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US" b="1" dirty="0"/>
              <a:t>Ethics and Engineering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0" y="1295400"/>
            <a:ext cx="11379200" cy="4830763"/>
          </a:xfrm>
        </p:spPr>
        <p:txBody>
          <a:bodyPr/>
          <a:lstStyle/>
          <a:p>
            <a:pPr algn="just"/>
            <a:r>
              <a:rPr lang="en-US" dirty="0">
                <a:cs typeface="Times New Roman" charset="0"/>
              </a:rPr>
              <a:t>Typically, good ethical decisions… </a:t>
            </a:r>
          </a:p>
          <a:p>
            <a:pPr lvl="1" algn="just"/>
            <a:r>
              <a:rPr lang="en-US" dirty="0">
                <a:cs typeface="Times New Roman" charset="0"/>
              </a:rPr>
              <a:t>…may be just that: “good,” but rarely “great” or “ideal”</a:t>
            </a:r>
          </a:p>
          <a:p>
            <a:pPr lvl="1" algn="just"/>
            <a:r>
              <a:rPr lang="en-US" dirty="0">
                <a:cs typeface="Times New Roman" charset="0"/>
              </a:rPr>
              <a:t>…will not always be in the best interest (irrespective of the timeline) of all stakeholders</a:t>
            </a:r>
          </a:p>
          <a:p>
            <a:pPr lvl="1" algn="just"/>
            <a:r>
              <a:rPr lang="en-US" dirty="0">
                <a:cs typeface="Times New Roman" charset="0"/>
              </a:rPr>
              <a:t>…are not automatic but require thought, consideration,  evaluation, and communication (much like the “design process</a:t>
            </a:r>
            <a:r>
              <a:rPr lang="en-US" dirty="0" smtClean="0">
                <a:cs typeface="Times New Roman" charset="0"/>
              </a:rPr>
              <a:t>”).</a:t>
            </a:r>
            <a:endParaRPr lang="en-US" dirty="0"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8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771</Words>
  <Application>Microsoft Office PowerPoint</Application>
  <PresentationFormat>Custom</PresentationFormat>
  <Paragraphs>96</Paragraphs>
  <Slides>18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Profession</vt:lpstr>
      <vt:lpstr>Profession</vt:lpstr>
      <vt:lpstr>Five Attributes of Profession</vt:lpstr>
      <vt:lpstr>Five Attributes of Profession: 1. Systematic body of theory </vt:lpstr>
      <vt:lpstr>Five Attributes of Profession: 2. Professional Authority</vt:lpstr>
      <vt:lpstr>Five Attributes of Profession: 3. Sanction of the community</vt:lpstr>
      <vt:lpstr>Five Attributes of Profession:  4. Regulative code of ethics</vt:lpstr>
      <vt:lpstr>Five Attributes of Profession: 5. The professional culture</vt:lpstr>
      <vt:lpstr>Professional Ethos </vt:lpstr>
      <vt:lpstr> Professional Ethos: Striving for excellence  </vt:lpstr>
      <vt:lpstr> Professional Ethos:Motivation for service </vt:lpstr>
      <vt:lpstr> Professional Ethos:Abiding sense of responsibility-Towards the society  </vt:lpstr>
      <vt:lpstr> Professional Ethos:Abiding sense of responsibility-Towards the profession itself</vt:lpstr>
      <vt:lpstr>What is a professional engineer?</vt:lpstr>
      <vt:lpstr>The Engineering Profession</vt:lpstr>
      <vt:lpstr>What is Engineering Ethics</vt:lpstr>
      <vt:lpstr>Ethics and Engineering</vt:lpstr>
      <vt:lpstr>Ethics and Engineering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</dc:title>
  <dc:creator>Shilpi Tyagi</dc:creator>
  <cp:lastModifiedBy>Ti</cp:lastModifiedBy>
  <cp:revision>3</cp:revision>
  <dcterms:created xsi:type="dcterms:W3CDTF">2023-02-06T06:11:09Z</dcterms:created>
  <dcterms:modified xsi:type="dcterms:W3CDTF">2023-07-13T06:14:56Z</dcterms:modified>
</cp:coreProperties>
</file>
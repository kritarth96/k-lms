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75" r:id="rId2"/>
    <p:sldId id="476" r:id="rId3"/>
    <p:sldId id="485" r:id="rId4"/>
    <p:sldId id="486" r:id="rId5"/>
    <p:sldId id="487" r:id="rId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D3B2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874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ECA2C06-48EA-444B-B9BC-9DB7AAF658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059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B88AE-A3C3-4D8D-9F8A-519F4C44DA0F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616A62-86D7-437F-94CD-618077AE3B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19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0E37C-F364-4050-AAD7-C22EEAF077E7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CB056-FB42-45E8-8E76-4D14E449FA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65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0CFC-E9C9-483B-8829-AE6C01B14053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DB0094-847B-40FE-8075-AE7E1A86F6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73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3F39A-5137-4B5F-ADB4-573C3237F1D6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267B8-7F74-423C-B4D2-FEA9FCA2EF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74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D9F2D-822C-444A-B2D8-1DA876E06AF1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C0B7D7-301D-431B-9398-1CAA57139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66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7F092-CB28-406F-8F4D-A9CB9C6DDF6E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99854B-65BC-43BE-A440-239932B51D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02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07E84-0DE2-4EBA-A409-4F43CD132524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F4165-8E61-41BD-BC99-D27EFE7336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47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E5DB6-A284-4473-8D52-2F93B221A663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5AC913-5F39-4B24-BFD0-B77263A5C7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28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AB68A-FDA8-4C6A-8D84-B7BB18575DE0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63986-ACC6-45AD-BDD0-5F965E3788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4280E-22ED-4EE1-B707-2A227E6C5DF4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C7317-8101-4973-AC7E-BD1AD42ECD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8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ACD89-3346-458A-A6CB-1C441E96DBEA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E295A-1F21-45D2-9B8C-DF51B8F8C3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674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5"/>
            <a:ext cx="109728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C3EC6-FBA6-45B6-B3D5-58AC3D9E5AB4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6CEE9F-ABAF-4D64-B423-0B2F034D90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73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fld id="{97959B4A-5782-4BCA-8A5F-9502DE7283C4}" type="datetime1">
              <a:rPr lang="en-US"/>
              <a:pPr>
                <a:defRPr/>
              </a:pPr>
              <a:t>12/1/2024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6855D25F-EAF1-44F4-B045-AF33E30AA7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ualcomm.com/news/onq/2023/06/5g-network-slicing-how-to-simplify-and-monetize-through-machine-learning-automation" TargetMode="External"/><Relationship Id="rId2" Type="http://schemas.openxmlformats.org/officeDocument/2006/relationships/hyperlink" Target="https://academy.qualcomm.com/course-catalog/5G-Core-Network-Training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qualcomm.com/news/onq/2023/07/its-time-for-5g-to-standalone" TargetMode="External"/><Relationship Id="rId4" Type="http://schemas.openxmlformats.org/officeDocument/2006/relationships/hyperlink" Target="https://www.qualcomm.com/products/internet-of-things#:~:text=Optimized%20operational%20efficiency-,IoT%20helps%20customers%20optimize%20operational%20efficiency%20using%20a%20combination%20of,security%20and%20edge%20AI%20solutions.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y.qualcomm.com/course-catalog/URLLC-Training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181350" y="1085851"/>
            <a:ext cx="5829300" cy="1103313"/>
          </a:xfrm>
        </p:spPr>
        <p:txBody>
          <a:bodyPr/>
          <a:lstStyle/>
          <a:p>
            <a:r>
              <a:rPr lang="en-US" altLang="en-US" sz="2700" b="1" dirty="0">
                <a:solidFill>
                  <a:srgbClr val="00B0F0"/>
                </a:solidFill>
              </a:rPr>
              <a:t>5G WIRELESS COMMUNICATION </a:t>
            </a:r>
            <a:br>
              <a:rPr lang="en-US" altLang="en-US" sz="2700" b="1" dirty="0">
                <a:solidFill>
                  <a:srgbClr val="00B0F0"/>
                </a:solidFill>
              </a:rPr>
            </a:br>
            <a:r>
              <a:rPr lang="en-US" altLang="en-US" sz="2700" b="1" dirty="0">
                <a:solidFill>
                  <a:srgbClr val="00B0F0"/>
                </a:solidFill>
              </a:rPr>
              <a:t>(UEC 719) </a:t>
            </a:r>
          </a:p>
        </p:txBody>
      </p:sp>
      <p:sp>
        <p:nvSpPr>
          <p:cNvPr id="2051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7581900" y="5624514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A2316-809F-4484-8675-B1A5134D60BD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3" name="TextBox 2"/>
          <p:cNvSpPr txBox="1"/>
          <p:nvPr/>
        </p:nvSpPr>
        <p:spPr>
          <a:xfrm>
            <a:off x="4344989" y="2935288"/>
            <a:ext cx="3348037" cy="1846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3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Course Instructor  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Dr. Hem </a:t>
            </a:r>
            <a:r>
              <a:rPr lang="en-US" sz="2100" dirty="0" err="1">
                <a:latin typeface="+mj-lt"/>
                <a:ea typeface="+mj-ea"/>
                <a:cs typeface="+mj-cs"/>
              </a:rPr>
              <a:t>Dutt</a:t>
            </a:r>
            <a:r>
              <a:rPr lang="en-US" sz="2100" dirty="0">
                <a:latin typeface="+mj-lt"/>
                <a:ea typeface="+mj-ea"/>
                <a:cs typeface="+mj-cs"/>
              </a:rPr>
              <a:t> Joshi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Dr. </a:t>
            </a:r>
            <a:r>
              <a:rPr lang="en-US" sz="2100" dirty="0" err="1">
                <a:latin typeface="+mj-lt"/>
                <a:ea typeface="+mj-ea"/>
                <a:cs typeface="+mj-cs"/>
              </a:rPr>
              <a:t>Surbhi</a:t>
            </a:r>
            <a:r>
              <a:rPr lang="en-US" sz="2100" dirty="0">
                <a:latin typeface="+mj-lt"/>
                <a:ea typeface="+mj-ea"/>
                <a:cs typeface="+mj-cs"/>
              </a:rPr>
              <a:t> Sharma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Associate Professor, 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TIET, Patiala</a:t>
            </a:r>
            <a:endParaRPr lang="en-IN" sz="21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81895" y="1752601"/>
            <a:ext cx="5029200" cy="1749425"/>
          </a:xfrm>
        </p:spPr>
        <p:txBody>
          <a:bodyPr>
            <a:normAutofit fontScale="47500" lnSpcReduction="20000"/>
          </a:bodyPr>
          <a:lstStyle/>
          <a:p>
            <a:pPr algn="ctr">
              <a:buFontTx/>
              <a:buNone/>
              <a:defRPr/>
            </a:pPr>
            <a:r>
              <a:rPr lang="en-US" sz="6000" dirty="0">
                <a:solidFill>
                  <a:srgbClr val="00B0F0"/>
                </a:solidFill>
              </a:rPr>
              <a:t>Lecture</a:t>
            </a:r>
          </a:p>
          <a:p>
            <a:pPr algn="ctr">
              <a:buFontTx/>
              <a:buNone/>
              <a:defRPr/>
            </a:pPr>
            <a:endParaRPr lang="en-US" sz="495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r>
              <a:rPr lang="en-US" sz="5700" dirty="0">
                <a:solidFill>
                  <a:srgbClr val="C00000"/>
                </a:solidFill>
              </a:rPr>
              <a:t>5G </a:t>
            </a:r>
            <a:r>
              <a:rPr lang="en-US" sz="5700" dirty="0" smtClean="0">
                <a:solidFill>
                  <a:srgbClr val="C00000"/>
                </a:solidFill>
              </a:rPr>
              <a:t>Core Network Architecture</a:t>
            </a:r>
            <a:endParaRPr lang="en-US" sz="1725" dirty="0">
              <a:solidFill>
                <a:srgbClr val="C00000"/>
              </a:solidFill>
            </a:endParaRPr>
          </a:p>
        </p:txBody>
      </p:sp>
      <p:sp>
        <p:nvSpPr>
          <p:cNvPr id="307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7581900" y="5624514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70C2B-F570-482D-B7D8-379B0AD8AD3A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4" name="Rectangle 3"/>
          <p:cNvSpPr/>
          <p:nvPr/>
        </p:nvSpPr>
        <p:spPr>
          <a:xfrm>
            <a:off x="2943609" y="3733801"/>
            <a:ext cx="590578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FontTx/>
              <a:buNone/>
              <a:defRPr/>
            </a:pPr>
            <a:r>
              <a:rPr lang="en-US" sz="2600" dirty="0" smtClean="0">
                <a:solidFill>
                  <a:srgbClr val="C00000"/>
                </a:solidFill>
              </a:rPr>
              <a:t>Standalone </a:t>
            </a:r>
            <a:r>
              <a:rPr lang="en-US" sz="2600" dirty="0">
                <a:solidFill>
                  <a:srgbClr val="C00000"/>
                </a:solidFill>
              </a:rPr>
              <a:t>and </a:t>
            </a:r>
            <a:r>
              <a:rPr lang="en-US" sz="2600" dirty="0" smtClean="0">
                <a:solidFill>
                  <a:srgbClr val="C00000"/>
                </a:solidFill>
              </a:rPr>
              <a:t>Non-Standalone Mode</a:t>
            </a:r>
            <a:endParaRPr lang="en-US" sz="2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7091" y="637309"/>
            <a:ext cx="11506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it-IT" sz="2400" dirty="0">
                <a:solidFill>
                  <a:srgbClr val="FF0000"/>
                </a:solidFill>
              </a:rPr>
              <a:t>Non-Standalone Mode (NSA) in 5G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NSA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 is an initial deployment option for 5G that builds upon existing 4G LTE infrastructure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NSA mode, the 5G network relies on the 4G core network for essential functions such as authentication, mobility management, and session management. 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5G radio access network (RAN) is added to the existing 4G network, which can allow for faster data speeds and lower latency compared to 4G.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38400" y="86380"/>
            <a:ext cx="76401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8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Standalone Mode vs. Non-Standalone Mode in 5G</a:t>
            </a:r>
            <a:endParaRPr lang="it-IT" sz="2800" b="1" i="0" dirty="0">
              <a:solidFill>
                <a:srgbClr val="00B05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7091" y="3342674"/>
            <a:ext cx="11506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it-IT" sz="2400" dirty="0" smtClean="0">
                <a:solidFill>
                  <a:srgbClr val="FF0000"/>
                </a:solidFill>
              </a:rPr>
              <a:t>Standalone </a:t>
            </a:r>
            <a:r>
              <a:rPr lang="it-IT" sz="2400" dirty="0">
                <a:solidFill>
                  <a:srgbClr val="FF0000"/>
                </a:solidFill>
              </a:rPr>
              <a:t>Mode </a:t>
            </a:r>
            <a:r>
              <a:rPr lang="it-IT" sz="2400" dirty="0" smtClean="0">
                <a:solidFill>
                  <a:srgbClr val="FF0000"/>
                </a:solidFill>
              </a:rPr>
              <a:t>(SA</a:t>
            </a:r>
            <a:r>
              <a:rPr lang="it-IT" sz="2400" dirty="0">
                <a:solidFill>
                  <a:srgbClr val="FF0000"/>
                </a:solidFill>
              </a:rPr>
              <a:t>) in 5G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SA </a:t>
            </a:r>
            <a:r>
              <a:rPr lang="en-US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mode is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 fully independent 5G deployment</a:t>
            </a:r>
            <a:r>
              <a:rPr lang="en-US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SA mode, both the 5G RAN and the </a:t>
            </a:r>
            <a:r>
              <a:rPr lang="en-US" sz="2300" u="sng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5G core network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 are deployed, enabling the full capabilities of 5G technology</a:t>
            </a:r>
            <a:r>
              <a:rPr lang="en-US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SA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mode allows for advanced features like </a:t>
            </a:r>
            <a:r>
              <a:rPr lang="en-US" sz="2300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network slicing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, which enables the creation of virtual networks tailored to specific use cases</a:t>
            </a:r>
            <a:r>
              <a:rPr lang="en-US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also provides improved support for </a:t>
            </a:r>
            <a:r>
              <a:rPr lang="en-US" sz="2300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Internet of Things (</a:t>
            </a:r>
            <a:r>
              <a:rPr lang="en-US" sz="2300" u="sng" dirty="0" err="1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IoT</a:t>
            </a:r>
            <a:r>
              <a:rPr lang="en-US" sz="2300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)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 devices and applications. SA mode is considered the </a:t>
            </a:r>
            <a:r>
              <a:rPr lang="en-US" sz="2300" u="sng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ultimate goal for 5G deployment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, as it unlocks the full transformative potential of 5G technology.</a:t>
            </a:r>
            <a:endParaRPr lang="en-US" sz="23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79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7091" y="637309"/>
            <a:ext cx="11506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 Network: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NSA mode, the 5G network relies on the existing 4G core network, while SA mode deploys a dedicated 5G core network. This distinction allows SA mode to fully leverage the advanced functionalities and capabilities of 5G.</a:t>
            </a:r>
          </a:p>
          <a:p>
            <a:pPr algn="just"/>
            <a:endParaRPr lang="en-US" sz="28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Capabilities</a:t>
            </a:r>
            <a:r>
              <a:rPr lang="en-US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NSA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mode can provide faster data speeds and lower latency compared to 4G, but it may not fully realize the potential of </a:t>
            </a:r>
            <a:r>
              <a:rPr lang="en-US" sz="2800" u="sng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ultra-reliable low latency communication (URLLC)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 and massive machine-type communication (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mMTC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) that 5G promises. SA mode, on the other hand, enables the full suite of 5G features, including network slicing, improved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support, and enhanced reliability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33600" y="0"/>
            <a:ext cx="8579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800" b="1" dirty="0" smtClean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Difference between Standalone and Non-Standalone</a:t>
            </a:r>
            <a:endParaRPr lang="it-IT" sz="2800" b="1" i="0" dirty="0">
              <a:solidFill>
                <a:srgbClr val="00B05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37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7091" y="637309"/>
            <a:ext cx="11506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Short-Term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vs. Long-Term Solutions: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While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NSA mode offers a quicker and more cost-effective way to introduce 5G, SA mode is considered the long-term solution. 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SA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mode provides a foundation for future innovations and use cases, ensuring that the network is ready to support emerging technologies and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applications.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5G continues to evolve, SA mode will become the standard for 5G deployments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advanced capabilities of SA mode will help enable a wide range of transformative applications, including autonomous vehicles, smart cities, remote surgery, and immersive virtual reality experiences.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133600" y="0"/>
            <a:ext cx="8579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800" b="1" dirty="0" smtClean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Difference between Standalone and Non-Standalone</a:t>
            </a:r>
            <a:endParaRPr lang="it-IT" sz="2800" b="1" i="0" dirty="0">
              <a:solidFill>
                <a:srgbClr val="00B05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91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2752</TotalTime>
  <Words>167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Default Design</vt:lpstr>
      <vt:lpstr>5G WIRELESS COMMUNICATION  (UEC 719) </vt:lpstr>
      <vt:lpstr>PowerPoint Presentation</vt:lpstr>
      <vt:lpstr>PowerPoint Presentation</vt:lpstr>
      <vt:lpstr>PowerPoint Presentation</vt:lpstr>
      <vt:lpstr>PowerPoint Presentation</vt:lpstr>
    </vt:vector>
  </TitlesOfParts>
  <Company>jiet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Research</dc:title>
  <dc:creator>hemdutt.joshi</dc:creator>
  <cp:lastModifiedBy>Hemdutt Joshi</cp:lastModifiedBy>
  <cp:revision>385</cp:revision>
  <dcterms:created xsi:type="dcterms:W3CDTF">2007-08-08T07:13:51Z</dcterms:created>
  <dcterms:modified xsi:type="dcterms:W3CDTF">2024-12-01T15:19:07Z</dcterms:modified>
</cp:coreProperties>
</file>
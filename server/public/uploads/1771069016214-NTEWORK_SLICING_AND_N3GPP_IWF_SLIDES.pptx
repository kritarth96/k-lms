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3" r:id="rId9"/>
    <p:sldId id="26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3" d="100"/>
          <a:sy n="73" d="100"/>
        </p:scale>
        <p:origin x="99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CFA7274-31C2-4EFD-B10C-5DF2C95746FC}" type="datetimeFigureOut">
              <a:rPr lang="en-IN" smtClean="0"/>
              <a:t>02-12-2024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6EEFEE-0DA0-45F7-94DD-1B90217A9F78}" type="slidenum">
              <a:rPr lang="en-IN" smtClean="0"/>
              <a:t>‹#›</a:t>
            </a:fld>
            <a:endParaRPr lang="en-IN"/>
          </a:p>
        </p:txBody>
      </p:sp>
    </p:spTree>
    <p:extLst>
      <p:ext uri="{BB962C8B-B14F-4D97-AF65-F5344CB8AC3E}">
        <p14:creationId xmlns:p14="http://schemas.microsoft.com/office/powerpoint/2010/main" val="3167902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CFA7274-31C2-4EFD-B10C-5DF2C95746FC}" type="datetimeFigureOut">
              <a:rPr lang="en-IN" smtClean="0"/>
              <a:t>02-12-2024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6EEFEE-0DA0-45F7-94DD-1B90217A9F78}" type="slidenum">
              <a:rPr lang="en-IN" smtClean="0"/>
              <a:t>‹#›</a:t>
            </a:fld>
            <a:endParaRPr lang="en-IN"/>
          </a:p>
        </p:txBody>
      </p:sp>
    </p:spTree>
    <p:extLst>
      <p:ext uri="{BB962C8B-B14F-4D97-AF65-F5344CB8AC3E}">
        <p14:creationId xmlns:p14="http://schemas.microsoft.com/office/powerpoint/2010/main" val="2711004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CFA7274-31C2-4EFD-B10C-5DF2C95746FC}" type="datetimeFigureOut">
              <a:rPr lang="en-IN" smtClean="0"/>
              <a:t>02-12-2024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6EEFEE-0DA0-45F7-94DD-1B90217A9F78}" type="slidenum">
              <a:rPr lang="en-IN" smtClean="0"/>
              <a:t>‹#›</a:t>
            </a:fld>
            <a:endParaRPr lang="en-IN"/>
          </a:p>
        </p:txBody>
      </p:sp>
    </p:spTree>
    <p:extLst>
      <p:ext uri="{BB962C8B-B14F-4D97-AF65-F5344CB8AC3E}">
        <p14:creationId xmlns:p14="http://schemas.microsoft.com/office/powerpoint/2010/main" val="351748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CFA7274-31C2-4EFD-B10C-5DF2C95746FC}" type="datetimeFigureOut">
              <a:rPr lang="en-IN" smtClean="0"/>
              <a:t>02-12-2024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6EEFEE-0DA0-45F7-94DD-1B90217A9F78}" type="slidenum">
              <a:rPr lang="en-IN" smtClean="0"/>
              <a:t>‹#›</a:t>
            </a:fld>
            <a:endParaRPr lang="en-IN"/>
          </a:p>
        </p:txBody>
      </p:sp>
    </p:spTree>
    <p:extLst>
      <p:ext uri="{BB962C8B-B14F-4D97-AF65-F5344CB8AC3E}">
        <p14:creationId xmlns:p14="http://schemas.microsoft.com/office/powerpoint/2010/main" val="1928523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CFA7274-31C2-4EFD-B10C-5DF2C95746FC}" type="datetimeFigureOut">
              <a:rPr lang="en-IN" smtClean="0"/>
              <a:t>02-12-2024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86EEFEE-0DA0-45F7-94DD-1B90217A9F78}" type="slidenum">
              <a:rPr lang="en-IN" smtClean="0"/>
              <a:t>‹#›</a:t>
            </a:fld>
            <a:endParaRPr lang="en-IN"/>
          </a:p>
        </p:txBody>
      </p:sp>
    </p:spTree>
    <p:extLst>
      <p:ext uri="{BB962C8B-B14F-4D97-AF65-F5344CB8AC3E}">
        <p14:creationId xmlns:p14="http://schemas.microsoft.com/office/powerpoint/2010/main" val="2943789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CFA7274-31C2-4EFD-B10C-5DF2C95746FC}" type="datetimeFigureOut">
              <a:rPr lang="en-IN" smtClean="0"/>
              <a:t>02-12-2024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86EEFEE-0DA0-45F7-94DD-1B90217A9F78}" type="slidenum">
              <a:rPr lang="en-IN" smtClean="0"/>
              <a:t>‹#›</a:t>
            </a:fld>
            <a:endParaRPr lang="en-IN"/>
          </a:p>
        </p:txBody>
      </p:sp>
    </p:spTree>
    <p:extLst>
      <p:ext uri="{BB962C8B-B14F-4D97-AF65-F5344CB8AC3E}">
        <p14:creationId xmlns:p14="http://schemas.microsoft.com/office/powerpoint/2010/main" val="313675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FA7274-31C2-4EFD-B10C-5DF2C95746FC}" type="datetimeFigureOut">
              <a:rPr lang="en-IN" smtClean="0"/>
              <a:t>02-12-2024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86EEFEE-0DA0-45F7-94DD-1B90217A9F78}" type="slidenum">
              <a:rPr lang="en-IN" smtClean="0"/>
              <a:t>‹#›</a:t>
            </a:fld>
            <a:endParaRPr lang="en-IN"/>
          </a:p>
        </p:txBody>
      </p:sp>
    </p:spTree>
    <p:extLst>
      <p:ext uri="{BB962C8B-B14F-4D97-AF65-F5344CB8AC3E}">
        <p14:creationId xmlns:p14="http://schemas.microsoft.com/office/powerpoint/2010/main" val="958060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CFA7274-31C2-4EFD-B10C-5DF2C95746FC}" type="datetimeFigureOut">
              <a:rPr lang="en-IN" smtClean="0"/>
              <a:t>02-12-2024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6EEFEE-0DA0-45F7-94DD-1B90217A9F78}" type="slidenum">
              <a:rPr lang="en-IN" smtClean="0"/>
              <a:t>‹#›</a:t>
            </a:fld>
            <a:endParaRPr lang="en-IN"/>
          </a:p>
        </p:txBody>
      </p:sp>
    </p:spTree>
    <p:extLst>
      <p:ext uri="{BB962C8B-B14F-4D97-AF65-F5344CB8AC3E}">
        <p14:creationId xmlns:p14="http://schemas.microsoft.com/office/powerpoint/2010/main" val="2516973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CFA7274-31C2-4EFD-B10C-5DF2C95746FC}" type="datetimeFigureOut">
              <a:rPr lang="en-IN" smtClean="0"/>
              <a:t>02-12-2024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6EEFEE-0DA0-45F7-94DD-1B90217A9F78}" type="slidenum">
              <a:rPr lang="en-IN" smtClean="0"/>
              <a:t>‹#›</a:t>
            </a:fld>
            <a:endParaRPr lang="en-IN"/>
          </a:p>
        </p:txBody>
      </p:sp>
    </p:spTree>
    <p:extLst>
      <p:ext uri="{BB962C8B-B14F-4D97-AF65-F5344CB8AC3E}">
        <p14:creationId xmlns:p14="http://schemas.microsoft.com/office/powerpoint/2010/main" val="4278306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CFA7274-31C2-4EFD-B10C-5DF2C95746FC}" type="datetimeFigureOut">
              <a:rPr lang="en-IN" smtClean="0"/>
              <a:t>02-12-2024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6EEFEE-0DA0-45F7-94DD-1B90217A9F78}" type="slidenum">
              <a:rPr lang="en-IN" smtClean="0"/>
              <a:t>‹#›</a:t>
            </a:fld>
            <a:endParaRPr lang="en-IN"/>
          </a:p>
        </p:txBody>
      </p:sp>
    </p:spTree>
    <p:extLst>
      <p:ext uri="{BB962C8B-B14F-4D97-AF65-F5344CB8AC3E}">
        <p14:creationId xmlns:p14="http://schemas.microsoft.com/office/powerpoint/2010/main" val="2829135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CFA7274-31C2-4EFD-B10C-5DF2C95746FC}" type="datetimeFigureOut">
              <a:rPr lang="en-IN" smtClean="0"/>
              <a:t>02-12-2024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6EEFEE-0DA0-45F7-94DD-1B90217A9F78}" type="slidenum">
              <a:rPr lang="en-IN" smtClean="0"/>
              <a:t>‹#›</a:t>
            </a:fld>
            <a:endParaRPr lang="en-IN"/>
          </a:p>
        </p:txBody>
      </p:sp>
    </p:spTree>
    <p:extLst>
      <p:ext uri="{BB962C8B-B14F-4D97-AF65-F5344CB8AC3E}">
        <p14:creationId xmlns:p14="http://schemas.microsoft.com/office/powerpoint/2010/main" val="949381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FA7274-31C2-4EFD-B10C-5DF2C95746FC}" type="datetimeFigureOut">
              <a:rPr lang="en-IN" smtClean="0"/>
              <a:t>02-12-2024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6EEFEE-0DA0-45F7-94DD-1B90217A9F78}" type="slidenum">
              <a:rPr lang="en-IN" smtClean="0"/>
              <a:t>‹#›</a:t>
            </a:fld>
            <a:endParaRPr lang="en-IN"/>
          </a:p>
        </p:txBody>
      </p:sp>
    </p:spTree>
    <p:extLst>
      <p:ext uri="{BB962C8B-B14F-4D97-AF65-F5344CB8AC3E}">
        <p14:creationId xmlns:p14="http://schemas.microsoft.com/office/powerpoint/2010/main" val="557714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s://www.geeksforgeeks.org/difference-between-iot-devices-and-computers/"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6634" y="65325"/>
            <a:ext cx="12055366" cy="6855826"/>
            <a:chOff x="-76198" y="65325"/>
            <a:chExt cx="9143996" cy="6432478"/>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algn="l">
                <a:defRPr/>
              </a:pPr>
              <a:endParaRPr lang="en-IN" sz="1200" dirty="0">
                <a:solidFill>
                  <a:sysClr val="windowText" lastClr="000000"/>
                </a:solidFill>
                <a:latin typeface="Calibri"/>
                <a:sym typeface="Times New Roman"/>
              </a:endParaRPr>
            </a:p>
            <a:p>
              <a:pPr algn="l">
                <a:defRPr/>
              </a:pPr>
              <a:endParaRPr lang="en-IN" sz="3200" b="1" dirty="0">
                <a:solidFill>
                  <a:srgbClr val="1F497D"/>
                </a:solidFill>
                <a:latin typeface="Calibri"/>
                <a:cs typeface="Calibri" panose="020F0502020204030204" pitchFamily="34" charset="0"/>
                <a:sym typeface="Times New Roman"/>
              </a:endParaRPr>
            </a:p>
          </p:txBody>
        </p:sp>
        <p:grpSp>
          <p:nvGrpSpPr>
            <p:cNvPr id="6" name="Group 4"/>
            <p:cNvGrpSpPr/>
            <p:nvPr/>
          </p:nvGrpSpPr>
          <p:grpSpPr>
            <a:xfrm>
              <a:off x="-76198" y="504496"/>
              <a:ext cx="9143996" cy="5993307"/>
              <a:chOff x="-445140" y="902435"/>
              <a:chExt cx="14645898" cy="7556333"/>
            </a:xfrm>
          </p:grpSpPr>
          <p:grpSp>
            <p:nvGrpSpPr>
              <p:cNvPr id="7" name="Group 44"/>
              <p:cNvGrpSpPr/>
              <p:nvPr/>
            </p:nvGrpSpPr>
            <p:grpSpPr>
              <a:xfrm>
                <a:off x="-445140" y="1357660"/>
                <a:ext cx="14645898" cy="7101108"/>
                <a:chOff x="-445140" y="1357660"/>
                <a:chExt cx="14645898" cy="7101108"/>
              </a:xfrm>
            </p:grpSpPr>
            <p:sp>
              <p:nvSpPr>
                <p:cNvPr id="9" name="Half Frame 8"/>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0" name="Half Frame 9"/>
                <p:cNvSpPr/>
                <p:nvPr/>
              </p:nvSpPr>
              <p:spPr>
                <a:xfrm rot="16200000">
                  <a:off x="-203831" y="6700513"/>
                  <a:ext cx="1075615"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1" name="Half Frame 10"/>
                <p:cNvSpPr/>
                <p:nvPr/>
              </p:nvSpPr>
              <p:spPr>
                <a:xfrm rot="5400000">
                  <a:off x="12703555" y="1296630"/>
                  <a:ext cx="1436173" cy="1558233"/>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2" name="Half Frame 11"/>
                <p:cNvSpPr/>
                <p:nvPr/>
              </p:nvSpPr>
              <p:spPr>
                <a:xfrm rot="16200000">
                  <a:off x="366574" y="7141844"/>
                  <a:ext cx="1075615"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grpSp>
          <p:sp>
            <p:nvSpPr>
              <p:cNvPr id="8" name="Half Frame 7"/>
              <p:cNvSpPr/>
              <p:nvPr/>
            </p:nvSpPr>
            <p:spPr>
              <a:xfrm rot="5400000">
                <a:off x="12379305" y="794279"/>
                <a:ext cx="1341921" cy="1558233"/>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grpSp>
      </p:grpSp>
      <p:sp>
        <p:nvSpPr>
          <p:cNvPr id="22" name="Rectangle 21"/>
          <p:cNvSpPr/>
          <p:nvPr/>
        </p:nvSpPr>
        <p:spPr>
          <a:xfrm>
            <a:off x="2718886" y="2803594"/>
            <a:ext cx="6890861" cy="461665"/>
          </a:xfrm>
          <a:prstGeom prst="rect">
            <a:avLst/>
          </a:prstGeom>
        </p:spPr>
        <p:txBody>
          <a:bodyPr wrap="none">
            <a:spAutoFit/>
          </a:bodyPr>
          <a:lstStyle/>
          <a:p>
            <a:r>
              <a:rPr lang="en-US" sz="2400" b="1" i="0" dirty="0" smtClean="0">
                <a:solidFill>
                  <a:srgbClr val="333333"/>
                </a:solidFill>
                <a:effectLst/>
                <a:latin typeface="-apple-system"/>
              </a:rPr>
              <a:t>The Non-3GPP Interworking Function (N3IWF)</a:t>
            </a:r>
            <a:endParaRPr lang="en-IN" sz="2400" b="1" dirty="0"/>
          </a:p>
        </p:txBody>
      </p:sp>
    </p:spTree>
    <p:extLst>
      <p:ext uri="{BB962C8B-B14F-4D97-AF65-F5344CB8AC3E}">
        <p14:creationId xmlns:p14="http://schemas.microsoft.com/office/powerpoint/2010/main" val="3458373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6634" y="65325"/>
            <a:ext cx="12055366" cy="6855826"/>
            <a:chOff x="-76198" y="65325"/>
            <a:chExt cx="9143996" cy="6432478"/>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algn="l">
                <a:defRPr/>
              </a:pPr>
              <a:endParaRPr lang="en-IN" sz="1200" dirty="0">
                <a:solidFill>
                  <a:sysClr val="windowText" lastClr="000000"/>
                </a:solidFill>
                <a:latin typeface="Calibri"/>
                <a:sym typeface="Times New Roman"/>
              </a:endParaRPr>
            </a:p>
            <a:p>
              <a:pPr algn="l">
                <a:defRPr/>
              </a:pPr>
              <a:endParaRPr lang="en-IN" sz="3200" b="1" dirty="0">
                <a:solidFill>
                  <a:srgbClr val="1F497D"/>
                </a:solidFill>
                <a:latin typeface="Calibri"/>
                <a:cs typeface="Calibri" panose="020F0502020204030204" pitchFamily="34" charset="0"/>
                <a:sym typeface="Times New Roman"/>
              </a:endParaRPr>
            </a:p>
          </p:txBody>
        </p:sp>
        <p:grpSp>
          <p:nvGrpSpPr>
            <p:cNvPr id="6" name="Group 4"/>
            <p:cNvGrpSpPr/>
            <p:nvPr/>
          </p:nvGrpSpPr>
          <p:grpSpPr>
            <a:xfrm>
              <a:off x="-76198" y="504496"/>
              <a:ext cx="9143996" cy="5993307"/>
              <a:chOff x="-445140" y="902435"/>
              <a:chExt cx="14645898" cy="7556333"/>
            </a:xfrm>
          </p:grpSpPr>
          <p:grpSp>
            <p:nvGrpSpPr>
              <p:cNvPr id="7" name="Group 44"/>
              <p:cNvGrpSpPr/>
              <p:nvPr/>
            </p:nvGrpSpPr>
            <p:grpSpPr>
              <a:xfrm>
                <a:off x="-445140" y="1357660"/>
                <a:ext cx="14645898" cy="7101108"/>
                <a:chOff x="-445140" y="1357660"/>
                <a:chExt cx="14645898" cy="7101108"/>
              </a:xfrm>
            </p:grpSpPr>
            <p:sp>
              <p:nvSpPr>
                <p:cNvPr id="9" name="Half Frame 8"/>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0" name="Half Frame 9"/>
                <p:cNvSpPr/>
                <p:nvPr/>
              </p:nvSpPr>
              <p:spPr>
                <a:xfrm rot="16200000">
                  <a:off x="-203831" y="6700513"/>
                  <a:ext cx="1075615"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1" name="Half Frame 10"/>
                <p:cNvSpPr/>
                <p:nvPr/>
              </p:nvSpPr>
              <p:spPr>
                <a:xfrm rot="5400000">
                  <a:off x="12703555" y="1296630"/>
                  <a:ext cx="1436173" cy="1558233"/>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2" name="Half Frame 11"/>
                <p:cNvSpPr/>
                <p:nvPr/>
              </p:nvSpPr>
              <p:spPr>
                <a:xfrm rot="16200000">
                  <a:off x="366574" y="7141844"/>
                  <a:ext cx="1075615"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grpSp>
          <p:sp>
            <p:nvSpPr>
              <p:cNvPr id="8" name="Half Frame 7"/>
              <p:cNvSpPr/>
              <p:nvPr/>
            </p:nvSpPr>
            <p:spPr>
              <a:xfrm rot="5400000">
                <a:off x="12379305" y="794279"/>
                <a:ext cx="1341921" cy="1558233"/>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grpSp>
      </p:grpSp>
      <p:sp>
        <p:nvSpPr>
          <p:cNvPr id="2" name="Rectangle 1"/>
          <p:cNvSpPr/>
          <p:nvPr/>
        </p:nvSpPr>
        <p:spPr>
          <a:xfrm>
            <a:off x="237093" y="533400"/>
            <a:ext cx="11649219" cy="2949525"/>
          </a:xfrm>
          <a:prstGeom prst="rect">
            <a:avLst/>
          </a:prstGeom>
        </p:spPr>
        <p:txBody>
          <a:bodyPr wrap="square">
            <a:spAutoFit/>
          </a:bodyPr>
          <a:lstStyle/>
          <a:p>
            <a:pPr marL="285750" indent="-285750">
              <a:lnSpc>
                <a:spcPct val="150000"/>
              </a:lnSpc>
              <a:buFont typeface="Arial" panose="020B0604020202020204" pitchFamily="34" charset="0"/>
              <a:buChar char="•"/>
            </a:pPr>
            <a:r>
              <a:rPr lang="en-US" b="0" i="0" dirty="0" smtClean="0">
                <a:solidFill>
                  <a:srgbClr val="333333"/>
                </a:solidFill>
                <a:effectLst/>
                <a:latin typeface="-apple-system"/>
              </a:rPr>
              <a:t>N3IWF (Non-3GPP Interworking Function) is an integral component of the 5G network architecture that enables seamless interworking between 3GPP (Third Generation Partnership Project) and non-3GPP networks.</a:t>
            </a:r>
          </a:p>
          <a:p>
            <a:pPr marL="285750" indent="-285750">
              <a:lnSpc>
                <a:spcPct val="150000"/>
              </a:lnSpc>
              <a:buFont typeface="Arial" panose="020B0604020202020204" pitchFamily="34" charset="0"/>
              <a:buChar char="•"/>
            </a:pPr>
            <a:r>
              <a:rPr lang="en-US" b="0" i="0" dirty="0" smtClean="0">
                <a:solidFill>
                  <a:srgbClr val="333333"/>
                </a:solidFill>
                <a:effectLst/>
                <a:latin typeface="-apple-system"/>
              </a:rPr>
              <a:t>It plays a </a:t>
            </a:r>
            <a:r>
              <a:rPr lang="en-US" b="0" i="0" dirty="0" smtClean="0">
                <a:solidFill>
                  <a:srgbClr val="FF0000"/>
                </a:solidFill>
                <a:effectLst/>
                <a:latin typeface="-apple-system"/>
              </a:rPr>
              <a:t>crucial role in </a:t>
            </a:r>
            <a:r>
              <a:rPr lang="en-US" b="0" i="0" dirty="0" smtClean="0">
                <a:solidFill>
                  <a:srgbClr val="333333"/>
                </a:solidFill>
                <a:effectLst/>
                <a:latin typeface="-apple-system"/>
              </a:rPr>
              <a:t>ensuring interoperability and connectivity </a:t>
            </a:r>
            <a:r>
              <a:rPr lang="en-US" b="0" i="0" dirty="0" smtClean="0">
                <a:solidFill>
                  <a:srgbClr val="FF0000"/>
                </a:solidFill>
                <a:effectLst/>
                <a:latin typeface="-apple-system"/>
              </a:rPr>
              <a:t>between 5G networks and various non-3GPP </a:t>
            </a:r>
            <a:r>
              <a:rPr lang="en-US" b="0" i="0" dirty="0" smtClean="0">
                <a:solidFill>
                  <a:srgbClr val="333333"/>
                </a:solidFill>
                <a:effectLst/>
                <a:latin typeface="-apple-system"/>
              </a:rPr>
              <a:t>access technologies, such as </a:t>
            </a:r>
            <a:r>
              <a:rPr lang="en-US" b="0" i="0" dirty="0" smtClean="0">
                <a:solidFill>
                  <a:srgbClr val="FF0000"/>
                </a:solidFill>
                <a:effectLst/>
                <a:latin typeface="-apple-system"/>
              </a:rPr>
              <a:t>Wi-Fi and Ethernet</a:t>
            </a:r>
            <a:r>
              <a:rPr lang="en-US" b="0" i="0" dirty="0" smtClean="0">
                <a:solidFill>
                  <a:srgbClr val="333333"/>
                </a:solidFill>
                <a:effectLst/>
                <a:latin typeface="-apple-system"/>
              </a:rPr>
              <a:t>.</a:t>
            </a:r>
          </a:p>
          <a:p>
            <a:pPr marL="285750" indent="-285750">
              <a:lnSpc>
                <a:spcPct val="150000"/>
              </a:lnSpc>
              <a:buFont typeface="Arial" panose="020B0604020202020204" pitchFamily="34" charset="0"/>
              <a:buChar char="•"/>
            </a:pPr>
            <a:r>
              <a:rPr lang="en-US" b="0" i="0" dirty="0" smtClean="0">
                <a:solidFill>
                  <a:srgbClr val="333333"/>
                </a:solidFill>
                <a:effectLst/>
                <a:latin typeface="-apple-system"/>
              </a:rPr>
              <a:t>N3IWF acts as a bridge, allowing the integration and interconnection of these heterogeneous networks, thereby expanding the coverage and service capabilities of the 5G ecosystem.</a:t>
            </a:r>
            <a:endParaRPr lang="en-US" b="0" i="0" dirty="0">
              <a:solidFill>
                <a:srgbClr val="333333"/>
              </a:solidFill>
              <a:effectLst/>
              <a:latin typeface="-apple-system"/>
            </a:endParaRPr>
          </a:p>
        </p:txBody>
      </p:sp>
      <p:sp>
        <p:nvSpPr>
          <p:cNvPr id="3" name="Rectangle 2"/>
          <p:cNvSpPr/>
          <p:nvPr/>
        </p:nvSpPr>
        <p:spPr>
          <a:xfrm>
            <a:off x="411436" y="3680979"/>
            <a:ext cx="2954655" cy="369332"/>
          </a:xfrm>
          <a:prstGeom prst="rect">
            <a:avLst/>
          </a:prstGeom>
        </p:spPr>
        <p:txBody>
          <a:bodyPr wrap="none">
            <a:spAutoFit/>
          </a:bodyPr>
          <a:lstStyle/>
          <a:p>
            <a:r>
              <a:rPr lang="en-IN" b="1" i="0" dirty="0" smtClean="0">
                <a:effectLst/>
                <a:latin typeface="-apple-system"/>
              </a:rPr>
              <a:t>Functionalities of N3IWF:</a:t>
            </a:r>
            <a:endParaRPr lang="en-IN" b="1" i="0" dirty="0">
              <a:effectLst/>
              <a:latin typeface="-apple-system"/>
            </a:endParaRPr>
          </a:p>
        </p:txBody>
      </p:sp>
      <p:sp>
        <p:nvSpPr>
          <p:cNvPr id="13" name="Rectangle 12"/>
          <p:cNvSpPr/>
          <p:nvPr/>
        </p:nvSpPr>
        <p:spPr>
          <a:xfrm>
            <a:off x="411435" y="4248365"/>
            <a:ext cx="11023819" cy="1287532"/>
          </a:xfrm>
          <a:prstGeom prst="rect">
            <a:avLst/>
          </a:prstGeom>
        </p:spPr>
        <p:txBody>
          <a:bodyPr wrap="square">
            <a:spAutoFit/>
          </a:bodyPr>
          <a:lstStyle/>
          <a:p>
            <a:pPr>
              <a:lnSpc>
                <a:spcPct val="150000"/>
              </a:lnSpc>
              <a:buFont typeface="+mj-lt"/>
              <a:buAutoNum type="arabicPeriod"/>
            </a:pPr>
            <a:r>
              <a:rPr lang="en-US" b="1" i="0" dirty="0" smtClean="0">
                <a:solidFill>
                  <a:srgbClr val="333333"/>
                </a:solidFill>
                <a:effectLst/>
                <a:latin typeface="-apple-system"/>
              </a:rPr>
              <a:t>Access Translation:</a:t>
            </a:r>
            <a:r>
              <a:rPr lang="en-US" b="0" i="0" dirty="0" smtClean="0">
                <a:solidFill>
                  <a:srgbClr val="333333"/>
                </a:solidFill>
                <a:effectLst/>
                <a:latin typeface="-apple-system"/>
              </a:rPr>
              <a:t> N3IWF translates the protocols and signaling messages between 3GPP and non-3GPP networks. It converts the 5G protocols into the appropriate format compatible with the non-3GPP technology, ensuring smooth communication and handover procedures.</a:t>
            </a:r>
            <a:endParaRPr lang="en-US" b="0" i="0" dirty="0">
              <a:solidFill>
                <a:srgbClr val="333333"/>
              </a:solidFill>
              <a:effectLst/>
              <a:latin typeface="-apple-system"/>
            </a:endParaRPr>
          </a:p>
        </p:txBody>
      </p:sp>
    </p:spTree>
    <p:extLst>
      <p:ext uri="{BB962C8B-B14F-4D97-AF65-F5344CB8AC3E}">
        <p14:creationId xmlns:p14="http://schemas.microsoft.com/office/powerpoint/2010/main" val="209946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6634" y="65325"/>
            <a:ext cx="12055366" cy="6855826"/>
            <a:chOff x="-76198" y="65325"/>
            <a:chExt cx="9143996" cy="6432478"/>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algn="l">
                <a:defRPr/>
              </a:pPr>
              <a:endParaRPr lang="en-IN" sz="1200" dirty="0">
                <a:solidFill>
                  <a:sysClr val="windowText" lastClr="000000"/>
                </a:solidFill>
                <a:latin typeface="Calibri"/>
                <a:sym typeface="Times New Roman"/>
              </a:endParaRPr>
            </a:p>
            <a:p>
              <a:pPr algn="l">
                <a:defRPr/>
              </a:pPr>
              <a:endParaRPr lang="en-IN" sz="3200" b="1" dirty="0">
                <a:solidFill>
                  <a:srgbClr val="1F497D"/>
                </a:solidFill>
                <a:latin typeface="Calibri"/>
                <a:cs typeface="Calibri" panose="020F0502020204030204" pitchFamily="34" charset="0"/>
                <a:sym typeface="Times New Roman"/>
              </a:endParaRPr>
            </a:p>
          </p:txBody>
        </p:sp>
        <p:grpSp>
          <p:nvGrpSpPr>
            <p:cNvPr id="6" name="Group 4"/>
            <p:cNvGrpSpPr/>
            <p:nvPr/>
          </p:nvGrpSpPr>
          <p:grpSpPr>
            <a:xfrm>
              <a:off x="-76198" y="504496"/>
              <a:ext cx="9143996" cy="5993307"/>
              <a:chOff x="-445140" y="902435"/>
              <a:chExt cx="14645898" cy="7556333"/>
            </a:xfrm>
          </p:grpSpPr>
          <p:grpSp>
            <p:nvGrpSpPr>
              <p:cNvPr id="7" name="Group 44"/>
              <p:cNvGrpSpPr/>
              <p:nvPr/>
            </p:nvGrpSpPr>
            <p:grpSpPr>
              <a:xfrm>
                <a:off x="-445140" y="1357660"/>
                <a:ext cx="14645898" cy="7101108"/>
                <a:chOff x="-445140" y="1357660"/>
                <a:chExt cx="14645898" cy="7101108"/>
              </a:xfrm>
            </p:grpSpPr>
            <p:sp>
              <p:nvSpPr>
                <p:cNvPr id="9" name="Half Frame 8"/>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0" name="Half Frame 9"/>
                <p:cNvSpPr/>
                <p:nvPr/>
              </p:nvSpPr>
              <p:spPr>
                <a:xfrm rot="16200000">
                  <a:off x="-203831" y="6700513"/>
                  <a:ext cx="1075615"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1" name="Half Frame 10"/>
                <p:cNvSpPr/>
                <p:nvPr/>
              </p:nvSpPr>
              <p:spPr>
                <a:xfrm rot="5400000">
                  <a:off x="12703555" y="1296630"/>
                  <a:ext cx="1436173" cy="1558233"/>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2" name="Half Frame 11"/>
                <p:cNvSpPr/>
                <p:nvPr/>
              </p:nvSpPr>
              <p:spPr>
                <a:xfrm rot="16200000">
                  <a:off x="366574" y="7141844"/>
                  <a:ext cx="1075615"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grpSp>
          <p:sp>
            <p:nvSpPr>
              <p:cNvPr id="8" name="Half Frame 7"/>
              <p:cNvSpPr/>
              <p:nvPr/>
            </p:nvSpPr>
            <p:spPr>
              <a:xfrm rot="5400000">
                <a:off x="12379305" y="794279"/>
                <a:ext cx="1341921" cy="1558233"/>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grpSp>
      </p:grpSp>
      <p:sp>
        <p:nvSpPr>
          <p:cNvPr id="2" name="Rectangle 1"/>
          <p:cNvSpPr/>
          <p:nvPr/>
        </p:nvSpPr>
        <p:spPr>
          <a:xfrm>
            <a:off x="430924" y="891721"/>
            <a:ext cx="10478460" cy="5078313"/>
          </a:xfrm>
          <a:prstGeom prst="rect">
            <a:avLst/>
          </a:prstGeom>
        </p:spPr>
        <p:txBody>
          <a:bodyPr wrap="square">
            <a:spAutoFit/>
          </a:bodyPr>
          <a:lstStyle/>
          <a:p>
            <a:pPr>
              <a:lnSpc>
                <a:spcPct val="150000"/>
              </a:lnSpc>
            </a:pPr>
            <a:r>
              <a:rPr lang="en-US" b="1" dirty="0" smtClean="0">
                <a:solidFill>
                  <a:srgbClr val="333333"/>
                </a:solidFill>
                <a:latin typeface="-apple-system"/>
              </a:rPr>
              <a:t>2. </a:t>
            </a:r>
            <a:r>
              <a:rPr lang="en-US" b="1" i="0" dirty="0" smtClean="0">
                <a:solidFill>
                  <a:srgbClr val="333333"/>
                </a:solidFill>
                <a:effectLst/>
                <a:latin typeface="-apple-system"/>
              </a:rPr>
              <a:t>Authentication and Authorization: </a:t>
            </a:r>
            <a:r>
              <a:rPr lang="en-US" b="0" i="0" dirty="0" smtClean="0">
                <a:solidFill>
                  <a:srgbClr val="333333"/>
                </a:solidFill>
                <a:effectLst/>
                <a:latin typeface="-apple-system"/>
              </a:rPr>
              <a:t>N3IWF handles the authentication and authorization processes for non-3GPP users. It verifies the identity and credentials of the users before granting access to the 5G network. </a:t>
            </a:r>
          </a:p>
          <a:p>
            <a:pPr>
              <a:lnSpc>
                <a:spcPct val="150000"/>
              </a:lnSpc>
            </a:pPr>
            <a:r>
              <a:rPr lang="en-US" b="1" dirty="0" smtClean="0">
                <a:solidFill>
                  <a:srgbClr val="333333"/>
                </a:solidFill>
                <a:latin typeface="-apple-system"/>
              </a:rPr>
              <a:t>3.Session </a:t>
            </a:r>
            <a:r>
              <a:rPr lang="en-US" b="1" dirty="0">
                <a:solidFill>
                  <a:srgbClr val="333333"/>
                </a:solidFill>
                <a:latin typeface="-apple-system"/>
              </a:rPr>
              <a:t>Management: </a:t>
            </a:r>
            <a:r>
              <a:rPr lang="en-US" dirty="0">
                <a:solidFill>
                  <a:srgbClr val="333333"/>
                </a:solidFill>
                <a:latin typeface="-apple-system"/>
              </a:rPr>
              <a:t>N3IWF manages the establishment, modification, and termination of user sessions. </a:t>
            </a:r>
            <a:r>
              <a:rPr lang="en-US" dirty="0">
                <a:solidFill>
                  <a:srgbClr val="333333"/>
                </a:solidFill>
                <a:latin typeface="-apple-system"/>
              </a:rPr>
              <a:t>It tracks the user's connection and ensures continuous connectivity during handover between different access networks.</a:t>
            </a:r>
          </a:p>
          <a:p>
            <a:pPr>
              <a:lnSpc>
                <a:spcPct val="150000"/>
              </a:lnSpc>
            </a:pPr>
            <a:r>
              <a:rPr lang="en-US" b="1" dirty="0" smtClean="0">
                <a:solidFill>
                  <a:srgbClr val="333333"/>
                </a:solidFill>
                <a:latin typeface="-apple-system"/>
              </a:rPr>
              <a:t>4. Mobility </a:t>
            </a:r>
            <a:r>
              <a:rPr lang="en-US" b="1" dirty="0">
                <a:solidFill>
                  <a:srgbClr val="333333"/>
                </a:solidFill>
                <a:latin typeface="-apple-system"/>
              </a:rPr>
              <a:t>Management: </a:t>
            </a:r>
            <a:r>
              <a:rPr lang="en-US" dirty="0">
                <a:solidFill>
                  <a:srgbClr val="333333"/>
                </a:solidFill>
                <a:latin typeface="-apple-system"/>
              </a:rPr>
              <a:t>N3IWF facilitates mobility management for non-3GPP users. </a:t>
            </a:r>
            <a:r>
              <a:rPr lang="en-US" dirty="0">
                <a:solidFill>
                  <a:srgbClr val="333333"/>
                </a:solidFill>
                <a:latin typeface="-apple-system"/>
              </a:rPr>
              <a:t>It handles procedures such as tracking area update, handover, and location management, allowing users to move across different networks while maintaining active sessions. </a:t>
            </a:r>
          </a:p>
          <a:p>
            <a:pPr>
              <a:lnSpc>
                <a:spcPct val="150000"/>
              </a:lnSpc>
            </a:pPr>
            <a:r>
              <a:rPr lang="en-US" b="1" dirty="0" smtClean="0">
                <a:solidFill>
                  <a:srgbClr val="333333"/>
                </a:solidFill>
                <a:latin typeface="-apple-system"/>
              </a:rPr>
              <a:t>5. Policy </a:t>
            </a:r>
            <a:r>
              <a:rPr lang="en-US" b="1" dirty="0">
                <a:solidFill>
                  <a:srgbClr val="333333"/>
                </a:solidFill>
                <a:latin typeface="-apple-system"/>
              </a:rPr>
              <a:t>and Charging Control:</a:t>
            </a:r>
            <a:r>
              <a:rPr lang="en-US" dirty="0">
                <a:solidFill>
                  <a:srgbClr val="333333"/>
                </a:solidFill>
                <a:latin typeface="-apple-system"/>
              </a:rPr>
              <a:t> N3IWF enforces policy and charging rules for non-3GPP users. </a:t>
            </a:r>
            <a:r>
              <a:rPr lang="en-US" dirty="0">
                <a:solidFill>
                  <a:srgbClr val="333333"/>
                </a:solidFill>
                <a:latin typeface="-apple-system"/>
              </a:rPr>
              <a:t>It ensures that users comply with the predefined policies and regulations, providing fair usage and </a:t>
            </a:r>
            <a:r>
              <a:rPr lang="en-US" dirty="0" err="1">
                <a:solidFill>
                  <a:srgbClr val="333333"/>
                </a:solidFill>
                <a:latin typeface="-apple-system"/>
              </a:rPr>
              <a:t>QoS</a:t>
            </a:r>
            <a:r>
              <a:rPr lang="en-US" dirty="0">
                <a:solidFill>
                  <a:srgbClr val="333333"/>
                </a:solidFill>
                <a:latin typeface="-apple-system"/>
              </a:rPr>
              <a:t> (Quality of Service) enforcement. </a:t>
            </a:r>
            <a:endParaRPr lang="en-IN" dirty="0">
              <a:solidFill>
                <a:srgbClr val="333333"/>
              </a:solidFill>
              <a:latin typeface="-apple-system"/>
            </a:endParaRPr>
          </a:p>
        </p:txBody>
      </p:sp>
    </p:spTree>
    <p:extLst>
      <p:ext uri="{BB962C8B-B14F-4D97-AF65-F5344CB8AC3E}">
        <p14:creationId xmlns:p14="http://schemas.microsoft.com/office/powerpoint/2010/main" val="3492803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6634" y="65325"/>
            <a:ext cx="12055366" cy="6855826"/>
            <a:chOff x="-76198" y="65325"/>
            <a:chExt cx="9143996" cy="6432478"/>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algn="l">
                <a:defRPr/>
              </a:pPr>
              <a:endParaRPr lang="en-IN" sz="1200" dirty="0">
                <a:solidFill>
                  <a:sysClr val="windowText" lastClr="000000"/>
                </a:solidFill>
                <a:latin typeface="Calibri"/>
                <a:sym typeface="Times New Roman"/>
              </a:endParaRPr>
            </a:p>
            <a:p>
              <a:pPr algn="l">
                <a:defRPr/>
              </a:pPr>
              <a:endParaRPr lang="en-IN" sz="3200" b="1" dirty="0">
                <a:solidFill>
                  <a:srgbClr val="1F497D"/>
                </a:solidFill>
                <a:latin typeface="Calibri"/>
                <a:cs typeface="Calibri" panose="020F0502020204030204" pitchFamily="34" charset="0"/>
                <a:sym typeface="Times New Roman"/>
              </a:endParaRPr>
            </a:p>
          </p:txBody>
        </p:sp>
        <p:grpSp>
          <p:nvGrpSpPr>
            <p:cNvPr id="6" name="Group 4"/>
            <p:cNvGrpSpPr/>
            <p:nvPr/>
          </p:nvGrpSpPr>
          <p:grpSpPr>
            <a:xfrm>
              <a:off x="-76198" y="504496"/>
              <a:ext cx="9143996" cy="5993307"/>
              <a:chOff x="-445140" y="902435"/>
              <a:chExt cx="14645898" cy="7556333"/>
            </a:xfrm>
          </p:grpSpPr>
          <p:grpSp>
            <p:nvGrpSpPr>
              <p:cNvPr id="7" name="Group 44"/>
              <p:cNvGrpSpPr/>
              <p:nvPr/>
            </p:nvGrpSpPr>
            <p:grpSpPr>
              <a:xfrm>
                <a:off x="-445140" y="1357660"/>
                <a:ext cx="14645898" cy="7101108"/>
                <a:chOff x="-445140" y="1357660"/>
                <a:chExt cx="14645898" cy="7101108"/>
              </a:xfrm>
            </p:grpSpPr>
            <p:sp>
              <p:nvSpPr>
                <p:cNvPr id="9" name="Half Frame 8"/>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0" name="Half Frame 9"/>
                <p:cNvSpPr/>
                <p:nvPr/>
              </p:nvSpPr>
              <p:spPr>
                <a:xfrm rot="16200000">
                  <a:off x="-203831" y="6700513"/>
                  <a:ext cx="1075615"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1" name="Half Frame 10"/>
                <p:cNvSpPr/>
                <p:nvPr/>
              </p:nvSpPr>
              <p:spPr>
                <a:xfrm rot="5400000">
                  <a:off x="12703555" y="1296630"/>
                  <a:ext cx="1436173" cy="1558233"/>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2" name="Half Frame 11"/>
                <p:cNvSpPr/>
                <p:nvPr/>
              </p:nvSpPr>
              <p:spPr>
                <a:xfrm rot="16200000">
                  <a:off x="366574" y="7141844"/>
                  <a:ext cx="1075615"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grpSp>
          <p:sp>
            <p:nvSpPr>
              <p:cNvPr id="8" name="Half Frame 7"/>
              <p:cNvSpPr/>
              <p:nvPr/>
            </p:nvSpPr>
            <p:spPr>
              <a:xfrm rot="5400000">
                <a:off x="12379305" y="794279"/>
                <a:ext cx="1341921" cy="1558233"/>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grpSp>
      </p:grpSp>
      <p:sp>
        <p:nvSpPr>
          <p:cNvPr id="2" name="Rectangle 1"/>
          <p:cNvSpPr/>
          <p:nvPr/>
        </p:nvSpPr>
        <p:spPr>
          <a:xfrm>
            <a:off x="606146" y="1166844"/>
            <a:ext cx="11049826" cy="3780522"/>
          </a:xfrm>
          <a:prstGeom prst="rect">
            <a:avLst/>
          </a:prstGeom>
        </p:spPr>
        <p:txBody>
          <a:bodyPr wrap="square">
            <a:spAutoFit/>
          </a:bodyPr>
          <a:lstStyle/>
          <a:p>
            <a:pPr>
              <a:lnSpc>
                <a:spcPct val="150000"/>
              </a:lnSpc>
            </a:pPr>
            <a:r>
              <a:rPr lang="en-US" b="1" i="0" dirty="0" smtClean="0">
                <a:effectLst/>
                <a:latin typeface="-apple-system"/>
              </a:rPr>
              <a:t>N3IWF Interfaces</a:t>
            </a:r>
          </a:p>
          <a:p>
            <a:pPr>
              <a:lnSpc>
                <a:spcPct val="150000"/>
              </a:lnSpc>
            </a:pPr>
            <a:r>
              <a:rPr lang="en-US" b="0" i="0" dirty="0" smtClean="0">
                <a:solidFill>
                  <a:srgbClr val="333333"/>
                </a:solidFill>
                <a:effectLst/>
                <a:latin typeface="-apple-system"/>
              </a:rPr>
              <a:t>The N3IWF has several interfaces that enable communication between the different components of the network. These interfaces include:</a:t>
            </a:r>
          </a:p>
          <a:p>
            <a:pPr>
              <a:lnSpc>
                <a:spcPct val="150000"/>
              </a:lnSpc>
              <a:buFont typeface="+mj-lt"/>
              <a:buAutoNum type="arabicPeriod"/>
            </a:pPr>
            <a:r>
              <a:rPr lang="en-US" b="1" i="0" dirty="0" smtClean="0">
                <a:solidFill>
                  <a:srgbClr val="333333"/>
                </a:solidFill>
                <a:effectLst/>
                <a:latin typeface="-apple-system"/>
              </a:rPr>
              <a:t>N3 interface</a:t>
            </a:r>
            <a:r>
              <a:rPr lang="en-US" b="0" i="0" dirty="0" smtClean="0">
                <a:solidFill>
                  <a:srgbClr val="333333"/>
                </a:solidFill>
                <a:effectLst/>
                <a:latin typeface="-apple-system"/>
              </a:rPr>
              <a:t>: This interface is used to connect the standalone N3IWF to the 5G Core network. It is responsible for communication between the N3IWF and the AMF.</a:t>
            </a:r>
          </a:p>
          <a:p>
            <a:pPr>
              <a:lnSpc>
                <a:spcPct val="150000"/>
              </a:lnSpc>
              <a:buFont typeface="+mj-lt"/>
              <a:buAutoNum type="arabicPeriod"/>
            </a:pPr>
            <a:r>
              <a:rPr lang="en-US" b="1" i="0" dirty="0" smtClean="0">
                <a:solidFill>
                  <a:srgbClr val="333333"/>
                </a:solidFill>
                <a:effectLst/>
                <a:latin typeface="-apple-system"/>
              </a:rPr>
              <a:t>Non-3GPP access network interface: </a:t>
            </a:r>
            <a:r>
              <a:rPr lang="en-US" b="0" i="0" dirty="0" smtClean="0">
                <a:solidFill>
                  <a:srgbClr val="333333"/>
                </a:solidFill>
                <a:effectLst/>
                <a:latin typeface="-apple-system"/>
              </a:rPr>
              <a:t>This interface is used to connect the N3IWF to the non-3GPP access network. It is responsible for signaling and user data transmission between the two networks.</a:t>
            </a:r>
          </a:p>
          <a:p>
            <a:pPr>
              <a:lnSpc>
                <a:spcPct val="150000"/>
              </a:lnSpc>
              <a:buFont typeface="+mj-lt"/>
              <a:buAutoNum type="arabicPeriod"/>
            </a:pPr>
            <a:r>
              <a:rPr lang="en-US" b="1" i="0" dirty="0" smtClean="0">
                <a:solidFill>
                  <a:srgbClr val="333333"/>
                </a:solidFill>
                <a:effectLst/>
                <a:latin typeface="-apple-system"/>
              </a:rPr>
              <a:t>N4 interface: </a:t>
            </a:r>
            <a:r>
              <a:rPr lang="en-US" b="0" i="0" dirty="0" smtClean="0">
                <a:solidFill>
                  <a:srgbClr val="333333"/>
                </a:solidFill>
                <a:effectLst/>
                <a:latin typeface="-apple-system"/>
              </a:rPr>
              <a:t>This interface is used to connect the integrated N3IWF to the 5G Core network. It is responsible for communication between the N3IWF and the UPF.</a:t>
            </a:r>
            <a:endParaRPr lang="en-US" b="0" i="0" dirty="0">
              <a:solidFill>
                <a:srgbClr val="333333"/>
              </a:solidFill>
              <a:effectLst/>
              <a:latin typeface="-apple-system"/>
            </a:endParaRPr>
          </a:p>
        </p:txBody>
      </p:sp>
    </p:spTree>
    <p:extLst>
      <p:ext uri="{BB962C8B-B14F-4D97-AF65-F5344CB8AC3E}">
        <p14:creationId xmlns:p14="http://schemas.microsoft.com/office/powerpoint/2010/main" val="36146751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6634" y="65325"/>
            <a:ext cx="12055366" cy="6855826"/>
            <a:chOff x="-76198" y="65325"/>
            <a:chExt cx="9143996" cy="6432478"/>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algn="l">
                <a:defRPr/>
              </a:pPr>
              <a:endParaRPr lang="en-IN" sz="1200" dirty="0">
                <a:solidFill>
                  <a:sysClr val="windowText" lastClr="000000"/>
                </a:solidFill>
                <a:latin typeface="Calibri"/>
                <a:sym typeface="Times New Roman"/>
              </a:endParaRPr>
            </a:p>
            <a:p>
              <a:pPr algn="l">
                <a:defRPr/>
              </a:pPr>
              <a:endParaRPr lang="en-IN" sz="3200" b="1" dirty="0">
                <a:solidFill>
                  <a:srgbClr val="1F497D"/>
                </a:solidFill>
                <a:latin typeface="Calibri"/>
                <a:cs typeface="Calibri" panose="020F0502020204030204" pitchFamily="34" charset="0"/>
                <a:sym typeface="Times New Roman"/>
              </a:endParaRPr>
            </a:p>
          </p:txBody>
        </p:sp>
        <p:grpSp>
          <p:nvGrpSpPr>
            <p:cNvPr id="6" name="Group 4"/>
            <p:cNvGrpSpPr/>
            <p:nvPr/>
          </p:nvGrpSpPr>
          <p:grpSpPr>
            <a:xfrm>
              <a:off x="-76198" y="504496"/>
              <a:ext cx="9143996" cy="5993307"/>
              <a:chOff x="-445140" y="902435"/>
              <a:chExt cx="14645898" cy="7556333"/>
            </a:xfrm>
          </p:grpSpPr>
          <p:grpSp>
            <p:nvGrpSpPr>
              <p:cNvPr id="7" name="Group 44"/>
              <p:cNvGrpSpPr/>
              <p:nvPr/>
            </p:nvGrpSpPr>
            <p:grpSpPr>
              <a:xfrm>
                <a:off x="-445140" y="1357660"/>
                <a:ext cx="14645898" cy="7101108"/>
                <a:chOff x="-445140" y="1357660"/>
                <a:chExt cx="14645898" cy="7101108"/>
              </a:xfrm>
            </p:grpSpPr>
            <p:sp>
              <p:nvSpPr>
                <p:cNvPr id="9" name="Half Frame 8"/>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0" name="Half Frame 9"/>
                <p:cNvSpPr/>
                <p:nvPr/>
              </p:nvSpPr>
              <p:spPr>
                <a:xfrm rot="16200000">
                  <a:off x="-203831" y="6700513"/>
                  <a:ext cx="1075615"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1" name="Half Frame 10"/>
                <p:cNvSpPr/>
                <p:nvPr/>
              </p:nvSpPr>
              <p:spPr>
                <a:xfrm rot="5400000">
                  <a:off x="12703555" y="1296630"/>
                  <a:ext cx="1436173" cy="1558233"/>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2" name="Half Frame 11"/>
                <p:cNvSpPr/>
                <p:nvPr/>
              </p:nvSpPr>
              <p:spPr>
                <a:xfrm rot="16200000">
                  <a:off x="366574" y="7141844"/>
                  <a:ext cx="1075615"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grpSp>
          <p:sp>
            <p:nvSpPr>
              <p:cNvPr id="8" name="Half Frame 7"/>
              <p:cNvSpPr/>
              <p:nvPr/>
            </p:nvSpPr>
            <p:spPr>
              <a:xfrm rot="5400000">
                <a:off x="12379305" y="794279"/>
                <a:ext cx="1341921" cy="1558233"/>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grpSp>
      </p:grpSp>
      <p:sp>
        <p:nvSpPr>
          <p:cNvPr id="2" name="Rectangle 1"/>
          <p:cNvSpPr/>
          <p:nvPr/>
        </p:nvSpPr>
        <p:spPr>
          <a:xfrm>
            <a:off x="3342290" y="2693999"/>
            <a:ext cx="6369268" cy="769441"/>
          </a:xfrm>
          <a:prstGeom prst="rect">
            <a:avLst/>
          </a:prstGeom>
        </p:spPr>
        <p:txBody>
          <a:bodyPr wrap="square">
            <a:spAutoFit/>
          </a:bodyPr>
          <a:lstStyle/>
          <a:p>
            <a:r>
              <a:rPr lang="en-US" sz="4400" b="1" i="0" dirty="0" smtClean="0">
                <a:solidFill>
                  <a:srgbClr val="273239"/>
                </a:solidFill>
                <a:effectLst/>
                <a:latin typeface="Nunito"/>
              </a:rPr>
              <a:t>5G Network slicing </a:t>
            </a:r>
            <a:endParaRPr lang="en-IN" sz="4400" b="1" dirty="0"/>
          </a:p>
        </p:txBody>
      </p:sp>
    </p:spTree>
    <p:extLst>
      <p:ext uri="{BB962C8B-B14F-4D97-AF65-F5344CB8AC3E}">
        <p14:creationId xmlns:p14="http://schemas.microsoft.com/office/powerpoint/2010/main" val="2328361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6634" y="65325"/>
            <a:ext cx="12055366" cy="6855826"/>
            <a:chOff x="-76198" y="65325"/>
            <a:chExt cx="9143996" cy="6432478"/>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algn="l">
                <a:defRPr/>
              </a:pPr>
              <a:endParaRPr lang="en-IN" sz="1200" dirty="0">
                <a:solidFill>
                  <a:sysClr val="windowText" lastClr="000000"/>
                </a:solidFill>
                <a:latin typeface="Calibri"/>
                <a:sym typeface="Times New Roman"/>
              </a:endParaRPr>
            </a:p>
            <a:p>
              <a:pPr algn="l">
                <a:defRPr/>
              </a:pPr>
              <a:endParaRPr lang="en-IN" sz="3200" b="1" dirty="0">
                <a:solidFill>
                  <a:srgbClr val="1F497D"/>
                </a:solidFill>
                <a:latin typeface="Calibri"/>
                <a:cs typeface="Calibri" panose="020F0502020204030204" pitchFamily="34" charset="0"/>
                <a:sym typeface="Times New Roman"/>
              </a:endParaRPr>
            </a:p>
          </p:txBody>
        </p:sp>
        <p:grpSp>
          <p:nvGrpSpPr>
            <p:cNvPr id="6" name="Group 4"/>
            <p:cNvGrpSpPr/>
            <p:nvPr/>
          </p:nvGrpSpPr>
          <p:grpSpPr>
            <a:xfrm>
              <a:off x="-76198" y="504496"/>
              <a:ext cx="9143996" cy="5993307"/>
              <a:chOff x="-445140" y="902435"/>
              <a:chExt cx="14645898" cy="7556333"/>
            </a:xfrm>
          </p:grpSpPr>
          <p:grpSp>
            <p:nvGrpSpPr>
              <p:cNvPr id="7" name="Group 44"/>
              <p:cNvGrpSpPr/>
              <p:nvPr/>
            </p:nvGrpSpPr>
            <p:grpSpPr>
              <a:xfrm>
                <a:off x="-445140" y="1357660"/>
                <a:ext cx="14645898" cy="7101108"/>
                <a:chOff x="-445140" y="1357660"/>
                <a:chExt cx="14645898" cy="7101108"/>
              </a:xfrm>
            </p:grpSpPr>
            <p:sp>
              <p:nvSpPr>
                <p:cNvPr id="9" name="Half Frame 8"/>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0" name="Half Frame 9"/>
                <p:cNvSpPr/>
                <p:nvPr/>
              </p:nvSpPr>
              <p:spPr>
                <a:xfrm rot="16200000">
                  <a:off x="-203831" y="6700513"/>
                  <a:ext cx="1075615"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1" name="Half Frame 10"/>
                <p:cNvSpPr/>
                <p:nvPr/>
              </p:nvSpPr>
              <p:spPr>
                <a:xfrm rot="5400000">
                  <a:off x="12703555" y="1296630"/>
                  <a:ext cx="1436173" cy="1558233"/>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2" name="Half Frame 11"/>
                <p:cNvSpPr/>
                <p:nvPr/>
              </p:nvSpPr>
              <p:spPr>
                <a:xfrm rot="16200000">
                  <a:off x="366574" y="7141844"/>
                  <a:ext cx="1075615"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grpSp>
          <p:sp>
            <p:nvSpPr>
              <p:cNvPr id="8" name="Half Frame 7"/>
              <p:cNvSpPr/>
              <p:nvPr/>
            </p:nvSpPr>
            <p:spPr>
              <a:xfrm rot="5400000">
                <a:off x="12379305" y="794279"/>
                <a:ext cx="1341921" cy="1558233"/>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grpSp>
      </p:grpSp>
      <p:sp>
        <p:nvSpPr>
          <p:cNvPr id="2" name="Rectangle 1"/>
          <p:cNvSpPr/>
          <p:nvPr/>
        </p:nvSpPr>
        <p:spPr>
          <a:xfrm>
            <a:off x="551349" y="745883"/>
            <a:ext cx="10205191" cy="2308324"/>
          </a:xfrm>
          <a:prstGeom prst="rect">
            <a:avLst/>
          </a:prstGeom>
        </p:spPr>
        <p:txBody>
          <a:bodyPr wrap="square">
            <a:spAutoFit/>
          </a:bodyPr>
          <a:lstStyle/>
          <a:p>
            <a:pPr>
              <a:lnSpc>
                <a:spcPct val="200000"/>
              </a:lnSpc>
            </a:pPr>
            <a:r>
              <a:rPr lang="en-US" b="0" i="0" dirty="0" smtClean="0">
                <a:solidFill>
                  <a:srgbClr val="273239"/>
                </a:solidFill>
                <a:effectLst/>
                <a:latin typeface="Nunito"/>
              </a:rPr>
              <a:t>Network slicing is the technology that will enable the division of a physical network into multiple virtual ones, specially tailored to each particular requirement, application, or service. All of these segments will be working as if they were different and separate networks with their own characteristics in terms of </a:t>
            </a:r>
            <a:r>
              <a:rPr lang="en-US" i="0" dirty="0" smtClean="0">
                <a:effectLst/>
                <a:latin typeface="Nunito"/>
              </a:rPr>
              <a:t>bandwidth, </a:t>
            </a:r>
            <a:r>
              <a:rPr lang="en-US" b="0" i="0" dirty="0" smtClean="0">
                <a:solidFill>
                  <a:srgbClr val="273239"/>
                </a:solidFill>
                <a:effectLst/>
                <a:latin typeface="Nunito"/>
              </a:rPr>
              <a:t>delay, security, or mobility.</a:t>
            </a:r>
            <a:endParaRPr lang="en-IN" dirty="0"/>
          </a:p>
        </p:txBody>
      </p:sp>
      <p:sp>
        <p:nvSpPr>
          <p:cNvPr id="3" name="Rectangle 2"/>
          <p:cNvSpPr/>
          <p:nvPr/>
        </p:nvSpPr>
        <p:spPr>
          <a:xfrm>
            <a:off x="551349" y="3006946"/>
            <a:ext cx="10951898" cy="3000821"/>
          </a:xfrm>
          <a:prstGeom prst="rect">
            <a:avLst/>
          </a:prstGeom>
        </p:spPr>
        <p:txBody>
          <a:bodyPr wrap="square">
            <a:spAutoFit/>
          </a:bodyPr>
          <a:lstStyle/>
          <a:p>
            <a:pPr algn="just" fontAlgn="base">
              <a:lnSpc>
                <a:spcPct val="150000"/>
              </a:lnSpc>
            </a:pPr>
            <a:r>
              <a:rPr lang="en-US" b="1" i="0" dirty="0" smtClean="0">
                <a:solidFill>
                  <a:srgbClr val="273239"/>
                </a:solidFill>
                <a:effectLst/>
                <a:latin typeface="Nunito"/>
              </a:rPr>
              <a:t>The Step-by-Step Process</a:t>
            </a:r>
          </a:p>
          <a:p>
            <a:pPr algn="just" fontAlgn="base">
              <a:lnSpc>
                <a:spcPct val="150000"/>
              </a:lnSpc>
              <a:buFont typeface="+mj-lt"/>
              <a:buAutoNum type="arabicPeriod"/>
            </a:pPr>
            <a:r>
              <a:rPr lang="en-US" b="1" i="0" dirty="0" smtClean="0">
                <a:solidFill>
                  <a:srgbClr val="273239"/>
                </a:solidFill>
                <a:effectLst/>
                <a:latin typeface="Nunito"/>
              </a:rPr>
              <a:t>Slicing Creation:</a:t>
            </a:r>
            <a:r>
              <a:rPr lang="en-US" b="0" i="0" dirty="0" smtClean="0">
                <a:solidFill>
                  <a:srgbClr val="273239"/>
                </a:solidFill>
                <a:effectLst/>
                <a:latin typeface="Nunito"/>
              </a:rPr>
              <a:t> The network operator defines the parameters for each slice, including bandwidth, latency, and</a:t>
            </a:r>
            <a:r>
              <a:rPr lang="en-US" b="0" i="0" u="sng" dirty="0" smtClean="0">
                <a:solidFill>
                  <a:srgbClr val="273239"/>
                </a:solidFill>
                <a:effectLst/>
                <a:latin typeface="Nunito"/>
              </a:rPr>
              <a:t> </a:t>
            </a:r>
            <a:r>
              <a:rPr lang="en-US" b="0" i="0" dirty="0" smtClean="0">
                <a:solidFill>
                  <a:srgbClr val="273239"/>
                </a:solidFill>
                <a:effectLst/>
                <a:latin typeface="Nunito"/>
              </a:rPr>
              <a:t>security requirements.</a:t>
            </a:r>
          </a:p>
          <a:p>
            <a:pPr algn="just" fontAlgn="base">
              <a:lnSpc>
                <a:spcPct val="150000"/>
              </a:lnSpc>
              <a:buFont typeface="+mj-lt"/>
              <a:buAutoNum type="arabicPeriod" startAt="2"/>
            </a:pPr>
            <a:r>
              <a:rPr lang="en-US" b="1" i="0" dirty="0" smtClean="0">
                <a:solidFill>
                  <a:srgbClr val="273239"/>
                </a:solidFill>
                <a:effectLst/>
                <a:latin typeface="Nunito"/>
              </a:rPr>
              <a:t>Resource Allocation:</a:t>
            </a:r>
            <a:r>
              <a:rPr lang="en-US" b="0" i="0" dirty="0" smtClean="0">
                <a:solidFill>
                  <a:srgbClr val="273239"/>
                </a:solidFill>
                <a:effectLst/>
                <a:latin typeface="Nunito"/>
              </a:rPr>
              <a:t> Dedicated resources are allocated to each slice, ensuring it has the necessary capacity for its intended use.</a:t>
            </a:r>
          </a:p>
          <a:p>
            <a:pPr algn="just" fontAlgn="base">
              <a:lnSpc>
                <a:spcPct val="150000"/>
              </a:lnSpc>
              <a:buFont typeface="+mj-lt"/>
              <a:buAutoNum type="arabicPeriod" startAt="3"/>
            </a:pPr>
            <a:r>
              <a:rPr lang="en-US" b="1" i="0" dirty="0" smtClean="0">
                <a:solidFill>
                  <a:srgbClr val="273239"/>
                </a:solidFill>
                <a:effectLst/>
                <a:latin typeface="Nunito"/>
              </a:rPr>
              <a:t>Isolation and Management:</a:t>
            </a:r>
            <a:r>
              <a:rPr lang="en-US" b="0" i="0" dirty="0" smtClean="0">
                <a:solidFill>
                  <a:srgbClr val="273239"/>
                </a:solidFill>
                <a:effectLst/>
                <a:latin typeface="Nunito"/>
              </a:rPr>
              <a:t> Each slice is isolated from the others, providing independent network functions, management, and control.</a:t>
            </a:r>
            <a:endParaRPr lang="en-US" b="0" i="0" dirty="0">
              <a:solidFill>
                <a:srgbClr val="273239"/>
              </a:solidFill>
              <a:effectLst/>
              <a:latin typeface="Nunito"/>
            </a:endParaRPr>
          </a:p>
        </p:txBody>
      </p:sp>
    </p:spTree>
    <p:extLst>
      <p:ext uri="{BB962C8B-B14F-4D97-AF65-F5344CB8AC3E}">
        <p14:creationId xmlns:p14="http://schemas.microsoft.com/office/powerpoint/2010/main" val="2229553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6634" y="65325"/>
            <a:ext cx="12055366" cy="6855826"/>
            <a:chOff x="-76198" y="65325"/>
            <a:chExt cx="9143996" cy="6432478"/>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algn="l">
                <a:defRPr/>
              </a:pPr>
              <a:endParaRPr lang="en-IN" sz="1200" dirty="0">
                <a:solidFill>
                  <a:sysClr val="windowText" lastClr="000000"/>
                </a:solidFill>
                <a:latin typeface="Calibri"/>
                <a:sym typeface="Times New Roman"/>
              </a:endParaRPr>
            </a:p>
            <a:p>
              <a:pPr algn="l">
                <a:defRPr/>
              </a:pPr>
              <a:endParaRPr lang="en-IN" sz="3200" b="1" dirty="0">
                <a:solidFill>
                  <a:srgbClr val="1F497D"/>
                </a:solidFill>
                <a:latin typeface="Calibri"/>
                <a:cs typeface="Calibri" panose="020F0502020204030204" pitchFamily="34" charset="0"/>
                <a:sym typeface="Times New Roman"/>
              </a:endParaRPr>
            </a:p>
          </p:txBody>
        </p:sp>
        <p:grpSp>
          <p:nvGrpSpPr>
            <p:cNvPr id="6" name="Group 4"/>
            <p:cNvGrpSpPr/>
            <p:nvPr/>
          </p:nvGrpSpPr>
          <p:grpSpPr>
            <a:xfrm>
              <a:off x="-76198" y="504496"/>
              <a:ext cx="9143996" cy="5993307"/>
              <a:chOff x="-445140" y="902435"/>
              <a:chExt cx="14645898" cy="7556333"/>
            </a:xfrm>
          </p:grpSpPr>
          <p:grpSp>
            <p:nvGrpSpPr>
              <p:cNvPr id="7" name="Group 44"/>
              <p:cNvGrpSpPr/>
              <p:nvPr/>
            </p:nvGrpSpPr>
            <p:grpSpPr>
              <a:xfrm>
                <a:off x="-445140" y="1357660"/>
                <a:ext cx="14645898" cy="7101108"/>
                <a:chOff x="-445140" y="1357660"/>
                <a:chExt cx="14645898" cy="7101108"/>
              </a:xfrm>
            </p:grpSpPr>
            <p:sp>
              <p:nvSpPr>
                <p:cNvPr id="9" name="Half Frame 8"/>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0" name="Half Frame 9"/>
                <p:cNvSpPr/>
                <p:nvPr/>
              </p:nvSpPr>
              <p:spPr>
                <a:xfrm rot="16200000">
                  <a:off x="-203831" y="6700513"/>
                  <a:ext cx="1075615"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1" name="Half Frame 10"/>
                <p:cNvSpPr/>
                <p:nvPr/>
              </p:nvSpPr>
              <p:spPr>
                <a:xfrm rot="5400000">
                  <a:off x="12703555" y="1296630"/>
                  <a:ext cx="1436173" cy="1558233"/>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2" name="Half Frame 11"/>
                <p:cNvSpPr/>
                <p:nvPr/>
              </p:nvSpPr>
              <p:spPr>
                <a:xfrm rot="16200000">
                  <a:off x="366574" y="7141844"/>
                  <a:ext cx="1075615"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grpSp>
          <p:sp>
            <p:nvSpPr>
              <p:cNvPr id="8" name="Half Frame 7"/>
              <p:cNvSpPr/>
              <p:nvPr/>
            </p:nvSpPr>
            <p:spPr>
              <a:xfrm rot="5400000">
                <a:off x="12379305" y="794279"/>
                <a:ext cx="1341921" cy="1558233"/>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grpSp>
      </p:grpSp>
      <p:sp>
        <p:nvSpPr>
          <p:cNvPr id="2" name="Rectangle 1"/>
          <p:cNvSpPr/>
          <p:nvPr/>
        </p:nvSpPr>
        <p:spPr>
          <a:xfrm>
            <a:off x="606145" y="918224"/>
            <a:ext cx="9799095" cy="4438395"/>
          </a:xfrm>
          <a:prstGeom prst="rect">
            <a:avLst/>
          </a:prstGeom>
        </p:spPr>
        <p:txBody>
          <a:bodyPr wrap="square">
            <a:spAutoFit/>
          </a:bodyPr>
          <a:lstStyle/>
          <a:p>
            <a:pPr fontAlgn="base">
              <a:lnSpc>
                <a:spcPct val="200000"/>
              </a:lnSpc>
            </a:pPr>
            <a:r>
              <a:rPr lang="en-US" b="1" dirty="0" smtClean="0"/>
              <a:t>Real-World </a:t>
            </a:r>
            <a:r>
              <a:rPr lang="en-US" b="1" dirty="0"/>
              <a:t>Applications</a:t>
            </a:r>
          </a:p>
          <a:p>
            <a:pPr fontAlgn="base">
              <a:lnSpc>
                <a:spcPct val="200000"/>
              </a:lnSpc>
            </a:pPr>
            <a:r>
              <a:rPr lang="en-US" b="1" dirty="0"/>
              <a:t>Smart Cities: </a:t>
            </a:r>
            <a:r>
              <a:rPr lang="en-US" dirty="0"/>
              <a:t>Network slicing ensures smart cities run efficiently, supporting applications like traffic management and energy optimization.</a:t>
            </a:r>
          </a:p>
          <a:p>
            <a:pPr fontAlgn="base">
              <a:lnSpc>
                <a:spcPct val="200000"/>
              </a:lnSpc>
            </a:pPr>
            <a:r>
              <a:rPr lang="en-US" b="1" dirty="0"/>
              <a:t>Autonomous Vehicles: </a:t>
            </a:r>
            <a:r>
              <a:rPr lang="en-US" dirty="0"/>
              <a:t>Self-driving cars rely on dedicated resources for uninterrupted communication, made possible by network slicing.</a:t>
            </a:r>
          </a:p>
          <a:p>
            <a:pPr fontAlgn="base">
              <a:lnSpc>
                <a:spcPct val="200000"/>
              </a:lnSpc>
            </a:pPr>
            <a:r>
              <a:rPr lang="en-US" b="1" dirty="0" err="1"/>
              <a:t>IoT</a:t>
            </a:r>
            <a:r>
              <a:rPr lang="en-US" b="1" dirty="0"/>
              <a:t> and Industry 4.0: </a:t>
            </a:r>
            <a:r>
              <a:rPr lang="en-US" dirty="0"/>
              <a:t>Network slicing enables seamless data exchange for </a:t>
            </a:r>
            <a:r>
              <a:rPr lang="en-US" dirty="0" err="1"/>
              <a:t>IoT</a:t>
            </a:r>
            <a:r>
              <a:rPr lang="en-US" dirty="0"/>
              <a:t> and Industry 4.0, essential for efficient industrial processes and </a:t>
            </a:r>
            <a:r>
              <a:rPr lang="en-US" u="sng" dirty="0" err="1">
                <a:hlinkClick r:id="rId2"/>
              </a:rPr>
              <a:t>IoT</a:t>
            </a:r>
            <a:r>
              <a:rPr lang="en-US" u="sng" dirty="0">
                <a:hlinkClick r:id="rId2"/>
              </a:rPr>
              <a:t> device</a:t>
            </a:r>
            <a:r>
              <a:rPr lang="en-US" dirty="0"/>
              <a:t> connectivity.</a:t>
            </a:r>
          </a:p>
          <a:p>
            <a:pPr algn="just" fontAlgn="base">
              <a:lnSpc>
                <a:spcPct val="200000"/>
              </a:lnSpc>
            </a:pPr>
            <a:endParaRPr lang="en-US" b="0" i="0" dirty="0">
              <a:solidFill>
                <a:srgbClr val="273239"/>
              </a:solidFill>
              <a:effectLst/>
              <a:latin typeface="Nunito"/>
            </a:endParaRPr>
          </a:p>
        </p:txBody>
      </p:sp>
    </p:spTree>
    <p:extLst>
      <p:ext uri="{BB962C8B-B14F-4D97-AF65-F5344CB8AC3E}">
        <p14:creationId xmlns:p14="http://schemas.microsoft.com/office/powerpoint/2010/main" val="844328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6634" y="65325"/>
            <a:ext cx="12055366" cy="6855826"/>
            <a:chOff x="-76198" y="65325"/>
            <a:chExt cx="9143996" cy="6432478"/>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algn="l">
                <a:defRPr/>
              </a:pPr>
              <a:endParaRPr lang="en-IN" sz="1200" dirty="0">
                <a:solidFill>
                  <a:sysClr val="windowText" lastClr="000000"/>
                </a:solidFill>
                <a:latin typeface="Calibri"/>
                <a:sym typeface="Times New Roman"/>
              </a:endParaRPr>
            </a:p>
            <a:p>
              <a:pPr algn="l">
                <a:defRPr/>
              </a:pPr>
              <a:endParaRPr lang="en-IN" sz="3200" b="1" dirty="0">
                <a:solidFill>
                  <a:srgbClr val="1F497D"/>
                </a:solidFill>
                <a:latin typeface="Calibri"/>
                <a:cs typeface="Calibri" panose="020F0502020204030204" pitchFamily="34" charset="0"/>
                <a:sym typeface="Times New Roman"/>
              </a:endParaRPr>
            </a:p>
          </p:txBody>
        </p:sp>
        <p:grpSp>
          <p:nvGrpSpPr>
            <p:cNvPr id="6" name="Group 4"/>
            <p:cNvGrpSpPr/>
            <p:nvPr/>
          </p:nvGrpSpPr>
          <p:grpSpPr>
            <a:xfrm>
              <a:off x="-76198" y="504496"/>
              <a:ext cx="9143996" cy="5993307"/>
              <a:chOff x="-445140" y="902435"/>
              <a:chExt cx="14645898" cy="7556333"/>
            </a:xfrm>
          </p:grpSpPr>
          <p:grpSp>
            <p:nvGrpSpPr>
              <p:cNvPr id="7" name="Group 44"/>
              <p:cNvGrpSpPr/>
              <p:nvPr/>
            </p:nvGrpSpPr>
            <p:grpSpPr>
              <a:xfrm>
                <a:off x="-445140" y="1357660"/>
                <a:ext cx="14645898" cy="7101108"/>
                <a:chOff x="-445140" y="1357660"/>
                <a:chExt cx="14645898" cy="7101108"/>
              </a:xfrm>
            </p:grpSpPr>
            <p:sp>
              <p:nvSpPr>
                <p:cNvPr id="9" name="Half Frame 8"/>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0" name="Half Frame 9"/>
                <p:cNvSpPr/>
                <p:nvPr/>
              </p:nvSpPr>
              <p:spPr>
                <a:xfrm rot="16200000">
                  <a:off x="-203831" y="6700513"/>
                  <a:ext cx="1075615"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1" name="Half Frame 10"/>
                <p:cNvSpPr/>
                <p:nvPr/>
              </p:nvSpPr>
              <p:spPr>
                <a:xfrm rot="5400000">
                  <a:off x="12703555" y="1296630"/>
                  <a:ext cx="1436173" cy="1558233"/>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2" name="Half Frame 11"/>
                <p:cNvSpPr/>
                <p:nvPr/>
              </p:nvSpPr>
              <p:spPr>
                <a:xfrm rot="16200000">
                  <a:off x="366574" y="7141844"/>
                  <a:ext cx="1075615"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grpSp>
          <p:sp>
            <p:nvSpPr>
              <p:cNvPr id="8" name="Half Frame 7"/>
              <p:cNvSpPr/>
              <p:nvPr/>
            </p:nvSpPr>
            <p:spPr>
              <a:xfrm rot="5400000">
                <a:off x="12379305" y="794279"/>
                <a:ext cx="1341921" cy="1558233"/>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grpSp>
      </p:grpSp>
      <p:pic>
        <p:nvPicPr>
          <p:cNvPr id="1026"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8205" y="1100597"/>
            <a:ext cx="8525491" cy="561750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75449" y="632333"/>
            <a:ext cx="2929007" cy="369332"/>
          </a:xfrm>
          <a:prstGeom prst="rect">
            <a:avLst/>
          </a:prstGeom>
        </p:spPr>
        <p:txBody>
          <a:bodyPr wrap="none">
            <a:spAutoFit/>
          </a:bodyPr>
          <a:lstStyle/>
          <a:p>
            <a:pPr fontAlgn="base"/>
            <a:r>
              <a:rPr lang="en-IN" b="1" i="0" dirty="0" smtClean="0">
                <a:solidFill>
                  <a:srgbClr val="273239"/>
                </a:solidFill>
                <a:effectLst/>
                <a:latin typeface="Nunito"/>
              </a:rPr>
              <a:t>Architecture OF SLICING</a:t>
            </a:r>
            <a:endParaRPr lang="en-IN" b="1" i="0" dirty="0">
              <a:solidFill>
                <a:srgbClr val="273239"/>
              </a:solidFill>
              <a:effectLst/>
              <a:latin typeface="Nunito"/>
            </a:endParaRPr>
          </a:p>
        </p:txBody>
      </p:sp>
    </p:spTree>
    <p:extLst>
      <p:ext uri="{BB962C8B-B14F-4D97-AF65-F5344CB8AC3E}">
        <p14:creationId xmlns:p14="http://schemas.microsoft.com/office/powerpoint/2010/main" val="1261436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6634" y="65325"/>
            <a:ext cx="12055366" cy="6855826"/>
            <a:chOff x="-76198" y="65325"/>
            <a:chExt cx="9143996" cy="6432478"/>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algn="l">
                <a:defRPr/>
              </a:pPr>
              <a:endParaRPr lang="en-IN" sz="1200" dirty="0">
                <a:solidFill>
                  <a:sysClr val="windowText" lastClr="000000"/>
                </a:solidFill>
                <a:latin typeface="Calibri"/>
                <a:sym typeface="Times New Roman"/>
              </a:endParaRPr>
            </a:p>
            <a:p>
              <a:pPr algn="l">
                <a:defRPr/>
              </a:pPr>
              <a:endParaRPr lang="en-IN" sz="3200" b="1" dirty="0">
                <a:solidFill>
                  <a:srgbClr val="1F497D"/>
                </a:solidFill>
                <a:latin typeface="Calibri"/>
                <a:cs typeface="Calibri" panose="020F0502020204030204" pitchFamily="34" charset="0"/>
                <a:sym typeface="Times New Roman"/>
              </a:endParaRPr>
            </a:p>
          </p:txBody>
        </p:sp>
        <p:grpSp>
          <p:nvGrpSpPr>
            <p:cNvPr id="6" name="Group 4"/>
            <p:cNvGrpSpPr/>
            <p:nvPr/>
          </p:nvGrpSpPr>
          <p:grpSpPr>
            <a:xfrm>
              <a:off x="-76198" y="504496"/>
              <a:ext cx="9143996" cy="5993307"/>
              <a:chOff x="-445140" y="902435"/>
              <a:chExt cx="14645898" cy="7556333"/>
            </a:xfrm>
          </p:grpSpPr>
          <p:grpSp>
            <p:nvGrpSpPr>
              <p:cNvPr id="7" name="Group 44"/>
              <p:cNvGrpSpPr/>
              <p:nvPr/>
            </p:nvGrpSpPr>
            <p:grpSpPr>
              <a:xfrm>
                <a:off x="-445140" y="1357660"/>
                <a:ext cx="14645898" cy="7101108"/>
                <a:chOff x="-445140" y="1357660"/>
                <a:chExt cx="14645898" cy="7101108"/>
              </a:xfrm>
            </p:grpSpPr>
            <p:sp>
              <p:nvSpPr>
                <p:cNvPr id="9" name="Half Frame 8"/>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0" name="Half Frame 9"/>
                <p:cNvSpPr/>
                <p:nvPr/>
              </p:nvSpPr>
              <p:spPr>
                <a:xfrm rot="16200000">
                  <a:off x="-203831" y="6700513"/>
                  <a:ext cx="1075615"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1" name="Half Frame 10"/>
                <p:cNvSpPr/>
                <p:nvPr/>
              </p:nvSpPr>
              <p:spPr>
                <a:xfrm rot="5400000">
                  <a:off x="12703555" y="1296630"/>
                  <a:ext cx="1436173" cy="1558233"/>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sp>
              <p:nvSpPr>
                <p:cNvPr id="12" name="Half Frame 11"/>
                <p:cNvSpPr/>
                <p:nvPr/>
              </p:nvSpPr>
              <p:spPr>
                <a:xfrm rot="16200000">
                  <a:off x="366574" y="7141844"/>
                  <a:ext cx="1075615"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grpSp>
          <p:sp>
            <p:nvSpPr>
              <p:cNvPr id="8" name="Half Frame 7"/>
              <p:cNvSpPr/>
              <p:nvPr/>
            </p:nvSpPr>
            <p:spPr>
              <a:xfrm rot="5400000">
                <a:off x="12379305" y="794279"/>
                <a:ext cx="1341921" cy="1558233"/>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algn="ctr">
                  <a:defRPr/>
                </a:pPr>
                <a:endParaRPr lang="en-IN" sz="1200" kern="0" dirty="0">
                  <a:solidFill>
                    <a:sysClr val="windowText" lastClr="000000"/>
                  </a:solidFill>
                  <a:latin typeface="Calibri"/>
                </a:endParaRPr>
              </a:p>
            </p:txBody>
          </p:sp>
        </p:grpSp>
      </p:grpSp>
      <p:sp>
        <p:nvSpPr>
          <p:cNvPr id="2" name="Rectangle 1"/>
          <p:cNvSpPr/>
          <p:nvPr/>
        </p:nvSpPr>
        <p:spPr>
          <a:xfrm>
            <a:off x="483476" y="770396"/>
            <a:ext cx="10857186" cy="5909310"/>
          </a:xfrm>
          <a:prstGeom prst="rect">
            <a:avLst/>
          </a:prstGeom>
        </p:spPr>
        <p:txBody>
          <a:bodyPr wrap="square">
            <a:spAutoFit/>
          </a:bodyPr>
          <a:lstStyle/>
          <a:p>
            <a:pPr algn="just" fontAlgn="base"/>
            <a:r>
              <a:rPr lang="en-US" b="1" dirty="0" smtClean="0">
                <a:solidFill>
                  <a:srgbClr val="273239"/>
                </a:solidFill>
                <a:latin typeface="Times New Roman" panose="02020603050405020304" pitchFamily="18" charset="0"/>
                <a:cs typeface="Times New Roman" panose="02020603050405020304" pitchFamily="18" charset="0"/>
              </a:rPr>
              <a:t>s</a:t>
            </a:r>
            <a:r>
              <a:rPr lang="en-US" b="1" i="0" dirty="0" smtClean="0">
                <a:solidFill>
                  <a:srgbClr val="273239"/>
                </a:solidFill>
                <a:effectLst/>
                <a:latin typeface="Times New Roman" panose="02020603050405020304" pitchFamily="18" charset="0"/>
                <a:cs typeface="Times New Roman" panose="02020603050405020304" pitchFamily="18" charset="0"/>
              </a:rPr>
              <a:t>ervice layer</a:t>
            </a:r>
          </a:p>
          <a:p>
            <a:pPr algn="just" fontAlgn="base"/>
            <a:r>
              <a:rPr lang="en-US" b="0" i="0" dirty="0" smtClean="0">
                <a:solidFill>
                  <a:srgbClr val="273239"/>
                </a:solidFill>
                <a:effectLst/>
                <a:latin typeface="Times New Roman" panose="02020603050405020304" pitchFamily="18" charset="0"/>
                <a:cs typeface="Times New Roman" panose="02020603050405020304" pitchFamily="18" charset="0"/>
              </a:rPr>
              <a:t>The service interface directly connects with network businesses like MVNOs and third-party providers, which share the physical network. It offers a clear view of what services are needed. Each service is represented as a service instance, which includes all the network details in the form of SLA requirements that must be met by a suitable slice creation.</a:t>
            </a:r>
          </a:p>
          <a:p>
            <a:pPr algn="just" fontAlgn="base"/>
            <a:r>
              <a:rPr lang="en-US" b="1" dirty="0" smtClean="0">
                <a:latin typeface="Times New Roman" panose="02020603050405020304" pitchFamily="18" charset="0"/>
                <a:cs typeface="Times New Roman" panose="02020603050405020304" pitchFamily="18" charset="0"/>
              </a:rPr>
              <a:t>Network function layer</a:t>
            </a:r>
          </a:p>
          <a:p>
            <a:pPr algn="just" fontAlgn="base"/>
            <a:r>
              <a:rPr lang="en-US" dirty="0" smtClean="0">
                <a:latin typeface="Times New Roman" panose="02020603050405020304" pitchFamily="18" charset="0"/>
                <a:cs typeface="Times New Roman" panose="02020603050405020304" pitchFamily="18" charset="0"/>
              </a:rPr>
              <a:t>This layer is responsible for the development of every network segment based on requests for services from the higher layer. It consists of a collection of network functions, each with clearly defined actions and ways of interacting. These functions are arranged over the virtual network infrastructure and linked together to form a complete network segment that matches the desired network features of the service.</a:t>
            </a:r>
          </a:p>
          <a:p>
            <a:pPr algn="just" fontAlgn="base"/>
            <a:r>
              <a:rPr lang="en-US" b="1" dirty="0" smtClean="0">
                <a:latin typeface="Times New Roman" panose="02020603050405020304" pitchFamily="18" charset="0"/>
                <a:cs typeface="Times New Roman" panose="02020603050405020304" pitchFamily="18" charset="0"/>
              </a:rPr>
              <a:t>Infrastructure layer</a:t>
            </a:r>
          </a:p>
          <a:p>
            <a:pPr algn="just" fontAlgn="base"/>
            <a:r>
              <a:rPr lang="en-US" dirty="0" smtClean="0">
                <a:latin typeface="Times New Roman" panose="02020603050405020304" pitchFamily="18" charset="0"/>
                <a:cs typeface="Times New Roman" panose="02020603050405020304" pitchFamily="18" charset="0"/>
              </a:rPr>
              <a:t>The infrastructure layer is the physical network's structure, including the radio access, transport, and core networks. It supports the different network functions within each slice by providing necessary resources. </a:t>
            </a:r>
          </a:p>
          <a:p>
            <a:pPr algn="just" fontAlgn="base"/>
            <a:r>
              <a:rPr lang="en-US" b="1" dirty="0" smtClean="0">
                <a:latin typeface="Times New Roman" panose="02020603050405020304" pitchFamily="18" charset="0"/>
                <a:cs typeface="Times New Roman" panose="02020603050405020304" pitchFamily="18" charset="0"/>
              </a:rPr>
              <a:t>Network slice controller</a:t>
            </a:r>
          </a:p>
          <a:p>
            <a:pPr algn="just" fontAlgn="base"/>
            <a:r>
              <a:rPr lang="en-US" dirty="0" smtClean="0">
                <a:latin typeface="Times New Roman" panose="02020603050405020304" pitchFamily="18" charset="0"/>
                <a:cs typeface="Times New Roman" panose="02020603050405020304" pitchFamily="18" charset="0"/>
              </a:rPr>
              <a:t>The network slice controller acts as a Orchestrator within the network, interacting with the functions of each layer to manage each slice's requests in a unified manner. Its advantage lies in the ability to create slices that are both efficient and adaptable, allowing for changes throughout their lifespan. Within the operation of the network slice controller, it is responsible for various activities that improve coordination among the layers mentioned earlier:</a:t>
            </a:r>
          </a:p>
          <a:p>
            <a:pPr algn="just" fontAlgn="base"/>
            <a:endParaRPr lang="en-US" dirty="0" smtClean="0">
              <a:latin typeface="Times New Roman" panose="02020603050405020304" pitchFamily="18" charset="0"/>
              <a:cs typeface="Times New Roman" panose="02020603050405020304" pitchFamily="18" charset="0"/>
            </a:endParaRPr>
          </a:p>
          <a:p>
            <a:pPr algn="just" fontAlgn="base"/>
            <a:endParaRPr lang="en-US" dirty="0" smtClean="0">
              <a:latin typeface="Times New Roman" panose="02020603050405020304" pitchFamily="18" charset="0"/>
              <a:cs typeface="Times New Roman" panose="02020603050405020304" pitchFamily="18" charset="0"/>
            </a:endParaRPr>
          </a:p>
          <a:p>
            <a:pPr algn="just" fontAlgn="base"/>
            <a:endParaRPr lang="en-US" b="0" i="0" dirty="0">
              <a:solidFill>
                <a:srgbClr val="27323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01767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402</Words>
  <Application>Microsoft Office PowerPoint</Application>
  <PresentationFormat>Widescreen</PresentationFormat>
  <Paragraphs>35</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-apple-system</vt:lpstr>
      <vt:lpstr>Arial</vt:lpstr>
      <vt:lpstr>Calibri</vt:lpstr>
      <vt:lpstr>Calibri Light</vt:lpstr>
      <vt:lpstr>Nunito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surbhi</dc:creator>
  <cp:lastModifiedBy>surbhi</cp:lastModifiedBy>
  <cp:revision>3</cp:revision>
  <dcterms:created xsi:type="dcterms:W3CDTF">2024-12-02T11:16:34Z</dcterms:created>
  <dcterms:modified xsi:type="dcterms:W3CDTF">2024-12-02T11:29:10Z</dcterms:modified>
</cp:coreProperties>
</file>
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56" r:id="rId2"/>
    <p:sldId id="269" r:id="rId3"/>
    <p:sldId id="293" r:id="rId4"/>
    <p:sldId id="262" r:id="rId5"/>
    <p:sldId id="263" r:id="rId6"/>
    <p:sldId id="265" r:id="rId7"/>
    <p:sldId id="267" r:id="rId8"/>
    <p:sldId id="275" r:id="rId9"/>
    <p:sldId id="268" r:id="rId10"/>
    <p:sldId id="290" r:id="rId11"/>
    <p:sldId id="276" r:id="rId12"/>
    <p:sldId id="278" r:id="rId13"/>
    <p:sldId id="280" r:id="rId14"/>
    <p:sldId id="279" r:id="rId15"/>
    <p:sldId id="277" r:id="rId16"/>
    <p:sldId id="259" r:id="rId17"/>
    <p:sldId id="287" r:id="rId18"/>
    <p:sldId id="281" r:id="rId19"/>
    <p:sldId id="283" r:id="rId20"/>
    <p:sldId id="284" r:id="rId21"/>
    <p:sldId id="291" r:id="rId22"/>
    <p:sldId id="294" r:id="rId23"/>
  </p:sldIdLst>
  <p:sldSz cx="9144000" cy="6858000" type="screen4x3"/>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A6F95FC-7495-430C-A4BB-0992EF073ED5}" type="datetimeFigureOut">
              <a:rPr lang="en-US" smtClean="0"/>
              <a:pPr/>
              <a:t>7/13/2023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F104BDE-209D-4337-8A24-73B4E679B2EB}" type="slidenum">
              <a:rPr lang="en-US" smtClean="0"/>
              <a:pPr/>
              <a:t>‹#›</a:t>
            </a:fld>
            <a:endParaRPr lang="en-US"/>
          </a:p>
        </p:txBody>
      </p:sp>
    </p:spTree>
    <p:extLst>
      <p:ext uri="{BB962C8B-B14F-4D97-AF65-F5344CB8AC3E}">
        <p14:creationId xmlns:p14="http://schemas.microsoft.com/office/powerpoint/2010/main" val="179353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F104BDE-209D-4337-8A24-73B4E679B2EB}" type="slidenum">
              <a:rPr lang="en-US" smtClean="0"/>
              <a:pPr/>
              <a:t>18</a:t>
            </a:fld>
            <a:endParaRPr lang="en-US"/>
          </a:p>
        </p:txBody>
      </p:sp>
    </p:spTree>
    <p:extLst>
      <p:ext uri="{BB962C8B-B14F-4D97-AF65-F5344CB8AC3E}">
        <p14:creationId xmlns:p14="http://schemas.microsoft.com/office/powerpoint/2010/main" val="3164459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4C3F7E-E446-49D2-9BB0-0EC5A380F3B6}" type="slidenum">
              <a:rPr lang="en-US"/>
              <a:pPr/>
              <a:t>22</a:t>
            </a:fld>
            <a:endParaRPr lang="en-US"/>
          </a:p>
        </p:txBody>
      </p:sp>
      <p:sp>
        <p:nvSpPr>
          <p:cNvPr id="40962" name="Rectangle 1026"/>
          <p:cNvSpPr>
            <a:spLocks noGrp="1" noRot="1" noChangeAspect="1" noChangeArrowheads="1" noTextEdit="1"/>
          </p:cNvSpPr>
          <p:nvPr>
            <p:ph type="sldImg"/>
          </p:nvPr>
        </p:nvSpPr>
        <p:spPr>
          <a:ln/>
        </p:spPr>
      </p:sp>
      <p:sp>
        <p:nvSpPr>
          <p:cNvPr id="40963" name="Rectangle 1027"/>
          <p:cNvSpPr>
            <a:spLocks noGrp="1" noChangeArrowheads="1"/>
          </p:cNvSpPr>
          <p:nvPr>
            <p:ph type="body" idx="1"/>
          </p:nvPr>
        </p:nvSpPr>
        <p:spPr/>
        <p:txBody>
          <a:bodyPr/>
          <a:lstStyle/>
          <a:p>
            <a:r>
              <a:rPr lang="en-US" dirty="0" err="1" smtClean="0"/>
              <a:t>Mercykiling</a:t>
            </a:r>
            <a:r>
              <a:rPr lang="en-US" baseline="0" dirty="0" smtClean="0"/>
              <a:t> unethical but </a:t>
            </a:r>
            <a:r>
              <a:rPr lang="en-US" baseline="0" dirty="0" err="1" smtClean="0"/>
              <a:t>legal,,,,,,,,,advertisment</a:t>
            </a:r>
            <a:r>
              <a:rPr lang="en-US" baseline="0" dirty="0" smtClean="0"/>
              <a:t> </a:t>
            </a:r>
            <a:r>
              <a:rPr lang="en-US" baseline="0" dirty="0" err="1" smtClean="0"/>
              <a:t>comparision</a:t>
            </a:r>
            <a:r>
              <a:rPr lang="en-US" baseline="0" dirty="0" smtClean="0"/>
              <a:t> ethical but illegal</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75F75F0-F7B3-4B7A-BD44-3BF149AE1E3A}" type="datetimeFigureOut">
              <a:rPr lang="en-US" smtClean="0"/>
              <a:pPr/>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1566714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5F75F0-F7B3-4B7A-BD44-3BF149AE1E3A}" type="datetimeFigureOut">
              <a:rPr lang="en-US" smtClean="0"/>
              <a:pPr/>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2049885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75F75F0-F7B3-4B7A-BD44-3BF149AE1E3A}" type="datetimeFigureOut">
              <a:rPr lang="en-US" smtClean="0"/>
              <a:pPr/>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4237845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75F75F0-F7B3-4B7A-BD44-3BF149AE1E3A}" type="datetimeFigureOut">
              <a:rPr lang="en-US" smtClean="0"/>
              <a:pPr/>
              <a:t>7/13/2023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225130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75F75F0-F7B3-4B7A-BD44-3BF149AE1E3A}" type="datetimeFigureOut">
              <a:rPr lang="en-US" smtClean="0"/>
              <a:pPr/>
              <a:t>7/13/2023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2800590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75F75F0-F7B3-4B7A-BD44-3BF149AE1E3A}" type="datetimeFigureOut">
              <a:rPr lang="en-US" smtClean="0"/>
              <a:pPr/>
              <a:t>7/13/2023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1010747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5F75F0-F7B3-4B7A-BD44-3BF149AE1E3A}" type="datetimeFigureOut">
              <a:rPr lang="en-US" smtClean="0"/>
              <a:pPr/>
              <a:t>7/13/2023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1428500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5F75F0-F7B3-4B7A-BD44-3BF149AE1E3A}" type="datetimeFigureOut">
              <a:rPr lang="en-US" smtClean="0"/>
              <a:pPr/>
              <a:t>7/13/2023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4083221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5F75F0-F7B3-4B7A-BD44-3BF149AE1E3A}" type="datetimeFigureOut">
              <a:rPr lang="en-US" smtClean="0"/>
              <a:pPr/>
              <a:t>7/13/2023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1479126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5F75F0-F7B3-4B7A-BD44-3BF149AE1E3A}" type="datetimeFigureOut">
              <a:rPr lang="en-US" smtClean="0"/>
              <a:pPr/>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3922659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75F75F0-F7B3-4B7A-BD44-3BF149AE1E3A}" type="datetimeFigureOut">
              <a:rPr lang="en-US" smtClean="0"/>
              <a:pPr/>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70C4307-C7A2-4D05-8C74-B30EE59F0C73}" type="slidenum">
              <a:rPr lang="en-US" smtClean="0"/>
              <a:pPr/>
              <a:t>‹#›</a:t>
            </a:fld>
            <a:endParaRPr lang="en-US"/>
          </a:p>
        </p:txBody>
      </p:sp>
    </p:spTree>
    <p:extLst>
      <p:ext uri="{BB962C8B-B14F-4D97-AF65-F5344CB8AC3E}">
        <p14:creationId xmlns:p14="http://schemas.microsoft.com/office/powerpoint/2010/main" val="150188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75F75F0-F7B3-4B7A-BD44-3BF149AE1E3A}" type="datetimeFigureOut">
              <a:rPr lang="en-US" smtClean="0"/>
              <a:pPr/>
              <a:t>7/13/2023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0C4307-C7A2-4D05-8C74-B30EE59F0C73}" type="slidenum">
              <a:rPr lang="en-US" smtClean="0"/>
              <a:pPr/>
              <a:t>‹#›</a:t>
            </a:fld>
            <a:endParaRPr lang="en-US"/>
          </a:p>
        </p:txBody>
      </p:sp>
    </p:spTree>
    <p:extLst>
      <p:ext uri="{BB962C8B-B14F-4D97-AF65-F5344CB8AC3E}">
        <p14:creationId xmlns:p14="http://schemas.microsoft.com/office/powerpoint/2010/main" val="1818003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b="0" i="0" u="none"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u="none"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720685"/>
            <a:ext cx="6858000" cy="1223963"/>
          </a:xfrm>
        </p:spPr>
        <p:txBody>
          <a:bodyPr>
            <a:normAutofit/>
          </a:bodyPr>
          <a:lstStyle/>
          <a:p>
            <a:r>
              <a:rPr lang="en-US" sz="4400" b="1" dirty="0" smtClean="0">
                <a:latin typeface="Times New Roman" pitchFamily="18" charset="0"/>
                <a:cs typeface="Times New Roman" pitchFamily="18" charset="0"/>
              </a:rPr>
              <a:t>Moral &amp; Ethical Values</a:t>
            </a:r>
            <a:endParaRPr lang="en-US" sz="4400" b="1" dirty="0">
              <a:latin typeface="Times New Roman" pitchFamily="18" charset="0"/>
              <a:cs typeface="Times New Roman" pitchFamily="18" charset="0"/>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4304" y="266008"/>
            <a:ext cx="2066925" cy="117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latin typeface="Times New Roman" pitchFamily="18" charset="0"/>
                <a:cs typeface="Times New Roman" pitchFamily="18" charset="0"/>
              </a:rPr>
              <a:t>Definition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2400" y="1295400"/>
            <a:ext cx="8839200" cy="5334000"/>
          </a:xfrm>
        </p:spPr>
        <p:txBody>
          <a:bodyPr/>
          <a:lstStyle/>
          <a:p>
            <a:pPr algn="just"/>
            <a:r>
              <a:rPr lang="en-US" dirty="0">
                <a:latin typeface="Times New Roman" pitchFamily="18" charset="0"/>
                <a:cs typeface="Times New Roman" pitchFamily="18" charset="0"/>
              </a:rPr>
              <a:t>Moral values are the standards of good </a:t>
            </a:r>
            <a:r>
              <a:rPr lang="en-US" dirty="0" smtClean="0">
                <a:latin typeface="Times New Roman" pitchFamily="18" charset="0"/>
                <a:cs typeface="Times New Roman" pitchFamily="18" charset="0"/>
              </a:rPr>
              <a:t>and bad , </a:t>
            </a:r>
            <a:r>
              <a:rPr lang="en-US" dirty="0">
                <a:latin typeface="Times New Roman" pitchFamily="18" charset="0"/>
                <a:cs typeface="Times New Roman" pitchFamily="18" charset="0"/>
              </a:rPr>
              <a:t>which govern an individual’s behavior and choices. Individual’s morals may derive from </a:t>
            </a:r>
            <a:r>
              <a:rPr lang="en-US" dirty="0" smtClean="0">
                <a:latin typeface="Times New Roman" pitchFamily="18" charset="0"/>
                <a:cs typeface="Times New Roman" pitchFamily="18" charset="0"/>
              </a:rPr>
              <a:t>society </a:t>
            </a:r>
            <a:r>
              <a:rPr lang="en-US" dirty="0">
                <a:latin typeface="Times New Roman" pitchFamily="18" charset="0"/>
                <a:cs typeface="Times New Roman" pitchFamily="18" charset="0"/>
              </a:rPr>
              <a:t>and government, religion, or </a:t>
            </a:r>
            <a:r>
              <a:rPr lang="en-US" dirty="0" smtClean="0">
                <a:latin typeface="Times New Roman" pitchFamily="18" charset="0"/>
                <a:cs typeface="Times New Roman" pitchFamily="18" charset="0"/>
              </a:rPr>
              <a:t>self governed.</a:t>
            </a:r>
          </a:p>
          <a:p>
            <a:pPr algn="just"/>
            <a:r>
              <a:rPr lang="en-US" dirty="0" smtClean="0">
                <a:latin typeface="Times New Roman" pitchFamily="18" charset="0"/>
                <a:cs typeface="Times New Roman" pitchFamily="18" charset="0"/>
              </a:rPr>
              <a:t>Our moral values are largely shaped by the social customs and religious beliefs.</a:t>
            </a:r>
          </a:p>
          <a:p>
            <a:pPr algn="just"/>
            <a:r>
              <a:rPr lang="en-US" dirty="0" smtClean="0">
                <a:latin typeface="Times New Roman" pitchFamily="18" charset="0"/>
                <a:cs typeface="Times New Roman" pitchFamily="18" charset="0"/>
              </a:rPr>
              <a:t>We acquire them unconsciously from the society and family in which we grow up.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82674"/>
          </a:xfrm>
        </p:spPr>
        <p:txBody>
          <a:bodyPr/>
          <a:lstStyle/>
          <a:p>
            <a:pPr algn="r"/>
            <a:r>
              <a:rPr lang="en-US" b="1" dirty="0" err="1" smtClean="0"/>
              <a:t>Cont</a:t>
            </a:r>
            <a:r>
              <a:rPr lang="en-US" b="1" dirty="0" smtClean="0"/>
              <a:t>…</a:t>
            </a:r>
            <a:endParaRPr lang="en-US" b="1" dirty="0"/>
          </a:p>
        </p:txBody>
      </p:sp>
      <p:sp>
        <p:nvSpPr>
          <p:cNvPr id="3" name="Content Placeholder 2"/>
          <p:cNvSpPr>
            <a:spLocks noGrp="1"/>
          </p:cNvSpPr>
          <p:nvPr>
            <p:ph idx="1"/>
          </p:nvPr>
        </p:nvSpPr>
        <p:spPr>
          <a:xfrm>
            <a:off x="228600" y="1524000"/>
            <a:ext cx="8458200" cy="4602163"/>
          </a:xfrm>
        </p:spPr>
        <p:txBody>
          <a:bodyPr/>
          <a:lstStyle/>
          <a:p>
            <a:pPr algn="just"/>
            <a:r>
              <a:rPr lang="en-US" sz="3600" dirty="0" smtClean="0">
                <a:latin typeface="Times New Roman" pitchFamily="18" charset="0"/>
                <a:cs typeface="Times New Roman" pitchFamily="18" charset="0"/>
              </a:rPr>
              <a:t>Comes from the Greek word – </a:t>
            </a:r>
            <a:r>
              <a:rPr lang="en-US" sz="3600" b="1" dirty="0" smtClean="0">
                <a:latin typeface="Times New Roman" pitchFamily="18" charset="0"/>
                <a:cs typeface="Times New Roman" pitchFamily="18" charset="0"/>
              </a:rPr>
              <a:t>Ethos</a:t>
            </a:r>
            <a:r>
              <a:rPr lang="en-US" sz="3600" dirty="0" smtClean="0">
                <a:latin typeface="Times New Roman" pitchFamily="18" charset="0"/>
                <a:cs typeface="Times New Roman" pitchFamily="18" charset="0"/>
              </a:rPr>
              <a:t> meaning character</a:t>
            </a:r>
          </a:p>
          <a:p>
            <a:pPr algn="just">
              <a:buNone/>
            </a:pPr>
            <a:endParaRPr lang="en-US" sz="3600" dirty="0" smtClean="0">
              <a:latin typeface="Times New Roman" pitchFamily="18" charset="0"/>
              <a:cs typeface="Times New Roman" pitchFamily="18" charset="0"/>
            </a:endParaRPr>
          </a:p>
          <a:p>
            <a:pPr algn="just"/>
            <a:r>
              <a:rPr lang="en-US" sz="3600" dirty="0" smtClean="0">
                <a:latin typeface="Times New Roman" pitchFamily="18" charset="0"/>
                <a:cs typeface="Times New Roman" pitchFamily="18" charset="0"/>
              </a:rPr>
              <a:t>Ethics define what is </a:t>
            </a:r>
            <a:r>
              <a:rPr lang="en-US" sz="3600" b="1" dirty="0" smtClean="0">
                <a:latin typeface="Times New Roman" pitchFamily="18" charset="0"/>
                <a:cs typeface="Times New Roman" pitchFamily="18" charset="0"/>
              </a:rPr>
              <a:t>good</a:t>
            </a:r>
            <a:r>
              <a:rPr lang="en-US" sz="3600" dirty="0" smtClean="0">
                <a:latin typeface="Times New Roman" pitchFamily="18" charset="0"/>
                <a:cs typeface="Times New Roman" pitchFamily="18" charset="0"/>
              </a:rPr>
              <a:t> for individuals and society.</a:t>
            </a:r>
          </a:p>
          <a:p>
            <a:endParaRPr lang="en-US" dirty="0"/>
          </a:p>
        </p:txBody>
      </p:sp>
    </p:spTree>
    <p:extLst>
      <p:ext uri="{BB962C8B-B14F-4D97-AF65-F5344CB8AC3E}">
        <p14:creationId xmlns:p14="http://schemas.microsoft.com/office/powerpoint/2010/main" val="16152890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Types of Moral Values</a:t>
            </a:r>
            <a:endParaRPr lang="en-US" dirty="0"/>
          </a:p>
        </p:txBody>
      </p:sp>
      <p:sp>
        <p:nvSpPr>
          <p:cNvPr id="3" name="Content Placeholder 2"/>
          <p:cNvSpPr>
            <a:spLocks noGrp="1"/>
          </p:cNvSpPr>
          <p:nvPr>
            <p:ph idx="1"/>
          </p:nvPr>
        </p:nvSpPr>
        <p:spPr>
          <a:xfrm>
            <a:off x="152400" y="1447800"/>
            <a:ext cx="8839200" cy="4678363"/>
          </a:xfrm>
        </p:spPr>
        <p:txBody>
          <a:bodyPr/>
          <a:lstStyle/>
          <a:p>
            <a:endParaRPr lang="en-US" dirty="0" smtClean="0"/>
          </a:p>
          <a:p>
            <a:r>
              <a:rPr lang="en-US" dirty="0" smtClean="0">
                <a:latin typeface="Times New Roman" pitchFamily="18" charset="0"/>
                <a:cs typeface="Times New Roman" pitchFamily="18" charset="0"/>
              </a:rPr>
              <a:t>Customary Morality</a:t>
            </a:r>
          </a:p>
          <a:p>
            <a:r>
              <a:rPr lang="en-US" dirty="0" smtClean="0">
                <a:latin typeface="Times New Roman" pitchFamily="18" charset="0"/>
                <a:cs typeface="Times New Roman" pitchFamily="18" charset="0"/>
              </a:rPr>
              <a:t>Religious Morality</a:t>
            </a:r>
          </a:p>
          <a:p>
            <a:r>
              <a:rPr lang="en-US" dirty="0" smtClean="0">
                <a:latin typeface="Times New Roman" pitchFamily="18" charset="0"/>
                <a:cs typeface="Times New Roman" pitchFamily="18" charset="0"/>
              </a:rPr>
              <a:t>Reflective Morality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
            </a:r>
            <a:br>
              <a:rPr lang="en-US" dirty="0" smtClean="0"/>
            </a:br>
            <a:r>
              <a:rPr lang="en-US" dirty="0" smtClean="0"/>
              <a:t>Customary Morality</a:t>
            </a:r>
            <a:br>
              <a:rPr lang="en-US" dirty="0" smtClean="0"/>
            </a:br>
            <a:endParaRPr lang="en-US" dirty="0"/>
          </a:p>
        </p:txBody>
      </p:sp>
      <p:sp>
        <p:nvSpPr>
          <p:cNvPr id="3" name="Content Placeholder 2"/>
          <p:cNvSpPr>
            <a:spLocks noGrp="1"/>
          </p:cNvSpPr>
          <p:nvPr>
            <p:ph idx="1"/>
          </p:nvPr>
        </p:nvSpPr>
        <p:spPr>
          <a:xfrm>
            <a:off x="228600" y="914400"/>
            <a:ext cx="8686800" cy="5638800"/>
          </a:xfrm>
        </p:spPr>
        <p:txBody>
          <a:bodyPr>
            <a:normAutofit/>
          </a:bodyPr>
          <a:lstStyle/>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Communities have certain commonly agreed norms to regulate the behavior of individual’s in the society.</a:t>
            </a:r>
          </a:p>
          <a:p>
            <a:pPr algn="just"/>
            <a:r>
              <a:rPr lang="en-US" dirty="0" smtClean="0">
                <a:latin typeface="Times New Roman" pitchFamily="18" charset="0"/>
                <a:cs typeface="Times New Roman" pitchFamily="18" charset="0"/>
              </a:rPr>
              <a:t>These norms are like framework within which individual and social relations are to be carried out.</a:t>
            </a:r>
          </a:p>
          <a:p>
            <a:pPr algn="just">
              <a:buNone/>
            </a:pPr>
            <a:r>
              <a:rPr lang="en-US" dirty="0" smtClean="0">
                <a:latin typeface="Times New Roman" pitchFamily="18" charset="0"/>
                <a:cs typeface="Times New Roman" pitchFamily="18" charset="0"/>
              </a:rPr>
              <a:t>Violation of these socio-moral codes invites social criticism.</a:t>
            </a:r>
          </a:p>
          <a:p>
            <a:pPr algn="just">
              <a:buNone/>
            </a:pPr>
            <a:endParaRPr lang="en-US" dirty="0" smtClean="0">
              <a:latin typeface="Times New Roman" pitchFamily="18" charset="0"/>
              <a:cs typeface="Times New Roman" pitchFamily="18" charset="0"/>
            </a:endParaRPr>
          </a:p>
          <a:p>
            <a:pPr algn="just"/>
            <a:r>
              <a:rPr lang="en-US" dirty="0" err="1" smtClean="0">
                <a:latin typeface="Times New Roman" pitchFamily="18" charset="0"/>
                <a:cs typeface="Times New Roman" pitchFamily="18" charset="0"/>
              </a:rPr>
              <a:t>Eg</a:t>
            </a:r>
            <a:r>
              <a:rPr lang="en-US" dirty="0" smtClean="0">
                <a:latin typeface="Times New Roman" pitchFamily="18" charset="0"/>
                <a:cs typeface="Times New Roman" pitchFamily="18" charset="0"/>
              </a:rPr>
              <a:t>: Marriage, family relations, public behavior, festivals.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dirty="0" smtClean="0"/>
              <a:t>Religious Morality</a:t>
            </a:r>
            <a:endParaRPr lang="en-US" dirty="0"/>
          </a:p>
        </p:txBody>
      </p:sp>
      <p:sp>
        <p:nvSpPr>
          <p:cNvPr id="3" name="Content Placeholder 2"/>
          <p:cNvSpPr>
            <a:spLocks noGrp="1"/>
          </p:cNvSpPr>
          <p:nvPr>
            <p:ph idx="1"/>
          </p:nvPr>
        </p:nvSpPr>
        <p:spPr>
          <a:xfrm>
            <a:off x="304800" y="1143000"/>
            <a:ext cx="8610600" cy="5486400"/>
          </a:xfrm>
        </p:spPr>
        <p:txBody>
          <a:bodyPr/>
          <a:lstStyle/>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Most of our ethical ideas have come to us from religion.</a:t>
            </a:r>
          </a:p>
          <a:p>
            <a:pPr algn="just"/>
            <a:r>
              <a:rPr lang="en-US" dirty="0" smtClean="0">
                <a:latin typeface="Times New Roman" pitchFamily="18" charset="0"/>
                <a:cs typeface="Times New Roman" pitchFamily="18" charset="0"/>
              </a:rPr>
              <a:t>Traditional societies have dominant significance in all aspects of personal &amp; social life.</a:t>
            </a:r>
          </a:p>
          <a:p>
            <a:pPr algn="just"/>
            <a:r>
              <a:rPr lang="en-US" dirty="0" smtClean="0">
                <a:latin typeface="Times New Roman" pitchFamily="18" charset="0"/>
                <a:cs typeface="Times New Roman" pitchFamily="18" charset="0"/>
              </a:rPr>
              <a:t>All religions started as reform movements aimed at moral &amp; spiritual upliftment of humankind.</a:t>
            </a:r>
          </a:p>
          <a:p>
            <a:pPr algn="just"/>
            <a:r>
              <a:rPr lang="en-US" dirty="0" smtClean="0">
                <a:latin typeface="Times New Roman" pitchFamily="18" charset="0"/>
                <a:cs typeface="Times New Roman" pitchFamily="18" charset="0"/>
              </a:rPr>
              <a:t>Religion inspired generations after generations to seek higher levels of ethical values.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8229600" cy="715962"/>
          </a:xfrm>
        </p:spPr>
        <p:txBody>
          <a:bodyPr>
            <a:normAutofit fontScale="90000"/>
          </a:bodyPr>
          <a:lstStyle/>
          <a:p>
            <a:r>
              <a:rPr lang="en-US" dirty="0" smtClean="0"/>
              <a:t>Reflective Morality</a:t>
            </a:r>
            <a:br>
              <a:rPr lang="en-US" dirty="0" smtClean="0"/>
            </a:br>
            <a:endParaRPr lang="en-US" dirty="0"/>
          </a:p>
        </p:txBody>
      </p:sp>
      <p:sp>
        <p:nvSpPr>
          <p:cNvPr id="3" name="Content Placeholder 2"/>
          <p:cNvSpPr>
            <a:spLocks noGrp="1"/>
          </p:cNvSpPr>
          <p:nvPr>
            <p:ph idx="1"/>
          </p:nvPr>
        </p:nvSpPr>
        <p:spPr>
          <a:xfrm>
            <a:off x="228600" y="1066800"/>
            <a:ext cx="8610600" cy="5410200"/>
          </a:xfrm>
        </p:spPr>
        <p:txBody>
          <a:bodyPr>
            <a:normAutofit/>
          </a:bodyPr>
          <a:lstStyle/>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Moral values should be consistent and blend with other values of life (social, spiritual &amp; aesthetic values).</a:t>
            </a:r>
          </a:p>
          <a:p>
            <a:pPr algn="just"/>
            <a:r>
              <a:rPr lang="en-US" dirty="0" smtClean="0">
                <a:latin typeface="Times New Roman" pitchFamily="18" charset="0"/>
                <a:cs typeface="Times New Roman" pitchFamily="18" charset="0"/>
              </a:rPr>
              <a:t>Principles for moral life should not demand rejection of other values of life.</a:t>
            </a:r>
          </a:p>
          <a:p>
            <a:pPr algn="just"/>
            <a:r>
              <a:rPr lang="en-US" dirty="0" smtClean="0">
                <a:latin typeface="Times New Roman" pitchFamily="18" charset="0"/>
                <a:cs typeface="Times New Roman" pitchFamily="18" charset="0"/>
              </a:rPr>
              <a:t>So these must be framed by human beings by taking into account the realities of healthy human and social life.</a:t>
            </a:r>
          </a:p>
          <a:p>
            <a:pPr algn="just"/>
            <a:r>
              <a:rPr lang="en-US" dirty="0" smtClean="0">
                <a:latin typeface="Times New Roman" pitchFamily="18" charset="0"/>
                <a:cs typeface="Times New Roman" pitchFamily="18" charset="0"/>
              </a:rPr>
              <a:t>A Morality based on these larger perceptions is termed as Reflective Morality.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lgn="just"/>
            <a:endParaRPr lang="en-US" dirty="0" smtClean="0">
              <a:latin typeface="Times New Roman" pitchFamily="18" charset="0"/>
              <a:cs typeface="Times New Roman" pitchFamily="18" charset="0"/>
            </a:endParaRP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Moral principles should support human mind, help in growth w.r.t material, social and spiritual and helps in healthy social life. A morality based on these perceptions is termed as reflective morality. </a:t>
            </a:r>
          </a:p>
          <a:p>
            <a:pPr algn="just"/>
            <a:r>
              <a:rPr lang="en-US" dirty="0" smtClean="0">
                <a:latin typeface="Times New Roman" pitchFamily="18" charset="0"/>
                <a:cs typeface="Times New Roman" pitchFamily="18" charset="0"/>
              </a:rPr>
              <a:t>Moral values are reflection of human personality as an individual.</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latin typeface="Times New Roman" pitchFamily="18" charset="0"/>
                <a:cs typeface="Times New Roman" pitchFamily="18" charset="0"/>
              </a:rPr>
              <a:t>Traditional values should not be treated as burden  but should be developed and refined timely.</a:t>
            </a:r>
          </a:p>
          <a:p>
            <a:pPr algn="just"/>
            <a:r>
              <a:rPr lang="en-US" dirty="0" smtClean="0">
                <a:latin typeface="Times New Roman" pitchFamily="18" charset="0"/>
                <a:cs typeface="Times New Roman" pitchFamily="18" charset="0"/>
              </a:rPr>
              <a:t>And it would be open to ideas from all other traditions &amp; cultures.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Human Values WORK ETHICS</a:t>
            </a:r>
            <a:r>
              <a:rPr lang="en-US" dirty="0"/>
              <a:t/>
            </a:r>
            <a:br>
              <a:rPr lang="en-US" dirty="0"/>
            </a:br>
            <a:endParaRPr lang="en-IN" dirty="0"/>
          </a:p>
        </p:txBody>
      </p:sp>
      <p:sp>
        <p:nvSpPr>
          <p:cNvPr id="3" name="Content Placeholder 2"/>
          <p:cNvSpPr>
            <a:spLocks noGrp="1"/>
          </p:cNvSpPr>
          <p:nvPr>
            <p:ph idx="1"/>
          </p:nvPr>
        </p:nvSpPr>
        <p:spPr>
          <a:xfrm>
            <a:off x="304800" y="1371600"/>
            <a:ext cx="8210550" cy="4805363"/>
          </a:xfrm>
        </p:spPr>
        <p:txBody>
          <a:bodyPr/>
          <a:lstStyle/>
          <a:p>
            <a:pPr algn="just"/>
            <a:r>
              <a:rPr lang="en-US" dirty="0" smtClean="0"/>
              <a:t>Industry </a:t>
            </a:r>
            <a:r>
              <a:rPr lang="en-US" dirty="0"/>
              <a:t>and Society are the two systems which interact with each other and are interdependent</a:t>
            </a:r>
            <a:r>
              <a:rPr lang="en-US" dirty="0" smtClean="0"/>
              <a:t>. Work </a:t>
            </a:r>
            <a:r>
              <a:rPr lang="en-US" dirty="0"/>
              <a:t>ethics is defined as a set of attitudes concerned with the value of work, which forms the motivational </a:t>
            </a:r>
            <a:r>
              <a:rPr lang="en-US" dirty="0" smtClean="0"/>
              <a:t>orientation.</a:t>
            </a:r>
          </a:p>
          <a:p>
            <a:pPr algn="just"/>
            <a:r>
              <a:rPr lang="en-US" b="1" dirty="0"/>
              <a:t>The ‘work ethics’ is aimed at </a:t>
            </a:r>
            <a:r>
              <a:rPr lang="en-US" b="1" dirty="0" smtClean="0"/>
              <a:t>ensuring</a:t>
            </a:r>
            <a:r>
              <a:rPr lang="en-US" dirty="0" smtClean="0"/>
              <a:t>: the </a:t>
            </a:r>
            <a:r>
              <a:rPr lang="en-US" dirty="0"/>
              <a:t>economy (create wealth, earn salary)productivity (wealth, profit)safety (in workplace)health and hygiene (working conditions)privacy (raise family)security (permanence against contractual, pension, and retirement benefits)environment(anti-pollution activities)offer opportunities for all, according to their abilities, but without discrimination.</a:t>
            </a:r>
            <a:endParaRPr lang="en-IN" dirty="0"/>
          </a:p>
        </p:txBody>
      </p:sp>
    </p:spTree>
    <p:extLst>
      <p:ext uri="{BB962C8B-B14F-4D97-AF65-F5344CB8AC3E}">
        <p14:creationId xmlns:p14="http://schemas.microsoft.com/office/powerpoint/2010/main" val="1520122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smtClean="0"/>
              <a:t>Principle of Morality</a:t>
            </a:r>
            <a:endParaRPr lang="en-US" b="1" dirty="0"/>
          </a:p>
        </p:txBody>
      </p:sp>
      <p:sp>
        <p:nvSpPr>
          <p:cNvPr id="3" name="Content Placeholder 2"/>
          <p:cNvSpPr>
            <a:spLocks noGrp="1"/>
          </p:cNvSpPr>
          <p:nvPr>
            <p:ph idx="1"/>
          </p:nvPr>
        </p:nvSpPr>
        <p:spPr>
          <a:xfrm>
            <a:off x="228600" y="1600200"/>
            <a:ext cx="8458200" cy="4953000"/>
          </a:xfrm>
        </p:spPr>
        <p:txBody>
          <a:bodyPr/>
          <a:lstStyle/>
          <a:p>
            <a:pPr algn="just"/>
            <a:r>
              <a:rPr lang="en-US" dirty="0" smtClean="0">
                <a:latin typeface="Times New Roman" pitchFamily="18" charset="0"/>
                <a:cs typeface="Times New Roman" pitchFamily="18" charset="0"/>
              </a:rPr>
              <a:t>Kant has developed some general principles for guiding moral behavior. </a:t>
            </a:r>
          </a:p>
          <a:p>
            <a:pPr algn="just"/>
            <a:r>
              <a:rPr lang="en-US" dirty="0" smtClean="0">
                <a:latin typeface="Times New Roman" pitchFamily="18" charset="0"/>
                <a:cs typeface="Times New Roman" pitchFamily="18" charset="0"/>
              </a:rPr>
              <a:t>According to him like the laws of nature there are moral laws for the governance of human conduct. </a:t>
            </a:r>
          </a:p>
          <a:p>
            <a:pPr algn="just"/>
            <a:r>
              <a:rPr lang="en-US" dirty="0" smtClean="0">
                <a:latin typeface="Times New Roman" pitchFamily="18" charset="0"/>
                <a:cs typeface="Times New Roman" pitchFamily="18" charset="0"/>
              </a:rPr>
              <a:t>Since human beings are rational, and moral agents, their conduct must be governed by these moral laws</a:t>
            </a:r>
            <a:r>
              <a:rPr lang="en-US" dirty="0" smtClean="0"/>
              <a:t>.</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Three principles of Morality are:</a:t>
            </a:r>
            <a:endParaRPr lang="en-US" b="1" dirty="0"/>
          </a:p>
        </p:txBody>
      </p:sp>
      <p:sp>
        <p:nvSpPr>
          <p:cNvPr id="3" name="Content Placeholder 2"/>
          <p:cNvSpPr>
            <a:spLocks noGrp="1"/>
          </p:cNvSpPr>
          <p:nvPr>
            <p:ph idx="1"/>
          </p:nvPr>
        </p:nvSpPr>
        <p:spPr>
          <a:xfrm>
            <a:off x="0" y="1600200"/>
            <a:ext cx="8915400" cy="5029200"/>
          </a:xfrm>
        </p:spPr>
        <p:txBody>
          <a:bodyPr/>
          <a:lstStyle/>
          <a:p>
            <a:endParaRPr lang="en-US" dirty="0" smtClean="0"/>
          </a:p>
          <a:p>
            <a:r>
              <a:rPr lang="en-US" sz="3600" dirty="0" smtClean="0">
                <a:latin typeface="Times New Roman" pitchFamily="18" charset="0"/>
                <a:cs typeface="Times New Roman" pitchFamily="18" charset="0"/>
              </a:rPr>
              <a:t>The Principle of Universality </a:t>
            </a:r>
          </a:p>
          <a:p>
            <a:r>
              <a:rPr lang="en-US" sz="3600" dirty="0" smtClean="0">
                <a:latin typeface="Times New Roman" pitchFamily="18" charset="0"/>
                <a:cs typeface="Times New Roman" pitchFamily="18" charset="0"/>
              </a:rPr>
              <a:t>The Principle of Humanity as an end in itself</a:t>
            </a:r>
          </a:p>
          <a:p>
            <a:r>
              <a:rPr lang="en-US" sz="3600" dirty="0" smtClean="0">
                <a:latin typeface="Times New Roman" pitchFamily="18" charset="0"/>
                <a:cs typeface="Times New Roman" pitchFamily="18" charset="0"/>
              </a:rPr>
              <a:t>The Principle of Autonomy</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Principle of Universality</a:t>
            </a:r>
            <a:endParaRPr lang="en-US" b="1" dirty="0"/>
          </a:p>
        </p:txBody>
      </p:sp>
      <p:sp>
        <p:nvSpPr>
          <p:cNvPr id="3" name="Content Placeholder 2"/>
          <p:cNvSpPr>
            <a:spLocks noGrp="1"/>
          </p:cNvSpPr>
          <p:nvPr>
            <p:ph idx="1"/>
          </p:nvPr>
        </p:nvSpPr>
        <p:spPr>
          <a:xfrm>
            <a:off x="0" y="1524000"/>
            <a:ext cx="9144000" cy="5029200"/>
          </a:xfrm>
        </p:spPr>
        <p:txBody>
          <a:bodyPr>
            <a:normAutofit/>
          </a:bodyPr>
          <a:lstStyle/>
          <a:p>
            <a:r>
              <a:rPr lang="en-US" sz="3600" dirty="0" smtClean="0">
                <a:latin typeface="Times New Roman" pitchFamily="18" charset="0"/>
                <a:cs typeface="Times New Roman" pitchFamily="18" charset="0"/>
              </a:rPr>
              <a:t>The moral principle should be applicable to all.</a:t>
            </a:r>
          </a:p>
          <a:p>
            <a:r>
              <a:rPr lang="en-US" sz="3600" dirty="0" smtClean="0">
                <a:latin typeface="Times New Roman" pitchFamily="18" charset="0"/>
                <a:cs typeface="Times New Roman" pitchFamily="18" charset="0"/>
              </a:rPr>
              <a:t>Rules are same for all and will not differ from person to person.</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Principle of Humanity as an end in itself</a:t>
            </a:r>
            <a:endParaRPr lang="en-US" b="1" dirty="0"/>
          </a:p>
        </p:txBody>
      </p:sp>
      <p:sp>
        <p:nvSpPr>
          <p:cNvPr id="3" name="Content Placeholder 2"/>
          <p:cNvSpPr>
            <a:spLocks noGrp="1"/>
          </p:cNvSpPr>
          <p:nvPr>
            <p:ph idx="1"/>
          </p:nvPr>
        </p:nvSpPr>
        <p:spPr>
          <a:xfrm>
            <a:off x="0" y="1676400"/>
            <a:ext cx="9144000" cy="4953000"/>
          </a:xfrm>
        </p:spPr>
        <p:txBody>
          <a:bodyPr/>
          <a:lstStyle/>
          <a:p>
            <a:r>
              <a:rPr lang="en-US" dirty="0" smtClean="0">
                <a:latin typeface="Times New Roman" pitchFamily="18" charset="0"/>
                <a:cs typeface="Times New Roman" pitchFamily="18" charset="0"/>
              </a:rPr>
              <a:t>This principle demands that we respect the humanity in our own person.</a:t>
            </a:r>
          </a:p>
          <a:p>
            <a:r>
              <a:rPr lang="en-US" dirty="0" smtClean="0">
                <a:latin typeface="Times New Roman" pitchFamily="18" charset="0"/>
                <a:cs typeface="Times New Roman" pitchFamily="18" charset="0"/>
              </a:rPr>
              <a:t>Treating everyone equally, showing respect &amp; helping everyone despite of their position &amp; social image.</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Times New Roman" pitchFamily="18" charset="0"/>
                <a:cs typeface="Times New Roman" pitchFamily="18" charset="0"/>
              </a:rPr>
              <a:t>The Principle of Autonomy</a:t>
            </a:r>
            <a:br>
              <a:rPr lang="en-US" b="1" dirty="0" smtClean="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0" y="1219200"/>
            <a:ext cx="9144000" cy="5638800"/>
          </a:xfrm>
        </p:spPr>
        <p:txBody>
          <a:bodyPr>
            <a:normAutofit/>
          </a:bodyPr>
          <a:lstStyle/>
          <a:p>
            <a:pPr algn="just"/>
            <a:r>
              <a:rPr lang="en-US" dirty="0" smtClean="0">
                <a:latin typeface="Times New Roman" pitchFamily="18" charset="0"/>
                <a:cs typeface="Times New Roman" pitchFamily="18" charset="0"/>
              </a:rPr>
              <a:t>The moral standards adopted by an individual should arise out because of our own believes, &amp; not because of external pressure &amp; compulsions.</a:t>
            </a:r>
          </a:p>
          <a:p>
            <a:pPr algn="just"/>
            <a:r>
              <a:rPr lang="en-US" dirty="0" smtClean="0">
                <a:latin typeface="Times New Roman" pitchFamily="18" charset="0"/>
                <a:cs typeface="Times New Roman" pitchFamily="18" charset="0"/>
              </a:rPr>
              <a:t>Many of us try to live up to standards set up by others, parents, friends, work-group, social customs etc.</a:t>
            </a:r>
          </a:p>
          <a:p>
            <a:pPr algn="just"/>
            <a:r>
              <a:rPr lang="en-US" dirty="0" smtClean="0">
                <a:latin typeface="Times New Roman" pitchFamily="18" charset="0"/>
                <a:cs typeface="Times New Roman" pitchFamily="18" charset="0"/>
              </a:rPr>
              <a:t>The principle of moral autonomy demands that we govern ourselves by self accepted &amp; self-imposed moral laws.</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Definition</a:t>
            </a:r>
            <a:endParaRPr lang="en-US" dirty="0"/>
          </a:p>
        </p:txBody>
      </p:sp>
      <p:sp>
        <p:nvSpPr>
          <p:cNvPr id="4" name="Rectangle 3"/>
          <p:cNvSpPr/>
          <p:nvPr/>
        </p:nvSpPr>
        <p:spPr>
          <a:xfrm>
            <a:off x="457200" y="1676400"/>
            <a:ext cx="8153400" cy="3785652"/>
          </a:xfrm>
          <a:prstGeom prst="rect">
            <a:avLst/>
          </a:prstGeom>
        </p:spPr>
        <p:txBody>
          <a:bodyPr wrap="square">
            <a:spAutoFit/>
          </a:bodyPr>
          <a:lstStyle/>
          <a:p>
            <a:pPr algn="just"/>
            <a:r>
              <a:rPr lang="en-US" sz="4000" b="1" dirty="0" smtClean="0">
                <a:latin typeface="Times New Roman" pitchFamily="18" charset="0"/>
                <a:cs typeface="Times New Roman" pitchFamily="18" charset="0"/>
              </a:rPr>
              <a:t>Ethics:</a:t>
            </a:r>
            <a:r>
              <a:rPr lang="en-US" sz="4000" dirty="0" smtClean="0">
                <a:latin typeface="Times New Roman" pitchFamily="18" charset="0"/>
                <a:cs typeface="Times New Roman" pitchFamily="18" charset="0"/>
              </a:rPr>
              <a:t>  Ethical codes of conduct  instruct us on what we ought or ought not to do.  Typical ethical theories or ethical codes include basic principles that are intended to be used to guide conduct/behavior. </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normAutofit/>
          </a:bodyPr>
          <a:lstStyle/>
          <a:p>
            <a:r>
              <a:rPr lang="en-US" dirty="0" smtClean="0"/>
              <a:t>Ethics</a:t>
            </a:r>
            <a:endParaRPr lang="en-US" dirty="0"/>
          </a:p>
        </p:txBody>
      </p:sp>
      <p:sp>
        <p:nvSpPr>
          <p:cNvPr id="4" name="Rectangle 3"/>
          <p:cNvSpPr/>
          <p:nvPr/>
        </p:nvSpPr>
        <p:spPr>
          <a:xfrm>
            <a:off x="0" y="1828800"/>
            <a:ext cx="9144000" cy="3581400"/>
          </a:xfrm>
          <a:prstGeom prst="rect">
            <a:avLst/>
          </a:prstGeom>
        </p:spPr>
        <p:txBody>
          <a:bodyPr wrap="square">
            <a:spAutoFit/>
          </a:bodyPr>
          <a:lstStyle/>
          <a:p>
            <a:pPr lvl="1"/>
            <a:r>
              <a:rPr lang="en-US" sz="3200" dirty="0" smtClean="0">
                <a:latin typeface="Times New Roman" pitchFamily="18" charset="0"/>
                <a:cs typeface="Times New Roman" pitchFamily="18" charset="0"/>
              </a:rPr>
              <a:t>The study of moral values or principles that guide our behavior, and inform us whether actions are right or wrong.</a:t>
            </a:r>
          </a:p>
          <a:p>
            <a:pPr lvl="1"/>
            <a:endParaRPr lang="en-US" sz="3200" dirty="0" smtClean="0">
              <a:latin typeface="Times New Roman" pitchFamily="18" charset="0"/>
              <a:cs typeface="Times New Roman" pitchFamily="18" charset="0"/>
            </a:endParaRPr>
          </a:p>
          <a:p>
            <a:pPr lvl="1"/>
            <a:endParaRPr lang="en-US" sz="3200" dirty="0" smtClean="0">
              <a:latin typeface="Times New Roman" pitchFamily="18" charset="0"/>
              <a:cs typeface="Times New Roman" pitchFamily="18" charset="0"/>
            </a:endParaRPr>
          </a:p>
          <a:p>
            <a:r>
              <a:rPr lang="en-US" sz="3200" dirty="0" smtClean="0">
                <a:latin typeface="Times New Roman" pitchFamily="18" charset="0"/>
                <a:cs typeface="Times New Roman" pitchFamily="18" charset="0"/>
              </a:rPr>
              <a:t>   Ethical values are related to moral judgments about right and  wrong.</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latin typeface="Times New Roman" pitchFamily="18" charset="0"/>
                <a:cs typeface="Times New Roman" pitchFamily="18" charset="0"/>
              </a:rPr>
              <a:t>Factors to be considered in making ethical judgment</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latin typeface="Times New Roman" pitchFamily="18" charset="0"/>
                <a:cs typeface="Times New Roman" pitchFamily="18" charset="0"/>
              </a:rPr>
              <a:t>The motive from which the action springs.</a:t>
            </a:r>
          </a:p>
          <a:p>
            <a:r>
              <a:rPr lang="en-US" dirty="0" smtClean="0">
                <a:latin typeface="Times New Roman" pitchFamily="18" charset="0"/>
                <a:cs typeface="Times New Roman" pitchFamily="18" charset="0"/>
              </a:rPr>
              <a:t>The nature of the act itself, including the means adopted.</a:t>
            </a:r>
          </a:p>
          <a:p>
            <a:r>
              <a:rPr lang="en-US" dirty="0" smtClean="0">
                <a:latin typeface="Times New Roman" pitchFamily="18" charset="0"/>
                <a:cs typeface="Times New Roman" pitchFamily="18" charset="0"/>
              </a:rPr>
              <a:t>The resulting consequences.</a:t>
            </a:r>
          </a:p>
          <a:p>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915400" cy="1143000"/>
          </a:xfrm>
        </p:spPr>
        <p:txBody>
          <a:bodyPr>
            <a:noAutofit/>
          </a:bodyPr>
          <a:lstStyle/>
          <a:p>
            <a:pPr algn="l"/>
            <a:r>
              <a:rPr lang="en-US" sz="3600" b="1" dirty="0" smtClean="0">
                <a:latin typeface="Times New Roman" pitchFamily="18" charset="0"/>
                <a:cs typeface="Times New Roman" pitchFamily="18" charset="0"/>
              </a:rPr>
              <a:t>The motive from which the action springs</a:t>
            </a:r>
            <a:br>
              <a:rPr lang="en-US" sz="3600" b="1" dirty="0" smtClean="0">
                <a:latin typeface="Times New Roman" pitchFamily="18" charset="0"/>
                <a:cs typeface="Times New Roman" pitchFamily="18" charset="0"/>
              </a:rPr>
            </a:br>
            <a:endParaRPr lang="en-US"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0" y="1447800"/>
            <a:ext cx="8915400" cy="5257800"/>
          </a:xfrm>
        </p:spPr>
        <p:txBody>
          <a:bodyPr>
            <a:normAutofit/>
          </a:bodyPr>
          <a:lstStyle/>
          <a:p>
            <a:pPr algn="just"/>
            <a:r>
              <a:rPr lang="en-US" dirty="0" smtClean="0">
                <a:latin typeface="Times New Roman" pitchFamily="18" charset="0"/>
                <a:cs typeface="Times New Roman" pitchFamily="18" charset="0"/>
              </a:rPr>
              <a:t>The purity of the purpose and the goodness of the action behind an essential act to be judged as ethical.</a:t>
            </a:r>
          </a:p>
          <a:p>
            <a:pPr algn="just"/>
            <a:r>
              <a:rPr lang="en-US" dirty="0" smtClean="0">
                <a:latin typeface="Times New Roman" pitchFamily="18" charset="0"/>
                <a:cs typeface="Times New Roman" pitchFamily="18" charset="0"/>
              </a:rPr>
              <a:t>If the intention is not good, honest then the actual act cannot be justified morally.</a:t>
            </a:r>
          </a:p>
          <a:p>
            <a:pPr algn="just"/>
            <a:r>
              <a:rPr lang="en-US" dirty="0" err="1" smtClean="0">
                <a:latin typeface="Times New Roman" pitchFamily="18" charset="0"/>
                <a:cs typeface="Times New Roman" pitchFamily="18" charset="0"/>
              </a:rPr>
              <a:t>Eg</a:t>
            </a:r>
            <a:r>
              <a:rPr lang="en-US" dirty="0" smtClean="0">
                <a:latin typeface="Times New Roman" pitchFamily="18" charset="0"/>
                <a:cs typeface="Times New Roman" pitchFamily="18" charset="0"/>
              </a:rPr>
              <a:t>: the intention behind the service to influence the behavior to have her will, that the property will  be in my favor. </a:t>
            </a:r>
            <a:r>
              <a:rPr lang="en-US" b="1" dirty="0" smtClean="0">
                <a:latin typeface="Times New Roman" pitchFamily="18" charset="0"/>
                <a:cs typeface="Times New Roman" pitchFamily="18" charset="0"/>
              </a:rPr>
              <a:t>This act can not be called morally good.</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6400800"/>
          </a:xfrm>
        </p:spPr>
        <p:txBody>
          <a:bodyPr/>
          <a:lstStyle/>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Having good will, good intensions &amp; having chosen right means for achieving right ends, however, are still not sufficient conditions for ethical correctness. </a:t>
            </a:r>
          </a:p>
          <a:p>
            <a:r>
              <a:rPr lang="en-US" dirty="0" smtClean="0">
                <a:latin typeface="Times New Roman" pitchFamily="18" charset="0"/>
                <a:cs typeface="Times New Roman" pitchFamily="18" charset="0"/>
              </a:rPr>
              <a:t>We also need to examine &amp; assess the consequences of our action.</a:t>
            </a:r>
          </a:p>
          <a:p>
            <a:r>
              <a:rPr lang="en-US" dirty="0" smtClean="0">
                <a:latin typeface="Times New Roman" pitchFamily="18" charset="0"/>
                <a:cs typeface="Times New Roman" pitchFamily="18" charset="0"/>
              </a:rPr>
              <a:t>So in making moral choices &amp; judgements three factors are required:   Motive</a:t>
            </a:r>
          </a:p>
          <a:p>
            <a:pPr lvl="8"/>
            <a:r>
              <a:rPr lang="en-US" sz="3200" dirty="0" smtClean="0">
                <a:latin typeface="Times New Roman" pitchFamily="18" charset="0"/>
                <a:cs typeface="Times New Roman" pitchFamily="18" charset="0"/>
              </a:rPr>
              <a:t>Means</a:t>
            </a:r>
          </a:p>
          <a:p>
            <a:pPr lvl="8"/>
            <a:r>
              <a:rPr lang="en-US" sz="3200" dirty="0" smtClean="0">
                <a:latin typeface="Times New Roman" pitchFamily="18" charset="0"/>
                <a:cs typeface="Times New Roman" pitchFamily="18" charset="0"/>
              </a:rPr>
              <a:t>Consequences</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7886700" cy="838201"/>
          </a:xfrm>
        </p:spPr>
        <p:txBody>
          <a:bodyPr/>
          <a:lstStyle/>
          <a:p>
            <a:r>
              <a:rPr lang="en-US" b="1" dirty="0" smtClean="0"/>
              <a:t>Work Ethics </a:t>
            </a:r>
            <a:endParaRPr lang="en-IN" b="1" dirty="0"/>
          </a:p>
        </p:txBody>
      </p:sp>
      <p:sp>
        <p:nvSpPr>
          <p:cNvPr id="3" name="Content Placeholder 2"/>
          <p:cNvSpPr>
            <a:spLocks noGrp="1"/>
          </p:cNvSpPr>
          <p:nvPr>
            <p:ph idx="1"/>
          </p:nvPr>
        </p:nvSpPr>
        <p:spPr>
          <a:xfrm>
            <a:off x="304800" y="1447800"/>
            <a:ext cx="8210550" cy="4729163"/>
          </a:xfrm>
        </p:spPr>
        <p:txBody>
          <a:bodyPr/>
          <a:lstStyle/>
          <a:p>
            <a:pPr algn="just"/>
            <a:r>
              <a:rPr lang="en-US" dirty="0"/>
              <a:t>Work ethic is a set of standards of behavior and beliefs regarding what is and isn't acceptable to do at work. Work ethic can be strong (good) or poor (bad), it depends on personal views of employees, their motivation, and overall company culture</a:t>
            </a:r>
            <a:r>
              <a:rPr lang="en-US" dirty="0" smtClean="0"/>
              <a:t>.</a:t>
            </a:r>
          </a:p>
          <a:p>
            <a:pPr marL="0" indent="0" algn="just">
              <a:buNone/>
            </a:pPr>
            <a:r>
              <a:rPr lang="en-US" b="1" dirty="0"/>
              <a:t>5 most sought-after workplace ethics and </a:t>
            </a:r>
            <a:r>
              <a:rPr lang="en-US" b="1" dirty="0" smtClean="0"/>
              <a:t>behavior</a:t>
            </a:r>
            <a:endParaRPr lang="en-US" dirty="0"/>
          </a:p>
          <a:p>
            <a:pPr algn="just"/>
            <a:r>
              <a:rPr lang="en-US" dirty="0" smtClean="0"/>
              <a:t>Integrity</a:t>
            </a:r>
          </a:p>
          <a:p>
            <a:pPr algn="just"/>
            <a:r>
              <a:rPr lang="en-US" dirty="0" smtClean="0"/>
              <a:t>Honesty</a:t>
            </a:r>
          </a:p>
          <a:p>
            <a:pPr algn="just"/>
            <a:r>
              <a:rPr lang="en-US" dirty="0" smtClean="0"/>
              <a:t>Discipline</a:t>
            </a:r>
            <a:endParaRPr lang="en-US" dirty="0"/>
          </a:p>
          <a:p>
            <a:pPr algn="just"/>
            <a:r>
              <a:rPr lang="en-US" dirty="0"/>
              <a:t>Fair and </a:t>
            </a:r>
            <a:r>
              <a:rPr lang="en-US" dirty="0" smtClean="0"/>
              <a:t>respect</a:t>
            </a:r>
            <a:endParaRPr lang="en-US" dirty="0"/>
          </a:p>
          <a:p>
            <a:pPr algn="just"/>
            <a:r>
              <a:rPr lang="en-US" dirty="0"/>
              <a:t>Responsible and </a:t>
            </a:r>
            <a:r>
              <a:rPr lang="en-US" dirty="0" smtClean="0"/>
              <a:t>accountable.</a:t>
            </a:r>
            <a:endParaRPr lang="en-US" dirty="0"/>
          </a:p>
          <a:p>
            <a:endParaRPr lang="en-IN" dirty="0"/>
          </a:p>
        </p:txBody>
      </p:sp>
    </p:spTree>
    <p:extLst>
      <p:ext uri="{BB962C8B-B14F-4D97-AF65-F5344CB8AC3E}">
        <p14:creationId xmlns:p14="http://schemas.microsoft.com/office/powerpoint/2010/main" val="1839879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1" name="Rectangle 9"/>
          <p:cNvSpPr>
            <a:spLocks noChangeArrowheads="1"/>
          </p:cNvSpPr>
          <p:nvPr/>
        </p:nvSpPr>
        <p:spPr bwMode="auto">
          <a:xfrm>
            <a:off x="4419600" y="1600200"/>
            <a:ext cx="4495800" cy="3352800"/>
          </a:xfrm>
          <a:prstGeom prst="rect">
            <a:avLst/>
          </a:prstGeom>
          <a:solidFill>
            <a:schemeClr val="accent1"/>
          </a:solidFill>
          <a:ln w="9525">
            <a:solidFill>
              <a:schemeClr val="tx1"/>
            </a:solidFill>
            <a:miter lim="800000"/>
            <a:headEnd/>
            <a:tailEnd/>
          </a:ln>
          <a:effectLst/>
        </p:spPr>
        <p:txBody>
          <a:bodyPr wrap="none"/>
          <a:lstStyle/>
          <a:p>
            <a:r>
              <a:rPr lang="en-US" sz="2000">
                <a:latin typeface="Lucida Console" pitchFamily="49" charset="0"/>
              </a:rPr>
              <a:t>Unethical</a:t>
            </a:r>
          </a:p>
        </p:txBody>
      </p:sp>
      <p:sp>
        <p:nvSpPr>
          <p:cNvPr id="28674" name="Rectangle 2"/>
          <p:cNvSpPr>
            <a:spLocks noGrp="1" noChangeArrowheads="1"/>
          </p:cNvSpPr>
          <p:nvPr>
            <p:ph type="title"/>
          </p:nvPr>
        </p:nvSpPr>
        <p:spPr>
          <a:xfrm>
            <a:off x="476250" y="304800"/>
            <a:ext cx="7886700" cy="701674"/>
          </a:xfrm>
        </p:spPr>
        <p:txBody>
          <a:bodyPr/>
          <a:lstStyle/>
          <a:p>
            <a:r>
              <a:rPr lang="en-US" b="1" dirty="0">
                <a:latin typeface="Times New Roman" pitchFamily="18" charset="0"/>
                <a:cs typeface="Times New Roman" pitchFamily="18" charset="0"/>
              </a:rPr>
              <a:t>Ethics, Morals, and the Law</a:t>
            </a:r>
          </a:p>
        </p:txBody>
      </p:sp>
      <p:sp>
        <p:nvSpPr>
          <p:cNvPr id="28675" name="Rectangle 3"/>
          <p:cNvSpPr>
            <a:spLocks noGrp="1" noChangeArrowheads="1"/>
          </p:cNvSpPr>
          <p:nvPr>
            <p:ph idx="1"/>
          </p:nvPr>
        </p:nvSpPr>
        <p:spPr>
          <a:xfrm>
            <a:off x="228600" y="1219200"/>
            <a:ext cx="3962399" cy="5410200"/>
          </a:xfrm>
        </p:spPr>
        <p:txBody>
          <a:bodyPr/>
          <a:lstStyle/>
          <a:p>
            <a:pPr>
              <a:lnSpc>
                <a:spcPct val="90000"/>
              </a:lnSpc>
            </a:pPr>
            <a:r>
              <a:rPr lang="en-US" sz="2800" dirty="0">
                <a:latin typeface="Times New Roman" pitchFamily="18" charset="0"/>
                <a:cs typeface="Times New Roman" pitchFamily="18" charset="0"/>
              </a:rPr>
              <a:t>Morals</a:t>
            </a:r>
          </a:p>
          <a:p>
            <a:pPr lvl="1">
              <a:lnSpc>
                <a:spcPct val="90000"/>
              </a:lnSpc>
            </a:pPr>
            <a:r>
              <a:rPr lang="en-US" sz="2400" dirty="0">
                <a:latin typeface="Times New Roman" pitchFamily="18" charset="0"/>
                <a:cs typeface="Times New Roman" pitchFamily="18" charset="0"/>
              </a:rPr>
              <a:t>Principles of right and wrong</a:t>
            </a:r>
          </a:p>
          <a:p>
            <a:pPr>
              <a:lnSpc>
                <a:spcPct val="90000"/>
              </a:lnSpc>
            </a:pPr>
            <a:r>
              <a:rPr lang="en-US" sz="2800" dirty="0">
                <a:latin typeface="Times New Roman" pitchFamily="18" charset="0"/>
                <a:cs typeface="Times New Roman" pitchFamily="18" charset="0"/>
              </a:rPr>
              <a:t>Ethics</a:t>
            </a:r>
          </a:p>
          <a:p>
            <a:pPr lvl="1">
              <a:lnSpc>
                <a:spcPct val="90000"/>
              </a:lnSpc>
            </a:pPr>
            <a:r>
              <a:rPr lang="en-US" sz="2400" dirty="0">
                <a:latin typeface="Times New Roman" pitchFamily="18" charset="0"/>
                <a:cs typeface="Times New Roman" pitchFamily="18" charset="0"/>
              </a:rPr>
              <a:t>A set of moral principles guiding behavior and action</a:t>
            </a:r>
          </a:p>
          <a:p>
            <a:pPr>
              <a:lnSpc>
                <a:spcPct val="90000"/>
              </a:lnSpc>
            </a:pPr>
            <a:r>
              <a:rPr lang="en-US" sz="2800" dirty="0">
                <a:latin typeface="Times New Roman" pitchFamily="18" charset="0"/>
                <a:cs typeface="Times New Roman" pitchFamily="18" charset="0"/>
              </a:rPr>
              <a:t>Laws</a:t>
            </a:r>
          </a:p>
          <a:p>
            <a:pPr lvl="1">
              <a:lnSpc>
                <a:spcPct val="90000"/>
              </a:lnSpc>
            </a:pPr>
            <a:r>
              <a:rPr lang="en-US" sz="2400" i="1" u="sng" dirty="0">
                <a:latin typeface="Times New Roman" pitchFamily="18" charset="0"/>
                <a:cs typeface="Times New Roman" pitchFamily="18" charset="0"/>
              </a:rPr>
              <a:t>Binding</a:t>
            </a:r>
            <a:r>
              <a:rPr lang="en-US" sz="2400" dirty="0">
                <a:latin typeface="Times New Roman" pitchFamily="18" charset="0"/>
                <a:cs typeface="Times New Roman" pitchFamily="18" charset="0"/>
              </a:rPr>
              <a:t> codes of conduct; formally recognized and enforced</a:t>
            </a:r>
          </a:p>
          <a:p>
            <a:pPr lvl="1">
              <a:lnSpc>
                <a:spcPct val="90000"/>
              </a:lnSpc>
            </a:pPr>
            <a:r>
              <a:rPr lang="en-US" sz="2400" dirty="0">
                <a:latin typeface="Times New Roman" pitchFamily="18" charset="0"/>
                <a:cs typeface="Times New Roman" pitchFamily="18" charset="0"/>
              </a:rPr>
              <a:t>Company Policies</a:t>
            </a:r>
          </a:p>
        </p:txBody>
      </p:sp>
      <p:sp>
        <p:nvSpPr>
          <p:cNvPr id="28678" name="AutoShape 6"/>
          <p:cNvSpPr>
            <a:spLocks noChangeArrowheads="1"/>
          </p:cNvSpPr>
          <p:nvPr/>
        </p:nvSpPr>
        <p:spPr bwMode="auto">
          <a:xfrm>
            <a:off x="5410200" y="2133600"/>
            <a:ext cx="2819400" cy="2590800"/>
          </a:xfrm>
          <a:prstGeom prst="flowChartDisplay">
            <a:avLst/>
          </a:prstGeom>
          <a:solidFill>
            <a:schemeClr val="tx2"/>
          </a:solidFill>
          <a:ln w="76200">
            <a:solidFill>
              <a:schemeClr val="bg2"/>
            </a:solidFill>
            <a:miter lim="800000"/>
            <a:headEnd/>
            <a:tailEnd/>
          </a:ln>
          <a:effectLst/>
        </p:spPr>
        <p:txBody>
          <a:bodyPr wrap="none"/>
          <a:lstStyle/>
          <a:p>
            <a:pPr algn="ctr"/>
            <a:r>
              <a:rPr lang="en-US" sz="2000">
                <a:latin typeface="Lucida Console" pitchFamily="49" charset="0"/>
              </a:rPr>
              <a:t>Ethical</a:t>
            </a:r>
          </a:p>
        </p:txBody>
      </p:sp>
      <p:sp>
        <p:nvSpPr>
          <p:cNvPr id="28679" name="Oval 7"/>
          <p:cNvSpPr>
            <a:spLocks noChangeArrowheads="1"/>
          </p:cNvSpPr>
          <p:nvPr/>
        </p:nvSpPr>
        <p:spPr bwMode="auto">
          <a:xfrm>
            <a:off x="6705600" y="2667000"/>
            <a:ext cx="2209800" cy="1600200"/>
          </a:xfrm>
          <a:prstGeom prst="ellipse">
            <a:avLst/>
          </a:prstGeom>
          <a:solidFill>
            <a:srgbClr val="00CCFF">
              <a:alpha val="50000"/>
            </a:srgbClr>
          </a:solidFill>
          <a:ln w="57150">
            <a:solidFill>
              <a:schemeClr val="bg2"/>
            </a:solidFill>
            <a:round/>
            <a:headEnd/>
            <a:tailEnd/>
          </a:ln>
          <a:effectLst/>
        </p:spPr>
        <p:txBody>
          <a:bodyPr wrap="none" anchor="ctr"/>
          <a:lstStyle/>
          <a:p>
            <a:endParaRPr lang="en-US" sz="2800">
              <a:solidFill>
                <a:schemeClr val="bg1"/>
              </a:solidFill>
              <a:latin typeface="Lucida Console" pitchFamily="49" charset="0"/>
            </a:endParaRPr>
          </a:p>
        </p:txBody>
      </p:sp>
      <p:sp>
        <p:nvSpPr>
          <p:cNvPr id="28680" name="Oval 8"/>
          <p:cNvSpPr>
            <a:spLocks noChangeArrowheads="1"/>
          </p:cNvSpPr>
          <p:nvPr/>
        </p:nvSpPr>
        <p:spPr bwMode="auto">
          <a:xfrm>
            <a:off x="4495800" y="2667000"/>
            <a:ext cx="2209800" cy="1600200"/>
          </a:xfrm>
          <a:prstGeom prst="ellipse">
            <a:avLst/>
          </a:prstGeom>
          <a:solidFill>
            <a:srgbClr val="FF9900">
              <a:alpha val="50000"/>
            </a:srgbClr>
          </a:solidFill>
          <a:ln w="57150">
            <a:solidFill>
              <a:schemeClr val="bg2"/>
            </a:solidFill>
            <a:round/>
            <a:headEnd/>
            <a:tailEnd/>
          </a:ln>
          <a:effectLst/>
        </p:spPr>
        <p:txBody>
          <a:bodyPr wrap="none" lIns="0" rIns="0" anchor="ctr"/>
          <a:lstStyle/>
          <a:p>
            <a:endParaRPr lang="en-US" sz="2800">
              <a:solidFill>
                <a:schemeClr val="bg1"/>
              </a:solidFill>
              <a:latin typeface="Lucida Console" pitchFamily="49" charset="0"/>
            </a:endParaRPr>
          </a:p>
        </p:txBody>
      </p:sp>
      <p:sp>
        <p:nvSpPr>
          <p:cNvPr id="28682" name="AutoShape 10"/>
          <p:cNvSpPr>
            <a:spLocks noChangeArrowheads="1"/>
          </p:cNvSpPr>
          <p:nvPr/>
        </p:nvSpPr>
        <p:spPr bwMode="auto">
          <a:xfrm>
            <a:off x="5410200" y="2133600"/>
            <a:ext cx="2819400" cy="2590800"/>
          </a:xfrm>
          <a:prstGeom prst="flowChartDisplay">
            <a:avLst/>
          </a:prstGeom>
          <a:noFill/>
          <a:ln w="76200">
            <a:solidFill>
              <a:schemeClr val="bg2"/>
            </a:solidFill>
            <a:prstDash val="sysDot"/>
            <a:miter lim="800000"/>
            <a:headEnd/>
            <a:tailEnd/>
          </a:ln>
          <a:effectLst/>
        </p:spPr>
        <p:txBody>
          <a:bodyPr wrap="none"/>
          <a:lstStyle/>
          <a:p>
            <a:pPr algn="ctr"/>
            <a:r>
              <a:rPr lang="en-US" sz="2000">
                <a:latin typeface="Lucida Console" pitchFamily="49" charset="0"/>
              </a:rPr>
              <a:t>Ethical</a:t>
            </a:r>
          </a:p>
        </p:txBody>
      </p:sp>
      <p:sp>
        <p:nvSpPr>
          <p:cNvPr id="28683" name="Rectangle 11"/>
          <p:cNvSpPr>
            <a:spLocks noChangeArrowheads="1"/>
          </p:cNvSpPr>
          <p:nvPr/>
        </p:nvSpPr>
        <p:spPr bwMode="auto">
          <a:xfrm>
            <a:off x="7010400" y="3200400"/>
            <a:ext cx="1039813" cy="336550"/>
          </a:xfrm>
          <a:prstGeom prst="rect">
            <a:avLst/>
          </a:prstGeom>
          <a:noFill/>
          <a:ln w="9525">
            <a:noFill/>
            <a:miter lim="800000"/>
            <a:headEnd/>
            <a:tailEnd/>
          </a:ln>
          <a:effectLst/>
        </p:spPr>
        <p:txBody>
          <a:bodyPr wrap="none">
            <a:spAutoFit/>
          </a:bodyPr>
          <a:lstStyle/>
          <a:p>
            <a:r>
              <a:rPr lang="en-US" sz="1600">
                <a:solidFill>
                  <a:schemeClr val="bg1"/>
                </a:solidFill>
                <a:latin typeface="Lucida Console" pitchFamily="49" charset="0"/>
              </a:rPr>
              <a:t>Illegal</a:t>
            </a:r>
          </a:p>
        </p:txBody>
      </p:sp>
      <p:sp>
        <p:nvSpPr>
          <p:cNvPr id="28684" name="Rectangle 12"/>
          <p:cNvSpPr>
            <a:spLocks noChangeArrowheads="1"/>
          </p:cNvSpPr>
          <p:nvPr/>
        </p:nvSpPr>
        <p:spPr bwMode="auto">
          <a:xfrm>
            <a:off x="4572000" y="3200400"/>
            <a:ext cx="795338" cy="336550"/>
          </a:xfrm>
          <a:prstGeom prst="rect">
            <a:avLst/>
          </a:prstGeom>
          <a:noFill/>
          <a:ln w="9525">
            <a:noFill/>
            <a:miter lim="800000"/>
            <a:headEnd/>
            <a:tailEnd/>
          </a:ln>
          <a:effectLst/>
        </p:spPr>
        <p:txBody>
          <a:bodyPr wrap="none">
            <a:spAutoFit/>
          </a:bodyPr>
          <a:lstStyle/>
          <a:p>
            <a:r>
              <a:rPr lang="en-US" sz="1600">
                <a:solidFill>
                  <a:schemeClr val="bg1"/>
                </a:solidFill>
                <a:latin typeface="Lucida Console" pitchFamily="49" charset="0"/>
              </a:rPr>
              <a:t>Legal</a:t>
            </a:r>
          </a:p>
        </p:txBody>
      </p:sp>
      <p:sp>
        <p:nvSpPr>
          <p:cNvPr id="28687" name="AutoShape 15"/>
          <p:cNvSpPr>
            <a:spLocks/>
          </p:cNvSpPr>
          <p:nvPr/>
        </p:nvSpPr>
        <p:spPr bwMode="auto">
          <a:xfrm>
            <a:off x="5194300" y="5240338"/>
            <a:ext cx="1354138" cy="609600"/>
          </a:xfrm>
          <a:prstGeom prst="borderCallout2">
            <a:avLst>
              <a:gd name="adj1" fmla="val 18750"/>
              <a:gd name="adj2" fmla="val -5625"/>
              <a:gd name="adj3" fmla="val 18750"/>
              <a:gd name="adj4" fmla="val -12894"/>
              <a:gd name="adj5" fmla="val -234375"/>
              <a:gd name="adj6" fmla="val -20514"/>
            </a:avLst>
          </a:prstGeom>
          <a:solidFill>
            <a:schemeClr val="accent1"/>
          </a:solidFill>
          <a:ln w="9525">
            <a:solidFill>
              <a:schemeClr val="tx1"/>
            </a:solidFill>
            <a:miter lim="800000"/>
            <a:headEnd/>
            <a:tailEnd/>
          </a:ln>
          <a:effectLst/>
        </p:spPr>
        <p:txBody>
          <a:bodyPr/>
          <a:lstStyle/>
          <a:p>
            <a:pPr algn="ctr"/>
            <a:r>
              <a:rPr lang="en-US" sz="1600">
                <a:latin typeface="Lucida Console" pitchFamily="49" charset="0"/>
              </a:rPr>
              <a:t>Unethical but Legal</a:t>
            </a:r>
          </a:p>
        </p:txBody>
      </p:sp>
      <p:sp>
        <p:nvSpPr>
          <p:cNvPr id="28688" name="AutoShape 16"/>
          <p:cNvSpPr>
            <a:spLocks/>
          </p:cNvSpPr>
          <p:nvPr/>
        </p:nvSpPr>
        <p:spPr bwMode="auto">
          <a:xfrm>
            <a:off x="7315200" y="5256213"/>
            <a:ext cx="1676400" cy="609600"/>
          </a:xfrm>
          <a:prstGeom prst="borderCallout2">
            <a:avLst>
              <a:gd name="adj1" fmla="val 18750"/>
              <a:gd name="adj2" fmla="val -4546"/>
              <a:gd name="adj3" fmla="val 18750"/>
              <a:gd name="adj4" fmla="val -5968"/>
              <a:gd name="adj5" fmla="val -259375"/>
              <a:gd name="adj6" fmla="val -7481"/>
            </a:avLst>
          </a:prstGeom>
          <a:solidFill>
            <a:schemeClr val="accent1"/>
          </a:solidFill>
          <a:ln w="9525">
            <a:solidFill>
              <a:schemeClr val="tx1"/>
            </a:solidFill>
            <a:miter lim="800000"/>
            <a:headEnd/>
            <a:tailEnd/>
          </a:ln>
          <a:effectLst/>
        </p:spPr>
        <p:txBody>
          <a:bodyPr/>
          <a:lstStyle/>
          <a:p>
            <a:pPr algn="ctr"/>
            <a:r>
              <a:rPr lang="en-US" sz="1600">
                <a:latin typeface="Lucida Console" pitchFamily="49" charset="0"/>
              </a:rPr>
              <a:t>Ethical but Illegal</a:t>
            </a:r>
          </a:p>
        </p:txBody>
      </p:sp>
      <p:sp>
        <p:nvSpPr>
          <p:cNvPr id="28689" name="Rectangle 17"/>
          <p:cNvSpPr>
            <a:spLocks noChangeArrowheads="1"/>
          </p:cNvSpPr>
          <p:nvPr/>
        </p:nvSpPr>
        <p:spPr bwMode="auto">
          <a:xfrm>
            <a:off x="4572000" y="1219200"/>
            <a:ext cx="4146550" cy="396875"/>
          </a:xfrm>
          <a:prstGeom prst="rect">
            <a:avLst/>
          </a:prstGeom>
          <a:noFill/>
          <a:ln w="9525">
            <a:noFill/>
            <a:miter lim="800000"/>
            <a:headEnd/>
            <a:tailEnd/>
          </a:ln>
          <a:effectLst/>
        </p:spPr>
        <p:txBody>
          <a:bodyPr wrap="none">
            <a:spAutoFit/>
          </a:bodyPr>
          <a:lstStyle/>
          <a:p>
            <a:r>
              <a:rPr lang="en-US" sz="2000">
                <a:latin typeface="Lucida Console" pitchFamily="49" charset="0"/>
              </a:rPr>
              <a:t>Classification of Actions:</a:t>
            </a:r>
          </a:p>
        </p:txBody>
      </p:sp>
    </p:spTree>
    <p:extLst>
      <p:ext uri="{BB962C8B-B14F-4D97-AF65-F5344CB8AC3E}">
        <p14:creationId xmlns:p14="http://schemas.microsoft.com/office/powerpoint/2010/main" val="1235657909"/>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11.0&quot;&gt;&lt;object type=&quot;1&quot; unique_id=&quot;10001&quot;&gt;&lt;object type=&quot;2&quot; unique_id=&quot;10002&quot;&gt;&lt;object type=&quot;3&quot; unique_id=&quot;10003&quot;&gt;&lt;property id=&quot;20148&quot; value=&quot;5&quot;/&gt;&lt;property id=&quot;20300&quot; value=&quot;Slide 1 - &amp;quot;Moral &amp;amp; Ethical Values&amp;quot;&quot;/&gt;&lt;property id=&quot;20307&quot; value=&quot;256&quot;/&gt;&lt;/object&gt;&lt;object type=&quot;3&quot; unique_id=&quot;10004&quot;&gt;&lt;property id=&quot;20148&quot; value=&quot;5&quot;/&gt;&lt;property id=&quot;20300&quot; value=&quot;Slide 2 - &amp;quot;Definition&amp;quot;&quot;/&gt;&lt;property id=&quot;20307&quot; value=&quot;269&quot;/&gt;&lt;/object&gt;&lt;object type=&quot;3&quot; unique_id=&quot;10005&quot;&gt;&lt;property id=&quot;20148&quot; value=&quot;5&quot;/&gt;&lt;property id=&quot;20300&quot; value=&quot;Slide 3 - &amp;quot;Types of Moral Values&amp;quot;&quot;/&gt;&lt;property id=&quot;20307&quot; value=&quot;262&quot;/&gt;&lt;/object&gt;&lt;object type=&quot;3&quot; unique_id=&quot;10006&quot;&gt;&lt;property id=&quot;20148&quot; value=&quot;5&quot;/&gt;&lt;property id=&quot;20300&quot; value=&quot;Slide 4 - &amp;quot; Customary Morality &amp;quot;&quot;/&gt;&lt;property id=&quot;20307&quot; value=&quot;263&quot;/&gt;&lt;/object&gt;&lt;object type=&quot;3&quot; unique_id=&quot;10007&quot;&gt;&lt;property id=&quot;20148&quot; value=&quot;5&quot;/&gt;&lt;property id=&quot;20300&quot; value=&quot;Slide 5 - &amp;quot;Religious Morality&amp;quot;&quot;/&gt;&lt;property id=&quot;20307&quot; value=&quot;265&quot;/&gt;&lt;/object&gt;&lt;object type=&quot;3&quot; unique_id=&quot;10008&quot;&gt;&lt;property id=&quot;20148&quot; value=&quot;5&quot;/&gt;&lt;property id=&quot;20300&quot; value=&quot;Slide 6 - &amp;quot;Reflective Morality &amp;quot;&quot;/&gt;&lt;property id=&quot;20307&quot; value=&quot;267&quot;/&gt;&lt;/object&gt;&lt;object type=&quot;3&quot; unique_id=&quot;10009&quot;&gt;&lt;property id=&quot;20148&quot; value=&quot;5&quot;/&gt;&lt;property id=&quot;20300&quot; value=&quot;Slide 7&quot;/&gt;&lt;property id=&quot;20307&quot; value=&quot;275&quot;/&gt;&lt;/object&gt;&lt;object type=&quot;3&quot; unique_id=&quot;10010&quot;&gt;&lt;property id=&quot;20148&quot; value=&quot;5&quot;/&gt;&lt;property id=&quot;20300&quot; value=&quot;Slide 8&quot;/&gt;&lt;property id=&quot;20307&quot; value=&quot;268&quot;/&gt;&lt;/object&gt;&lt;object type=&quot;3&quot; unique_id=&quot;10011&quot;&gt;&lt;property id=&quot;20148&quot; value=&quot;5&quot;/&gt;&lt;property id=&quot;20300&quot; value=&quot;Slide 9 - &amp;quot;Principle of Morality&amp;quot;&quot;/&gt;&lt;property id=&quot;20307&quot; value=&quot;276&quot;/&gt;&lt;/object&gt;&lt;object type=&quot;3&quot; unique_id=&quot;10012&quot;&gt;&lt;property id=&quot;20148&quot; value=&quot;5&quot;/&gt;&lt;property id=&quot;20300&quot; value=&quot;Slide 10 - &amp;quot;Three principles of Morality are:&amp;quot;&quot;/&gt;&lt;property id=&quot;20307&quot; value=&quot;278&quot;/&gt;&lt;/object&gt;&lt;object type=&quot;3&quot; unique_id=&quot;10013&quot;&gt;&lt;property id=&quot;20148&quot; value=&quot;5&quot;/&gt;&lt;property id=&quot;20300&quot; value=&quot;Slide 11 - &amp;quot;The Principle of Universality&amp;quot;&quot;/&gt;&lt;property id=&quot;20307&quot; value=&quot;280&quot;/&gt;&lt;/object&gt;&lt;object type=&quot;3&quot; unique_id=&quot;10014&quot;&gt;&lt;property id=&quot;20148&quot; value=&quot;5&quot;/&gt;&lt;property id=&quot;20300&quot; value=&quot;Slide 12 - &amp;quot;The Principle of Humanity as an end in itself&amp;quot;&quot;/&gt;&lt;property id=&quot;20307&quot; value=&quot;279&quot;/&gt;&lt;/object&gt;&lt;object type=&quot;3&quot; unique_id=&quot;10015&quot;&gt;&lt;property id=&quot;20148&quot; value=&quot;5&quot;/&gt;&lt;property id=&quot;20300&quot; value=&quot;Slide 13 - &amp;quot;The Principle of Autonomy &amp;quot;&quot;/&gt;&lt;property id=&quot;20307&quot; value=&quot;277&quot;/&gt;&lt;/object&gt;&lt;object type=&quot;3&quot; unique_id=&quot;10016&quot;&gt;&lt;property id=&quot;20148&quot; value=&quot;5&quot;/&gt;&lt;property id=&quot;20300&quot; value=&quot;Slide 14 - &amp;quot;Definition&amp;quot;&quot;/&gt;&lt;property id=&quot;20307&quot; value=&quot;259&quot;/&gt;&lt;/object&gt;&lt;object type=&quot;3&quot; unique_id=&quot;10017&quot;&gt;&lt;property id=&quot;20148&quot; value=&quot;5&quot;/&gt;&lt;property id=&quot;20300&quot; value=&quot;Slide 15 - &amp;quot;Ethics&amp;quot;&quot;/&gt;&lt;property id=&quot;20307&quot; value=&quot;287&quot;/&gt;&lt;/object&gt;&lt;object type=&quot;3&quot; unique_id=&quot;10018&quot;&gt;&lt;property id=&quot;20148&quot; value=&quot;5&quot;/&gt;&lt;property id=&quot;20300&quot; value=&quot;Slide 16 - &amp;quot;Factors to be considered in making ethical judgment&amp;quot;&quot;/&gt;&lt;property id=&quot;20307&quot; value=&quot;281&quot;/&gt;&lt;/object&gt;&lt;object type=&quot;3&quot; unique_id=&quot;10019&quot;&gt;&lt;property id=&quot;20148&quot; value=&quot;5&quot;/&gt;&lt;property id=&quot;20300&quot; value=&quot;Slide 17 - &amp;quot;The motive from which the action springs &amp;quot;&quot;/&gt;&lt;property id=&quot;20307&quot; value=&quot;283&quot;/&gt;&lt;/object&gt;&lt;object type=&quot;3&quot; unique_id=&quot;10020&quot;&gt;&lt;property id=&quot;20148&quot; value=&quot;5&quot;/&gt;&lt;property id=&quot;20300&quot; value=&quot;Slide 18&quot;/&gt;&lt;property id=&quot;20307&quot; value=&quot;284&quot;/&gt;&lt;/object&gt;&lt;object type=&quot;3&quot; unique_id=&quot;10021&quot;&gt;&lt;property id=&quot;20148&quot; value=&quot;5&quot;/&gt;&lt;property id=&quot;20300&quot; value=&quot;Slide 19 - &amp;quot;Reference&amp;quot;&quot;/&gt;&lt;property id=&quot;20307&quot; value=&quot;289&quot;/&gt;&lt;/object&gt;&lt;/object&gt;&lt;object type=&quot;8&quot; unique_id=&quot;10042&quot;&gt;&lt;/object&gt;&lt;/object&gt;&lt;/database&gt;"/>
  <p:tag name="MMPROD_NEXTUNIQUEID" val="10009"/>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11861</TotalTime>
  <Words>973</Words>
  <Application>Microsoft Office PowerPoint</Application>
  <PresentationFormat>On-screen Show (4:3)</PresentationFormat>
  <Paragraphs>110</Paragraphs>
  <Slides>22</Slides>
  <Notes>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Moral &amp; Ethical Values</vt:lpstr>
      <vt:lpstr>Definition</vt:lpstr>
      <vt:lpstr>Cont…</vt:lpstr>
      <vt:lpstr>Types of Moral Values</vt:lpstr>
      <vt:lpstr> Customary Morality </vt:lpstr>
      <vt:lpstr>Religious Morality</vt:lpstr>
      <vt:lpstr>Reflective Morality </vt:lpstr>
      <vt:lpstr>PowerPoint Presentation</vt:lpstr>
      <vt:lpstr>PowerPoint Presentation</vt:lpstr>
      <vt:lpstr>Human Values WORK ETHICS </vt:lpstr>
      <vt:lpstr>Principle of Morality</vt:lpstr>
      <vt:lpstr>Three principles of Morality are:</vt:lpstr>
      <vt:lpstr>The Principle of Universality</vt:lpstr>
      <vt:lpstr>The Principle of Humanity as an end in itself</vt:lpstr>
      <vt:lpstr>The Principle of Autonomy </vt:lpstr>
      <vt:lpstr>Definition</vt:lpstr>
      <vt:lpstr>Ethics</vt:lpstr>
      <vt:lpstr>Factors to be considered in making ethical judgment</vt:lpstr>
      <vt:lpstr>The motive from which the action springs </vt:lpstr>
      <vt:lpstr>PowerPoint Presentation</vt:lpstr>
      <vt:lpstr>Work Ethics </vt:lpstr>
      <vt:lpstr>Ethics, Morals, and the Law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Moral &amp; Ethical Values</dc:title>
  <dc:creator>anupam</dc:creator>
  <cp:lastModifiedBy>Ti</cp:lastModifiedBy>
  <cp:revision>130</cp:revision>
  <dcterms:created xsi:type="dcterms:W3CDTF">2012-08-27T06:44:00Z</dcterms:created>
  <dcterms:modified xsi:type="dcterms:W3CDTF">2023-07-13T06:12:53Z</dcterms:modified>
</cp:coreProperties>
</file>
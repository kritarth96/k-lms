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04" r:id="rId1"/>
  </p:sldMasterIdLst>
  <p:notesMasterIdLst>
    <p:notesMasterId r:id="rId16"/>
  </p:notesMasterIdLst>
  <p:sldIdLst>
    <p:sldId id="278" r:id="rId2"/>
    <p:sldId id="297" r:id="rId3"/>
    <p:sldId id="298" r:id="rId4"/>
    <p:sldId id="312" r:id="rId5"/>
    <p:sldId id="299" r:id="rId6"/>
    <p:sldId id="300" r:id="rId7"/>
    <p:sldId id="302" r:id="rId8"/>
    <p:sldId id="303" r:id="rId9"/>
    <p:sldId id="305" r:id="rId10"/>
    <p:sldId id="306" r:id="rId11"/>
    <p:sldId id="307" r:id="rId12"/>
    <p:sldId id="308" r:id="rId13"/>
    <p:sldId id="309" r:id="rId14"/>
    <p:sldId id="310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4559" autoAdjust="0"/>
    <p:restoredTop sz="86444" autoAdjust="0"/>
  </p:normalViewPr>
  <p:slideViewPr>
    <p:cSldViewPr>
      <p:cViewPr>
        <p:scale>
          <a:sx n="81" d="100"/>
          <a:sy n="81" d="100"/>
        </p:scale>
        <p:origin x="-1554" y="-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46" y="14296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0077FA0-3674-4DE0-8E09-3CDBB590E8B6}" type="datetimeFigureOut">
              <a:rPr lang="en-US"/>
              <a:pPr>
                <a:defRPr/>
              </a:pPr>
              <a:t>5/11/2022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7B51F-A627-4E6C-8374-DDFEB802659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8853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A31EA3A-685D-4EBD-86C6-E5D1682D77E4}" type="datetimeFigureOut">
              <a:rPr lang="en-US" smtClean="0"/>
              <a:pPr>
                <a:defRPr/>
              </a:pPr>
              <a:t>5/11/2022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F42CBE-FAFA-438C-8DFB-3149317B22D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987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A36038-B1A2-4A42-9A20-4F2733C74628}" type="datetimeFigureOut">
              <a:rPr lang="en-US" smtClean="0"/>
              <a:pPr>
                <a:defRPr/>
              </a:pPr>
              <a:t>5/11/2022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ADAC47-6E1B-4FD7-ACAD-6E2A65A1D15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785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000346-EE7E-4BD0-9E89-33ABF22A5B26}" type="datetimeFigureOut">
              <a:rPr lang="en-US" smtClean="0"/>
              <a:pPr>
                <a:defRPr/>
              </a:pPr>
              <a:t>5/11/2022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9E365D-807A-45F4-8096-FE1F320AD1B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544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D3DDB28-A93B-46CA-A77C-60C6013181AD}" type="datetimeFigureOut">
              <a:rPr lang="en-US" smtClean="0"/>
              <a:pPr>
                <a:defRPr/>
              </a:pPr>
              <a:t>5/11/2022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DB868C-BF6F-4976-9877-1F669DEEC01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036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A879C1-C026-40B5-89B9-0878A294FC69}" type="datetimeFigureOut">
              <a:rPr lang="en-US" smtClean="0"/>
              <a:pPr>
                <a:defRPr/>
              </a:pPr>
              <a:t>5/11/2022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64AB99-CD88-4D22-B9BF-6281402E34D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87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729F8FA-FD7F-49B5-89C7-8E58A6892F91}" type="datetimeFigureOut">
              <a:rPr lang="en-US" smtClean="0"/>
              <a:pPr>
                <a:defRPr/>
              </a:pPr>
              <a:t>5/11/2022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CF6C2-C567-429A-A142-A3C4173C542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972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91C47E-951D-48FB-BE00-0B4AD15708F1}" type="datetimeFigureOut">
              <a:rPr lang="en-US" smtClean="0"/>
              <a:pPr>
                <a:defRPr/>
              </a:pPr>
              <a:t>5/11/2022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A5216B-AE6C-4E25-86AA-95C2393CB43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511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A2F5C2-BA5A-4863-9831-F40A2982E9C0}" type="datetimeFigureOut">
              <a:rPr lang="en-US" smtClean="0"/>
              <a:pPr>
                <a:defRPr/>
              </a:pPr>
              <a:t>5/11/2022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D8107B-3C94-4CB8-BE1A-4B3C45B1A4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784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4F0DB6-59EE-453F-A771-2E5CE9039250}" type="datetimeFigureOut">
              <a:rPr lang="en-US" smtClean="0"/>
              <a:pPr>
                <a:defRPr/>
              </a:pPr>
              <a:t>5/11/2022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E3AC3F-1980-4E3E-A130-F8C6FD0EA1F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610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7B8B349-544A-4001-8BC4-27A1896E2C8E}" type="datetimeFigureOut">
              <a:rPr lang="en-US" smtClean="0"/>
              <a:pPr>
                <a:defRPr/>
              </a:pPr>
              <a:t>5/11/2022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3A5999-92E2-4437-94FA-981A8C31793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048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032F2B-3E90-4FD9-AA93-9C16ED1EC2D5}" type="datetimeFigureOut">
              <a:rPr lang="en-US" smtClean="0"/>
              <a:pPr>
                <a:defRPr/>
              </a:pPr>
              <a:t>5/11/2022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8D1E77-C8F3-49CA-9DE1-97332F75739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11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579D2A3-69AF-4635-847C-FB538B8B457F}" type="datetimeFigureOut">
              <a:rPr lang="en-US" smtClean="0"/>
              <a:pPr>
                <a:defRPr/>
              </a:pPr>
              <a:t>5/11/2022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56BA8D1-01A5-436E-9760-C3CB702ACB4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984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5" r:id="rId1"/>
    <p:sldLayoutId id="2147484206" r:id="rId2"/>
    <p:sldLayoutId id="2147484207" r:id="rId3"/>
    <p:sldLayoutId id="2147484208" r:id="rId4"/>
    <p:sldLayoutId id="2147484209" r:id="rId5"/>
    <p:sldLayoutId id="2147484210" r:id="rId6"/>
    <p:sldLayoutId id="2147484211" r:id="rId7"/>
    <p:sldLayoutId id="2147484212" r:id="rId8"/>
    <p:sldLayoutId id="2147484213" r:id="rId9"/>
    <p:sldLayoutId id="2147484214" r:id="rId10"/>
    <p:sldLayoutId id="214748421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7467600" cy="868363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IN" b="1" dirty="0">
                <a:solidFill>
                  <a:srgbClr val="000000"/>
                </a:solidFill>
              </a:rPr>
              <a:t/>
            </a:r>
            <a:br>
              <a:rPr lang="en-IN" b="1" dirty="0">
                <a:solidFill>
                  <a:srgbClr val="000000"/>
                </a:solidFill>
              </a:rPr>
            </a:br>
            <a:r>
              <a:rPr lang="en-IN" b="1" dirty="0">
                <a:solidFill>
                  <a:srgbClr val="000000"/>
                </a:solidFill>
              </a:rPr>
              <a:t/>
            </a:r>
            <a:br>
              <a:rPr lang="en-IN" b="1" dirty="0">
                <a:solidFill>
                  <a:srgbClr val="000000"/>
                </a:solidFill>
              </a:rPr>
            </a:br>
            <a:r>
              <a:rPr lang="en-IN" b="1" dirty="0">
                <a:solidFill>
                  <a:srgbClr val="000000"/>
                </a:solidFill>
              </a:rPr>
              <a:t/>
            </a:r>
            <a:br>
              <a:rPr lang="en-IN" b="1" dirty="0">
                <a:solidFill>
                  <a:srgbClr val="000000"/>
                </a:solidFill>
              </a:rPr>
            </a:br>
            <a:r>
              <a:rPr lang="en-IN" b="1" dirty="0">
                <a:solidFill>
                  <a:srgbClr val="000000"/>
                </a:solidFill>
              </a:rPr>
              <a:t/>
            </a:r>
            <a:br>
              <a:rPr lang="en-IN" b="1" dirty="0">
                <a:solidFill>
                  <a:srgbClr val="000000"/>
                </a:solidFill>
              </a:rPr>
            </a:br>
            <a:r>
              <a:rPr lang="en-IN" b="1" dirty="0">
                <a:solidFill>
                  <a:srgbClr val="000000"/>
                </a:solidFill>
              </a:rPr>
              <a:t/>
            </a:r>
            <a:br>
              <a:rPr lang="en-IN" b="1" dirty="0">
                <a:solidFill>
                  <a:srgbClr val="000000"/>
                </a:solidFill>
              </a:rPr>
            </a:br>
            <a:r>
              <a:rPr lang="en-IN" b="1" dirty="0">
                <a:solidFill>
                  <a:srgbClr val="000000"/>
                </a:solidFill>
              </a:rPr>
              <a:t/>
            </a:r>
            <a:br>
              <a:rPr lang="en-IN" b="1" dirty="0">
                <a:solidFill>
                  <a:srgbClr val="000000"/>
                </a:solidFill>
              </a:rPr>
            </a:br>
            <a:r>
              <a:rPr lang="en-IN" b="1" dirty="0">
                <a:solidFill>
                  <a:srgbClr val="000000"/>
                </a:solidFill>
              </a:rPr>
              <a:t/>
            </a:r>
            <a:br>
              <a:rPr lang="en-IN" b="1" dirty="0">
                <a:solidFill>
                  <a:srgbClr val="000000"/>
                </a:solidFill>
              </a:rPr>
            </a:br>
            <a:r>
              <a:rPr lang="en-IN" b="1" dirty="0">
                <a:solidFill>
                  <a:srgbClr val="000000"/>
                </a:solidFill>
              </a:rPr>
              <a:t/>
            </a:r>
            <a:br>
              <a:rPr lang="en-IN" b="1" dirty="0">
                <a:solidFill>
                  <a:srgbClr val="000000"/>
                </a:solidFill>
              </a:rPr>
            </a:br>
            <a:r>
              <a:rPr lang="en-IN" b="1" dirty="0">
                <a:solidFill>
                  <a:srgbClr val="000000"/>
                </a:solidFill>
              </a:rPr>
              <a:t/>
            </a:r>
            <a:br>
              <a:rPr lang="en-IN" b="1" dirty="0">
                <a:solidFill>
                  <a:srgbClr val="000000"/>
                </a:solidFill>
              </a:rPr>
            </a:br>
            <a:endParaRPr lang="en-US" sz="27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686800" cy="5635625"/>
          </a:xfrm>
        </p:spPr>
        <p:txBody>
          <a:bodyPr/>
          <a:lstStyle/>
          <a:p>
            <a:pPr algn="ctr">
              <a:buFont typeface="Wingdings 2" pitchFamily="18" charset="2"/>
              <a:buNone/>
            </a:pPr>
            <a:endParaRPr lang="en-US" sz="2000" b="1" dirty="0"/>
          </a:p>
          <a:p>
            <a:pPr algn="ctr">
              <a:buFont typeface="Wingdings 2" pitchFamily="18" charset="2"/>
              <a:buNone/>
            </a:pPr>
            <a:endParaRPr lang="en-US" sz="2000" b="1" dirty="0"/>
          </a:p>
          <a:p>
            <a:pPr algn="ctr">
              <a:buFont typeface="Wingdings 2" pitchFamily="18" charset="2"/>
              <a:buNone/>
            </a:pPr>
            <a:endParaRPr lang="en-US" sz="2000" b="1" dirty="0"/>
          </a:p>
          <a:p>
            <a:pPr algn="ctr">
              <a:buFont typeface="Wingdings 2" pitchFamily="18" charset="2"/>
              <a:buNone/>
            </a:pPr>
            <a:r>
              <a:rPr lang="en-US" sz="8800" b="1" dirty="0">
                <a:latin typeface="Times New Roman" pitchFamily="18" charset="0"/>
                <a:cs typeface="Times New Roman" pitchFamily="18" charset="0"/>
              </a:rPr>
              <a:t>Creativity</a:t>
            </a:r>
            <a:endParaRPr lang="en-IN" sz="88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IN" sz="20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IN" sz="20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 2" pitchFamily="18" charset="2"/>
              <a:buNone/>
            </a:pPr>
            <a:endParaRPr lang="en-IN" sz="20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Font typeface="Wingdings" pitchFamily="2" charset="2"/>
              <a:buNone/>
            </a:pPr>
            <a:endParaRPr lang="en-IN" sz="18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Font typeface="Wingdings" pitchFamily="2" charset="2"/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5181600"/>
          </a:xfrm>
        </p:spPr>
        <p:txBody>
          <a:bodyPr/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According to professor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Devaraj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“Creativity is the real root of the present human crisis”. That is why creativity is one of the fundamental human values.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Freedom &amp; creativity are very closely related.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Freedom is the basic condition for the creativity.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Freedom of thought and freedom of action are necessary for creative thinking.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1"/>
            <a:ext cx="8229600" cy="5334000"/>
          </a:xfrm>
        </p:spPr>
        <p:txBody>
          <a:bodyPr/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Everyone has some creative capacity and creative potential in some field.</a:t>
            </a:r>
          </a:p>
          <a:p>
            <a:pPr>
              <a:buNone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Types of Creativity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Intellectual Creativity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Artistic Creativity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Useful or Practical Creativity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Intellectual Creativity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Intellectual means involving a person’s ability to think and to understand ideas and  information.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5400" dirty="0">
                <a:latin typeface="Times New Roman" pitchFamily="18" charset="0"/>
                <a:cs typeface="Times New Roman" pitchFamily="18" charset="0"/>
              </a:rPr>
            </a:br>
            <a:r>
              <a:rPr lang="en-US" sz="5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5400" dirty="0">
                <a:latin typeface="Times New Roman" pitchFamily="18" charset="0"/>
                <a:cs typeface="Times New Roman" pitchFamily="18" charset="0"/>
              </a:rPr>
            </a:br>
            <a:r>
              <a:rPr lang="en-US" sz="5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5400" dirty="0">
                <a:latin typeface="Times New Roman" pitchFamily="18" charset="0"/>
                <a:cs typeface="Times New Roman" pitchFamily="18" charset="0"/>
              </a:rPr>
            </a:br>
            <a:r>
              <a:rPr lang="en-US" sz="5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5400" dirty="0">
                <a:latin typeface="Times New Roman" pitchFamily="18" charset="0"/>
                <a:cs typeface="Times New Roman" pitchFamily="18" charset="0"/>
              </a:rPr>
            </a:br>
            <a:r>
              <a:rPr lang="en-US" sz="5400" dirty="0">
                <a:latin typeface="Times New Roman" pitchFamily="18" charset="0"/>
                <a:cs typeface="Times New Roman" pitchFamily="18" charset="0"/>
              </a:rPr>
              <a:t> Intellectual Creativity </a:t>
            </a:r>
            <a:br>
              <a:rPr lang="en-US" sz="5400" dirty="0">
                <a:latin typeface="Times New Roman" pitchFamily="18" charset="0"/>
                <a:cs typeface="Times New Roman" pitchFamily="18" charset="0"/>
              </a:rPr>
            </a:br>
            <a:r>
              <a:rPr lang="en-US" sz="5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5400" dirty="0">
                <a:latin typeface="Times New Roman" pitchFamily="18" charset="0"/>
                <a:cs typeface="Times New Roman" pitchFamily="18" charset="0"/>
              </a:rPr>
            </a:br>
            <a:r>
              <a:rPr lang="en-US" sz="5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5400" dirty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1"/>
            <a:ext cx="8305800" cy="4724400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Formulation of hypothesis, theories, ideas and understandings and continuously improving and refining them is the Intellectual Creativity</a:t>
            </a:r>
          </a:p>
          <a:p>
            <a:pPr algn="just"/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Development of language (for expressing views communicating ideas) is one of the biggest creative achievement of humankind.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19075"/>
            <a:ext cx="8229600" cy="438150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5400" dirty="0">
                <a:latin typeface="Times New Roman" pitchFamily="18" charset="0"/>
                <a:cs typeface="Times New Roman" pitchFamily="18" charset="0"/>
              </a:rPr>
            </a:br>
            <a:r>
              <a:rPr lang="en-US" sz="5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5400" dirty="0">
                <a:latin typeface="Times New Roman" pitchFamily="18" charset="0"/>
                <a:cs typeface="Times New Roman" pitchFamily="18" charset="0"/>
              </a:rPr>
            </a:br>
            <a:r>
              <a:rPr lang="en-US" sz="5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5400" dirty="0">
                <a:latin typeface="Times New Roman" pitchFamily="18" charset="0"/>
                <a:cs typeface="Times New Roman" pitchFamily="18" charset="0"/>
              </a:rPr>
            </a:br>
            <a:r>
              <a:rPr lang="en-US" sz="5400" dirty="0">
                <a:latin typeface="Times New Roman" pitchFamily="18" charset="0"/>
                <a:cs typeface="Times New Roman" pitchFamily="18" charset="0"/>
              </a:rPr>
              <a:t>Artistic Creativity</a:t>
            </a:r>
            <a:br>
              <a:rPr lang="en-US" sz="5400" dirty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305800" cy="4572000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It is more a matter of heart, as intellectual creativity is more of mind</a:t>
            </a: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Artistic Creativity is expressed through poetry, drama and other forms of literature and in different art forms: painting, music and different decorative arts.</a:t>
            </a: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All these are creative ways of expressing inner human emotions, feelings and experiences.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Creativity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This creativity has become essential for industrial and business organizations.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Every engineering design is a creative synthesis of knowledge, tools and materials from diverse areas of science and technology.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Innovation and creativity has become the key to success in the modern competitive environment.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Creative organizations find innovative ways of organizing work.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Eg: Robot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1"/>
            <a:ext cx="8229600" cy="5334000"/>
          </a:xfrm>
        </p:spPr>
        <p:txBody>
          <a:bodyPr/>
          <a:lstStyle/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Most of the successful and happy persons are creative.</a:t>
            </a: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They are able to find innovative solutions to life’s challenges and problems.</a:t>
            </a: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Similarly the quality of collective social life depends on our ability to find creative solutions to the common social problems of  adjustment, growth, change and development.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 steps for creative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sensing and problem identification</a:t>
            </a:r>
          </a:p>
          <a:p>
            <a:r>
              <a:rPr lang="en-US" dirty="0"/>
              <a:t>Exploration and preparation</a:t>
            </a:r>
          </a:p>
          <a:p>
            <a:r>
              <a:rPr lang="en-US" dirty="0"/>
              <a:t>Incubation</a:t>
            </a:r>
          </a:p>
          <a:p>
            <a:r>
              <a:rPr lang="en-US" dirty="0"/>
              <a:t>Flash of insight</a:t>
            </a:r>
          </a:p>
          <a:p>
            <a:r>
              <a:rPr lang="en-US" dirty="0"/>
              <a:t>Verification and application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04800" y="228600"/>
            <a:ext cx="7543800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 Problem sensing and problem identification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1"/>
            <a:ext cx="8534400" cy="48006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Creative persons are keen observers of the environment around them.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They are likely to find problem areas &amp; find the need for change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Creative people actively grasp the opportunities so that they can utilize their talents and resources.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Creative people not only sense the problems of the society but find acceptable solutions for the same.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For this they fully understand the problem and the general parameters with in which a solution is to be found are specified. </a:t>
            </a:r>
          </a:p>
          <a:p>
            <a:pPr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8686800" cy="838200"/>
          </a:xfrm>
        </p:spPr>
        <p:txBody>
          <a:bodyPr/>
          <a:lstStyle/>
          <a:p>
            <a:r>
              <a:rPr lang="en-US" dirty="0"/>
              <a:t>Exploration and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1"/>
            <a:ext cx="8839200" cy="4953000"/>
          </a:xfrm>
        </p:spPr>
        <p:txBody>
          <a:bodyPr/>
          <a:lstStyle/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All the relevant information about the problem is collected; from the past experiences,</a:t>
            </a: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From published literature;</a:t>
            </a: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From knowledgeable persons.</a:t>
            </a: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Tries to find out how similar problems are solved in other fields and by other persons or organizations.</a:t>
            </a: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This stage involves exploration, distinction and possible frustration as well.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09600"/>
            <a:ext cx="83820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Incubation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1"/>
            <a:ext cx="8458200" cy="5181600"/>
          </a:xfrm>
        </p:spPr>
        <p:txBody>
          <a:bodyPr/>
          <a:lstStyle/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After having all the information and ideas one tries to push the problem from the conscious mind to the subconscious mind.</a:t>
            </a: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After that one sleep over that problem 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and allows time for Incubation.</a:t>
            </a: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So that allowing the subconscious mind to think over the problem.</a:t>
            </a: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And arrange the required facts into new patterns.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314450"/>
          </a:xfrm>
        </p:spPr>
        <p:txBody>
          <a:bodyPr>
            <a:normAutofit fontScale="90000"/>
          </a:bodyPr>
          <a:lstStyle/>
          <a:p>
            <a:r>
              <a:rPr lang="en-US" dirty="0"/>
              <a:t>Flash of  insight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1"/>
            <a:ext cx="8229600" cy="51054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After having all the  knowledge about the what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problem is, gathered the necessary data or information required.</a:t>
            </a: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Suddenly right solution for the problem flashes in the mind, in most unexpected way.</a:t>
            </a: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On a Sunday afternoon walk the idea of attaching a separate condenser to the steam engine came to James Watt in such a flash, that idea made possible the industrial revolution.</a:t>
            </a: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Eg: Newton’s Theory of gravitation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34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Verification and application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1"/>
            <a:ext cx="8229600" cy="4800600"/>
          </a:xfrm>
        </p:spPr>
        <p:txBody>
          <a:bodyPr/>
          <a:lstStyle/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All mind flashes are not always useful as practical solutions.</a:t>
            </a: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The suggested idea has to be carefully worked out in all its details.</a:t>
            </a: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It needs analysis, calculations, computer simulations and lab experiments.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4021</TotalTime>
  <Words>640</Words>
  <Application>Microsoft Office PowerPoint</Application>
  <PresentationFormat>On-screen Show (4:3)</PresentationFormat>
  <Paragraphs>69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         </vt:lpstr>
      <vt:lpstr>PowerPoint Presentation</vt:lpstr>
      <vt:lpstr>PowerPoint Presentation</vt:lpstr>
      <vt:lpstr>Intellectual Creativity</vt:lpstr>
      <vt:lpstr>     Intellectual Creativity    </vt:lpstr>
      <vt:lpstr>   Artistic Creativity </vt:lpstr>
      <vt:lpstr>Useful Creativity</vt:lpstr>
      <vt:lpstr>PowerPoint Presentation</vt:lpstr>
      <vt:lpstr>Five steps for creative process</vt:lpstr>
      <vt:lpstr>         Problem sensing and problem identification         </vt:lpstr>
      <vt:lpstr>Exploration and preparation</vt:lpstr>
      <vt:lpstr>Incubation </vt:lpstr>
      <vt:lpstr>Flash of  insight </vt:lpstr>
      <vt:lpstr>Verification and application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</dc:title>
  <dc:creator>Anupam sharma</dc:creator>
  <cp:lastModifiedBy>Ti</cp:lastModifiedBy>
  <cp:revision>106</cp:revision>
  <dcterms:created xsi:type="dcterms:W3CDTF">2010-01-05T05:26:43Z</dcterms:created>
  <dcterms:modified xsi:type="dcterms:W3CDTF">2022-05-11T05:25:51Z</dcterms:modified>
</cp:coreProperties>
</file>
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80" r:id="rId4"/>
    <p:sldId id="286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73" r:id="rId13"/>
    <p:sldId id="287" r:id="rId14"/>
    <p:sldId id="297" r:id="rId15"/>
    <p:sldId id="267" r:id="rId16"/>
  </p:sldIdLst>
  <p:sldSz cx="9144000" cy="6858000" type="screen4x3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301" autoAdjust="0"/>
    <p:restoredTop sz="94660"/>
  </p:normalViewPr>
  <p:slideViewPr>
    <p:cSldViewPr>
      <p:cViewPr>
        <p:scale>
          <a:sx n="75" d="100"/>
          <a:sy n="75" d="100"/>
        </p:scale>
        <p:origin x="-1560" y="-1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CC512F-57E2-4347-8AB9-97726AFAFBD4}" type="datetimeFigureOut">
              <a:rPr lang="en-US" smtClean="0"/>
              <a:pPr/>
              <a:t>7/6/2020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376728-E605-4C9D-BB71-97F5CA16A8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376728-E605-4C9D-BB71-97F5CA16A84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E5AC8-DF32-4530-BE70-4DF10E957B0F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4DC05-DC1C-4BC7-83D0-F2C687841CD6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84021-6D00-490C-8F05-8D1CB4FDB300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4B5E5-83F0-489B-A5B1-2EA4EABA0270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758A4-F9DF-4793-AEFB-9444EF4A4B9E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DFC1B-246B-4E89-B316-110A873EC268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D7A26-3A9D-42B8-9383-DEFFCAB98889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79A30-FFAB-4DBF-94A6-2E145F2FCA2A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FC8A4-2A60-4EF9-9287-209AD1D300D3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66E30-7210-464E-8302-9DD7751FDC36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0983-422B-47AA-A7F1-7ABBD3BE51B8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72A2C-A8D6-4D99-8E80-99D45247B09F}" type="datetime1">
              <a:rPr lang="en-US" smtClean="0"/>
              <a:pPr/>
              <a:t>7/6/2020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EC7BA-A2BA-47BD-A280-13B94C276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397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Wireless and Mobile Communication</a:t>
            </a:r>
            <a:br>
              <a:rPr lang="en-US" dirty="0" smtClean="0"/>
            </a:br>
            <a:r>
              <a:rPr lang="en-US" dirty="0" smtClean="0"/>
              <a:t>(UEC 804) </a:t>
            </a:r>
            <a:endParaRPr lang="en-US" dirty="0"/>
          </a:p>
        </p:txBody>
      </p:sp>
      <p:grpSp>
        <p:nvGrpSpPr>
          <p:cNvPr id="3" name="Group 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6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3" cy="5538266"/>
              <a:chOff x="211286" y="1131023"/>
              <a:chExt cx="13623320" cy="6982618"/>
            </a:xfrm>
          </p:grpSpPr>
          <p:grpSp>
            <p:nvGrpSpPr>
              <p:cNvPr id="5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0" name="Half Frame 9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9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" name="TextBox 13"/>
          <p:cNvSpPr txBox="1"/>
          <p:nvPr/>
        </p:nvSpPr>
        <p:spPr>
          <a:xfrm>
            <a:off x="1143000" y="4743271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Reference Text book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“Wireless communication_ principles and practices” (Second </a:t>
            </a:r>
            <a:r>
              <a:rPr lang="en-US" dirty="0">
                <a:solidFill>
                  <a:srgbClr val="C00000"/>
                </a:solidFill>
              </a:rPr>
              <a:t>E</a:t>
            </a:r>
            <a:r>
              <a:rPr lang="en-US" dirty="0" smtClean="0">
                <a:solidFill>
                  <a:srgbClr val="C00000"/>
                </a:solidFill>
              </a:rPr>
              <a:t>dition )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Author: Theodore s Rapport</a:t>
            </a:r>
          </a:p>
          <a:p>
            <a:pPr algn="ctr"/>
            <a:r>
              <a:rPr lang="en-US" dirty="0" smtClean="0">
                <a:solidFill>
                  <a:srgbClr val="C00000"/>
                </a:solidFill>
              </a:rPr>
              <a:t>Publisher: Prentice Hall (2002)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438400" y="2286000"/>
            <a:ext cx="5562600" cy="1447800"/>
          </a:xfrm>
        </p:spPr>
        <p:txBody>
          <a:bodyPr/>
          <a:lstStyle/>
          <a:p>
            <a:pPr>
              <a:buNone/>
            </a:pPr>
            <a:r>
              <a:rPr lang="en-US" sz="6600" dirty="0" smtClean="0">
                <a:solidFill>
                  <a:srgbClr val="C00000"/>
                </a:solidFill>
              </a:rPr>
              <a:t>MODULE -IV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" name="Group 14"/>
          <p:cNvGrpSpPr/>
          <p:nvPr/>
        </p:nvGrpSpPr>
        <p:grpSpPr>
          <a:xfrm>
            <a:off x="0" y="65325"/>
            <a:ext cx="8991600" cy="6158741"/>
            <a:chOff x="0" y="65325"/>
            <a:chExt cx="8991600" cy="6158741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333635" y="685800"/>
              <a:ext cx="8505565" cy="5538266"/>
              <a:chOff x="211286" y="1131023"/>
              <a:chExt cx="13623320" cy="6982618"/>
            </a:xfrm>
          </p:grpSpPr>
          <p:grpSp>
            <p:nvGrpSpPr>
              <p:cNvPr id="6" name="Group 44"/>
              <p:cNvGrpSpPr/>
              <p:nvPr/>
            </p:nvGrpSpPr>
            <p:grpSpPr>
              <a:xfrm>
                <a:off x="211286" y="1586248"/>
                <a:ext cx="13623320" cy="6527393"/>
                <a:chOff x="211286" y="1586248"/>
                <a:chExt cx="13623320" cy="6527393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272317" y="6175105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720674" y="6616438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8991600" cy="6792675"/>
            <a:chOff x="0" y="65325"/>
            <a:chExt cx="89916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685800"/>
              <a:ext cx="8839200" cy="6172200"/>
              <a:chOff x="-323094" y="1131023"/>
              <a:chExt cx="14157700" cy="7781879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586248"/>
                <a:ext cx="14157700" cy="7326654"/>
                <a:chOff x="-323094" y="1586248"/>
                <a:chExt cx="14157700" cy="7326654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337403" y="1525217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013153" y="1022867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57200" y="990600"/>
            <a:ext cx="73052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covered  till now in this module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38200" y="1828800"/>
            <a:ext cx="426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85750">
              <a:buFont typeface="Arial" pitchFamily="34" charset="0"/>
              <a:buChar char="•"/>
            </a:pPr>
            <a:r>
              <a:rPr lang="en-US" sz="2000" dirty="0" smtClean="0"/>
              <a:t>Propagation Basics</a:t>
            </a:r>
            <a:endParaRPr lang="en-US" sz="2000" dirty="0"/>
          </a:p>
        </p:txBody>
      </p:sp>
      <p:sp>
        <p:nvSpPr>
          <p:cNvPr id="15" name="Rectangle 14"/>
          <p:cNvSpPr/>
          <p:nvPr/>
        </p:nvSpPr>
        <p:spPr>
          <a:xfrm>
            <a:off x="457200" y="2935069"/>
            <a:ext cx="63775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Topics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to be covered </a:t>
            </a:r>
            <a:r>
              <a:rPr lang="en-US" sz="3600" dirty="0">
                <a:solidFill>
                  <a:srgbClr val="C00000"/>
                </a:solidFill>
                <a:ea typeface="+mj-ea"/>
                <a:cs typeface="+mj-cs"/>
              </a:rPr>
              <a:t>in </a:t>
            </a:r>
            <a:r>
              <a:rPr lang="en-US" sz="3600" dirty="0" smtClean="0">
                <a:solidFill>
                  <a:srgbClr val="C00000"/>
                </a:solidFill>
                <a:ea typeface="+mj-ea"/>
                <a:cs typeface="+mj-cs"/>
              </a:rPr>
              <a:t>this video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838200" y="22098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Antenna Basics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14400" y="35930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Two Ray Model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838200" y="26024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3363" indent="-233363">
              <a:buFont typeface="Arial" pitchFamily="34" charset="0"/>
              <a:buChar char="•"/>
            </a:pPr>
            <a:r>
              <a:rPr lang="en-US" dirty="0" smtClean="0"/>
              <a:t> Reflection 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Why Two Ray model needed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3313" name="Rectangle 1"/>
          <p:cNvSpPr>
            <a:spLocks noChangeArrowheads="1"/>
          </p:cNvSpPr>
          <p:nvPr/>
        </p:nvSpPr>
        <p:spPr bwMode="auto">
          <a:xfrm>
            <a:off x="152400" y="762000"/>
            <a:ext cx="81534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Rappaport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develops a theoretical model for propagation slightly better than the free space assumption. 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This model includes not just one path, but also another path that reflects off of the ground.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“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World Is Flat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”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if you will. 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The model isn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 hard to develop, and provides an important theoretical underpinning to the multiple breakpoint model we covered in free space model. </a:t>
            </a:r>
          </a:p>
          <a:p>
            <a:pPr marL="457200" marR="0" lvl="0" indent="-457200" algn="just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Remember,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powers of multipath DON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 add together. Only voltages or field strength of multipath actually add together. The voltage on the antenna is proportional to the electric field at the antenna position. So let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/>
                <a:ea typeface="Calibri" pitchFamily="34" charset="0"/>
                <a:cs typeface="Times New Roman" pitchFamily="18" charset="0"/>
              </a:rPr>
              <a:t>’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 talk about adding electric fields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3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33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3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3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Wireless Propagation Mechanisms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1000" y="934283"/>
            <a:ext cx="78486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The two-ray ground reflection model is a useful  propagation model that is based on geometric optics.</a:t>
            </a:r>
          </a:p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Considers both the direct path and a ground reflected propagation path between transmitter and receiver. </a:t>
            </a:r>
          </a:p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This model has been found to be reasonably accurate for predicting the large-scale signal strength over distances of several kilometers for mobile radio systems that use tall towers (heights which exceed 50 m), as well as for line-of-sight microcell channels in urban environments </a:t>
            </a:r>
          </a:p>
          <a:p>
            <a:pPr marL="396875" indent="-396875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In most mobile communication systems, the maximum T-R separation distance is at most only a few tens of kilometers, and the earth may be assumed to be flat.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Two Ray Model 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4825" y="1333500"/>
            <a:ext cx="8410575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solidFill>
                  <a:schemeClr val="bg1"/>
                </a:solidFill>
              </a:rPr>
              <a:t>Wireless Propagation Mechanisms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" y="990600"/>
            <a:ext cx="8305800" cy="967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If E</a:t>
            </a:r>
            <a:r>
              <a:rPr lang="en-US" sz="2000" baseline="-25000" dirty="0" smtClean="0"/>
              <a:t>0</a:t>
            </a:r>
            <a:r>
              <a:rPr lang="en-US" sz="2000" dirty="0" smtClean="0"/>
              <a:t> is the free space E-field (in units of V/m) at a reference distance d</a:t>
            </a:r>
            <a:r>
              <a:rPr lang="en-US" sz="2000" baseline="-25000" dirty="0" smtClean="0"/>
              <a:t>0</a:t>
            </a:r>
            <a:r>
              <a:rPr lang="en-US" sz="2000" dirty="0" smtClean="0"/>
              <a:t> from the transmitter, then for d &gt; </a:t>
            </a:r>
            <a:r>
              <a:rPr lang="en-US" sz="2000" i="1" dirty="0" smtClean="0"/>
              <a:t>d</a:t>
            </a:r>
            <a:r>
              <a:rPr lang="en-US" sz="2000" i="1" baseline="-25000" dirty="0" smtClean="0"/>
              <a:t>0</a:t>
            </a:r>
            <a:r>
              <a:rPr lang="en-US" sz="2000" i="1" dirty="0" smtClean="0"/>
              <a:t> , </a:t>
            </a:r>
            <a:r>
              <a:rPr lang="en-US" sz="2000" b="1" i="1" dirty="0" smtClean="0"/>
              <a:t>The free space propagating E-field </a:t>
            </a:r>
            <a:r>
              <a:rPr lang="en-US" sz="2000" i="1" dirty="0" smtClean="0"/>
              <a:t>is given by</a:t>
            </a:r>
            <a:endParaRPr lang="en-US" sz="2000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133600"/>
            <a:ext cx="7172325" cy="974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525" y="3124200"/>
            <a:ext cx="8870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858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3200" dirty="0" smtClean="0">
                <a:solidFill>
                  <a:schemeClr val="bg1"/>
                </a:solidFill>
              </a:rPr>
              <a:t>Signal received at receiver from Direct Path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3276600"/>
            <a:ext cx="8763000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 direct wave that travels a distance </a:t>
            </a:r>
            <a:r>
              <a:rPr lang="en-US" i="1" dirty="0" smtClean="0"/>
              <a:t>d’</a:t>
            </a:r>
            <a:r>
              <a:rPr lang="en-US" dirty="0" smtClean="0"/>
              <a:t>. The E-field due to the line-of-sight component at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receiver can be expressed as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819150"/>
            <a:ext cx="6121400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4572000"/>
            <a:ext cx="4648200" cy="952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28600" y="609600"/>
            <a:ext cx="8305800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 E-field for the ground reflected wave, which has a propagation distance of </a:t>
            </a:r>
            <a:r>
              <a:rPr lang="en-US" i="1" dirty="0" smtClean="0"/>
              <a:t>d", can be </a:t>
            </a:r>
            <a:r>
              <a:rPr lang="en-US" dirty="0" smtClean="0"/>
              <a:t>expressed as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0" y="1"/>
            <a:ext cx="8915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 smtClean="0">
                <a:solidFill>
                  <a:schemeClr val="bg1"/>
                </a:solidFill>
              </a:rPr>
              <a:t>Signal received at receiver from Ground Reflected Path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1371600"/>
            <a:ext cx="4319588" cy="801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Rectangle 20"/>
          <p:cNvSpPr/>
          <p:nvPr/>
        </p:nvSpPr>
        <p:spPr>
          <a:xfrm>
            <a:off x="381832" y="2297668"/>
            <a:ext cx="5790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According to laws of reflection in dielectrics	            and</a:t>
            </a:r>
            <a:endParaRPr lang="en-US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2743200"/>
            <a:ext cx="1985963" cy="958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Rectangle 23"/>
          <p:cNvSpPr/>
          <p:nvPr/>
        </p:nvSpPr>
        <p:spPr>
          <a:xfrm>
            <a:off x="228600" y="3810000"/>
            <a:ext cx="8305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For small values of </a:t>
            </a:r>
            <a:r>
              <a:rPr lang="el-GR" dirty="0" smtClean="0"/>
              <a:t>θ</a:t>
            </a:r>
            <a:r>
              <a:rPr lang="en-US" baseline="-25000" dirty="0" err="1" smtClean="0"/>
              <a:t>i</a:t>
            </a:r>
            <a:r>
              <a:rPr lang="en-US" baseline="-25000" dirty="0" smtClean="0"/>
              <a:t> </a:t>
            </a:r>
            <a:r>
              <a:rPr lang="en-US" dirty="0" smtClean="0"/>
              <a:t>,the reflected wave is equal in magnitude and 180° out of phase with the incident wave,</a:t>
            </a:r>
          </a:p>
          <a:p>
            <a:pPr marL="346075" indent="-346075">
              <a:lnSpc>
                <a:spcPct val="150000"/>
              </a:lnSpc>
              <a:buFont typeface="Wingdings" pitchFamily="2" charset="2"/>
              <a:buChar char="Ø"/>
            </a:pPr>
            <a:r>
              <a:rPr lang="en-US" dirty="0" smtClean="0"/>
              <a:t>The resultant E-field, assuming perfect horizontal E-field polarization and ground reflection (i.e., </a:t>
            </a:r>
            <a:r>
              <a:rPr lang="en-US" dirty="0" smtClean="0"/>
              <a:t>Γ</a:t>
            </a:r>
            <a:r>
              <a:rPr lang="en-US" dirty="0" smtClean="0"/>
              <a:t> </a:t>
            </a:r>
            <a:r>
              <a:rPr lang="en-US" dirty="0" smtClean="0"/>
              <a:t>= -1 and </a:t>
            </a:r>
            <a:r>
              <a:rPr lang="en-US" i="1" dirty="0" err="1" smtClean="0"/>
              <a:t>E</a:t>
            </a:r>
            <a:r>
              <a:rPr lang="en-US" i="1" baseline="-25000" dirty="0" err="1" smtClean="0"/>
              <a:t>i</a:t>
            </a:r>
            <a:r>
              <a:rPr lang="en-US" i="1" dirty="0" smtClean="0"/>
              <a:t> </a:t>
            </a:r>
            <a:r>
              <a:rPr lang="en-US" i="1" dirty="0" smtClean="0"/>
              <a:t>= 0), is the vector sum of </a:t>
            </a:r>
            <a:r>
              <a:rPr lang="en-US" i="1" dirty="0" err="1" smtClean="0"/>
              <a:t>E</a:t>
            </a:r>
            <a:r>
              <a:rPr lang="en-US" i="1" baseline="-25000" dirty="0" err="1" smtClean="0"/>
              <a:t>Los</a:t>
            </a:r>
            <a:r>
              <a:rPr lang="en-US" i="1" dirty="0" smtClean="0"/>
              <a:t> and </a:t>
            </a:r>
            <a:r>
              <a:rPr lang="en-US" i="1" dirty="0" err="1" smtClean="0"/>
              <a:t>E</a:t>
            </a:r>
            <a:r>
              <a:rPr lang="en-US" i="1" baseline="-25000" dirty="0" err="1" smtClean="0"/>
              <a:t>g</a:t>
            </a:r>
            <a:r>
              <a:rPr lang="en-US" i="1" dirty="0" smtClean="0"/>
              <a:t>, </a:t>
            </a:r>
            <a:endParaRPr lang="en-US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5800" y="2319759"/>
            <a:ext cx="1143000" cy="3472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  <p:bldP spid="21" grpId="0"/>
      <p:bldP spid="2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43000" y="0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3200" dirty="0" smtClean="0">
                <a:solidFill>
                  <a:schemeClr val="bg1"/>
                </a:solidFill>
              </a:rPr>
              <a:t>Signal received at Receiver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4800" y="914400"/>
            <a:ext cx="7848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smtClean="0"/>
              <a:t>The resultant  </a:t>
            </a:r>
            <a:r>
              <a:rPr lang="en-US" dirty="0" smtClean="0"/>
              <a:t>total E-field envelope is given by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1371600"/>
            <a:ext cx="2924175" cy="758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3060700"/>
            <a:ext cx="6350000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Rectangle 18"/>
          <p:cNvSpPr/>
          <p:nvPr/>
        </p:nvSpPr>
        <p:spPr>
          <a:xfrm>
            <a:off x="381000" y="2286000"/>
            <a:ext cx="43599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The electric field </a:t>
            </a:r>
            <a:r>
              <a:rPr lang="en-US" i="1" dirty="0" smtClean="0"/>
              <a:t>E</a:t>
            </a:r>
            <a:r>
              <a:rPr lang="en-US" i="1" baseline="-25000" dirty="0" smtClean="0"/>
              <a:t>TOT</a:t>
            </a:r>
            <a:r>
              <a:rPr lang="en-US" i="1" dirty="0" smtClean="0"/>
              <a:t>(d, t) can be expressed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  <p:bldP spid="19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0" y="1"/>
            <a:ext cx="84582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 smtClean="0">
                <a:solidFill>
                  <a:schemeClr val="bg1"/>
                </a:solidFill>
              </a:rPr>
              <a:t>Path Difference Between LOS and ground reflected path</a:t>
            </a:r>
            <a:endParaRPr lang="en-US" sz="2800" b="1" dirty="0" smtClean="0">
              <a:solidFill>
                <a:schemeClr val="bg1"/>
              </a:solidFill>
            </a:endParaRPr>
          </a:p>
          <a:p>
            <a:pPr algn="ctr"/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11207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0" y="6937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55" name="Rectangle 11"/>
          <p:cNvSpPr>
            <a:spLocks noChangeArrowheads="1"/>
          </p:cNvSpPr>
          <p:nvPr/>
        </p:nvSpPr>
        <p:spPr bwMode="auto">
          <a:xfrm>
            <a:off x="0" y="9826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56" name="Rectangle 12"/>
          <p:cNvSpPr>
            <a:spLocks noChangeArrowheads="1"/>
          </p:cNvSpPr>
          <p:nvPr/>
        </p:nvSpPr>
        <p:spPr bwMode="auto">
          <a:xfrm>
            <a:off x="0" y="15763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0" y="26273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59" name="Rectangle 15"/>
          <p:cNvSpPr>
            <a:spLocks noChangeArrowheads="1"/>
          </p:cNvSpPr>
          <p:nvPr/>
        </p:nvSpPr>
        <p:spPr bwMode="auto">
          <a:xfrm>
            <a:off x="0" y="31384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60" name="Rectangle 16"/>
          <p:cNvSpPr>
            <a:spLocks noChangeArrowheads="1"/>
          </p:cNvSpPr>
          <p:nvPr/>
        </p:nvSpPr>
        <p:spPr bwMode="auto">
          <a:xfrm>
            <a:off x="0" y="35734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61" name="Rectangle 17"/>
          <p:cNvSpPr>
            <a:spLocks noChangeArrowheads="1"/>
          </p:cNvSpPr>
          <p:nvPr/>
        </p:nvSpPr>
        <p:spPr bwMode="auto">
          <a:xfrm>
            <a:off x="0" y="40084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169" name="Picture 25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2400" y="685800"/>
            <a:ext cx="1181100" cy="304800"/>
          </a:xfrm>
          <a:prstGeom prst="rect">
            <a:avLst/>
          </a:prstGeom>
          <a:noFill/>
        </p:spPr>
      </p:pic>
      <p:pic>
        <p:nvPicPr>
          <p:cNvPr id="6168" name="Picture 2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6875" y="1066800"/>
            <a:ext cx="3946525" cy="373063"/>
          </a:xfrm>
          <a:prstGeom prst="rect">
            <a:avLst/>
          </a:prstGeom>
          <a:noFill/>
        </p:spPr>
      </p:pic>
      <p:pic>
        <p:nvPicPr>
          <p:cNvPr id="6167" name="Picture 23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2900" y="1524000"/>
            <a:ext cx="4610100" cy="762000"/>
          </a:xfrm>
          <a:prstGeom prst="rect">
            <a:avLst/>
          </a:prstGeom>
          <a:noFill/>
        </p:spPr>
      </p:pic>
      <p:pic>
        <p:nvPicPr>
          <p:cNvPr id="6166" name="Picture 22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1337" y="2209800"/>
            <a:ext cx="5249863" cy="587375"/>
          </a:xfrm>
          <a:prstGeom prst="rect">
            <a:avLst/>
          </a:prstGeom>
          <a:noFill/>
        </p:spPr>
      </p:pic>
      <p:pic>
        <p:nvPicPr>
          <p:cNvPr id="6165" name="Picture 21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22237" y="3124200"/>
            <a:ext cx="5135563" cy="762000"/>
          </a:xfrm>
          <a:prstGeom prst="rect">
            <a:avLst/>
          </a:prstGeom>
          <a:noFill/>
        </p:spPr>
      </p:pic>
      <p:pic>
        <p:nvPicPr>
          <p:cNvPr id="6164" name="Picture 20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3237" y="3962400"/>
            <a:ext cx="3268663" cy="655637"/>
          </a:xfrm>
          <a:prstGeom prst="rect">
            <a:avLst/>
          </a:prstGeom>
          <a:noFill/>
        </p:spPr>
      </p:pic>
      <p:pic>
        <p:nvPicPr>
          <p:cNvPr id="6163" name="Picture 19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3237" y="4648200"/>
            <a:ext cx="1363663" cy="563563"/>
          </a:xfrm>
          <a:prstGeom prst="rect">
            <a:avLst/>
          </a:prstGeom>
          <a:noFill/>
        </p:spPr>
      </p:pic>
      <p:sp>
        <p:nvSpPr>
          <p:cNvPr id="6170" name="Rectangle 2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71" name="Rectangle 27"/>
          <p:cNvSpPr>
            <a:spLocks noChangeArrowheads="1"/>
          </p:cNvSpPr>
          <p:nvPr/>
        </p:nvSpPr>
        <p:spPr bwMode="auto">
          <a:xfrm>
            <a:off x="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72" name="Rectangle 28"/>
          <p:cNvSpPr>
            <a:spLocks noChangeArrowheads="1"/>
          </p:cNvSpPr>
          <p:nvPr/>
        </p:nvSpPr>
        <p:spPr bwMode="auto">
          <a:xfrm>
            <a:off x="0" y="11350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73" name="Rectangle 29"/>
          <p:cNvSpPr>
            <a:spLocks noChangeArrowheads="1"/>
          </p:cNvSpPr>
          <p:nvPr/>
        </p:nvSpPr>
        <p:spPr bwMode="auto">
          <a:xfrm>
            <a:off x="0" y="18970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74" name="Rectangle 30"/>
          <p:cNvSpPr>
            <a:spLocks noChangeArrowheads="1"/>
          </p:cNvSpPr>
          <p:nvPr/>
        </p:nvSpPr>
        <p:spPr bwMode="auto">
          <a:xfrm>
            <a:off x="76200" y="2819401"/>
            <a:ext cx="7010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Using Taylor series expansion </a:t>
            </a:r>
            <a:endParaRPr kumimoji="0" 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75" name="Rectangle 31"/>
          <p:cNvSpPr>
            <a:spLocks noChangeArrowheads="1"/>
          </p:cNvSpPr>
          <p:nvPr/>
        </p:nvSpPr>
        <p:spPr bwMode="auto">
          <a:xfrm>
            <a:off x="0" y="32464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76" name="Rectangle 32"/>
          <p:cNvSpPr>
            <a:spLocks noChangeArrowheads="1"/>
          </p:cNvSpPr>
          <p:nvPr/>
        </p:nvSpPr>
        <p:spPr bwMode="auto">
          <a:xfrm>
            <a:off x="0" y="39020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77" name="Rectangle 33"/>
          <p:cNvSpPr>
            <a:spLocks noChangeArrowheads="1"/>
          </p:cNvSpPr>
          <p:nvPr/>
        </p:nvSpPr>
        <p:spPr bwMode="auto">
          <a:xfrm>
            <a:off x="0" y="44656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78" name="Rectangle 34"/>
          <p:cNvSpPr>
            <a:spLocks noChangeArrowheads="1"/>
          </p:cNvSpPr>
          <p:nvPr/>
        </p:nvSpPr>
        <p:spPr bwMode="auto">
          <a:xfrm>
            <a:off x="0" y="5029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724400" y="3432914"/>
            <a:ext cx="4267200" cy="3145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180" name="Rectangle 3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181" name="Rectangle 37"/>
          <p:cNvSpPr>
            <a:spLocks noChangeArrowheads="1"/>
          </p:cNvSpPr>
          <p:nvPr/>
        </p:nvSpPr>
        <p:spPr bwMode="auto">
          <a:xfrm>
            <a:off x="0" y="10207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183" name="Rectangle 3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182" name="Picture 38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" y="5380037"/>
            <a:ext cx="1668463" cy="563563"/>
          </a:xfrm>
          <a:prstGeom prst="rect">
            <a:avLst/>
          </a:prstGeom>
          <a:noFill/>
        </p:spPr>
      </p:pic>
      <p:sp>
        <p:nvSpPr>
          <p:cNvPr id="6184" name="Rectangle 40"/>
          <p:cNvSpPr>
            <a:spLocks noChangeArrowheads="1"/>
          </p:cNvSpPr>
          <p:nvPr/>
        </p:nvSpPr>
        <p:spPr bwMode="auto">
          <a:xfrm>
            <a:off x="0" y="10207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6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4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04800" y="1"/>
            <a:ext cx="8458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2800" dirty="0" smtClean="0">
                <a:solidFill>
                  <a:schemeClr val="bg1"/>
                </a:solidFill>
              </a:rPr>
              <a:t>Phase Difference Between LOS and ground reflected path</a:t>
            </a:r>
            <a:endParaRPr lang="en-US" sz="2800" b="1" dirty="0" smtClean="0">
              <a:solidFill>
                <a:schemeClr val="bg1"/>
              </a:solidFill>
            </a:endParaRPr>
          </a:p>
          <a:p>
            <a:pPr algn="ctr"/>
            <a:endParaRPr lang="en-US" sz="2800" b="1" dirty="0" smtClean="0">
              <a:solidFill>
                <a:schemeClr val="bg1"/>
              </a:solidFill>
            </a:endParaRPr>
          </a:p>
          <a:p>
            <a:pPr algn="ctr"/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28600" y="838200"/>
            <a:ext cx="8077200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Once the path difference is known, the phase difference </a:t>
            </a:r>
            <a:r>
              <a:rPr lang="el-GR" dirty="0" smtClean="0"/>
              <a:t>θ</a:t>
            </a:r>
            <a:r>
              <a:rPr lang="el-GR" baseline="-25000" dirty="0" smtClean="0"/>
              <a:t>∆</a:t>
            </a:r>
            <a:r>
              <a:rPr lang="en-US" dirty="0" smtClean="0"/>
              <a:t>between the two E-field components and the time delay </a:t>
            </a:r>
            <a:r>
              <a:rPr lang="en-US" dirty="0" err="1" smtClean="0"/>
              <a:t>τ</a:t>
            </a:r>
            <a:r>
              <a:rPr lang="en-US" baseline="-25000" dirty="0" err="1" smtClean="0"/>
              <a:t>d</a:t>
            </a:r>
            <a:r>
              <a:rPr lang="en-US" dirty="0" smtClean="0"/>
              <a:t> between the arrival of the two components can be easily computed using the following relations</a:t>
            </a:r>
            <a:endParaRPr lang="en-US" dirty="0"/>
          </a:p>
        </p:txBody>
      </p:sp>
      <p:pic>
        <p:nvPicPr>
          <p:cNvPr id="5138" name="Picture 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76600" y="2286000"/>
            <a:ext cx="2805113" cy="699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TextBox 33"/>
          <p:cNvSpPr txBox="1"/>
          <p:nvPr/>
        </p:nvSpPr>
        <p:spPr>
          <a:xfrm>
            <a:off x="1143000" y="30480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and </a:t>
            </a:r>
            <a:endParaRPr lang="en-US" dirty="0"/>
          </a:p>
        </p:txBody>
      </p:sp>
      <p:pic>
        <p:nvPicPr>
          <p:cNvPr id="5139" name="Picture 1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3200400"/>
            <a:ext cx="2419350" cy="67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6" name="Rectangle 35"/>
          <p:cNvSpPr/>
          <p:nvPr/>
        </p:nvSpPr>
        <p:spPr>
          <a:xfrm>
            <a:off x="228600" y="4038600"/>
            <a:ext cx="845820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It should be noted that as ‘</a:t>
            </a:r>
            <a:r>
              <a:rPr lang="en-US" i="1" dirty="0" smtClean="0"/>
              <a:t>d’ becomes large, the difference between the distances d' and</a:t>
            </a:r>
          </a:p>
          <a:p>
            <a:pPr algn="just">
              <a:lnSpc>
                <a:spcPct val="150000"/>
              </a:lnSpc>
            </a:pPr>
            <a:r>
              <a:rPr lang="en-US" i="1" dirty="0" smtClean="0"/>
              <a:t>d" becomes very small, and the amplitudes of </a:t>
            </a:r>
            <a:r>
              <a:rPr lang="en-US" i="1" dirty="0" smtClean="0"/>
              <a:t>E</a:t>
            </a:r>
            <a:r>
              <a:rPr lang="en-US" i="1" baseline="-25000" dirty="0" smtClean="0"/>
              <a:t>LOS</a:t>
            </a:r>
            <a:r>
              <a:rPr lang="en-US" i="1" dirty="0" smtClean="0"/>
              <a:t> </a:t>
            </a:r>
            <a:r>
              <a:rPr lang="en-US" i="1" dirty="0" smtClean="0"/>
              <a:t>and </a:t>
            </a:r>
            <a:r>
              <a:rPr lang="en-US" i="1" dirty="0" err="1" smtClean="0"/>
              <a:t>E</a:t>
            </a:r>
            <a:r>
              <a:rPr lang="en-US" i="1" baseline="-25000" dirty="0" err="1" smtClean="0"/>
              <a:t>g</a:t>
            </a:r>
            <a:r>
              <a:rPr lang="en-US" i="1" smtClean="0"/>
              <a:t> are </a:t>
            </a:r>
            <a:r>
              <a:rPr lang="en-US" i="1" dirty="0" smtClean="0"/>
              <a:t>virtually identical and differ </a:t>
            </a:r>
            <a:r>
              <a:rPr lang="en-US" dirty="0" smtClean="0"/>
              <a:t>only in phase. That is</a:t>
            </a:r>
            <a:endParaRPr lang="en-US" dirty="0"/>
          </a:p>
        </p:txBody>
      </p:sp>
      <p:pic>
        <p:nvPicPr>
          <p:cNvPr id="5140" name="Picture 2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0" y="5334000"/>
            <a:ext cx="3114675" cy="84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allAtOnce"/>
      <p:bldP spid="34" grpId="0"/>
      <p:bldP spid="36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Total E field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752600"/>
            <a:ext cx="7162800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Rectangle 17"/>
          <p:cNvSpPr/>
          <p:nvPr/>
        </p:nvSpPr>
        <p:spPr>
          <a:xfrm>
            <a:off x="228600" y="914400"/>
            <a:ext cx="7467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If the received E-field is evaluated at some time, say at </a:t>
            </a:r>
            <a:r>
              <a:rPr lang="en-US" i="1" dirty="0" smtClean="0"/>
              <a:t>t = d“/ c, then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/>
          <p:cNvGrpSpPr/>
          <p:nvPr/>
        </p:nvGrpSpPr>
        <p:grpSpPr>
          <a:xfrm>
            <a:off x="0" y="65325"/>
            <a:ext cx="9144000" cy="6792675"/>
            <a:chOff x="0" y="65325"/>
            <a:chExt cx="9144000" cy="6792675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404838"/>
              <a:ext cx="9144000" cy="6453162"/>
              <a:chOff x="-323094" y="776786"/>
              <a:chExt cx="14645896" cy="8136116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4" y="1232011"/>
                <a:ext cx="14645896" cy="7680891"/>
                <a:chOff x="-323094" y="1232011"/>
                <a:chExt cx="14645896" cy="7680891"/>
              </a:xfrm>
            </p:grpSpPr>
            <p:sp>
              <p:nvSpPr>
                <p:cNvPr id="11" name="Half Frame 10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-262063" y="6974366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3" name="Half Frame 12"/>
                <p:cNvSpPr/>
                <p:nvPr/>
              </p:nvSpPr>
              <p:spPr>
                <a:xfrm rot="5400000">
                  <a:off x="12825599" y="1170980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4" name="Half Frame 13"/>
                <p:cNvSpPr/>
                <p:nvPr/>
              </p:nvSpPr>
              <p:spPr>
                <a:xfrm rot="16200000">
                  <a:off x="186293" y="7415699"/>
                  <a:ext cx="1436172" cy="1558234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0" name="Half Frame 7"/>
              <p:cNvSpPr/>
              <p:nvPr/>
            </p:nvSpPr>
            <p:spPr>
              <a:xfrm rot="5400000">
                <a:off x="12501348" y="668630"/>
                <a:ext cx="1341921" cy="1558234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609600"/>
            <a:ext cx="6726488" cy="343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Rectangle 15"/>
          <p:cNvSpPr/>
          <p:nvPr/>
        </p:nvSpPr>
        <p:spPr>
          <a:xfrm>
            <a:off x="304800" y="4267200"/>
            <a:ext cx="8534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path loss for the two-ray model (with antenna gains) can be expressed in dB as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990600" y="1"/>
            <a:ext cx="7467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Total E field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5029200"/>
            <a:ext cx="7572375" cy="528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76200" y="65325"/>
            <a:ext cx="9067800" cy="6855826"/>
            <a:chOff x="0" y="65325"/>
            <a:chExt cx="9067800" cy="6432478"/>
          </a:xfrm>
        </p:grpSpPr>
        <p:sp>
          <p:nvSpPr>
            <p:cNvPr id="5" name="Title 10"/>
            <p:cNvSpPr txBox="1">
              <a:spLocks/>
            </p:cNvSpPr>
            <p:nvPr/>
          </p:nvSpPr>
          <p:spPr>
            <a:xfrm>
              <a:off x="0" y="65325"/>
              <a:ext cx="8991600" cy="425324"/>
            </a:xfrm>
            <a:prstGeom prst="rect">
              <a:avLst/>
            </a:prstGeom>
            <a:solidFill>
              <a:srgbClr val="C0504D">
                <a:lumMod val="50000"/>
              </a:srgbClr>
            </a:solidFill>
            <a:ln w="28575" cap="flat" cmpd="sng" algn="ctr">
              <a:noFill/>
              <a:prstDash val="solid"/>
            </a:ln>
            <a:effectLst/>
          </p:spPr>
          <p:txBody>
            <a:bodyPr rtlCol="0" anchor="t" anchorCtr="0">
              <a:noAutofit/>
            </a:bodyPr>
            <a:lstStyle>
              <a:lvl1pPr algn="ctr" defTabSz="648172" rtl="0" eaLnBrk="1" latinLnBrk="0" hangingPunct="1">
                <a:spcBef>
                  <a:spcPct val="0"/>
                </a:spcBef>
                <a:buNone/>
                <a:defRPr sz="62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j-ea"/>
                <a:cs typeface="+mj-cs"/>
                <a:sym typeface="Times New Roman"/>
              </a:endParaRPr>
            </a:p>
            <a:p>
              <a:pPr marL="0" marR="0" lvl="0" indent="0" algn="l" defTabSz="648172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j-ea"/>
                <a:cs typeface="Calibri" panose="020F0502020204030204" pitchFamily="34" charset="0"/>
                <a:sym typeface="Times New Roman"/>
              </a:endParaRPr>
            </a:p>
          </p:txBody>
        </p:sp>
        <p:grpSp>
          <p:nvGrpSpPr>
            <p:cNvPr id="3" name="Group 4"/>
            <p:cNvGrpSpPr/>
            <p:nvPr/>
          </p:nvGrpSpPr>
          <p:grpSpPr>
            <a:xfrm>
              <a:off x="0" y="504496"/>
              <a:ext cx="9067798" cy="5993307"/>
              <a:chOff x="-323093" y="902435"/>
              <a:chExt cx="14523851" cy="7556333"/>
            </a:xfrm>
          </p:grpSpPr>
          <p:grpSp>
            <p:nvGrpSpPr>
              <p:cNvPr id="4" name="Group 44"/>
              <p:cNvGrpSpPr/>
              <p:nvPr/>
            </p:nvGrpSpPr>
            <p:grpSpPr>
              <a:xfrm>
                <a:off x="-323093" y="1357660"/>
                <a:ext cx="14523851" cy="7101108"/>
                <a:chOff x="-323093" y="1357660"/>
                <a:chExt cx="14523851" cy="7101108"/>
              </a:xfrm>
            </p:grpSpPr>
            <p:sp>
              <p:nvSpPr>
                <p:cNvPr id="9" name="Half Frame 8"/>
                <p:cNvSpPr/>
                <p:nvPr/>
              </p:nvSpPr>
              <p:spPr>
                <a:xfrm rot="10800000">
                  <a:off x="11841971" y="6170817"/>
                  <a:ext cx="1588602" cy="1544546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EEECE1">
                    <a:lumMod val="40000"/>
                    <a:lumOff val="60000"/>
                  </a:srgb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Half Frame 9"/>
                <p:cNvSpPr/>
                <p:nvPr/>
              </p:nvSpPr>
              <p:spPr>
                <a:xfrm rot="16200000">
                  <a:off x="-262063" y="6520234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Half Frame 10"/>
                <p:cNvSpPr/>
                <p:nvPr/>
              </p:nvSpPr>
              <p:spPr>
                <a:xfrm rot="5400000">
                  <a:off x="12703555" y="1296630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ysClr val="windowText" lastClr="000000">
                    <a:lumMod val="50000"/>
                    <a:lumOff val="50000"/>
                  </a:sysClr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Half Frame 11"/>
                <p:cNvSpPr/>
                <p:nvPr/>
              </p:nvSpPr>
              <p:spPr>
                <a:xfrm rot="16200000">
                  <a:off x="186294" y="6961565"/>
                  <a:ext cx="1436173" cy="1558233"/>
                </a:xfrm>
                <a:prstGeom prst="halfFrame">
                  <a:avLst>
                    <a:gd name="adj1" fmla="val 19380"/>
                    <a:gd name="adj2" fmla="val 21705"/>
                  </a:avLst>
                </a:prstGeom>
                <a:solidFill>
                  <a:srgbClr val="C00000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" name="Half Frame 7"/>
              <p:cNvSpPr/>
              <p:nvPr/>
            </p:nvSpPr>
            <p:spPr>
              <a:xfrm rot="5400000">
                <a:off x="12379305" y="794279"/>
                <a:ext cx="1341921" cy="1558233"/>
              </a:xfrm>
              <a:prstGeom prst="halfFrame">
                <a:avLst>
                  <a:gd name="adj1" fmla="val 19380"/>
                  <a:gd name="adj2" fmla="val 21705"/>
                </a:avLst>
              </a:prstGeom>
              <a:solidFill>
                <a:srgbClr val="C00000"/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2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16" name="image96.png"/>
          <p:cNvPicPr/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5892" y="1482242"/>
            <a:ext cx="6991913" cy="3928567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6ABB7-46DB-4F16-AB8B-BFEDDDD52D1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5639&quot;&gt;&lt;/object&gt;&lt;object type=&quot;2&quot; unique_id=&quot;15640&quot;&gt;&lt;object type=&quot;3&quot; unique_id=&quot;15641&quot;&gt;&lt;property id=&quot;20148&quot; value=&quot;5&quot;/&gt;&lt;property id=&quot;20300&quot; value=&quot;Slide 1 - &amp;quot;Wireless and Mobile Communication (UEC 804) &amp;quot;&quot;/&gt;&lt;property id=&quot;20307&quot; value=&quot;257&quot;/&gt;&lt;/object&gt;&lt;object type=&quot;3&quot; unique_id=&quot;15642&quot;&gt;&lt;property id=&quot;20148&quot; value=&quot;5&quot;/&gt;&lt;property id=&quot;20300&quot; value=&quot;Slide 2&quot;/&gt;&lt;property id=&quot;20307&quot; value=&quot;258&quot;/&gt;&lt;/object&gt;&lt;object type=&quot;3&quot; unique_id=&quot;15783&quot;&gt;&lt;property id=&quot;20148&quot; value=&quot;5&quot;/&gt;&lt;property id=&quot;20300&quot; value=&quot;Slide 15&quot;/&gt;&lt;property id=&quot;20307&quot; value=&quot;267&quot;/&gt;&lt;/object&gt;&lt;object type=&quot;3&quot; unique_id=&quot;17791&quot;&gt;&lt;property id=&quot;20148&quot; value=&quot;5&quot;/&gt;&lt;property id=&quot;20300&quot; value=&quot;Slide 12&quot;/&gt;&lt;property id=&quot;20307&quot; value=&quot;273&quot;/&gt;&lt;/object&gt;&lt;object type=&quot;3&quot; unique_id=&quot;18610&quot;&gt;&lt;property id=&quot;20148&quot; value=&quot;5&quot;/&gt;&lt;property id=&quot;20300&quot; value=&quot;Slide 3&quot;/&gt;&lt;property id=&quot;20307&quot; value=&quot;280&quot;/&gt;&lt;/object&gt;&lt;object type=&quot;3&quot; unique_id=&quot;19771&quot;&gt;&lt;property id=&quot;20148&quot; value=&quot;5&quot;/&gt;&lt;property id=&quot;20300&quot; value=&quot;Slide 4&quot;/&gt;&lt;property id=&quot;20307&quot; value=&quot;286&quot;/&gt;&lt;/object&gt;&lt;object type=&quot;3&quot; unique_id=&quot;19772&quot;&gt;&lt;property id=&quot;20148&quot; value=&quot;5&quot;/&gt;&lt;property id=&quot;20300&quot; value=&quot;Slide 13&quot;/&gt;&lt;property id=&quot;20307&quot; value=&quot;287&quot;/&gt;&lt;/object&gt;&lt;object type=&quot;3&quot; unique_id=&quot;20164&quot;&gt;&lt;property id=&quot;20148&quot; value=&quot;5&quot;/&gt;&lt;property id=&quot;20300&quot; value=&quot;Slide 5&quot;/&gt;&lt;property id=&quot;20307&quot; value=&quot;290&quot;/&gt;&lt;/object&gt;&lt;object type=&quot;3&quot; unique_id=&quot;20165&quot;&gt;&lt;property id=&quot;20148&quot; value=&quot;5&quot;/&gt;&lt;property id=&quot;20300&quot; value=&quot;Slide 6&quot;/&gt;&lt;property id=&quot;20307&quot; value=&quot;291&quot;/&gt;&lt;/object&gt;&lt;object type=&quot;3&quot; unique_id=&quot;20166&quot;&gt;&lt;property id=&quot;20148&quot; value=&quot;5&quot;/&gt;&lt;property id=&quot;20300&quot; value=&quot;Slide 7&quot;/&gt;&lt;property id=&quot;20307&quot; value=&quot;292&quot;/&gt;&lt;/object&gt;&lt;object type=&quot;3&quot; unique_id=&quot;20167&quot;&gt;&lt;property id=&quot;20148&quot; value=&quot;5&quot;/&gt;&lt;property id=&quot;20300&quot; value=&quot;Slide 8&quot;/&gt;&lt;property id=&quot;20307&quot; value=&quot;293&quot;/&gt;&lt;/object&gt;&lt;object type=&quot;3&quot; unique_id=&quot;20168&quot;&gt;&lt;property id=&quot;20148&quot; value=&quot;5&quot;/&gt;&lt;property id=&quot;20300&quot; value=&quot;Slide 9&quot;/&gt;&lt;property id=&quot;20307&quot; value=&quot;294&quot;/&gt;&lt;/object&gt;&lt;object type=&quot;3&quot; unique_id=&quot;20169&quot;&gt;&lt;property id=&quot;20148&quot; value=&quot;5&quot;/&gt;&lt;property id=&quot;20300&quot; value=&quot;Slide 10&quot;/&gt;&lt;property id=&quot;20307&quot; value=&quot;295&quot;/&gt;&lt;/object&gt;&lt;object type=&quot;3&quot; unique_id=&quot;20170&quot;&gt;&lt;property id=&quot;20148&quot; value=&quot;5&quot;/&gt;&lt;property id=&quot;20300&quot; value=&quot;Slide 11&quot;/&gt;&lt;property id=&quot;20307&quot; value=&quot;296&quot;/&gt;&lt;/object&gt;&lt;object type=&quot;3&quot; unique_id=&quot;20290&quot;&gt;&lt;property id=&quot;20148&quot; value=&quot;5&quot;/&gt;&lt;property id=&quot;20300&quot; value=&quot;Slide 14&quot;/&gt;&lt;property id=&quot;20307&quot; value=&quot;29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11322</TotalTime>
  <Words>635</Words>
  <Application>Microsoft Office PowerPoint</Application>
  <PresentationFormat>On-screen Show (4:3)</PresentationFormat>
  <Paragraphs>63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Wireless and Mobile Communication (UEC 804)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Wireless and Mobile Communication (UEC 804)</dc:title>
  <dc:creator>Surbhi Sharma</dc:creator>
  <cp:lastModifiedBy>Surbhi Sharma</cp:lastModifiedBy>
  <cp:revision>71</cp:revision>
  <dcterms:created xsi:type="dcterms:W3CDTF">2020-06-07T16:43:59Z</dcterms:created>
  <dcterms:modified xsi:type="dcterms:W3CDTF">2020-07-06T16:45:01Z</dcterms:modified>
</cp:coreProperties>
</file>
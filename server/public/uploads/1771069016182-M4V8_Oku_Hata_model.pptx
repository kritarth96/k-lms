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62" r:id="rId2"/>
    <p:sldId id="263" r:id="rId3"/>
    <p:sldId id="264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57" r:id="rId12"/>
    <p:sldId id="258" r:id="rId13"/>
    <p:sldId id="259" r:id="rId14"/>
    <p:sldId id="260" r:id="rId15"/>
    <p:sldId id="265" r:id="rId16"/>
    <p:sldId id="266" r:id="rId17"/>
    <p:sldId id="267" r:id="rId18"/>
    <p:sldId id="268" r:id="rId19"/>
    <p:sldId id="261" r:id="rId20"/>
  </p:sldIdLst>
  <p:sldSz cx="9144000" cy="6858000" type="screen4x3"/>
  <p:notesSz cx="6858000" cy="9144000"/>
  <p:custDataLst>
    <p:tags r:id="rId2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0" d="100"/>
          <a:sy n="80" d="100"/>
        </p:scale>
        <p:origin x="-1445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3FBA13-97FA-4569-975D-E1D6004E3459}" type="datetimeFigureOut">
              <a:rPr lang="en-US" smtClean="0"/>
              <a:pPr/>
              <a:t>10/7/2020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575F75-C245-4BD0-B3FD-0D7F9CFB4E9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376728-E605-4C9D-BB71-97F5CA16A84A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C9AB1-BE88-4E15-AA39-6D2DA5744889}" type="datetimeFigureOut">
              <a:rPr lang="en-US" smtClean="0"/>
              <a:pPr/>
              <a:t>10/7/2020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1A407-F570-49D1-82E4-4E8134C096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C9AB1-BE88-4E15-AA39-6D2DA5744889}" type="datetimeFigureOut">
              <a:rPr lang="en-US" smtClean="0"/>
              <a:pPr/>
              <a:t>10/7/2020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1A407-F570-49D1-82E4-4E8134C096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C9AB1-BE88-4E15-AA39-6D2DA5744889}" type="datetimeFigureOut">
              <a:rPr lang="en-US" smtClean="0"/>
              <a:pPr/>
              <a:t>10/7/2020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1A407-F570-49D1-82E4-4E8134C096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C9AB1-BE88-4E15-AA39-6D2DA5744889}" type="datetimeFigureOut">
              <a:rPr lang="en-US" smtClean="0"/>
              <a:pPr/>
              <a:t>10/7/2020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1A407-F570-49D1-82E4-4E8134C096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C9AB1-BE88-4E15-AA39-6D2DA5744889}" type="datetimeFigureOut">
              <a:rPr lang="en-US" smtClean="0"/>
              <a:pPr/>
              <a:t>10/7/2020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1A407-F570-49D1-82E4-4E8134C096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C9AB1-BE88-4E15-AA39-6D2DA5744889}" type="datetimeFigureOut">
              <a:rPr lang="en-US" smtClean="0"/>
              <a:pPr/>
              <a:t>10/7/2020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1A407-F570-49D1-82E4-4E8134C096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C9AB1-BE88-4E15-AA39-6D2DA5744889}" type="datetimeFigureOut">
              <a:rPr lang="en-US" smtClean="0"/>
              <a:pPr/>
              <a:t>10/7/2020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1A407-F570-49D1-82E4-4E8134C096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C9AB1-BE88-4E15-AA39-6D2DA5744889}" type="datetimeFigureOut">
              <a:rPr lang="en-US" smtClean="0"/>
              <a:pPr/>
              <a:t>10/7/2020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1A407-F570-49D1-82E4-4E8134C096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C9AB1-BE88-4E15-AA39-6D2DA5744889}" type="datetimeFigureOut">
              <a:rPr lang="en-US" smtClean="0"/>
              <a:pPr/>
              <a:t>10/7/2020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1A407-F570-49D1-82E4-4E8134C096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C9AB1-BE88-4E15-AA39-6D2DA5744889}" type="datetimeFigureOut">
              <a:rPr lang="en-US" smtClean="0"/>
              <a:pPr/>
              <a:t>10/7/2020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1A407-F570-49D1-82E4-4E8134C096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C9AB1-BE88-4E15-AA39-6D2DA5744889}" type="datetimeFigureOut">
              <a:rPr lang="en-US" smtClean="0"/>
              <a:pPr/>
              <a:t>10/7/2020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1A407-F570-49D1-82E4-4E8134C096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5C9AB1-BE88-4E15-AA39-6D2DA5744889}" type="datetimeFigureOut">
              <a:rPr lang="en-US" smtClean="0"/>
              <a:pPr/>
              <a:t>10/7/2020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B1A407-F570-49D1-82E4-4E8134C096A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39775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Wireless and Mobile Communication</a:t>
            </a:r>
            <a:br>
              <a:rPr lang="en-US" dirty="0" smtClean="0"/>
            </a:br>
            <a:r>
              <a:rPr lang="en-US" dirty="0" smtClean="0"/>
              <a:t>(UEC 804) </a:t>
            </a:r>
            <a:endParaRPr lang="en-US" dirty="0"/>
          </a:p>
        </p:txBody>
      </p:sp>
      <p:grpSp>
        <p:nvGrpSpPr>
          <p:cNvPr id="3" name="Group 4"/>
          <p:cNvGrpSpPr/>
          <p:nvPr/>
        </p:nvGrpSpPr>
        <p:grpSpPr>
          <a:xfrm>
            <a:off x="0" y="65325"/>
            <a:ext cx="8991600" cy="6158741"/>
            <a:chOff x="0" y="65325"/>
            <a:chExt cx="8991600" cy="6158741"/>
          </a:xfrm>
        </p:grpSpPr>
        <p:sp>
          <p:nvSpPr>
            <p:cNvPr id="6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333635" y="685800"/>
              <a:ext cx="8505563" cy="5538266"/>
              <a:chOff x="211286" y="1131023"/>
              <a:chExt cx="13623320" cy="6982618"/>
            </a:xfrm>
          </p:grpSpPr>
          <p:grpSp>
            <p:nvGrpSpPr>
              <p:cNvPr id="5" name="Group 44"/>
              <p:cNvGrpSpPr/>
              <p:nvPr/>
            </p:nvGrpSpPr>
            <p:grpSpPr>
              <a:xfrm>
                <a:off x="211286" y="1586248"/>
                <a:ext cx="13623320" cy="6527393"/>
                <a:chOff x="211286" y="1586248"/>
                <a:chExt cx="13623320" cy="6527393"/>
              </a:xfrm>
            </p:grpSpPr>
            <p:sp>
              <p:nvSpPr>
                <p:cNvPr id="10" name="Half Frame 9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Half Frame 10"/>
                <p:cNvSpPr/>
                <p:nvPr/>
              </p:nvSpPr>
              <p:spPr>
                <a:xfrm rot="16200000">
                  <a:off x="272317" y="6175105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5400000">
                  <a:off x="12337403" y="1525217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16200000">
                  <a:off x="720674" y="6616438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9" name="Half Frame 7"/>
              <p:cNvSpPr/>
              <p:nvPr/>
            </p:nvSpPr>
            <p:spPr>
              <a:xfrm rot="5400000">
                <a:off x="12013153" y="1022867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4" name="TextBox 13"/>
          <p:cNvSpPr txBox="1"/>
          <p:nvPr/>
        </p:nvSpPr>
        <p:spPr>
          <a:xfrm>
            <a:off x="1143000" y="4743271"/>
            <a:ext cx="685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Reference Text book</a:t>
            </a:r>
          </a:p>
          <a:p>
            <a:pPr algn="ctr"/>
            <a:r>
              <a:rPr lang="en-US" dirty="0" smtClean="0">
                <a:solidFill>
                  <a:srgbClr val="C00000"/>
                </a:solidFill>
              </a:rPr>
              <a:t>“Wireless communication_ principles and practices” (Second </a:t>
            </a:r>
            <a:r>
              <a:rPr lang="en-US" dirty="0">
                <a:solidFill>
                  <a:srgbClr val="C00000"/>
                </a:solidFill>
              </a:rPr>
              <a:t>E</a:t>
            </a:r>
            <a:r>
              <a:rPr lang="en-US" dirty="0" smtClean="0">
                <a:solidFill>
                  <a:srgbClr val="C00000"/>
                </a:solidFill>
              </a:rPr>
              <a:t>dition )</a:t>
            </a:r>
          </a:p>
          <a:p>
            <a:pPr algn="ctr"/>
            <a:r>
              <a:rPr lang="en-US" dirty="0" smtClean="0">
                <a:solidFill>
                  <a:srgbClr val="C00000"/>
                </a:solidFill>
              </a:rPr>
              <a:t>Author: Theodore s Rapport</a:t>
            </a:r>
          </a:p>
          <a:p>
            <a:pPr algn="ctr"/>
            <a:r>
              <a:rPr lang="en-US" dirty="0" smtClean="0">
                <a:solidFill>
                  <a:srgbClr val="C00000"/>
                </a:solidFill>
              </a:rPr>
              <a:t>Publisher: Prentice Hall (2002)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438400" y="2286000"/>
            <a:ext cx="5562600" cy="1447800"/>
          </a:xfrm>
        </p:spPr>
        <p:txBody>
          <a:bodyPr/>
          <a:lstStyle/>
          <a:p>
            <a:pPr>
              <a:buNone/>
            </a:pPr>
            <a:r>
              <a:rPr lang="en-US" sz="6600" dirty="0" smtClean="0">
                <a:solidFill>
                  <a:srgbClr val="C00000"/>
                </a:solidFill>
              </a:rPr>
              <a:t>MODULE -IV</a:t>
            </a:r>
            <a:endParaRPr lang="en-US" dirty="0">
              <a:solidFill>
                <a:srgbClr val="C00000"/>
              </a:solidFill>
            </a:endParaRPr>
          </a:p>
        </p:txBody>
      </p:sp>
      <p:grpSp>
        <p:nvGrpSpPr>
          <p:cNvPr id="2" name="Group 14"/>
          <p:cNvGrpSpPr/>
          <p:nvPr/>
        </p:nvGrpSpPr>
        <p:grpSpPr>
          <a:xfrm>
            <a:off x="0" y="65325"/>
            <a:ext cx="8991600" cy="6158741"/>
            <a:chOff x="0" y="65325"/>
            <a:chExt cx="8991600" cy="6158741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333635" y="685800"/>
              <a:ext cx="8505565" cy="5538266"/>
              <a:chOff x="211286" y="1131023"/>
              <a:chExt cx="13623320" cy="6982618"/>
            </a:xfrm>
          </p:grpSpPr>
          <p:grpSp>
            <p:nvGrpSpPr>
              <p:cNvPr id="6" name="Group 44"/>
              <p:cNvGrpSpPr/>
              <p:nvPr/>
            </p:nvGrpSpPr>
            <p:grpSpPr>
              <a:xfrm>
                <a:off x="211286" y="1586248"/>
                <a:ext cx="13623320" cy="6527393"/>
                <a:chOff x="211286" y="1586248"/>
                <a:chExt cx="13623320" cy="6527393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272317" y="6175105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337403" y="1525217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720674" y="6616438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013153" y="1022867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8991600" cy="6792675"/>
            <a:chOff x="0" y="65325"/>
            <a:chExt cx="89916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685800"/>
              <a:ext cx="8839200" cy="6172200"/>
              <a:chOff x="-323094" y="1131023"/>
              <a:chExt cx="14157700" cy="7781879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586248"/>
                <a:ext cx="14157700" cy="7326654"/>
                <a:chOff x="-323094" y="1586248"/>
                <a:chExt cx="14157700" cy="7326654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337403" y="1525217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013153" y="1022867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457200" y="990600"/>
            <a:ext cx="730520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  <a:ea typeface="+mj-ea"/>
                <a:cs typeface="+mj-cs"/>
              </a:rPr>
              <a:t>Topics </a:t>
            </a:r>
            <a:r>
              <a:rPr lang="en-US" sz="3600" dirty="0" smtClean="0">
                <a:solidFill>
                  <a:srgbClr val="C00000"/>
                </a:solidFill>
                <a:ea typeface="+mj-ea"/>
                <a:cs typeface="+mj-cs"/>
              </a:rPr>
              <a:t>covered  till now in this module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838200" y="1828800"/>
            <a:ext cx="426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85750">
              <a:buFont typeface="Arial" pitchFamily="34" charset="0"/>
              <a:buChar char="•"/>
            </a:pPr>
            <a:r>
              <a:rPr lang="en-US" sz="2000" dirty="0" smtClean="0"/>
              <a:t>Propagation Basics</a:t>
            </a:r>
            <a:endParaRPr lang="en-US" sz="2000" dirty="0"/>
          </a:p>
        </p:txBody>
      </p:sp>
      <p:sp>
        <p:nvSpPr>
          <p:cNvPr id="15" name="Rectangle 14"/>
          <p:cNvSpPr/>
          <p:nvPr/>
        </p:nvSpPr>
        <p:spPr>
          <a:xfrm>
            <a:off x="838200" y="4267200"/>
            <a:ext cx="637758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  <a:ea typeface="+mj-ea"/>
                <a:cs typeface="+mj-cs"/>
              </a:rPr>
              <a:t>Topics </a:t>
            </a:r>
            <a:r>
              <a:rPr lang="en-US" sz="3600" dirty="0" smtClean="0">
                <a:solidFill>
                  <a:srgbClr val="C00000"/>
                </a:solidFill>
                <a:ea typeface="+mj-ea"/>
                <a:cs typeface="+mj-cs"/>
              </a:rPr>
              <a:t>to be covered </a:t>
            </a:r>
            <a:r>
              <a:rPr lang="en-US" sz="3600" dirty="0">
                <a:solidFill>
                  <a:srgbClr val="C00000"/>
                </a:solidFill>
                <a:ea typeface="+mj-ea"/>
                <a:cs typeface="+mj-cs"/>
              </a:rPr>
              <a:t>in </a:t>
            </a:r>
            <a:r>
              <a:rPr lang="en-US" sz="3600" dirty="0" smtClean="0">
                <a:solidFill>
                  <a:srgbClr val="C00000"/>
                </a:solidFill>
                <a:ea typeface="+mj-ea"/>
                <a:cs typeface="+mj-cs"/>
              </a:rPr>
              <a:t>this video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838200" y="2209800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3363" indent="-233363">
              <a:buFont typeface="Arial" pitchFamily="34" charset="0"/>
              <a:buChar char="•"/>
            </a:pPr>
            <a:r>
              <a:rPr lang="en-US" dirty="0" smtClean="0"/>
              <a:t> Antenna Basics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838200" y="2971800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3363" indent="-233363">
              <a:buFont typeface="Arial" pitchFamily="34" charset="0"/>
              <a:buChar char="•"/>
            </a:pPr>
            <a:r>
              <a:rPr lang="en-US" dirty="0" smtClean="0"/>
              <a:t>Two Ray Model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838200" y="2602468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3363" indent="-233363">
              <a:buFont typeface="Arial" pitchFamily="34" charset="0"/>
              <a:buChar char="•"/>
            </a:pPr>
            <a:r>
              <a:rPr lang="en-US" dirty="0" smtClean="0"/>
              <a:t> Reflection 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838200" y="3276600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3363" indent="-233363">
              <a:buFont typeface="Arial" pitchFamily="34" charset="0"/>
              <a:buChar char="•"/>
            </a:pPr>
            <a:r>
              <a:rPr lang="en-US" dirty="0" smtClean="0"/>
              <a:t>Diffraction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838200" y="3962400"/>
            <a:ext cx="426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3363" indent="-233363">
              <a:buFont typeface="Arial" pitchFamily="34" charset="0"/>
              <a:buChar char="•"/>
            </a:pPr>
            <a:r>
              <a:rPr lang="en-US" dirty="0" smtClean="0"/>
              <a:t> Outdoor propagation model</a:t>
            </a:r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851608" y="3581400"/>
            <a:ext cx="13581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33363" indent="-233363">
              <a:buFont typeface="Arial" pitchFamily="34" charset="0"/>
              <a:buChar char="•"/>
            </a:pPr>
            <a:r>
              <a:rPr lang="en-US" dirty="0" smtClean="0"/>
              <a:t>Scattering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990600" y="4800600"/>
            <a:ext cx="426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3363" indent="-233363">
              <a:buFont typeface="Arial" pitchFamily="34" charset="0"/>
              <a:buChar char="•"/>
            </a:pPr>
            <a:r>
              <a:rPr lang="en-US" dirty="0" smtClean="0"/>
              <a:t>Okumura and </a:t>
            </a:r>
            <a:r>
              <a:rPr lang="en-US" dirty="0" err="1" smtClean="0"/>
              <a:t>Hata</a:t>
            </a:r>
            <a:r>
              <a:rPr lang="en-US" dirty="0" smtClean="0"/>
              <a:t> model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9275" y="1463675"/>
            <a:ext cx="8045450" cy="393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3" name="Group 14"/>
          <p:cNvGrpSpPr/>
          <p:nvPr/>
        </p:nvGrpSpPr>
        <p:grpSpPr>
          <a:xfrm>
            <a:off x="0" y="65325"/>
            <a:ext cx="8991600" cy="6792675"/>
            <a:chOff x="0" y="65325"/>
            <a:chExt cx="8991600" cy="6792675"/>
          </a:xfrm>
        </p:grpSpPr>
        <p:sp>
          <p:nvSpPr>
            <p:cNvPr id="4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0" y="685800"/>
              <a:ext cx="8839197" cy="6172200"/>
              <a:chOff x="-323094" y="1131023"/>
              <a:chExt cx="14157700" cy="7781879"/>
            </a:xfrm>
          </p:grpSpPr>
          <p:grpSp>
            <p:nvGrpSpPr>
              <p:cNvPr id="6" name="Group 44"/>
              <p:cNvGrpSpPr/>
              <p:nvPr/>
            </p:nvGrpSpPr>
            <p:grpSpPr>
              <a:xfrm>
                <a:off x="-323094" y="1586248"/>
                <a:ext cx="14157700" cy="7326654"/>
                <a:chOff x="-323094" y="1586248"/>
                <a:chExt cx="14157700" cy="7326654"/>
              </a:xfrm>
            </p:grpSpPr>
            <p:sp>
              <p:nvSpPr>
                <p:cNvPr id="8" name="Half Frame 7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" name="Half Frame 8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Half Frame 9"/>
                <p:cNvSpPr/>
                <p:nvPr/>
              </p:nvSpPr>
              <p:spPr>
                <a:xfrm rot="5400000">
                  <a:off x="12337403" y="1525217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Half Frame 10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7" name="Half Frame 7"/>
              <p:cNvSpPr/>
              <p:nvPr/>
            </p:nvSpPr>
            <p:spPr>
              <a:xfrm rot="5400000">
                <a:off x="12013153" y="1022867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8991600" cy="6792675"/>
            <a:chOff x="0" y="65325"/>
            <a:chExt cx="8991600" cy="6792675"/>
          </a:xfrm>
        </p:grpSpPr>
        <p:sp>
          <p:nvSpPr>
            <p:cNvPr id="3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0" y="685800"/>
              <a:ext cx="8839197" cy="6172200"/>
              <a:chOff x="-323094" y="1131023"/>
              <a:chExt cx="14157700" cy="7781879"/>
            </a:xfrm>
          </p:grpSpPr>
          <p:grpSp>
            <p:nvGrpSpPr>
              <p:cNvPr id="5" name="Group 44"/>
              <p:cNvGrpSpPr/>
              <p:nvPr/>
            </p:nvGrpSpPr>
            <p:grpSpPr>
              <a:xfrm>
                <a:off x="-323094" y="1586248"/>
                <a:ext cx="14157700" cy="7326654"/>
                <a:chOff x="-323094" y="1586248"/>
                <a:chExt cx="14157700" cy="7326654"/>
              </a:xfrm>
            </p:grpSpPr>
            <p:sp>
              <p:nvSpPr>
                <p:cNvPr id="7" name="Half Frame 6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8" name="Half Frame 7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" name="Half Frame 8"/>
                <p:cNvSpPr/>
                <p:nvPr/>
              </p:nvSpPr>
              <p:spPr>
                <a:xfrm rot="5400000">
                  <a:off x="12337403" y="1525217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Half Frame 9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6" name="Half Frame 7"/>
              <p:cNvSpPr/>
              <p:nvPr/>
            </p:nvSpPr>
            <p:spPr>
              <a:xfrm rot="5400000">
                <a:off x="12013153" y="1022867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6306" y="1209674"/>
            <a:ext cx="7924269" cy="458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8991600" cy="6792675"/>
            <a:chOff x="0" y="65325"/>
            <a:chExt cx="8991600" cy="6792675"/>
          </a:xfrm>
        </p:grpSpPr>
        <p:sp>
          <p:nvSpPr>
            <p:cNvPr id="3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0" y="685800"/>
              <a:ext cx="8839197" cy="6172200"/>
              <a:chOff x="-323094" y="1131023"/>
              <a:chExt cx="14157700" cy="7781879"/>
            </a:xfrm>
          </p:grpSpPr>
          <p:grpSp>
            <p:nvGrpSpPr>
              <p:cNvPr id="5" name="Group 44"/>
              <p:cNvGrpSpPr/>
              <p:nvPr/>
            </p:nvGrpSpPr>
            <p:grpSpPr>
              <a:xfrm>
                <a:off x="-323094" y="1586248"/>
                <a:ext cx="14157700" cy="7326654"/>
                <a:chOff x="-323094" y="1586248"/>
                <a:chExt cx="14157700" cy="7326654"/>
              </a:xfrm>
            </p:grpSpPr>
            <p:sp>
              <p:nvSpPr>
                <p:cNvPr id="7" name="Half Frame 6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8" name="Half Frame 7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" name="Half Frame 8"/>
                <p:cNvSpPr/>
                <p:nvPr/>
              </p:nvSpPr>
              <p:spPr>
                <a:xfrm rot="5400000">
                  <a:off x="12337403" y="1525217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Half Frame 9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6" name="Half Frame 7"/>
              <p:cNvSpPr/>
              <p:nvPr/>
            </p:nvSpPr>
            <p:spPr>
              <a:xfrm rot="5400000">
                <a:off x="12013153" y="1022867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8113" y="671513"/>
            <a:ext cx="8867775" cy="551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8991600" cy="6792675"/>
            <a:chOff x="0" y="65325"/>
            <a:chExt cx="8991600" cy="6792675"/>
          </a:xfrm>
        </p:grpSpPr>
        <p:sp>
          <p:nvSpPr>
            <p:cNvPr id="3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0" y="685800"/>
              <a:ext cx="8839197" cy="6172200"/>
              <a:chOff x="-323094" y="1131023"/>
              <a:chExt cx="14157700" cy="7781879"/>
            </a:xfrm>
          </p:grpSpPr>
          <p:grpSp>
            <p:nvGrpSpPr>
              <p:cNvPr id="5" name="Group 44"/>
              <p:cNvGrpSpPr/>
              <p:nvPr/>
            </p:nvGrpSpPr>
            <p:grpSpPr>
              <a:xfrm>
                <a:off x="-323094" y="1586248"/>
                <a:ext cx="14157700" cy="7326654"/>
                <a:chOff x="-323094" y="1586248"/>
                <a:chExt cx="14157700" cy="7326654"/>
              </a:xfrm>
            </p:grpSpPr>
            <p:sp>
              <p:nvSpPr>
                <p:cNvPr id="7" name="Half Frame 6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8" name="Half Frame 7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" name="Half Frame 8"/>
                <p:cNvSpPr/>
                <p:nvPr/>
              </p:nvSpPr>
              <p:spPr>
                <a:xfrm rot="5400000">
                  <a:off x="12337403" y="1525217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Half Frame 9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6" name="Half Frame 7"/>
              <p:cNvSpPr/>
              <p:nvPr/>
            </p:nvSpPr>
            <p:spPr>
              <a:xfrm rot="5400000">
                <a:off x="12013153" y="1022867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8163" y="1071563"/>
            <a:ext cx="8067675" cy="471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8991600" cy="6792675"/>
            <a:chOff x="0" y="65325"/>
            <a:chExt cx="8991600" cy="6792675"/>
          </a:xfrm>
        </p:grpSpPr>
        <p:sp>
          <p:nvSpPr>
            <p:cNvPr id="3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0" y="685800"/>
              <a:ext cx="8839197" cy="6172200"/>
              <a:chOff x="-323094" y="1131023"/>
              <a:chExt cx="14157700" cy="7781879"/>
            </a:xfrm>
          </p:grpSpPr>
          <p:grpSp>
            <p:nvGrpSpPr>
              <p:cNvPr id="5" name="Group 44"/>
              <p:cNvGrpSpPr/>
              <p:nvPr/>
            </p:nvGrpSpPr>
            <p:grpSpPr>
              <a:xfrm>
                <a:off x="-323094" y="1586248"/>
                <a:ext cx="14157700" cy="7326654"/>
                <a:chOff x="-323094" y="1586248"/>
                <a:chExt cx="14157700" cy="7326654"/>
              </a:xfrm>
            </p:grpSpPr>
            <p:sp>
              <p:nvSpPr>
                <p:cNvPr id="7" name="Half Frame 6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8" name="Half Frame 7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" name="Half Frame 8"/>
                <p:cNvSpPr/>
                <p:nvPr/>
              </p:nvSpPr>
              <p:spPr>
                <a:xfrm rot="5400000">
                  <a:off x="12337403" y="1525217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Half Frame 9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6" name="Half Frame 7"/>
              <p:cNvSpPr/>
              <p:nvPr/>
            </p:nvSpPr>
            <p:spPr>
              <a:xfrm rot="5400000">
                <a:off x="12013153" y="1022867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0025" y="709613"/>
            <a:ext cx="8743950" cy="543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3999" cy="6792675"/>
            <a:chOff x="0" y="65325"/>
            <a:chExt cx="9143999" cy="6792675"/>
          </a:xfrm>
        </p:grpSpPr>
        <p:sp>
          <p:nvSpPr>
            <p:cNvPr id="3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0" y="457200"/>
              <a:ext cx="9143999" cy="6400800"/>
              <a:chOff x="-323094" y="842804"/>
              <a:chExt cx="14645900" cy="8070098"/>
            </a:xfrm>
          </p:grpSpPr>
          <p:grpSp>
            <p:nvGrpSpPr>
              <p:cNvPr id="5" name="Group 44"/>
              <p:cNvGrpSpPr/>
              <p:nvPr/>
            </p:nvGrpSpPr>
            <p:grpSpPr>
              <a:xfrm>
                <a:off x="-323094" y="1298029"/>
                <a:ext cx="14645900" cy="7614873"/>
                <a:chOff x="-323094" y="1298029"/>
                <a:chExt cx="14645900" cy="7614873"/>
              </a:xfrm>
            </p:grpSpPr>
            <p:sp>
              <p:nvSpPr>
                <p:cNvPr id="7" name="Half Frame 6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8" name="Half Frame 7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" name="Half Frame 8"/>
                <p:cNvSpPr/>
                <p:nvPr/>
              </p:nvSpPr>
              <p:spPr>
                <a:xfrm rot="5400000">
                  <a:off x="12825604" y="1236998"/>
                  <a:ext cx="1436172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Half Frame 9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6" name="Half Frame 7"/>
              <p:cNvSpPr/>
              <p:nvPr/>
            </p:nvSpPr>
            <p:spPr>
              <a:xfrm rot="5400000">
                <a:off x="12501355" y="734648"/>
                <a:ext cx="1341921" cy="1558233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143000"/>
            <a:ext cx="8195243" cy="4738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8991600" cy="6792675"/>
            <a:chOff x="0" y="65325"/>
            <a:chExt cx="8991600" cy="6792675"/>
          </a:xfrm>
        </p:grpSpPr>
        <p:sp>
          <p:nvSpPr>
            <p:cNvPr id="3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0" y="685800"/>
              <a:ext cx="8839197" cy="6172200"/>
              <a:chOff x="-323094" y="1131023"/>
              <a:chExt cx="14157700" cy="7781879"/>
            </a:xfrm>
          </p:grpSpPr>
          <p:grpSp>
            <p:nvGrpSpPr>
              <p:cNvPr id="5" name="Group 44"/>
              <p:cNvGrpSpPr/>
              <p:nvPr/>
            </p:nvGrpSpPr>
            <p:grpSpPr>
              <a:xfrm>
                <a:off x="-323094" y="1586248"/>
                <a:ext cx="14157700" cy="7326654"/>
                <a:chOff x="-323094" y="1586248"/>
                <a:chExt cx="14157700" cy="7326654"/>
              </a:xfrm>
            </p:grpSpPr>
            <p:sp>
              <p:nvSpPr>
                <p:cNvPr id="7" name="Half Frame 6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8" name="Half Frame 7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" name="Half Frame 8"/>
                <p:cNvSpPr/>
                <p:nvPr/>
              </p:nvSpPr>
              <p:spPr>
                <a:xfrm rot="5400000">
                  <a:off x="12337403" y="1525217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Half Frame 9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6" name="Half Frame 7"/>
              <p:cNvSpPr/>
              <p:nvPr/>
            </p:nvSpPr>
            <p:spPr>
              <a:xfrm rot="5400000">
                <a:off x="12013153" y="1022867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990600"/>
            <a:ext cx="8005181" cy="447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11</a:t>
            </a:fld>
            <a:endParaRPr lang="en-US"/>
          </a:p>
        </p:txBody>
      </p:sp>
      <p:grpSp>
        <p:nvGrpSpPr>
          <p:cNvPr id="3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4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0" y="404838"/>
              <a:ext cx="9143997" cy="6453162"/>
              <a:chOff x="-323094" y="776786"/>
              <a:chExt cx="14645896" cy="8136116"/>
            </a:xfrm>
          </p:grpSpPr>
          <p:grpSp>
            <p:nvGrpSpPr>
              <p:cNvPr id="6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8" name="Half Frame 7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" name="Half Frame 8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Half Frame 9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Half Frame 10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7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2" name="Rectangle 11"/>
          <p:cNvSpPr/>
          <p:nvPr/>
        </p:nvSpPr>
        <p:spPr>
          <a:xfrm>
            <a:off x="990600" y="1"/>
            <a:ext cx="7467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</a:rPr>
              <a:t>Okumura Model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52400" y="885885"/>
            <a:ext cx="84582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/>
              <a:t> In 1968 Okumura did a lot of measurements and produce a new model. </a:t>
            </a:r>
          </a:p>
          <a:p>
            <a:pPr marL="457200" indent="-4572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/>
              <a:t>The new model was used for signal prediction in Urban areas. </a:t>
            </a:r>
          </a:p>
          <a:p>
            <a:pPr marL="457200" indent="-4572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/>
              <a:t>Okumura introduced a graphical method to predict the median attenuation relative to free-space for a quasi-smooth terrain </a:t>
            </a:r>
          </a:p>
          <a:p>
            <a:pPr marL="457200" indent="-4572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/>
              <a:t> The model consists of a set of curves developed from measurements and is valid for a particular set of system parameters in terms of carrier frequency, antenna height, etc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12</a:t>
            </a:fld>
            <a:endParaRPr lang="en-US"/>
          </a:p>
        </p:txBody>
      </p:sp>
      <p:grpSp>
        <p:nvGrpSpPr>
          <p:cNvPr id="3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4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0" y="404838"/>
              <a:ext cx="9143997" cy="6453162"/>
              <a:chOff x="-323094" y="776786"/>
              <a:chExt cx="14645896" cy="8136116"/>
            </a:xfrm>
          </p:grpSpPr>
          <p:grpSp>
            <p:nvGrpSpPr>
              <p:cNvPr id="6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8" name="Half Frame 7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" name="Half Frame 8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Half Frame 9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Half Frame 10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7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2" name="Rectangle 11"/>
          <p:cNvSpPr/>
          <p:nvPr/>
        </p:nvSpPr>
        <p:spPr>
          <a:xfrm>
            <a:off x="990600" y="1"/>
            <a:ext cx="7467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</a:rPr>
              <a:t>Okumura Model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81000" y="533400"/>
            <a:ext cx="822960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/>
              <a:t>First of all the model determined the free space path loss of link. </a:t>
            </a:r>
          </a:p>
          <a:p>
            <a:pPr marL="228600" indent="-2286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/>
              <a:t>After the free-space path loss has been computed, the median attenuation, as given by Okumura’s curves has to be taken to account </a:t>
            </a:r>
          </a:p>
          <a:p>
            <a:pPr marL="228600" indent="-2286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/>
              <a:t>The model was designed for use in the frequency range 150 MHz to 1920 MHz and mostly in an urban propagation environment.</a:t>
            </a:r>
          </a:p>
          <a:p>
            <a:pPr marL="228600" indent="-2286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/>
              <a:t>Okumura’s model assumes that the path loss between the TX and RX in the terrestrial propagation environment can be expressed as: </a:t>
            </a:r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38400" y="6019800"/>
            <a:ext cx="5410200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13</a:t>
            </a:fld>
            <a:endParaRPr lang="en-US"/>
          </a:p>
        </p:txBody>
      </p:sp>
      <p:grpSp>
        <p:nvGrpSpPr>
          <p:cNvPr id="3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4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0" y="404838"/>
              <a:ext cx="9143997" cy="6453162"/>
              <a:chOff x="-323094" y="776786"/>
              <a:chExt cx="14645896" cy="8136116"/>
            </a:xfrm>
          </p:grpSpPr>
          <p:grpSp>
            <p:nvGrpSpPr>
              <p:cNvPr id="6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8" name="Half Frame 7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" name="Half Frame 8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Half Frame 9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Half Frame 10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7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2" name="Rectangle 11"/>
          <p:cNvSpPr/>
          <p:nvPr/>
        </p:nvSpPr>
        <p:spPr>
          <a:xfrm>
            <a:off x="990600" y="1"/>
            <a:ext cx="7467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</a:rPr>
              <a:t>Okumura Model</a:t>
            </a:r>
            <a:endParaRPr lang="en-US" sz="3200" b="1" dirty="0">
              <a:solidFill>
                <a:schemeClr val="bg1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890588"/>
            <a:ext cx="8058596" cy="5053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14</a:t>
            </a:fld>
            <a:endParaRPr lang="en-US"/>
          </a:p>
        </p:txBody>
      </p:sp>
      <p:grpSp>
        <p:nvGrpSpPr>
          <p:cNvPr id="3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4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0" y="404838"/>
              <a:ext cx="9143997" cy="6453162"/>
              <a:chOff x="-323094" y="776786"/>
              <a:chExt cx="14645896" cy="8136116"/>
            </a:xfrm>
          </p:grpSpPr>
          <p:grpSp>
            <p:nvGrpSpPr>
              <p:cNvPr id="6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8" name="Half Frame 7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" name="Half Frame 8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Half Frame 9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Half Frame 10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7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2" name="Rectangle 11"/>
          <p:cNvSpPr/>
          <p:nvPr/>
        </p:nvSpPr>
        <p:spPr>
          <a:xfrm>
            <a:off x="990600" y="1"/>
            <a:ext cx="7467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</a:rPr>
              <a:t>Okumura Model</a:t>
            </a:r>
            <a:endParaRPr lang="en-US" sz="3200" b="1" dirty="0">
              <a:solidFill>
                <a:schemeClr val="bg1"/>
              </a:solidFill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0550" y="952500"/>
            <a:ext cx="79629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914400"/>
            <a:ext cx="7272338" cy="5434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3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4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0" y="404838"/>
              <a:ext cx="9143997" cy="6453162"/>
              <a:chOff x="-323094" y="776786"/>
              <a:chExt cx="14645896" cy="8136116"/>
            </a:xfrm>
          </p:grpSpPr>
          <p:grpSp>
            <p:nvGrpSpPr>
              <p:cNvPr id="6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8" name="Half Frame 7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" name="Half Frame 8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Half Frame 9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Half Frame 10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7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2" name="Rectangle 11"/>
          <p:cNvSpPr/>
          <p:nvPr/>
        </p:nvSpPr>
        <p:spPr>
          <a:xfrm>
            <a:off x="990600" y="1"/>
            <a:ext cx="7467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</a:rPr>
              <a:t>Okumura Model</a:t>
            </a:r>
            <a:endParaRPr lang="en-US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3438" y="666750"/>
            <a:ext cx="7477125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4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0" y="404838"/>
              <a:ext cx="9143997" cy="6453162"/>
              <a:chOff x="-323094" y="776786"/>
              <a:chExt cx="14645896" cy="8136116"/>
            </a:xfrm>
          </p:grpSpPr>
          <p:grpSp>
            <p:nvGrpSpPr>
              <p:cNvPr id="7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9" name="Half Frame 8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Half Frame 9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Half Frame 10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8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3" name="Rectangle 12"/>
          <p:cNvSpPr/>
          <p:nvPr/>
        </p:nvSpPr>
        <p:spPr>
          <a:xfrm>
            <a:off x="990600" y="1"/>
            <a:ext cx="7467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</a:rPr>
              <a:t>Okumura Model</a:t>
            </a:r>
            <a:endParaRPr lang="en-US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2900" y="1162050"/>
            <a:ext cx="8458200" cy="453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3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4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0" y="404838"/>
              <a:ext cx="9143997" cy="6453162"/>
              <a:chOff x="-323094" y="776786"/>
              <a:chExt cx="14645896" cy="8136116"/>
            </a:xfrm>
          </p:grpSpPr>
          <p:grpSp>
            <p:nvGrpSpPr>
              <p:cNvPr id="6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8" name="Half Frame 7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" name="Half Frame 8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Half Frame 9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Half Frame 10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7" name="Half Frame 6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2" name="Rectangle 11"/>
          <p:cNvSpPr/>
          <p:nvPr/>
        </p:nvSpPr>
        <p:spPr>
          <a:xfrm>
            <a:off x="990600" y="1"/>
            <a:ext cx="7467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</a:rPr>
              <a:t>HATA Model</a:t>
            </a:r>
            <a:endParaRPr lang="en-US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3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4" name="Group 3"/>
            <p:cNvGrpSpPr/>
            <p:nvPr/>
          </p:nvGrpSpPr>
          <p:grpSpPr>
            <a:xfrm>
              <a:off x="0" y="404838"/>
              <a:ext cx="9143997" cy="6453162"/>
              <a:chOff x="-323094" y="776786"/>
              <a:chExt cx="14645896" cy="8136116"/>
            </a:xfrm>
          </p:grpSpPr>
          <p:grpSp>
            <p:nvGrpSpPr>
              <p:cNvPr id="5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7" name="Half Frame 6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8" name="Half Frame 7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" name="Half Frame 8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Half Frame 9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6" name="Half Frame 5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1" name="Rectangle 10"/>
          <p:cNvSpPr/>
          <p:nvPr/>
        </p:nvSpPr>
        <p:spPr>
          <a:xfrm>
            <a:off x="990600" y="1"/>
            <a:ext cx="7467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</a:rPr>
              <a:t>HATA Model</a:t>
            </a:r>
            <a:endParaRPr lang="en-US" sz="3200" b="1" dirty="0">
              <a:solidFill>
                <a:schemeClr val="bg1"/>
              </a:solidFill>
            </a:endParaRP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9113" y="1057275"/>
            <a:ext cx="8105775" cy="474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/>
          <p:nvPr/>
        </p:nvGrpSpPr>
        <p:grpSpPr>
          <a:xfrm>
            <a:off x="76200" y="65325"/>
            <a:ext cx="9067800" cy="6855826"/>
            <a:chOff x="0" y="65325"/>
            <a:chExt cx="9067800" cy="6432478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504496"/>
              <a:ext cx="9067798" cy="5993307"/>
              <a:chOff x="-323093" y="902435"/>
              <a:chExt cx="14523851" cy="7556333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3" y="1357660"/>
                <a:ext cx="14523851" cy="7101108"/>
                <a:chOff x="-323093" y="1357660"/>
                <a:chExt cx="14523851" cy="7101108"/>
              </a:xfrm>
            </p:grpSpPr>
            <p:sp>
              <p:nvSpPr>
                <p:cNvPr id="9" name="Half Frame 8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Half Frame 9"/>
                <p:cNvSpPr/>
                <p:nvPr/>
              </p:nvSpPr>
              <p:spPr>
                <a:xfrm rot="16200000">
                  <a:off x="-262063" y="6520234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Half Frame 10"/>
                <p:cNvSpPr/>
                <p:nvPr/>
              </p:nvSpPr>
              <p:spPr>
                <a:xfrm rot="5400000">
                  <a:off x="12703555" y="1296630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186294" y="6961565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8" name="Half Frame 7"/>
              <p:cNvSpPr/>
              <p:nvPr/>
            </p:nvSpPr>
            <p:spPr>
              <a:xfrm rot="5400000">
                <a:off x="12379305" y="794279"/>
                <a:ext cx="1341921" cy="1558233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16" name="image96.png"/>
          <p:cNvPicPr/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15892" y="1482242"/>
            <a:ext cx="6991913" cy="3928567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12"/>
  <p:tag name="MMPROD_UIDATA" val="&lt;database version=&quot;11.0&quot;&gt;&lt;object type=&quot;1&quot; unique_id=&quot;10001&quot;&gt;&lt;object type=&quot;2&quot; unique_id=&quot;23119&quot;&gt;&lt;object type=&quot;3&quot; unique_id=&quot;23120&quot;&gt;&lt;property id=&quot;20148&quot; value=&quot;5&quot;/&gt;&lt;property id=&quot;20300&quot; value=&quot;Slide 1 - &amp;quot;Wireless and Mobile Communication (UEC 804) &amp;quot;&quot;/&gt;&lt;property id=&quot;20307&quot; value=&quot;262&quot;/&gt;&lt;/object&gt;&lt;object type=&quot;3&quot; unique_id=&quot;23121&quot;&gt;&lt;property id=&quot;20148&quot; value=&quot;5&quot;/&gt;&lt;property id=&quot;20300&quot; value=&quot;Slide 2&quot;/&gt;&lt;property id=&quot;20307&quot; value=&quot;263&quot;/&gt;&lt;/object&gt;&lt;object type=&quot;3&quot; unique_id=&quot;23122&quot;&gt;&lt;property id=&quot;20148&quot; value=&quot;5&quot;/&gt;&lt;property id=&quot;20300&quot; value=&quot;Slide 3&quot;/&gt;&lt;property id=&quot;20307&quot; value=&quot;264&quot;/&gt;&lt;/object&gt;&lt;object type=&quot;3&quot; unique_id=&quot;23123&quot;&gt;&lt;property id=&quot;20148&quot; value=&quot;5&quot;/&gt;&lt;property id=&quot;20300&quot; value=&quot;Slide 11&quot;/&gt;&lt;property id=&quot;20307&quot; value=&quot;257&quot;/&gt;&lt;/object&gt;&lt;object type=&quot;3&quot; unique_id=&quot;23124&quot;&gt;&lt;property id=&quot;20148&quot; value=&quot;5&quot;/&gt;&lt;property id=&quot;20300&quot; value=&quot;Slide 12&quot;/&gt;&lt;property id=&quot;20307&quot; value=&quot;258&quot;/&gt;&lt;/object&gt;&lt;object type=&quot;3&quot; unique_id=&quot;23125&quot;&gt;&lt;property id=&quot;20148&quot; value=&quot;5&quot;/&gt;&lt;property id=&quot;20300&quot; value=&quot;Slide 13&quot;/&gt;&lt;property id=&quot;20307&quot; value=&quot;259&quot;/&gt;&lt;/object&gt;&lt;object type=&quot;3&quot; unique_id=&quot;23126&quot;&gt;&lt;property id=&quot;20148&quot; value=&quot;5&quot;/&gt;&lt;property id=&quot;20300&quot; value=&quot;Slide 14&quot;/&gt;&lt;property id=&quot;20307&quot; value=&quot;260&quot;/&gt;&lt;/object&gt;&lt;object type=&quot;3&quot; unique_id=&quot;23127&quot;&gt;&lt;property id=&quot;20148&quot; value=&quot;5&quot;/&gt;&lt;property id=&quot;20300&quot; value=&quot;Slide 19&quot;/&gt;&lt;property id=&quot;20307&quot; value=&quot;261&quot;/&gt;&lt;/object&gt;&lt;object type=&quot;3&quot; unique_id=&quot;23238&quot;&gt;&lt;property id=&quot;20148&quot; value=&quot;5&quot;/&gt;&lt;property id=&quot;20300&quot; value=&quot;Slide 15&quot;/&gt;&lt;property id=&quot;20307&quot; value=&quot;265&quot;/&gt;&lt;/object&gt;&lt;object type=&quot;3&quot; unique_id=&quot;23239&quot;&gt;&lt;property id=&quot;20148&quot; value=&quot;5&quot;/&gt;&lt;property id=&quot;20300&quot; value=&quot;Slide 16&quot;/&gt;&lt;property id=&quot;20307&quot; value=&quot;266&quot;/&gt;&lt;/object&gt;&lt;object type=&quot;3&quot; unique_id=&quot;23240&quot;&gt;&lt;property id=&quot;20148&quot; value=&quot;5&quot;/&gt;&lt;property id=&quot;20300&quot; value=&quot;Slide 17&quot;/&gt;&lt;property id=&quot;20307&quot; value=&quot;267&quot;/&gt;&lt;/object&gt;&lt;object type=&quot;3&quot; unique_id=&quot;23241&quot;&gt;&lt;property id=&quot;20148&quot; value=&quot;5&quot;/&gt;&lt;property id=&quot;20300&quot; value=&quot;Slide 18&quot;/&gt;&lt;property id=&quot;20307&quot; value=&quot;268&quot;/&gt;&lt;/object&gt;&lt;object type=&quot;3&quot; unique_id=&quot;23341&quot;&gt;&lt;property id=&quot;20148&quot; value=&quot;5&quot;/&gt;&lt;property id=&quot;20300&quot; value=&quot;Slide 4&quot;/&gt;&lt;property id=&quot;20307&quot; value=&quot;269&quot;/&gt;&lt;/object&gt;&lt;object type=&quot;3&quot; unique_id=&quot;23342&quot;&gt;&lt;property id=&quot;20148&quot; value=&quot;5&quot;/&gt;&lt;property id=&quot;20300&quot; value=&quot;Slide 5&quot;/&gt;&lt;property id=&quot;20307&quot; value=&quot;270&quot;/&gt;&lt;/object&gt;&lt;object type=&quot;3&quot; unique_id=&quot;23343&quot;&gt;&lt;property id=&quot;20148&quot; value=&quot;5&quot;/&gt;&lt;property id=&quot;20300&quot; value=&quot;Slide 6&quot;/&gt;&lt;property id=&quot;20307&quot; value=&quot;271&quot;/&gt;&lt;/object&gt;&lt;object type=&quot;3&quot; unique_id=&quot;23344&quot;&gt;&lt;property id=&quot;20148&quot; value=&quot;5&quot;/&gt;&lt;property id=&quot;20300&quot; value=&quot;Slide 7&quot;/&gt;&lt;property id=&quot;20307&quot; value=&quot;272&quot;/&gt;&lt;/object&gt;&lt;object type=&quot;3&quot; unique_id=&quot;23345&quot;&gt;&lt;property id=&quot;20148&quot; value=&quot;5&quot;/&gt;&lt;property id=&quot;20300&quot; value=&quot;Slide 8&quot;/&gt;&lt;property id=&quot;20307&quot; value=&quot;273&quot;/&gt;&lt;/object&gt;&lt;object type=&quot;3&quot; unique_id=&quot;23346&quot;&gt;&lt;property id=&quot;20148&quot; value=&quot;5&quot;/&gt;&lt;property id=&quot;20300&quot; value=&quot;Slide 9&quot;/&gt;&lt;property id=&quot;20307&quot; value=&quot;274&quot;/&gt;&lt;/object&gt;&lt;object type=&quot;3&quot; unique_id=&quot;23347&quot;&gt;&lt;property id=&quot;20148&quot; value=&quot;5&quot;/&gt;&lt;property id=&quot;20300&quot; value=&quot;Slide 10&quot;/&gt;&lt;property id=&quot;20307&quot; value=&quot;275&quot;/&gt;&lt;/object&gt;&lt;/object&gt;&lt;object type=&quot;8&quot; unique_id=&quot;23137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252</Words>
  <Application>Microsoft Office PowerPoint</Application>
  <PresentationFormat>On-screen Show (4:3)</PresentationFormat>
  <Paragraphs>41</Paragraphs>
  <Slides>19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Wireless and Mobile Communication (UEC 804) 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Wireless and Mobile Communication (UEC 804) </dc:title>
  <dc:creator>Surbhi Sharma</dc:creator>
  <cp:lastModifiedBy>Surbhi Sharma</cp:lastModifiedBy>
  <cp:revision>10</cp:revision>
  <dcterms:created xsi:type="dcterms:W3CDTF">2020-09-23T15:10:55Z</dcterms:created>
  <dcterms:modified xsi:type="dcterms:W3CDTF">2020-10-07T09:45:41Z</dcterms:modified>
</cp:coreProperties>
</file>
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91" r:id="rId3"/>
    <p:sldId id="292" r:id="rId4"/>
    <p:sldId id="261" r:id="rId5"/>
    <p:sldId id="270" r:id="rId6"/>
    <p:sldId id="271" r:id="rId7"/>
    <p:sldId id="272" r:id="rId8"/>
    <p:sldId id="293" r:id="rId9"/>
    <p:sldId id="294" r:id="rId10"/>
    <p:sldId id="295" r:id="rId11"/>
    <p:sldId id="296" r:id="rId12"/>
    <p:sldId id="273" r:id="rId13"/>
    <p:sldId id="275" r:id="rId14"/>
    <p:sldId id="276" r:id="rId15"/>
    <p:sldId id="285" r:id="rId16"/>
    <p:sldId id="286" r:id="rId17"/>
    <p:sldId id="281" r:id="rId18"/>
    <p:sldId id="280" r:id="rId19"/>
    <p:sldId id="279" r:id="rId20"/>
    <p:sldId id="283" r:id="rId21"/>
    <p:sldId id="282" r:id="rId22"/>
    <p:sldId id="284" r:id="rId23"/>
    <p:sldId id="287" r:id="rId24"/>
    <p:sldId id="288" r:id="rId25"/>
    <p:sldId id="26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8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4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960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0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5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6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851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2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55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749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697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07AAB-D42A-4638-A788-EEBB01EF2FB0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B2A10-B682-4840-874E-E303C59E4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46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7581900" y="5624514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A2316-809F-4484-8675-B1A5134D60BD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914400" y="739786"/>
            <a:ext cx="10363200" cy="147002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5G WIRELESS </a:t>
            </a:r>
            <a:r>
              <a:rPr lang="en-US" sz="3600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COMMUNICATION </a:t>
            </a:r>
            <a:br>
              <a:rPr lang="en-US" sz="3600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</a:br>
            <a:r>
              <a:rPr lang="en-US" sz="3600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(UEC 719) </a:t>
            </a:r>
            <a:endParaRPr lang="en-US" sz="3600" b="1" dirty="0">
              <a:solidFill>
                <a:srgbClr val="000099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" name="Slide Number Placeholder 14"/>
          <p:cNvSpPr txBox="1">
            <a:spLocks/>
          </p:cNvSpPr>
          <p:nvPr/>
        </p:nvSpPr>
        <p:spPr>
          <a:xfrm>
            <a:off x="8737600" y="6356361"/>
            <a:ext cx="2844800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46ABB7-46DB-4F16-AB8B-BFEDDDD52D19}" type="slidenum">
              <a:rPr lang="en-US" smtClean="0">
                <a:latin typeface="Cambria" pitchFamily="18" charset="0"/>
                <a:ea typeface="Cambria" pitchFamily="18" charset="0"/>
              </a:rPr>
              <a:pPr/>
              <a:t>1</a:t>
            </a:fld>
            <a:endParaRPr lang="en-US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87138" y="4648200"/>
            <a:ext cx="28543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4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4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Amit</a:t>
            </a:r>
            <a:r>
              <a:rPr lang="en-US" sz="24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Mishra</a:t>
            </a:r>
            <a:endParaRPr lang="en-US" sz="24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4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64138" y="4648199"/>
            <a:ext cx="28543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4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4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Surbhi</a:t>
            </a:r>
            <a:r>
              <a:rPr lang="en-US" sz="24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Sharma</a:t>
            </a:r>
            <a:endParaRPr lang="en-US" sz="24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4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922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81895" y="1752601"/>
            <a:ext cx="5029200" cy="1749425"/>
          </a:xfrm>
        </p:spPr>
        <p:txBody>
          <a:bodyPr>
            <a:normAutofit fontScale="77500" lnSpcReduction="20000"/>
          </a:bodyPr>
          <a:lstStyle/>
          <a:p>
            <a:pPr algn="ctr">
              <a:buFontTx/>
              <a:buNone/>
              <a:defRPr/>
            </a:pPr>
            <a:r>
              <a:rPr lang="en-US" sz="6000" dirty="0">
                <a:solidFill>
                  <a:srgbClr val="00B0F0"/>
                </a:solidFill>
              </a:rPr>
              <a:t>Lecture: </a:t>
            </a:r>
            <a:r>
              <a:rPr lang="en-US" sz="6000" dirty="0" smtClean="0">
                <a:solidFill>
                  <a:srgbClr val="00B0F0"/>
                </a:solidFill>
              </a:rPr>
              <a:t>17</a:t>
            </a:r>
            <a:endParaRPr lang="en-US" sz="6000" dirty="0">
              <a:solidFill>
                <a:srgbClr val="00B0F0"/>
              </a:solidFill>
            </a:endParaRPr>
          </a:p>
          <a:p>
            <a:pPr algn="ctr">
              <a:buFontTx/>
              <a:buNone/>
              <a:defRPr/>
            </a:pPr>
            <a:endParaRPr lang="en-US" sz="495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r>
              <a:rPr lang="en-US" sz="5700" dirty="0" smtClean="0">
                <a:solidFill>
                  <a:srgbClr val="C00000"/>
                </a:solidFill>
              </a:rPr>
              <a:t>Handover in 5G</a:t>
            </a:r>
            <a:endParaRPr lang="en-US" sz="1725" dirty="0">
              <a:solidFill>
                <a:srgbClr val="C00000"/>
              </a:solidFill>
            </a:endParaRPr>
          </a:p>
        </p:txBody>
      </p:sp>
      <p:sp>
        <p:nvSpPr>
          <p:cNvPr id="307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7581900" y="5624514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70C2B-F570-482D-B7D8-379B0AD8AD3A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19705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4294967295"/>
          </p:nvPr>
        </p:nvSpPr>
        <p:spPr>
          <a:xfrm>
            <a:off x="3889375" y="187326"/>
            <a:ext cx="4171950" cy="8794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3300">
                <a:solidFill>
                  <a:srgbClr val="00B0F0"/>
                </a:solidFill>
              </a:rPr>
              <a:t>Contents</a:t>
            </a:r>
          </a:p>
        </p:txBody>
      </p:sp>
      <p:sp>
        <p:nvSpPr>
          <p:cNvPr id="4099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7581900" y="5624514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E9BFDC-D866-4011-871E-84FBC2DB700C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7" name="Rectangle 6"/>
          <p:cNvSpPr/>
          <p:nvPr/>
        </p:nvSpPr>
        <p:spPr>
          <a:xfrm>
            <a:off x="1828800" y="990601"/>
            <a:ext cx="79248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14313" indent="-214313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Basic Definition of Handover</a:t>
            </a:r>
          </a:p>
          <a:p>
            <a:pPr marL="214313" indent="-214313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Handover scenario in 2G</a:t>
            </a:r>
          </a:p>
        </p:txBody>
      </p:sp>
    </p:spTree>
    <p:extLst>
      <p:ext uri="{BB962C8B-B14F-4D97-AF65-F5344CB8AC3E}">
        <p14:creationId xmlns:p14="http://schemas.microsoft.com/office/powerpoint/2010/main" val="14455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746760" y="1053020"/>
            <a:ext cx="101041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 Single cell do not cover the whole service area </a:t>
            </a:r>
          </a:p>
          <a:p>
            <a:pPr indent="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 Smaller the cell size, faster the movement of MS, but more handovers </a:t>
            </a:r>
          </a:p>
          <a:p>
            <a:pPr indent="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However, a handover should not cause a cut-off </a:t>
            </a:r>
          </a:p>
          <a:p>
            <a:pPr indent="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GSM aims at maximum handover duration of 60 ms</a:t>
            </a:r>
          </a:p>
          <a:p>
            <a:pPr indent="4000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Two reasons to use handover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– Maintain same quality of radio link at receiver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 – Load balancing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1315" y="171447"/>
            <a:ext cx="5137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Basic Definition of Handover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743200" y="45721"/>
            <a:ext cx="647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Handoff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320" y="792481"/>
            <a:ext cx="10972800" cy="6683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When mobile station moves from one cell to another is called Handoff</a:t>
            </a:r>
          </a:p>
          <a:p>
            <a:pPr indent="23336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MSC hands off the call to different base station and new frequency/ channel  is   </a:t>
            </a:r>
          </a:p>
          <a:p>
            <a:pPr indent="233363">
              <a:lnSpc>
                <a:spcPct val="150000"/>
              </a:lnSpc>
            </a:pPr>
            <a:r>
              <a:rPr lang="en-US" sz="2400" dirty="0"/>
              <a:t>assigned</a:t>
            </a:r>
          </a:p>
          <a:p>
            <a:pPr indent="23336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  1G : </a:t>
            </a:r>
            <a:r>
              <a:rPr lang="en-US" sz="2400" b="1" dirty="0">
                <a:solidFill>
                  <a:srgbClr val="C00000"/>
                </a:solidFill>
              </a:rPr>
              <a:t>Locator Receiver </a:t>
            </a:r>
            <a:r>
              <a:rPr lang="en-US" sz="2400" dirty="0"/>
              <a:t>in BS and monitors RSS of user of adjacent cell</a:t>
            </a:r>
          </a:p>
          <a:p>
            <a:pPr indent="23336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The separate receiver called </a:t>
            </a:r>
            <a:r>
              <a:rPr lang="en-US" sz="2400" i="1" dirty="0"/>
              <a:t>locator receiver </a:t>
            </a:r>
            <a:r>
              <a:rPr lang="en-US" sz="2400" dirty="0"/>
              <a:t>is controlled by the MSC and is used to  </a:t>
            </a:r>
          </a:p>
          <a:p>
            <a:pPr indent="233363">
              <a:lnSpc>
                <a:spcPct val="150000"/>
              </a:lnSpc>
            </a:pPr>
            <a:r>
              <a:rPr lang="en-US" sz="2400" dirty="0"/>
              <a:t>monitor the signal  strength of users in neighboring cells which appear to be in  </a:t>
            </a:r>
          </a:p>
          <a:p>
            <a:pPr indent="233363">
              <a:lnSpc>
                <a:spcPct val="150000"/>
              </a:lnSpc>
            </a:pPr>
            <a:r>
              <a:rPr lang="en-US" sz="2400" dirty="0"/>
              <a:t>need of handoff</a:t>
            </a:r>
          </a:p>
          <a:p>
            <a:pPr indent="23336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  2G: </a:t>
            </a:r>
            <a:r>
              <a:rPr lang="en-US" sz="2400" b="1" dirty="0">
                <a:solidFill>
                  <a:srgbClr val="C00000"/>
                </a:solidFill>
              </a:rPr>
              <a:t>Mobile assisted hand off (MAHO)</a:t>
            </a:r>
          </a:p>
          <a:p>
            <a:pPr lvl="1" indent="23336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Mobile Monitors RSS  from the neighboring cells</a:t>
            </a:r>
          </a:p>
          <a:p>
            <a:pPr lvl="1" indent="23336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Report backs to MSC</a:t>
            </a:r>
          </a:p>
          <a:p>
            <a:pPr indent="233363">
              <a:lnSpc>
                <a:spcPct val="150000"/>
              </a:lnSpc>
              <a:buFont typeface="Arial" pitchFamily="34" charset="0"/>
              <a:buChar char="•"/>
            </a:pPr>
            <a:endParaRPr lang="en-US" sz="2400" dirty="0"/>
          </a:p>
          <a:p>
            <a:pPr indent="233363">
              <a:lnSpc>
                <a:spcPct val="150000"/>
              </a:lnSpc>
              <a:buFont typeface="Arial" pitchFamily="34" charset="0"/>
              <a:buChar char="•"/>
            </a:pPr>
            <a:endParaRPr lang="en-US" sz="2400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8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702720" y="0"/>
            <a:ext cx="647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en-US" sz="3200" dirty="0">
                <a:solidFill>
                  <a:srgbClr val="FF0000"/>
                </a:solidFill>
              </a:rPr>
              <a:t>Handoffs – the </a:t>
            </a:r>
            <a:r>
              <a:rPr lang="en-US" altLang="en-US" sz="3200" dirty="0" smtClean="0">
                <a:solidFill>
                  <a:srgbClr val="FF0000"/>
                </a:solidFill>
              </a:rPr>
              <a:t>basics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8720" y="923926"/>
            <a:ext cx="9723120" cy="5432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6307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6240" y="841237"/>
            <a:ext cx="114909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968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System designers must specify an optimum level at which handoff is initiated.</a:t>
            </a:r>
          </a:p>
          <a:p>
            <a:pPr indent="3968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A slightly strong signal is used as threshold at which a handoff is made</a:t>
            </a:r>
          </a:p>
          <a:p>
            <a:pPr indent="3968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Δ = P</a:t>
            </a:r>
            <a:r>
              <a:rPr lang="en-US" sz="2400" baseline="-25000" dirty="0"/>
              <a:t>r handoff - </a:t>
            </a:r>
            <a:r>
              <a:rPr lang="en-US" sz="2400" dirty="0"/>
              <a:t>P</a:t>
            </a:r>
            <a:r>
              <a:rPr lang="en-US" sz="2400" baseline="-25000" dirty="0"/>
              <a:t>r  minimum</a:t>
            </a:r>
            <a:r>
              <a:rPr lang="en-US" sz="2400" dirty="0"/>
              <a:t> </a:t>
            </a:r>
            <a:r>
              <a:rPr lang="en-US" sz="2400" baseline="-25000" dirty="0"/>
              <a:t>usable</a:t>
            </a:r>
          </a:p>
          <a:p>
            <a:pPr indent="3968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Value of  delta must be selected carefully before handoff ensure that fading is not </a:t>
            </a:r>
          </a:p>
          <a:p>
            <a:pPr indent="396875">
              <a:lnSpc>
                <a:spcPct val="150000"/>
              </a:lnSpc>
            </a:pPr>
            <a:r>
              <a:rPr lang="en-US" sz="2400" dirty="0"/>
              <a:t> momentary</a:t>
            </a:r>
            <a:endParaRPr lang="en-US" sz="2400" baseline="30000" dirty="0"/>
          </a:p>
          <a:p>
            <a:pPr indent="39687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Information of Speed of vehicle that can be computed from statistics of received signal    </a:t>
            </a:r>
          </a:p>
          <a:p>
            <a:pPr indent="396875">
              <a:lnSpc>
                <a:spcPct val="150000"/>
              </a:lnSpc>
            </a:pPr>
            <a:r>
              <a:rPr lang="en-US" sz="2400" dirty="0"/>
              <a:t>short term fading signal. </a:t>
            </a:r>
          </a:p>
          <a:p>
            <a:pPr indent="396875">
              <a:lnSpc>
                <a:spcPct val="150000"/>
              </a:lnSpc>
              <a:buFont typeface="Arial" pitchFamily="34" charset="0"/>
              <a:buChar char="•"/>
            </a:pPr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2895600" y="2"/>
            <a:ext cx="647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HAND OFF (</a:t>
            </a:r>
            <a:r>
              <a:rPr lang="en-US" sz="3200" dirty="0" err="1">
                <a:solidFill>
                  <a:srgbClr val="FF0000"/>
                </a:solidFill>
              </a:rPr>
              <a:t>Contd</a:t>
            </a:r>
            <a:r>
              <a:rPr lang="en-US" sz="3200" dirty="0">
                <a:solidFill>
                  <a:srgbClr val="FF0000"/>
                </a:solidFill>
              </a:rPr>
              <a:t>….)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20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720" y="1028700"/>
            <a:ext cx="10363200" cy="4884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343400" y="1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Handover </a:t>
            </a:r>
            <a:r>
              <a:rPr lang="en-US" sz="3200" b="1" dirty="0" smtClean="0">
                <a:solidFill>
                  <a:srgbClr val="FF0000"/>
                </a:solidFill>
              </a:rPr>
              <a:t>scenario in 2G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49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914401"/>
            <a:ext cx="9311640" cy="5501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4343400" y="1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Handover Decision</a:t>
            </a:r>
          </a:p>
        </p:txBody>
      </p:sp>
    </p:spTree>
    <p:extLst>
      <p:ext uri="{BB962C8B-B14F-4D97-AF65-F5344CB8AC3E}">
        <p14:creationId xmlns:p14="http://schemas.microsoft.com/office/powerpoint/2010/main" val="84928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" y="758190"/>
            <a:ext cx="10165080" cy="5913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343400" y="1"/>
            <a:ext cx="632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Intra-BSC Handover</a:t>
            </a:r>
          </a:p>
        </p:txBody>
      </p:sp>
    </p:spTree>
    <p:extLst>
      <p:ext uri="{BB962C8B-B14F-4D97-AF65-F5344CB8AC3E}">
        <p14:creationId xmlns:p14="http://schemas.microsoft.com/office/powerpoint/2010/main" val="51304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40051" y="1143001"/>
            <a:ext cx="6310313" cy="457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Rectangle 20"/>
          <p:cNvSpPr/>
          <p:nvPr/>
        </p:nvSpPr>
        <p:spPr>
          <a:xfrm>
            <a:off x="2895600" y="2"/>
            <a:ext cx="647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System model for Cellular Handoff</a:t>
            </a:r>
          </a:p>
        </p:txBody>
      </p:sp>
    </p:spTree>
    <p:extLst>
      <p:ext uri="{BB962C8B-B14F-4D97-AF65-F5344CB8AC3E}">
        <p14:creationId xmlns:p14="http://schemas.microsoft.com/office/powerpoint/2010/main" val="19023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895600" y="2"/>
            <a:ext cx="647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Practical Handoff Considerations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76400" y="934283"/>
            <a:ext cx="8991600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325" indent="457200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Dwell  time:</a:t>
            </a:r>
          </a:p>
          <a:p>
            <a:pPr marL="60325" indent="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The time over which call is maintained within a cell without hand-off.</a:t>
            </a:r>
          </a:p>
          <a:p>
            <a:pPr marL="60325" indent="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It depends upon propagation, interference, distance between subscriber and </a:t>
            </a:r>
          </a:p>
          <a:p>
            <a:pPr marL="60325" indent="457200">
              <a:lnSpc>
                <a:spcPct val="150000"/>
              </a:lnSpc>
            </a:pPr>
            <a:r>
              <a:rPr lang="en-US" dirty="0"/>
              <a:t>station, speed of car .  </a:t>
            </a:r>
          </a:p>
          <a:p>
            <a:pPr marL="60325" indent="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Dwell time is different for user moving in car and user in dense area.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       Intersystem handoff:</a:t>
            </a:r>
          </a:p>
          <a:p>
            <a:pPr indent="51752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Mobile moves from one cellular system to different cellular system maintained by </a:t>
            </a:r>
          </a:p>
          <a:p>
            <a:pPr indent="517525">
              <a:lnSpc>
                <a:spcPct val="150000"/>
              </a:lnSpc>
            </a:pPr>
            <a:r>
              <a:rPr lang="en-US" dirty="0"/>
              <a:t> different MSC</a:t>
            </a:r>
          </a:p>
          <a:p>
            <a:pPr indent="51752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To improve the quality of service as perceived by the users, various methods have been  </a:t>
            </a:r>
          </a:p>
          <a:p>
            <a:pPr indent="517525">
              <a:lnSpc>
                <a:spcPct val="150000"/>
              </a:lnSpc>
            </a:pPr>
            <a:r>
              <a:rPr lang="en-US" dirty="0"/>
              <a:t>devised to prioritize handoff requests over call initiation requests when allocating voice  </a:t>
            </a:r>
          </a:p>
          <a:p>
            <a:pPr indent="517525">
              <a:lnSpc>
                <a:spcPct val="150000"/>
              </a:lnSpc>
            </a:pPr>
            <a:r>
              <a:rPr lang="en-US" dirty="0"/>
              <a:t>channels.</a:t>
            </a:r>
          </a:p>
        </p:txBody>
      </p:sp>
    </p:spTree>
    <p:extLst>
      <p:ext uri="{BB962C8B-B14F-4D97-AF65-F5344CB8AC3E}">
        <p14:creationId xmlns:p14="http://schemas.microsoft.com/office/powerpoint/2010/main" val="174635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895600" y="2"/>
            <a:ext cx="6477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Practical Handoff Considerations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9663" y="1061053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25" lvl="1" indent="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Different antenna height and different power levels </a:t>
            </a:r>
          </a:p>
          <a:p>
            <a:pPr marL="111125" lvl="1" indent="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Speed of user is estimated by base station /MSC by evaluating, how rapidly  </a:t>
            </a:r>
            <a:r>
              <a:rPr lang="en-US" sz="2400" dirty="0" smtClean="0"/>
              <a:t>the </a:t>
            </a:r>
            <a:r>
              <a:rPr lang="en-US" sz="2400" dirty="0"/>
              <a:t>short term average signal strength on RVC is varying</a:t>
            </a:r>
            <a:r>
              <a:rPr lang="en-US" sz="2400" dirty="0" smtClean="0"/>
              <a:t>.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199" y="2786543"/>
            <a:ext cx="6781801" cy="3569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ectangle 15"/>
          <p:cNvSpPr/>
          <p:nvPr/>
        </p:nvSpPr>
        <p:spPr>
          <a:xfrm>
            <a:off x="0" y="477548"/>
            <a:ext cx="35248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325" indent="173038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Umbrella cell approach :</a:t>
            </a:r>
          </a:p>
        </p:txBody>
      </p:sp>
    </p:spTree>
    <p:extLst>
      <p:ext uri="{BB962C8B-B14F-4D97-AF65-F5344CB8AC3E}">
        <p14:creationId xmlns:p14="http://schemas.microsoft.com/office/powerpoint/2010/main" val="229759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1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761498" y="-26261"/>
            <a:ext cx="6477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Practical Handoff Considerations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195638" y="892336"/>
            <a:ext cx="118237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en-US" sz="2400" dirty="0"/>
              <a:t>Cell dragging results from pedestrian users that provide a very strong signal to the base station. Such a situation occurs in an urban environment when there is a line-of-sight (LOS) radio path between the subscriber and the base station</a:t>
            </a:r>
            <a:r>
              <a:rPr lang="en-US" sz="2400" dirty="0" smtClean="0"/>
              <a:t>.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9325" y="2181395"/>
            <a:ext cx="7762875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ectangle 15"/>
          <p:cNvSpPr/>
          <p:nvPr/>
        </p:nvSpPr>
        <p:spPr>
          <a:xfrm>
            <a:off x="0" y="246005"/>
            <a:ext cx="36228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325" indent="173038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Concept of Cell Dragging:</a:t>
            </a:r>
          </a:p>
        </p:txBody>
      </p:sp>
    </p:spTree>
    <p:extLst>
      <p:ext uri="{BB962C8B-B14F-4D97-AF65-F5344CB8AC3E}">
        <p14:creationId xmlns:p14="http://schemas.microsoft.com/office/powerpoint/2010/main" val="94440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1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54578" y="2967335"/>
            <a:ext cx="40828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Handoff in 5G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359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3" y="1060178"/>
            <a:ext cx="7099372" cy="46057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592123" y="371279"/>
            <a:ext cx="40828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Handoff in 5G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972" y="1612200"/>
            <a:ext cx="4045337" cy="350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5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034" y="310083"/>
            <a:ext cx="101635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b="1" i="0" dirty="0" smtClean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5G NR network interfaces-Xn,NG,E1,F1,F2 interface types in 5G</a:t>
            </a:r>
            <a:endParaRPr lang="en-US" sz="2800" b="1" i="0" dirty="0">
              <a:solidFill>
                <a:srgbClr val="66666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20" y="1141582"/>
            <a:ext cx="6058746" cy="38391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17324" y="151622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Xn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 interface exists between these base stations viz. between 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gNB-gNB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, between (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gNB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)-(ng-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eNB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) and between (ng-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eNB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)-(ng-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eNB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). 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Xn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 is the network interface between NG-RAN nodes. 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Xn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-U stands for 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Xn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 User Plane interface and 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Xn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-C stands for 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Xn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 Control Plane interface.</a:t>
            </a:r>
            <a:b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</a:b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• NG interface exists between 5GC and these base stations (i.e. 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gNB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 &amp; ng-</a:t>
            </a:r>
            <a:r>
              <a:rPr lang="en-IN" b="0" i="0" dirty="0" err="1" smtClean="0">
                <a:solidFill>
                  <a:srgbClr val="555555"/>
                </a:solidFill>
                <a:effectLst/>
                <a:latin typeface="Noto Sans"/>
              </a:rPr>
              <a:t>eNB</a:t>
            </a:r>
            <a:r>
              <a:rPr lang="en-IN" b="0" i="0" dirty="0" smtClean="0">
                <a:solidFill>
                  <a:srgbClr val="555555"/>
                </a:solidFill>
                <a:effectLst/>
                <a:latin typeface="Noto Sans"/>
              </a:rPr>
              <a:t>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868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devopedia.org/images/article/474/6321.170557964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896170"/>
            <a:ext cx="10911840" cy="5184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4343400" y="1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Handover </a:t>
            </a:r>
            <a:r>
              <a:rPr lang="en-US" sz="3200" b="1" dirty="0" smtClean="0">
                <a:solidFill>
                  <a:srgbClr val="FF0000"/>
                </a:solidFill>
              </a:rPr>
              <a:t>scenario in 5G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26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48974" y="601269"/>
            <a:ext cx="11515629" cy="54736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handovers: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Intra-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UE moves from one cell/DU to another while anchored at the same CU. 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Inter-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Source and target 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connected via the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interface.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data packet forwarding are coordinated within the NG-RAN.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N2-Based Inter-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If source and target 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the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interface, then handover is coordinated via the AMF. N2 interface connecting 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 AMF is used.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source and target 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connected to two different AMFs, then N14 interface connecting those AMFs is also used. The two AMFs can belong to different operators or PLMNs.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43400" y="1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Handover </a:t>
            </a:r>
            <a:r>
              <a:rPr lang="en-US" sz="3200" b="1" dirty="0" smtClean="0">
                <a:solidFill>
                  <a:srgbClr val="FF0000"/>
                </a:solidFill>
              </a:rPr>
              <a:t>scenario in 5G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35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37093" y="461579"/>
            <a:ext cx="11460921" cy="64633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Inter-System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UE moves from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(5GS-to-EPS handover)</a:t>
            </a:r>
            <a:r>
              <a:rPr lang="en-US" altLang="en-US" sz="2800" dirty="0" smtClean="0">
                <a:solidFill>
                  <a:srgbClr val="626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the N26 interface that connects 5GC AMF to EPC MME. The same interface is used for EPS-to-5GS handover.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Inter-RAT(radio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acess</a:t>
            </a:r>
            <a:r>
              <a:rPr kumimoji="0" lang="en-US" altLang="en-US" sz="2800" b="1" i="0" u="none" strike="noStrike" cap="none" normalizeH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technology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UE moves from NR to E-UTRA while staying on 5G Core.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NSA/MR-DC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 NSA/MR-DC configurations, handover can happen for master and/or secondary nodes.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Non-3GPP Access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UE moves from 5GS to trusted or untrusted non-3GPP access, and vice versa.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43400" y="1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Handover </a:t>
            </a:r>
            <a:r>
              <a:rPr lang="en-US" sz="3200" b="1" dirty="0" smtClean="0">
                <a:solidFill>
                  <a:srgbClr val="FF0000"/>
                </a:solidFill>
              </a:rPr>
              <a:t>scenario in 5G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02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devopedia.org/images/article/474/2906.170619705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172" y="933528"/>
            <a:ext cx="6758371" cy="574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50113" y="564196"/>
            <a:ext cx="47884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626262"/>
                </a:solidFill>
                <a:effectLst/>
                <a:latin typeface="Open Sans"/>
              </a:rPr>
              <a:t>What conditions trigger handovers in 5G?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21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41212" y="315524"/>
            <a:ext cx="11493588" cy="61863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Handover can be triggered due to changing radio conditions. UE's connection with the source cell may weaken. Once a certain threshold has been reached, the network decides to handover the UE to another cell that has better radio conditions.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network knows these conditions based on measurement reports sent by the UE. The figure shows A3 event for which the target cell is better than the source cell by a certain threshold for at least TTT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duration.It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might happen that a certain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highly loaded.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load balancing purpose, a handover can be triggered.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 a specific service may be unavailable in the source cell or system. If such a service is requested, a handover may be performed.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example is a voice call. Initial 5G deployments may not support 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VoNR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Hence, request for a voice call triggers a handover to 4G (EPS Fallback). There's also 5G-SRVCC (5G NR to 3G UTRAN handover) but this is triggered due to radio conditions.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28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5279"/>
            <a:ext cx="9800897" cy="614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3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" y="686286"/>
            <a:ext cx="11582400" cy="49346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The figure assumes source and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 are interconnected via the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Xn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 interface. Source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decides to handover. Handover can be divided into three phases: 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Handover Preparation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: The target system is prepared to receive the UE.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does admission control based on slice information. If UE is admitted,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informs source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along with an RRC message that's to be sent transparently to the UE.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Handover Execution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: Source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sends handover command to UE. UE disconnects from the source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and connects to the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. Any data that source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receives during this period is forwarded to the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. Source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sends 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SN Status Transfer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message to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. This relates to PDCP SN.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Handover Completion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: UE sends uplink data on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. For downlink data,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sends 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Path Switch Request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to AMF, which triggers UPFs to update paths to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. Once AMF acknowledges that path switch is done, target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informs source 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gNB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26262"/>
                </a:solidFill>
                <a:effectLst/>
                <a:latin typeface="Open Sans"/>
              </a:rPr>
              <a:t> to release UE context.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25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96.png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9893" y="1482243"/>
            <a:ext cx="6991913" cy="392856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7768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588</Words>
  <Application>Microsoft Office PowerPoint</Application>
  <PresentationFormat>Widescreen</PresentationFormat>
  <Paragraphs>102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Cambria</vt:lpstr>
      <vt:lpstr>Noto Sans</vt:lpstr>
      <vt:lpstr>Open Sans</vt:lpstr>
      <vt:lpstr>Times New Roman</vt:lpstr>
      <vt:lpstr>Wingdings</vt:lpstr>
      <vt:lpstr>Office Theme</vt:lpstr>
      <vt:lpstr>5G WIRELESS COMMUNICATION  (UEC 719)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surbhi</dc:creator>
  <cp:lastModifiedBy>ti</cp:lastModifiedBy>
  <cp:revision>12</cp:revision>
  <dcterms:created xsi:type="dcterms:W3CDTF">2024-09-05T05:23:03Z</dcterms:created>
  <dcterms:modified xsi:type="dcterms:W3CDTF">2025-09-02T11:29:52Z</dcterms:modified>
</cp:coreProperties>
</file>
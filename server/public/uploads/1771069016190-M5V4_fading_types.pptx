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8" r:id="rId2"/>
    <p:sldId id="259" r:id="rId3"/>
    <p:sldId id="260" r:id="rId4"/>
    <p:sldId id="262" r:id="rId5"/>
    <p:sldId id="263" r:id="rId6"/>
    <p:sldId id="264" r:id="rId7"/>
    <p:sldId id="265" r:id="rId8"/>
    <p:sldId id="269" r:id="rId9"/>
    <p:sldId id="270" r:id="rId10"/>
    <p:sldId id="266" r:id="rId11"/>
    <p:sldId id="267" r:id="rId12"/>
    <p:sldId id="268" r:id="rId13"/>
    <p:sldId id="271" r:id="rId14"/>
    <p:sldId id="272" r:id="rId15"/>
    <p:sldId id="273" r:id="rId16"/>
    <p:sldId id="278" r:id="rId17"/>
    <p:sldId id="274" r:id="rId18"/>
    <p:sldId id="275" r:id="rId19"/>
    <p:sldId id="284" r:id="rId20"/>
    <p:sldId id="279" r:id="rId21"/>
    <p:sldId id="280" r:id="rId22"/>
    <p:sldId id="281" r:id="rId23"/>
    <p:sldId id="282" r:id="rId24"/>
    <p:sldId id="283" r:id="rId25"/>
    <p:sldId id="257" r:id="rId26"/>
  </p:sldIdLst>
  <p:sldSz cx="9144000" cy="6858000" type="screen4x3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09CFD-E43A-49E5-9E02-5DE30644E6E2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12D09-FACD-4FA5-B0D6-8AD61752426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002A97-7A62-4EE6-857E-99E116C13F7A}" type="slidenum">
              <a:rPr lang="en-US" altLang="zh-TW" smtClean="0"/>
              <a:pPr/>
              <a:t>19</a:t>
            </a:fld>
            <a:endParaRPr lang="en-US" altLang="zh-TW" smtClean="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7D79DA-83CE-40B5-9C3E-40005905C25A}" type="slidenum">
              <a:rPr lang="en-US" altLang="zh-TW" smtClean="0"/>
              <a:pPr/>
              <a:t>20</a:t>
            </a:fld>
            <a:endParaRPr lang="en-US" altLang="zh-TW" smtClean="0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9FF062-0ABC-43E7-9F3E-CA11D51E031A}" type="slidenum">
              <a:rPr lang="en-US" altLang="zh-TW" smtClean="0"/>
              <a:pPr/>
              <a:t>21</a:t>
            </a:fld>
            <a:endParaRPr lang="en-US" altLang="zh-TW" smtClean="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25BFA3-BB95-4E3C-AD55-08DAD1F2FB4B}" type="slidenum">
              <a:rPr lang="en-US" altLang="zh-TW" smtClean="0"/>
              <a:pPr/>
              <a:t>22</a:t>
            </a:fld>
            <a:endParaRPr lang="en-US" altLang="zh-TW" smtClean="0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D1F626-4ADD-48D9-8FFF-A98730EBDB78}" type="slidenum">
              <a:rPr lang="en-US" altLang="zh-TW" smtClean="0"/>
              <a:pPr/>
              <a:t>23</a:t>
            </a:fld>
            <a:endParaRPr lang="en-US" altLang="zh-TW" smtClean="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DF5F91-D156-47E9-903C-14E4830DECF4}" type="slidenum">
              <a:rPr lang="en-US" altLang="zh-TW" smtClean="0"/>
              <a:pPr/>
              <a:t>24</a:t>
            </a:fld>
            <a:endParaRPr lang="en-US" altLang="zh-TW" smtClean="0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C48D-9386-44D1-A683-6DC2A2CCE607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7F433-B86E-482B-9D52-05409CAA69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C48D-9386-44D1-A683-6DC2A2CCE607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7F433-B86E-482B-9D52-05409CAA69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C48D-9386-44D1-A683-6DC2A2CCE607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7F433-B86E-482B-9D52-05409CAA69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C48D-9386-44D1-A683-6DC2A2CCE607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7F433-B86E-482B-9D52-05409CAA69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C48D-9386-44D1-A683-6DC2A2CCE607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7F433-B86E-482B-9D52-05409CAA69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C48D-9386-44D1-A683-6DC2A2CCE607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7F433-B86E-482B-9D52-05409CAA69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C48D-9386-44D1-A683-6DC2A2CCE607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7F433-B86E-482B-9D52-05409CAA69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C48D-9386-44D1-A683-6DC2A2CCE607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7F433-B86E-482B-9D52-05409CAA69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C48D-9386-44D1-A683-6DC2A2CCE607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7F433-B86E-482B-9D52-05409CAA69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C48D-9386-44D1-A683-6DC2A2CCE607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7F433-B86E-482B-9D52-05409CAA69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6C48D-9386-44D1-A683-6DC2A2CCE607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7F433-B86E-482B-9D52-05409CAA69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138113"/>
            <a:ext cx="8001000" cy="4111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3924300" cy="568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6450" y="692150"/>
            <a:ext cx="3924300" cy="276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6450" y="3613150"/>
            <a:ext cx="3924300" cy="276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041755-781A-48F5-9E4C-E9329D996B0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138113"/>
            <a:ext cx="8001000" cy="4111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3924300" cy="568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6450" y="692150"/>
            <a:ext cx="3924300" cy="568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10BB01-2E90-4F60-AAA7-52C0990242D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6C48D-9386-44D1-A683-6DC2A2CCE607}" type="datetimeFigureOut">
              <a:rPr lang="en-US" smtClean="0"/>
              <a:pPr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7F433-B86E-482B-9D52-05409CAA69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png"/><Relationship Id="rId4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397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and Mobile Communication</a:t>
            </a:r>
            <a:br>
              <a:rPr lang="en-US" dirty="0" smtClean="0"/>
            </a:br>
            <a:r>
              <a:rPr lang="en-US" dirty="0" smtClean="0"/>
              <a:t>(UEC 804) </a:t>
            </a:r>
            <a:endParaRPr lang="en-US" dirty="0"/>
          </a:p>
        </p:txBody>
      </p:sp>
      <p:grpSp>
        <p:nvGrpSpPr>
          <p:cNvPr id="3" name="Group 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6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3" cy="5538266"/>
              <a:chOff x="211286" y="1131023"/>
              <a:chExt cx="13623320" cy="6982618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0" name="Half Frame 9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1143000" y="4743271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Reference Text book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“Wireless communication_ principles and practices” (Second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 smtClean="0">
                <a:solidFill>
                  <a:srgbClr val="C00000"/>
                </a:solidFill>
              </a:rPr>
              <a:t>dition )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Author: Theodore s Rapport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Publisher: Prentice Hall (2002)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38400" y="2286000"/>
            <a:ext cx="5562600" cy="1447800"/>
          </a:xfrm>
        </p:spPr>
        <p:txBody>
          <a:bodyPr/>
          <a:lstStyle/>
          <a:p>
            <a:pPr>
              <a:buNone/>
            </a:pPr>
            <a:r>
              <a:rPr lang="en-US" sz="6600" smtClean="0">
                <a:solidFill>
                  <a:srgbClr val="C00000"/>
                </a:solidFill>
              </a:rPr>
              <a:t>MODULE -V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5" cy="5538266"/>
              <a:chOff x="211286" y="1131023"/>
              <a:chExt cx="13623320" cy="6982618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1600200" y="3352800"/>
            <a:ext cx="6400800" cy="16002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Mobile Radio Propagation: Small-Scale Fading and Multipath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04800" y="838200"/>
            <a:ext cx="72010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Topics covered till now in this module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1459468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163" indent="-284163">
              <a:buFont typeface="Arial" pitchFamily="34" charset="0"/>
              <a:buChar char="•"/>
            </a:pPr>
            <a:r>
              <a:rPr lang="en-US" dirty="0" smtClean="0"/>
              <a:t>Introduction to fading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57200" y="2286000"/>
            <a:ext cx="63775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Topic to be covered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in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this video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33400" y="31242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163" indent="-284163">
              <a:buFont typeface="Arial" pitchFamily="34" charset="0"/>
              <a:buChar char="•"/>
            </a:pPr>
            <a:r>
              <a:rPr lang="en-US" dirty="0" smtClean="0"/>
              <a:t>Factors influencing the fading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dirty="0" smtClean="0">
                <a:solidFill>
                  <a:schemeClr val="bg1"/>
                </a:solidFill>
              </a:rPr>
              <a:t>Types of Small-Scale Fading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4800" y="838200"/>
            <a:ext cx="8382000" cy="2545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200" dirty="0" smtClean="0"/>
              <a:t>Fading can be caused by two independent MRC propagation mechanisms:</a:t>
            </a:r>
          </a:p>
          <a:p>
            <a:endParaRPr lang="en-US" altLang="zh-TW" sz="2200" dirty="0" smtClean="0"/>
          </a:p>
          <a:p>
            <a:pPr lvl="1"/>
            <a:r>
              <a:rPr lang="en-US" altLang="zh-TW" sz="2200" dirty="0" smtClean="0"/>
              <a:t>1) time dispersion → multipath delay (</a:t>
            </a:r>
            <a:r>
              <a:rPr lang="en-US" altLang="zh-TW" sz="2200" i="1" dirty="0" err="1" smtClean="0"/>
              <a:t>B</a:t>
            </a:r>
            <a:r>
              <a:rPr lang="en-US" altLang="zh-TW" sz="2200" i="1" baseline="-25000" dirty="0" err="1" smtClean="0"/>
              <a:t>c</a:t>
            </a:r>
            <a:r>
              <a:rPr lang="en-US" altLang="zh-TW" sz="2200" i="1" dirty="0" smtClean="0"/>
              <a:t> , </a:t>
            </a:r>
            <a:r>
              <a:rPr lang="en-US" altLang="zh-TW" sz="2200" dirty="0" smtClean="0"/>
              <a:t>  Ts   )</a:t>
            </a:r>
          </a:p>
          <a:p>
            <a:pPr lvl="1">
              <a:lnSpc>
                <a:spcPct val="110000"/>
              </a:lnSpc>
            </a:pPr>
            <a:r>
              <a:rPr lang="en-US" altLang="zh-TW" sz="2200" dirty="0" smtClean="0"/>
              <a:t>2) frequency dispersion → Doppler spread (</a:t>
            </a:r>
            <a:r>
              <a:rPr lang="en-US" altLang="zh-TW" sz="2200" i="1" dirty="0" smtClean="0"/>
              <a:t>B</a:t>
            </a:r>
            <a:r>
              <a:rPr lang="en-US" altLang="zh-TW" sz="2200" i="1" baseline="-25000" dirty="0" smtClean="0"/>
              <a:t>D</a:t>
            </a:r>
            <a:r>
              <a:rPr lang="en-US" altLang="zh-TW" sz="2200" i="1" dirty="0" smtClean="0"/>
              <a:t> , </a:t>
            </a:r>
            <a:r>
              <a:rPr lang="en-US" altLang="zh-TW" sz="2200" i="1" dirty="0" err="1" smtClean="0"/>
              <a:t>T</a:t>
            </a:r>
            <a:r>
              <a:rPr lang="en-US" altLang="zh-TW" sz="2200" i="1" baseline="-25000" dirty="0" err="1" smtClean="0"/>
              <a:t>c</a:t>
            </a:r>
            <a:r>
              <a:rPr lang="en-US" altLang="zh-TW" sz="2200" dirty="0" smtClean="0"/>
              <a:t>)</a:t>
            </a:r>
          </a:p>
          <a:p>
            <a:pPr lvl="2">
              <a:lnSpc>
                <a:spcPct val="110000"/>
              </a:lnSpc>
            </a:pPr>
            <a:r>
              <a:rPr lang="en-US" altLang="zh-TW" sz="2200" dirty="0" smtClean="0"/>
              <a:t>Important digital </a:t>
            </a:r>
            <a:r>
              <a:rPr lang="en-US" altLang="zh-TW" sz="2200" dirty="0" err="1" smtClean="0"/>
              <a:t>Tx</a:t>
            </a:r>
            <a:r>
              <a:rPr lang="en-US" altLang="zh-TW" sz="2200" dirty="0" smtClean="0"/>
              <a:t> signal parameters → symbol period &amp; signal BW</a:t>
            </a:r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7813" y="4005263"/>
            <a:ext cx="6264275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Fading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14400"/>
            <a:ext cx="7391400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200" dirty="0" smtClean="0"/>
              <a:t>A pulse can be more than two levels, however, so each period would be called a "symbol period".</a:t>
            </a:r>
          </a:p>
          <a:p>
            <a:pPr marL="857250" lvl="1" indent="-4000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200" dirty="0" smtClean="0"/>
              <a:t>We send 0 (say +1 Volt) or 1 (say -1 Volt) → one bit per “symbol”</a:t>
            </a:r>
          </a:p>
          <a:p>
            <a:pPr marL="857250" lvl="1" indent="-4000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200" dirty="0" smtClean="0"/>
              <a:t>Or we could send 10 (+3 Volts) or 00 (+1 Volt) or 01 (-1 Volt) or 11 (-3 Volts) → two bits per “symbol”</a:t>
            </a:r>
          </a:p>
          <a:p>
            <a:pPr>
              <a:lnSpc>
                <a:spcPct val="150000"/>
              </a:lnSpc>
            </a:pPr>
            <a:endParaRPr lang="en-US" altLang="zh-TW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0" dirty="0" smtClean="0">
                <a:solidFill>
                  <a:schemeClr val="bg1"/>
                </a:solidFill>
              </a:rPr>
              <a:t>illustrates types of small-scale fading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pic>
        <p:nvPicPr>
          <p:cNvPr id="15" name="Picture 4" descr="TMP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388" y="692150"/>
            <a:ext cx="8610600" cy="566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43000" y="0"/>
            <a:ext cx="74676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90000"/>
              </a:lnSpc>
            </a:pPr>
            <a:r>
              <a:rPr lang="en-US" altLang="zh-TW" sz="3200" b="1" dirty="0" smtClean="0">
                <a:solidFill>
                  <a:schemeClr val="bg1"/>
                </a:solidFill>
              </a:rPr>
              <a:t>Fading due to Multipath Delay(Flat fading)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1066800"/>
            <a:ext cx="8534400" cy="5001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90000"/>
              </a:lnSpc>
              <a:buFont typeface="Wingdings" pitchFamily="2" charset="2"/>
              <a:buAutoNum type="arabicParenR"/>
            </a:pPr>
            <a:endParaRPr lang="en-US" altLang="zh-TW" sz="1200" dirty="0" smtClean="0"/>
          </a:p>
          <a:p>
            <a:pPr marL="966788" lvl="1" indent="-495300">
              <a:lnSpc>
                <a:spcPct val="90000"/>
              </a:lnSpc>
              <a:buClr>
                <a:srgbClr val="0000FF"/>
              </a:buClr>
            </a:pPr>
            <a:r>
              <a:rPr lang="en-US" altLang="zh-TW" sz="2800" dirty="0" smtClean="0"/>
              <a:t>A</a:t>
            </a:r>
            <a:r>
              <a:rPr lang="zh-TW" altLang="en-US" sz="2800" dirty="0" smtClean="0"/>
              <a:t>）</a:t>
            </a:r>
            <a:r>
              <a:rPr lang="en-US" altLang="zh-TW" sz="2800" b="1" dirty="0" smtClean="0"/>
              <a:t>Flat Fading </a:t>
            </a:r>
            <a:r>
              <a:rPr lang="en-US" altLang="zh-TW" sz="2800" dirty="0" smtClean="0"/>
              <a:t>→ </a:t>
            </a:r>
            <a:r>
              <a:rPr lang="en-US" altLang="zh-TW" sz="2800" i="1" dirty="0" smtClean="0"/>
              <a:t>B</a:t>
            </a:r>
            <a:r>
              <a:rPr lang="en-US" altLang="zh-TW" sz="2800" i="1" baseline="-25000" dirty="0" smtClean="0"/>
              <a:t>s</a:t>
            </a:r>
            <a:r>
              <a:rPr lang="en-US" altLang="zh-TW" sz="2500" i="1" dirty="0" smtClean="0"/>
              <a:t> </a:t>
            </a:r>
            <a:r>
              <a:rPr lang="en-US" altLang="zh-TW" sz="2500" dirty="0" smtClean="0"/>
              <a:t>&lt;&lt; </a:t>
            </a:r>
            <a:r>
              <a:rPr lang="en-US" altLang="zh-TW" sz="2500" i="1" dirty="0" err="1" smtClean="0"/>
              <a:t>B</a:t>
            </a:r>
            <a:r>
              <a:rPr lang="en-US" altLang="zh-TW" sz="2500" i="1" baseline="-25000" dirty="0" err="1" smtClean="0"/>
              <a:t>c</a:t>
            </a:r>
            <a:r>
              <a:rPr lang="en-US" altLang="zh-TW" sz="2500" i="1" dirty="0" smtClean="0"/>
              <a:t> </a:t>
            </a:r>
            <a:r>
              <a:rPr lang="en-US" altLang="zh-TW" sz="2500" dirty="0" smtClean="0"/>
              <a:t>or </a:t>
            </a:r>
            <a:r>
              <a:rPr lang="en-US" altLang="zh-TW" sz="2500" i="1" dirty="0" smtClean="0"/>
              <a:t>T</a:t>
            </a:r>
            <a:r>
              <a:rPr lang="en-US" altLang="zh-TW" sz="2500" i="1" baseline="-25000" dirty="0" smtClean="0"/>
              <a:t>s</a:t>
            </a:r>
            <a:r>
              <a:rPr lang="en-US" altLang="zh-TW" sz="2500" i="1" dirty="0" smtClean="0"/>
              <a:t> </a:t>
            </a:r>
            <a:r>
              <a:rPr lang="en-US" altLang="zh-TW" sz="2500" dirty="0" smtClean="0"/>
              <a:t>&gt;&gt;       </a:t>
            </a:r>
          </a:p>
          <a:p>
            <a:pPr marL="1347788" lvl="2" indent="-438150">
              <a:lnSpc>
                <a:spcPct val="90000"/>
              </a:lnSpc>
              <a:buFont typeface="Wingdings" pitchFamily="2" charset="2"/>
              <a:buAutoNum type="alphaUcParenR"/>
            </a:pPr>
            <a:endParaRPr lang="en-US" altLang="zh-TW" sz="1000" dirty="0" smtClean="0"/>
          </a:p>
          <a:p>
            <a:pPr marL="1347788" lvl="2" indent="-438150"/>
            <a:r>
              <a:rPr lang="en-US" altLang="zh-TW" sz="2200" dirty="0" smtClean="0"/>
              <a:t> </a:t>
            </a:r>
          </a:p>
          <a:p>
            <a:pPr marL="1347788" lvl="2" indent="-438150">
              <a:buFont typeface="Arial" pitchFamily="34" charset="0"/>
              <a:buChar char="•"/>
            </a:pPr>
            <a:r>
              <a:rPr lang="en-US" altLang="zh-TW" sz="2400" dirty="0" smtClean="0"/>
              <a:t>signal fits easily within the bandwidth of the channel</a:t>
            </a:r>
          </a:p>
          <a:p>
            <a:pPr marL="1347788" lvl="2" indent="-438150">
              <a:buFont typeface="Arial" pitchFamily="34" charset="0"/>
              <a:buChar char="•"/>
            </a:pPr>
            <a:endParaRPr lang="en-US" altLang="zh-TW" sz="2400" dirty="0" smtClean="0"/>
          </a:p>
          <a:p>
            <a:pPr marL="1347788" lvl="2" indent="-438150"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channel BW &gt;&gt; signal BW </a:t>
            </a:r>
            <a:endParaRPr lang="en-US" altLang="zh-TW" sz="2400" i="1" dirty="0" smtClean="0"/>
          </a:p>
          <a:p>
            <a:pPr marL="1347788" lvl="2" indent="-438150">
              <a:lnSpc>
                <a:spcPct val="90000"/>
              </a:lnSpc>
            </a:pPr>
            <a:endParaRPr lang="en-US" altLang="zh-TW" sz="2400" i="1" dirty="0" smtClean="0"/>
          </a:p>
          <a:p>
            <a:pPr marL="1347788" lvl="2" indent="-438150">
              <a:lnSpc>
                <a:spcPct val="90000"/>
              </a:lnSpc>
            </a:pPr>
            <a:endParaRPr lang="en-US" altLang="zh-TW" sz="2400" i="1" dirty="0" smtClean="0"/>
          </a:p>
          <a:p>
            <a:pPr marL="1347788" lvl="2" indent="-438150">
              <a:lnSpc>
                <a:spcPct val="90000"/>
              </a:lnSpc>
            </a:pPr>
            <a:endParaRPr lang="en-US" altLang="zh-TW" sz="2400" i="1" dirty="0" smtClean="0"/>
          </a:p>
          <a:p>
            <a:pPr marL="1347788" lvl="2" indent="-438150">
              <a:lnSpc>
                <a:spcPct val="90000"/>
              </a:lnSpc>
            </a:pPr>
            <a:r>
              <a:rPr lang="en-US" altLang="zh-TW" sz="2400" i="1" dirty="0" smtClean="0"/>
              <a:t>                            </a:t>
            </a:r>
          </a:p>
          <a:p>
            <a:pPr marL="1347788" lvl="2" indent="-438150">
              <a:lnSpc>
                <a:spcPct val="110000"/>
              </a:lnSpc>
            </a:pPr>
            <a:r>
              <a:rPr lang="en-US" altLang="zh-TW" sz="2400" i="1" dirty="0" smtClean="0"/>
              <a:t>                                   </a:t>
            </a:r>
          </a:p>
          <a:p>
            <a:pPr marL="1347788" lvl="2" indent="-438150">
              <a:lnSpc>
                <a:spcPct val="110000"/>
              </a:lnSpc>
            </a:pPr>
            <a:r>
              <a:rPr lang="en-US" altLang="zh-TW" sz="2400" i="1" dirty="0" smtClean="0"/>
              <a:t>                                     </a:t>
            </a:r>
            <a:endParaRPr lang="en-US" altLang="zh-TW" sz="2400" dirty="0" smtClean="0"/>
          </a:p>
          <a:p>
            <a:pPr marL="1347788" lvl="2" indent="-438150">
              <a:lnSpc>
                <a:spcPct val="90000"/>
              </a:lnSpc>
            </a:pPr>
            <a:endParaRPr lang="en-US" altLang="zh-TW" sz="2400" dirty="0" smtClean="0"/>
          </a:p>
          <a:p>
            <a:pPr marL="1347788" lvl="2" indent="-438150">
              <a:lnSpc>
                <a:spcPct val="90000"/>
              </a:lnSpc>
            </a:pPr>
            <a:r>
              <a:rPr lang="en-US" altLang="zh-TW" sz="2400" dirty="0" smtClean="0"/>
              <a:t>most commonly occurring type of fading</a:t>
            </a:r>
            <a:endParaRPr lang="en-US" altLang="zh-TW" sz="1900" dirty="0" smtClean="0"/>
          </a:p>
        </p:txBody>
      </p:sp>
      <p:graphicFrame>
        <p:nvGraphicFramePr>
          <p:cNvPr id="16" name="Object 8"/>
          <p:cNvGraphicFramePr>
            <a:graphicFrameLocks noChangeAspect="1"/>
          </p:cNvGraphicFramePr>
          <p:nvPr/>
        </p:nvGraphicFramePr>
        <p:xfrm>
          <a:off x="2999064" y="2438401"/>
          <a:ext cx="1191935" cy="457200"/>
        </p:xfrm>
        <a:graphic>
          <a:graphicData uri="http://schemas.openxmlformats.org/presentationml/2006/ole">
            <p:oleObj spid="_x0000_s1026" name="Equation" r:id="rId3" imgW="596880" imgH="228600" progId="">
              <p:embed/>
            </p:oleObj>
          </a:graphicData>
        </a:graphic>
      </p:graphicFrame>
      <p:graphicFrame>
        <p:nvGraphicFramePr>
          <p:cNvPr id="18" name="Object 11"/>
          <p:cNvGraphicFramePr>
            <a:graphicFrameLocks noChangeAspect="1"/>
          </p:cNvGraphicFramePr>
          <p:nvPr/>
        </p:nvGraphicFramePr>
        <p:xfrm>
          <a:off x="5638800" y="1219200"/>
          <a:ext cx="477838" cy="547688"/>
        </p:xfrm>
        <a:graphic>
          <a:graphicData uri="http://schemas.openxmlformats.org/presentationml/2006/ole">
            <p:oleObj spid="_x0000_s1027" name="Equation" r:id="rId4" imgW="190440" imgH="228600" progId="">
              <p:embed/>
            </p:oleObj>
          </a:graphicData>
        </a:graphic>
      </p:graphicFrame>
      <p:pic>
        <p:nvPicPr>
          <p:cNvPr id="19" name="Picture 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08175" y="3500438"/>
            <a:ext cx="4968875" cy="218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ctr">
              <a:lnSpc>
                <a:spcPct val="90000"/>
              </a:lnSpc>
            </a:pPr>
            <a:r>
              <a:rPr lang="en-US" altLang="zh-TW" sz="3200" b="1" dirty="0" smtClean="0">
                <a:solidFill>
                  <a:schemeClr val="bg1"/>
                </a:solidFill>
              </a:rPr>
              <a:t>Flat fading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685800"/>
            <a:ext cx="8763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800" dirty="0" smtClean="0"/>
              <a:t>spectral properties of </a:t>
            </a:r>
            <a:r>
              <a:rPr lang="en-US" altLang="zh-TW" sz="2800" dirty="0" err="1" smtClean="0"/>
              <a:t>Tx</a:t>
            </a:r>
            <a:r>
              <a:rPr lang="en-US" altLang="zh-TW" sz="2800" dirty="0" smtClean="0"/>
              <a:t> signal are preserved</a:t>
            </a:r>
          </a:p>
          <a:p>
            <a:pPr marL="971550" lvl="1" indent="-5143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signal is called a </a:t>
            </a:r>
            <a:r>
              <a:rPr lang="en-US" altLang="zh-TW" sz="2400" i="1" dirty="0" smtClean="0"/>
              <a:t>narrowband </a:t>
            </a:r>
            <a:r>
              <a:rPr lang="en-US" altLang="zh-TW" sz="2400" dirty="0" smtClean="0"/>
              <a:t>channel, since the bandwidth of the signal is narrow with respect to the channel bandwidth</a:t>
            </a:r>
          </a:p>
          <a:p>
            <a:pPr marL="971550" lvl="1" indent="-5143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signal is not distorted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800" dirty="0" smtClean="0"/>
              <a:t>What does </a:t>
            </a:r>
            <a:r>
              <a:rPr lang="en-US" altLang="zh-TW" sz="2800" i="1" dirty="0" smtClean="0"/>
              <a:t>T</a:t>
            </a:r>
            <a:r>
              <a:rPr lang="en-US" altLang="zh-TW" sz="2800" i="1" baseline="-25000" dirty="0" smtClean="0"/>
              <a:t>s</a:t>
            </a:r>
            <a:r>
              <a:rPr lang="en-US" altLang="zh-TW" sz="2800" i="1" dirty="0" smtClean="0"/>
              <a:t> </a:t>
            </a:r>
            <a:r>
              <a:rPr lang="en-US" altLang="zh-TW" sz="2800" dirty="0" smtClean="0"/>
              <a:t>&gt;&gt;          mean?? </a:t>
            </a:r>
          </a:p>
          <a:p>
            <a:pPr marL="971550" lvl="1" indent="-5143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all multipath signals arrive at mobile Rx during 1 symbol period </a:t>
            </a:r>
          </a:p>
          <a:p>
            <a:pPr marL="971550" lvl="1" indent="-5143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Little intersymbol interference occurs (no multipath components arrive late to interfere with the next symbol)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3124200" y="3124200"/>
          <a:ext cx="384455" cy="533400"/>
        </p:xfrm>
        <a:graphic>
          <a:graphicData uri="http://schemas.openxmlformats.org/presentationml/2006/ole">
            <p:oleObj spid="_x0000_s2050" name="Equation" r:id="rId3" imgW="190440" imgH="2286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90000"/>
              </a:lnSpc>
            </a:pPr>
            <a:r>
              <a:rPr lang="en-US" altLang="zh-TW" sz="3200" b="1" dirty="0" smtClean="0">
                <a:solidFill>
                  <a:schemeClr val="bg1"/>
                </a:solidFill>
              </a:rPr>
              <a:t>Fading due to Multipath Delay</a:t>
            </a:r>
          </a:p>
        </p:txBody>
      </p:sp>
      <p:pic>
        <p:nvPicPr>
          <p:cNvPr id="15" name="Picture 4" descr="TMP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143000"/>
            <a:ext cx="8305800" cy="443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90000"/>
              </a:lnSpc>
            </a:pPr>
            <a:r>
              <a:rPr lang="en-US" altLang="zh-TW" sz="3200" b="1" dirty="0" smtClean="0">
                <a:solidFill>
                  <a:schemeClr val="bg1"/>
                </a:solidFill>
              </a:rPr>
              <a:t>Fading due to Multipath Delay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685800"/>
            <a:ext cx="83058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200" dirty="0" smtClean="0"/>
              <a:t>flat fading is generally considered desirable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altLang="zh-TW" sz="2200" dirty="0" smtClean="0"/>
          </a:p>
          <a:p>
            <a:pPr marL="800100" lvl="1" indent="-4000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200" dirty="0" smtClean="0"/>
              <a:t>Even though fading in amplitude occurs, the signal is not distorted</a:t>
            </a:r>
          </a:p>
          <a:p>
            <a:pPr marL="800100" lvl="1" indent="-4000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200" dirty="0" smtClean="0"/>
              <a:t>Forward link → can increase mobile Rx gain (automatic gain control)</a:t>
            </a:r>
          </a:p>
          <a:p>
            <a:pPr marL="800100" lvl="1" indent="-4000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200" dirty="0" smtClean="0"/>
              <a:t>Reverse link → can increase mobile </a:t>
            </a:r>
            <a:r>
              <a:rPr lang="en-US" altLang="zh-TW" sz="2200" dirty="0" err="1" smtClean="0"/>
              <a:t>Tx</a:t>
            </a:r>
            <a:r>
              <a:rPr lang="en-US" altLang="zh-TW" sz="2200" dirty="0" smtClean="0"/>
              <a:t> power (power control)</a:t>
            </a:r>
          </a:p>
          <a:p>
            <a:pPr marL="800100" lvl="1" indent="-4000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200" dirty="0" smtClean="0"/>
              <a:t>Can use diversity techniques (described in a later lecture)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 Frequency Selective Fading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8600" y="762000"/>
            <a:ext cx="8077200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</a:pPr>
            <a:r>
              <a:rPr lang="en-US" altLang="zh-TW" sz="2600" b="1" dirty="0" smtClean="0"/>
              <a:t>B) </a:t>
            </a:r>
            <a:r>
              <a:rPr lang="en-US" altLang="zh-TW" sz="2800" b="1" dirty="0" smtClean="0"/>
              <a:t>Frequency Selective Fading </a:t>
            </a:r>
            <a:r>
              <a:rPr lang="en-US" altLang="zh-TW" sz="2800" dirty="0" smtClean="0"/>
              <a:t>→ </a:t>
            </a:r>
            <a:r>
              <a:rPr lang="en-US" altLang="zh-TW" sz="2800" i="1" dirty="0" smtClean="0"/>
              <a:t>B</a:t>
            </a:r>
            <a:r>
              <a:rPr lang="en-US" altLang="zh-TW" sz="2800" i="1" baseline="-25000" dirty="0" smtClean="0"/>
              <a:t>s</a:t>
            </a:r>
            <a:r>
              <a:rPr lang="en-US" altLang="zh-TW" sz="2800" i="1" dirty="0" smtClean="0"/>
              <a:t> </a:t>
            </a:r>
            <a:r>
              <a:rPr lang="en-US" altLang="zh-TW" sz="2800" dirty="0" smtClean="0"/>
              <a:t>&gt; </a:t>
            </a:r>
            <a:r>
              <a:rPr lang="en-US" altLang="zh-TW" sz="2800" i="1" dirty="0" err="1" smtClean="0"/>
              <a:t>B</a:t>
            </a:r>
            <a:r>
              <a:rPr lang="en-US" altLang="zh-TW" sz="2800" i="1" baseline="-25000" dirty="0" err="1" smtClean="0"/>
              <a:t>c</a:t>
            </a:r>
            <a:r>
              <a:rPr lang="en-US" altLang="zh-TW" sz="2800" i="1" dirty="0" smtClean="0"/>
              <a:t> </a:t>
            </a:r>
            <a:r>
              <a:rPr lang="en-US" altLang="zh-TW" sz="2800" dirty="0" smtClean="0"/>
              <a:t>or </a:t>
            </a:r>
            <a:r>
              <a:rPr lang="en-US" altLang="zh-TW" sz="2800" i="1" dirty="0" smtClean="0"/>
              <a:t>T</a:t>
            </a:r>
            <a:r>
              <a:rPr lang="en-US" altLang="zh-TW" sz="2800" i="1" baseline="-25000" dirty="0" smtClean="0"/>
              <a:t>s</a:t>
            </a:r>
            <a:r>
              <a:rPr lang="en-US" altLang="zh-TW" sz="2800" i="1" dirty="0" smtClean="0"/>
              <a:t> </a:t>
            </a:r>
            <a:r>
              <a:rPr lang="en-US" altLang="zh-TW" sz="2800" dirty="0" smtClean="0"/>
              <a:t>&lt;  </a:t>
            </a:r>
            <a:endParaRPr lang="en-US" altLang="zh-TW" sz="2800" baseline="-25000" dirty="0" smtClean="0"/>
          </a:p>
          <a:p>
            <a:pPr marL="966788" lvl="1" indent="-4953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200" i="1" dirty="0" smtClean="0"/>
              <a:t> </a:t>
            </a:r>
          </a:p>
          <a:p>
            <a:pPr marL="966788" lvl="1" indent="-4953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i="1" dirty="0" smtClean="0"/>
              <a:t>B</a:t>
            </a:r>
            <a:r>
              <a:rPr lang="en-US" altLang="zh-TW" sz="2400" i="1" baseline="-25000" dirty="0" smtClean="0"/>
              <a:t>s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&gt; </a:t>
            </a:r>
            <a:r>
              <a:rPr lang="en-US" altLang="zh-TW" sz="2400" i="1" dirty="0" err="1" smtClean="0"/>
              <a:t>B</a:t>
            </a:r>
            <a:r>
              <a:rPr lang="en-US" altLang="zh-TW" sz="2400" i="1" baseline="-25000" dirty="0" err="1" smtClean="0"/>
              <a:t>c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→ certain frequency components of the signal are attenuated much more than others</a:t>
            </a:r>
          </a:p>
          <a:p>
            <a:pPr marL="571500" indent="-571500">
              <a:lnSpc>
                <a:spcPct val="150000"/>
              </a:lnSpc>
            </a:pPr>
            <a:endParaRPr lang="en-US" altLang="zh-TW" sz="2400" dirty="0" smtClean="0"/>
          </a:p>
        </p:txBody>
      </p:sp>
      <p:graphicFrame>
        <p:nvGraphicFramePr>
          <p:cNvPr id="16" name="Object 5"/>
          <p:cNvGraphicFramePr>
            <a:graphicFrameLocks noChangeAspect="1"/>
          </p:cNvGraphicFramePr>
          <p:nvPr/>
        </p:nvGraphicFramePr>
        <p:xfrm>
          <a:off x="1371600" y="1600200"/>
          <a:ext cx="1223963" cy="468312"/>
        </p:xfrm>
        <a:graphic>
          <a:graphicData uri="http://schemas.openxmlformats.org/presentationml/2006/ole">
            <p:oleObj spid="_x0000_s3074" name="Equation" r:id="rId3" imgW="596880" imgH="228600" progId="">
              <p:embed/>
            </p:oleObj>
          </a:graphicData>
        </a:graphic>
      </p:graphicFrame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39863" y="3479800"/>
            <a:ext cx="489585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9" name="Object 8"/>
          <p:cNvGraphicFramePr>
            <a:graphicFrameLocks noChangeAspect="1"/>
          </p:cNvGraphicFramePr>
          <p:nvPr/>
        </p:nvGraphicFramePr>
        <p:xfrm>
          <a:off x="7162800" y="990600"/>
          <a:ext cx="481013" cy="576262"/>
        </p:xfrm>
        <a:graphic>
          <a:graphicData uri="http://schemas.openxmlformats.org/presentationml/2006/ole">
            <p:oleObj spid="_x0000_s3075" name="Equation" r:id="rId5" imgW="190440" imgH="2286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 Frequency Selective Fading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pic>
        <p:nvPicPr>
          <p:cNvPr id="15" name="Picture 4" descr="TMP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1196975"/>
            <a:ext cx="8088312" cy="403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 Frequency Selective Fading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1000" y="838200"/>
            <a:ext cx="800100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200" i="1" dirty="0" smtClean="0"/>
              <a:t>Ts </a:t>
            </a:r>
            <a:r>
              <a:rPr lang="en-US" altLang="zh-TW" sz="2200" dirty="0" smtClean="0"/>
              <a:t>&lt; </a:t>
            </a:r>
            <a:r>
              <a:rPr lang="en-US" altLang="zh-TW" sz="2200" dirty="0" err="1" smtClean="0"/>
              <a:t>σ</a:t>
            </a:r>
            <a:r>
              <a:rPr lang="en-US" altLang="zh-TW" sz="2200" baseline="-25000" dirty="0" err="1" smtClean="0"/>
              <a:t>τ</a:t>
            </a:r>
            <a:r>
              <a:rPr lang="en-US" altLang="zh-TW" sz="2200" dirty="0" smtClean="0"/>
              <a:t> → delayed versions of </a:t>
            </a:r>
            <a:r>
              <a:rPr lang="en-US" altLang="zh-TW" sz="2200" dirty="0" err="1" smtClean="0"/>
              <a:t>Tx</a:t>
            </a:r>
            <a:r>
              <a:rPr lang="en-US" altLang="zh-TW" sz="2200" dirty="0" smtClean="0"/>
              <a:t> signal arrive during different symbol periods</a:t>
            </a:r>
          </a:p>
          <a:p>
            <a:pPr marL="800100" lvl="2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200" dirty="0" smtClean="0"/>
              <a:t>e.g. receiving an LOS → “1” &amp; multipath “0” (from prior symbol!)</a:t>
            </a:r>
          </a:p>
          <a:p>
            <a:pPr marL="800100" lvl="2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200" dirty="0" smtClean="0"/>
              <a:t>This results in intersymbol interference (ISI)</a:t>
            </a:r>
          </a:p>
          <a:p>
            <a:pPr marL="800100" lvl="2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200" dirty="0" smtClean="0"/>
              <a:t>Undesirable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200" dirty="0" smtClean="0"/>
              <a:t>it is very difficult to predict mobile Rx performance with frequency selective channels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lang="en-US" altLang="zh-TW" sz="2200" u="sng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 Frequency Selective Fading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85800"/>
            <a:ext cx="8686800" cy="5638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2286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dirty="0" smtClean="0"/>
              <a:t>But for high bandwidth applications, channels with likely be frequency selective</a:t>
            </a:r>
          </a:p>
          <a:p>
            <a:pPr marL="857250" lvl="2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a new modulation approach has been developed to combat this called </a:t>
            </a:r>
            <a:r>
              <a:rPr lang="en-US" altLang="zh-TW" sz="2400" u="sng" dirty="0" smtClean="0"/>
              <a:t>OFDM</a:t>
            </a:r>
          </a:p>
          <a:p>
            <a:pPr marL="400050" indent="-2286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dirty="0" smtClean="0"/>
              <a:t>One aspect of OFDM is that it separates a wideband signal into many smaller narrowband signals</a:t>
            </a:r>
          </a:p>
          <a:p>
            <a:pPr marL="857250" lvl="2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Then adaptively adjusts the power of each narrowband signal to fit the characteristics of the channel at that frequency.</a:t>
            </a:r>
          </a:p>
          <a:p>
            <a:pPr marL="857250" lvl="2" indent="-2286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Results in much improvement over other wideband transmission approaches (like CDMA).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 Frequency Selective Fading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4800" y="838200"/>
            <a:ext cx="8305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itchFamily="2" charset="2"/>
              <a:buChar char="Ø"/>
            </a:pPr>
            <a:endParaRPr lang="en-US" altLang="zh-TW" sz="2400" dirty="0" smtClean="0"/>
          </a:p>
          <a:p>
            <a:pPr lvl="1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dirty="0" smtClean="0"/>
              <a:t>OFDM is used in the new 802.11g 54 Mbps standard for WLAN’s in the 2.4 GHz band.</a:t>
            </a:r>
          </a:p>
          <a:p>
            <a:pPr lvl="1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dirty="0" smtClean="0"/>
              <a:t>Previously it was thought 54 Mbps could only be obtained at 5.8 GHz using CDMA, but 5.8 GHz signals attenuate much more quickly.</a:t>
            </a:r>
          </a:p>
          <a:p>
            <a:pPr lvl="1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dirty="0" smtClean="0"/>
              <a:t>Signals are split using signal → FFT, break into pieces in the frequency domain, use inverse FFT to create individual signals from each piece, then transmit.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Ø"/>
            </a:pPr>
            <a:endParaRPr lang="en-US" altLang="zh-TW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just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just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just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just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just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just"/>
            <a:fld id="{4846ABB7-46DB-4F16-AB8B-BFEDDDD52D19}" type="slidenum">
              <a:rPr lang="en-US" smtClean="0"/>
              <a:pPr algn="just"/>
              <a:t>16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90000"/>
              </a:lnSpc>
            </a:pPr>
            <a:r>
              <a:rPr lang="en-US" altLang="zh-TW" sz="3200" b="1" dirty="0" smtClean="0">
                <a:solidFill>
                  <a:schemeClr val="bg1"/>
                </a:solidFill>
              </a:rPr>
              <a:t>Fading due to Doppler Spread(Fast Fading)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" y="685800"/>
            <a:ext cx="83058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altLang="zh-TW" b="1" dirty="0" smtClean="0">
              <a:solidFill>
                <a:srgbClr val="FF0000"/>
              </a:solidFill>
            </a:endParaRPr>
          </a:p>
          <a:p>
            <a:pPr lvl="1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dirty="0" smtClean="0"/>
              <a:t>Caused by motion of </a:t>
            </a:r>
            <a:r>
              <a:rPr lang="en-US" altLang="zh-TW" sz="2400" dirty="0" err="1" smtClean="0"/>
              <a:t>Tx</a:t>
            </a:r>
            <a:r>
              <a:rPr lang="en-US" altLang="zh-TW" sz="2400" dirty="0" smtClean="0"/>
              <a:t> and Rx and reflection sources.</a:t>
            </a:r>
          </a:p>
          <a:p>
            <a:pPr lvl="1" indent="-457200" algn="just">
              <a:lnSpc>
                <a:spcPct val="150000"/>
              </a:lnSpc>
            </a:pPr>
            <a:r>
              <a:rPr lang="en-US" altLang="zh-TW" sz="2400" b="1" dirty="0" smtClean="0"/>
              <a:t>A) Fast Fading </a:t>
            </a:r>
            <a:r>
              <a:rPr lang="en-US" altLang="zh-TW" sz="2400" dirty="0" smtClean="0"/>
              <a:t>→ </a:t>
            </a:r>
            <a:r>
              <a:rPr lang="en-US" altLang="zh-TW" sz="2400" i="1" dirty="0" smtClean="0"/>
              <a:t>B</a:t>
            </a:r>
            <a:r>
              <a:rPr lang="en-US" altLang="zh-TW" sz="2400" i="1" baseline="-25000" dirty="0" smtClean="0"/>
              <a:t>s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&lt; </a:t>
            </a:r>
            <a:r>
              <a:rPr lang="en-US" altLang="zh-TW" sz="2400" i="1" dirty="0" smtClean="0"/>
              <a:t>B</a:t>
            </a:r>
            <a:r>
              <a:rPr lang="en-US" altLang="zh-TW" sz="2400" i="1" baseline="-25000" dirty="0" smtClean="0"/>
              <a:t>D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or </a:t>
            </a:r>
            <a:r>
              <a:rPr lang="en-US" altLang="zh-TW" sz="2400" i="1" dirty="0" smtClean="0"/>
              <a:t>T</a:t>
            </a:r>
            <a:r>
              <a:rPr lang="en-US" altLang="zh-TW" sz="2400" i="1" baseline="-25000" dirty="0" smtClean="0"/>
              <a:t>s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&gt; </a:t>
            </a:r>
            <a:r>
              <a:rPr lang="en-US" altLang="zh-TW" sz="2400" i="1" dirty="0" err="1" smtClean="0"/>
              <a:t>T</a:t>
            </a:r>
            <a:r>
              <a:rPr lang="en-US" altLang="zh-TW" sz="2400" i="1" baseline="-25000" dirty="0" err="1" smtClean="0"/>
              <a:t>c</a:t>
            </a:r>
            <a:endParaRPr lang="en-US" altLang="zh-TW" sz="2400" i="1" baseline="-25000" dirty="0" smtClean="0"/>
          </a:p>
          <a:p>
            <a:pPr lvl="2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i="1" dirty="0" smtClean="0"/>
              <a:t>B</a:t>
            </a:r>
            <a:r>
              <a:rPr lang="en-US" altLang="zh-TW" sz="2400" i="1" baseline="-25000" dirty="0" smtClean="0"/>
              <a:t>s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&lt; </a:t>
            </a:r>
            <a:r>
              <a:rPr lang="en-US" altLang="zh-TW" sz="2400" i="1" dirty="0" smtClean="0"/>
              <a:t>B</a:t>
            </a:r>
            <a:r>
              <a:rPr lang="en-US" altLang="zh-TW" sz="2400" i="1" baseline="-25000" dirty="0" smtClean="0"/>
              <a:t>D</a:t>
            </a:r>
          </a:p>
          <a:p>
            <a:pPr marL="914400" lvl="3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Doppler shifts significantly alter spectral BW of TX signal</a:t>
            </a:r>
          </a:p>
          <a:p>
            <a:pPr marL="457200" lvl="2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400" dirty="0" smtClean="0"/>
              <a:t>signal “spreading”  </a:t>
            </a:r>
            <a:r>
              <a:rPr lang="en-US" altLang="zh-TW" sz="2400" i="1" dirty="0" smtClean="0"/>
              <a:t>Ts </a:t>
            </a:r>
            <a:r>
              <a:rPr lang="en-US" altLang="zh-TW" sz="2400" dirty="0" smtClean="0"/>
              <a:t>&gt; </a:t>
            </a:r>
            <a:r>
              <a:rPr lang="en-US" altLang="zh-TW" sz="2400" i="1" dirty="0" err="1" smtClean="0"/>
              <a:t>Tc</a:t>
            </a:r>
            <a:endParaRPr lang="en-US" altLang="zh-TW" sz="2400" i="1" dirty="0" smtClean="0"/>
          </a:p>
          <a:p>
            <a:pPr marL="914400" lvl="3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MRC changes within 1 symbol period</a:t>
            </a:r>
          </a:p>
          <a:p>
            <a:pPr marL="914400" lvl="3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rapid amplitude fluctuations</a:t>
            </a:r>
          </a:p>
          <a:p>
            <a:pPr lvl="2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uncommon in most digital communication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ctr">
              <a:lnSpc>
                <a:spcPct val="90000"/>
              </a:lnSpc>
            </a:pPr>
            <a:r>
              <a:rPr lang="en-US" altLang="zh-TW" sz="3200" b="1" dirty="0" smtClean="0">
                <a:solidFill>
                  <a:schemeClr val="bg1"/>
                </a:solidFill>
              </a:rPr>
              <a:t>Slow fading</a:t>
            </a:r>
          </a:p>
          <a:p>
            <a:pPr marL="571500" indent="-571500">
              <a:lnSpc>
                <a:spcPct val="90000"/>
              </a:lnSpc>
            </a:pPr>
            <a:endParaRPr lang="en-US" altLang="zh-TW" sz="3200" b="1" dirty="0" smtClean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4800" y="533400"/>
            <a:ext cx="8686800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 smtClean="0"/>
              <a:t> </a:t>
            </a:r>
            <a:r>
              <a:rPr lang="en-US" altLang="zh-TW" sz="2400" b="1" dirty="0" smtClean="0"/>
              <a:t>Slow Fading</a:t>
            </a:r>
            <a:r>
              <a:rPr lang="en-US" altLang="zh-TW" sz="2400" dirty="0" smtClean="0"/>
              <a:t> → </a:t>
            </a:r>
            <a:r>
              <a:rPr lang="en-US" altLang="zh-TW" sz="2400" i="1" dirty="0" smtClean="0"/>
              <a:t>T</a:t>
            </a:r>
            <a:r>
              <a:rPr lang="en-US" altLang="zh-TW" sz="2400" i="1" baseline="-25000" dirty="0" smtClean="0"/>
              <a:t>s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&lt;&lt; </a:t>
            </a:r>
            <a:r>
              <a:rPr lang="en-US" altLang="zh-TW" sz="2400" i="1" dirty="0" err="1" smtClean="0"/>
              <a:t>T</a:t>
            </a:r>
            <a:r>
              <a:rPr lang="en-US" altLang="zh-TW" sz="2400" i="1" baseline="-25000" dirty="0" err="1" smtClean="0"/>
              <a:t>c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or </a:t>
            </a:r>
            <a:r>
              <a:rPr lang="en-US" altLang="zh-TW" sz="2400" i="1" dirty="0" smtClean="0"/>
              <a:t>B</a:t>
            </a:r>
            <a:r>
              <a:rPr lang="en-US" altLang="zh-TW" sz="2400" i="1" baseline="-25000" dirty="0" smtClean="0"/>
              <a:t>s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&gt;&gt; </a:t>
            </a:r>
            <a:r>
              <a:rPr lang="en-US" altLang="zh-TW" sz="2400" i="1" dirty="0" smtClean="0"/>
              <a:t>B</a:t>
            </a:r>
            <a:r>
              <a:rPr lang="en-US" altLang="zh-TW" sz="2400" i="1" baseline="-25000" dirty="0" smtClean="0"/>
              <a:t>D</a:t>
            </a:r>
            <a:endParaRPr lang="en-US" altLang="zh-TW" sz="2400" i="1" dirty="0" smtClean="0"/>
          </a:p>
          <a:p>
            <a:pPr marL="685800" lvl="1" indent="-4000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200" dirty="0" smtClean="0"/>
              <a:t>MRC constant over many symbol periods</a:t>
            </a:r>
          </a:p>
          <a:p>
            <a:pPr marL="685800" lvl="1" indent="-4000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200" dirty="0" smtClean="0"/>
              <a:t>slow amplitude fluctuations</a:t>
            </a:r>
          </a:p>
          <a:p>
            <a:pPr marL="685800" lvl="1" indent="-4000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TW" sz="2200" dirty="0" smtClean="0"/>
              <a:t>for </a:t>
            </a:r>
            <a:r>
              <a:rPr lang="en-US" altLang="zh-TW" sz="2200" i="1" dirty="0" smtClean="0"/>
              <a:t>v </a:t>
            </a:r>
            <a:r>
              <a:rPr lang="en-US" altLang="zh-TW" sz="2200" dirty="0" smtClean="0"/>
              <a:t>= 60 mph @ </a:t>
            </a:r>
            <a:r>
              <a:rPr lang="en-US" altLang="zh-TW" sz="2200" i="1" dirty="0" err="1" smtClean="0"/>
              <a:t>f</a:t>
            </a:r>
            <a:r>
              <a:rPr lang="en-US" altLang="zh-TW" sz="2200" i="1" baseline="-25000" dirty="0" err="1" smtClean="0"/>
              <a:t>c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= 2 GHz → </a:t>
            </a:r>
            <a:r>
              <a:rPr lang="en-US" altLang="zh-TW" sz="2200" i="1" dirty="0" smtClean="0"/>
              <a:t>B</a:t>
            </a:r>
            <a:r>
              <a:rPr lang="en-US" altLang="zh-TW" sz="2200" i="1" baseline="-25000" dirty="0" smtClean="0"/>
              <a:t>D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= 178 Hz</a:t>
            </a:r>
          </a:p>
          <a:p>
            <a:pPr lvl="1">
              <a:lnSpc>
                <a:spcPct val="150000"/>
              </a:lnSpc>
            </a:pPr>
            <a:r>
              <a:rPr lang="en-US" altLang="zh-TW" sz="2200" dirty="0" smtClean="0"/>
              <a:t>	∴ </a:t>
            </a:r>
            <a:r>
              <a:rPr lang="en-US" altLang="zh-TW" sz="2200" i="1" dirty="0" smtClean="0"/>
              <a:t>B</a:t>
            </a:r>
            <a:r>
              <a:rPr lang="en-US" altLang="zh-TW" sz="2200" i="1" baseline="-25000" dirty="0" smtClean="0"/>
              <a:t>s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≈ 2 kHz &gt;&gt; </a:t>
            </a:r>
            <a:r>
              <a:rPr lang="en-US" altLang="zh-TW" sz="2200" i="1" dirty="0" smtClean="0"/>
              <a:t>B</a:t>
            </a:r>
            <a:r>
              <a:rPr lang="en-US" altLang="zh-TW" sz="2200" i="1" baseline="-25000" dirty="0" smtClean="0"/>
              <a:t>D and </a:t>
            </a:r>
            <a:r>
              <a:rPr lang="en-US" altLang="zh-TW" sz="2200" i="1" dirty="0" smtClean="0"/>
              <a:t>B</a:t>
            </a:r>
            <a:r>
              <a:rPr lang="en-US" altLang="zh-TW" sz="2200" i="1" baseline="-25000" dirty="0" smtClean="0"/>
              <a:t>s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almost always &gt;&gt; </a:t>
            </a:r>
            <a:r>
              <a:rPr lang="en-US" altLang="zh-TW" sz="2200" i="1" dirty="0" smtClean="0"/>
              <a:t>B</a:t>
            </a:r>
            <a:r>
              <a:rPr lang="en-US" altLang="zh-TW" sz="2200" i="1" baseline="-25000" dirty="0" smtClean="0"/>
              <a:t>D</a:t>
            </a:r>
            <a:r>
              <a:rPr lang="en-US" altLang="zh-TW" sz="2200" i="1" dirty="0" smtClean="0"/>
              <a:t> </a:t>
            </a:r>
            <a:r>
              <a:rPr lang="en-US" altLang="zh-TW" sz="2200" dirty="0" smtClean="0"/>
              <a:t>for most applicatio</a:t>
            </a:r>
            <a:r>
              <a:rPr lang="en-US" altLang="zh-TW" sz="2400" dirty="0" smtClean="0"/>
              <a:t>ns</a:t>
            </a:r>
          </a:p>
          <a:p>
            <a:pPr lvl="1">
              <a:lnSpc>
                <a:spcPct val="150000"/>
              </a:lnSpc>
            </a:pPr>
            <a:endParaRPr lang="en-US" altLang="zh-TW" sz="2400" dirty="0" smtClean="0"/>
          </a:p>
          <a:p>
            <a:pPr>
              <a:lnSpc>
                <a:spcPct val="150000"/>
              </a:lnSpc>
            </a:pPr>
            <a:r>
              <a:rPr lang="en-US" altLang="zh-TW" sz="2400" dirty="0" smtClean="0"/>
              <a:t>** NOTE: Typically use a factor of 10 to designate “&gt;&gt;” **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0"/>
            <a:ext cx="74676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90000"/>
              </a:lnSpc>
            </a:pPr>
            <a:r>
              <a:rPr lang="en-US" altLang="zh-TW" sz="3200" b="1" dirty="0" smtClean="0">
                <a:solidFill>
                  <a:schemeClr val="bg1"/>
                </a:solidFill>
              </a:rPr>
              <a:t>Fading due to Doppler Spread</a:t>
            </a:r>
          </a:p>
        </p:txBody>
      </p:sp>
      <p:pic>
        <p:nvPicPr>
          <p:cNvPr id="15" name="Picture 5" descr="TMP1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914400"/>
            <a:ext cx="6216650" cy="5058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265F2C-1CB2-4CD2-A712-4C2C79112014}" type="slidenum">
              <a:rPr lang="en-US" altLang="zh-TW" smtClean="0"/>
              <a:pPr/>
              <a:t>19</a:t>
            </a:fld>
            <a:endParaRPr lang="en-US" altLang="zh-TW" smtClean="0"/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692150"/>
            <a:ext cx="8135938" cy="5689600"/>
          </a:xfrm>
        </p:spPr>
        <p:txBody>
          <a:bodyPr/>
          <a:lstStyle/>
          <a:p>
            <a:pPr eaLnBrk="1" hangingPunct="1"/>
            <a:r>
              <a:rPr lang="en-US" altLang="zh-TW" sz="2600" dirty="0" smtClean="0"/>
              <a:t>Rayleigh probability distribution function →</a:t>
            </a:r>
          </a:p>
          <a:p>
            <a:pPr lvl="1" eaLnBrk="1" hangingPunct="1"/>
            <a:endParaRPr lang="en-US" altLang="zh-TW" sz="2200" dirty="0" smtClean="0"/>
          </a:p>
          <a:p>
            <a:pPr lvl="1" eaLnBrk="1" hangingPunct="1"/>
            <a:endParaRPr lang="en-US" altLang="zh-TW" sz="2200" dirty="0" smtClean="0"/>
          </a:p>
          <a:p>
            <a:pPr lvl="1" eaLnBrk="1" hangingPunct="1"/>
            <a:endParaRPr lang="en-US" altLang="zh-TW" sz="2200" dirty="0" smtClean="0"/>
          </a:p>
          <a:p>
            <a:pPr lvl="1" eaLnBrk="1" hangingPunct="1"/>
            <a:r>
              <a:rPr lang="en-US" altLang="zh-TW" sz="2200" dirty="0" smtClean="0"/>
              <a:t>Used for flat fading signals.</a:t>
            </a:r>
          </a:p>
          <a:p>
            <a:pPr lvl="1" eaLnBrk="1" hangingPunct="1"/>
            <a:r>
              <a:rPr lang="en-US" altLang="zh-TW" sz="2200" dirty="0" smtClean="0"/>
              <a:t>Formed from the sum of two Gaussian noise signals.</a:t>
            </a:r>
          </a:p>
          <a:p>
            <a:pPr lvl="1" eaLnBrk="1" hangingPunct="1"/>
            <a:r>
              <a:rPr lang="en-US" altLang="zh-TW" sz="2200" dirty="0" smtClean="0"/>
              <a:t>σ : RMS value of Rx signal </a:t>
            </a:r>
            <a:r>
              <a:rPr lang="en-US" altLang="zh-TW" sz="2200" b="1" dirty="0" smtClean="0"/>
              <a:t>before </a:t>
            </a:r>
            <a:r>
              <a:rPr lang="en-US" altLang="zh-TW" sz="2200" dirty="0" smtClean="0"/>
              <a:t>detection (demodulation)</a:t>
            </a:r>
          </a:p>
          <a:p>
            <a:pPr lvl="1" eaLnBrk="1" hangingPunct="1"/>
            <a:r>
              <a:rPr lang="en-US" altLang="zh-TW" sz="2200" dirty="0" smtClean="0"/>
              <a:t>common model for Rx signal variation</a:t>
            </a:r>
          </a:p>
          <a:p>
            <a:pPr lvl="2" eaLnBrk="1" hangingPunct="1"/>
            <a:r>
              <a:rPr lang="en-US" altLang="zh-TW" sz="2100" dirty="0" smtClean="0"/>
              <a:t>urban areas → heavy clutter → no LOS path</a:t>
            </a:r>
          </a:p>
          <a:p>
            <a:pPr lvl="1" eaLnBrk="1" hangingPunct="1"/>
            <a:r>
              <a:rPr lang="en-US" altLang="zh-TW" sz="2200" dirty="0" smtClean="0"/>
              <a:t>probability that signal does not exceeds predefined threshold level </a:t>
            </a:r>
            <a:r>
              <a:rPr lang="en-US" altLang="zh-TW" sz="2200" i="1" dirty="0" smtClean="0"/>
              <a:t>R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z="2100" dirty="0" smtClean="0"/>
              <a:t> </a:t>
            </a: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2051050" y="1341438"/>
          <a:ext cx="3924300" cy="852487"/>
        </p:xfrm>
        <a:graphic>
          <a:graphicData uri="http://schemas.openxmlformats.org/presentationml/2006/ole">
            <p:oleObj spid="_x0000_s26626" name="Equation" r:id="rId4" imgW="2222280" imgH="482400" progId="">
              <p:embed/>
            </p:oleObj>
          </a:graphicData>
        </a:graphic>
      </p:graphicFrame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76375" y="5229225"/>
            <a:ext cx="5761038" cy="973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6" name="Group 14"/>
          <p:cNvGrpSpPr/>
          <p:nvPr/>
        </p:nvGrpSpPr>
        <p:grpSpPr>
          <a:xfrm>
            <a:off x="76203" y="0"/>
            <a:ext cx="9053327" cy="6705599"/>
            <a:chOff x="-152400" y="152400"/>
            <a:chExt cx="9053327" cy="6705599"/>
          </a:xfrm>
        </p:grpSpPr>
        <p:sp>
          <p:nvSpPr>
            <p:cNvPr id="17" name="Title 10"/>
            <p:cNvSpPr txBox="1">
              <a:spLocks/>
            </p:cNvSpPr>
            <p:nvPr/>
          </p:nvSpPr>
          <p:spPr>
            <a:xfrm>
              <a:off x="-152400" y="152400"/>
              <a:ext cx="8991600" cy="381000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18" name="Group 4"/>
            <p:cNvGrpSpPr/>
            <p:nvPr/>
          </p:nvGrpSpPr>
          <p:grpSpPr>
            <a:xfrm>
              <a:off x="0" y="557239"/>
              <a:ext cx="8900927" cy="6300760"/>
              <a:chOff x="-323094" y="968933"/>
              <a:chExt cx="14256573" cy="7943969"/>
            </a:xfrm>
          </p:grpSpPr>
          <p:grpSp>
            <p:nvGrpSpPr>
              <p:cNvPr id="19" name="Group 44"/>
              <p:cNvGrpSpPr/>
              <p:nvPr/>
            </p:nvGrpSpPr>
            <p:grpSpPr>
              <a:xfrm>
                <a:off x="-323094" y="1424157"/>
                <a:ext cx="14256573" cy="7488745"/>
                <a:chOff x="-323094" y="1424157"/>
                <a:chExt cx="14256573" cy="7488745"/>
              </a:xfrm>
            </p:grpSpPr>
            <p:sp>
              <p:nvSpPr>
                <p:cNvPr id="21" name="Half Frame 2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Half Frame 2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Half Frame 22"/>
                <p:cNvSpPr/>
                <p:nvPr/>
              </p:nvSpPr>
              <p:spPr>
                <a:xfrm rot="5400000">
                  <a:off x="12436276" y="1363125"/>
                  <a:ext cx="1436172" cy="1558235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Half Frame 2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" name="Half Frame 7"/>
              <p:cNvSpPr/>
              <p:nvPr/>
            </p:nvSpPr>
            <p:spPr>
              <a:xfrm rot="5400000">
                <a:off x="12112026" y="860776"/>
                <a:ext cx="1341921" cy="1558235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001000" cy="4111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sz="2800" b="1" dirty="0" smtClean="0">
                <a:solidFill>
                  <a:schemeClr val="bg1"/>
                </a:solidFill>
              </a:rPr>
              <a:t> Fading Signal Distributions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B427A34-9E7A-4049-9C86-1E5AA03FD78E}" type="slidenum">
              <a:rPr lang="en-US" altLang="zh-TW" smtClean="0"/>
              <a:pPr/>
              <a:t>20</a:t>
            </a:fld>
            <a:endParaRPr lang="en-US" altLang="zh-TW" smtClean="0"/>
          </a:p>
        </p:txBody>
      </p:sp>
      <p:pic>
        <p:nvPicPr>
          <p:cNvPr id="76804" name="Picture 4" descr="TMP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113" y="1628775"/>
            <a:ext cx="7308850" cy="4392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6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7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8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0" name="Half Frame 9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Rectangle 13"/>
          <p:cNvSpPr/>
          <p:nvPr/>
        </p:nvSpPr>
        <p:spPr>
          <a:xfrm>
            <a:off x="990600" y="0"/>
            <a:ext cx="74676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ctr">
              <a:lnSpc>
                <a:spcPct val="90000"/>
              </a:lnSpc>
            </a:pPr>
            <a:r>
              <a:rPr lang="en-US" altLang="zh-TW" sz="3200" b="1" dirty="0" smtClean="0">
                <a:solidFill>
                  <a:schemeClr val="bg1"/>
                </a:solidFill>
              </a:rPr>
              <a:t>Rayleigh PDF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D75B25-4D20-4683-A3EB-D6AD5EE5B2F6}" type="slidenum">
              <a:rPr lang="en-US" altLang="zh-TW" smtClean="0"/>
              <a:pPr/>
              <a:t>21</a:t>
            </a:fld>
            <a:endParaRPr lang="en-US" altLang="zh-TW" smtClean="0"/>
          </a:p>
        </p:txBody>
      </p:sp>
      <p:sp>
        <p:nvSpPr>
          <p:cNvPr id="12294" name="AutoShape 3"/>
          <p:cNvSpPr>
            <a:spLocks noGrp="1" noChangeAspect="1" noChangeArrowheads="1"/>
          </p:cNvSpPr>
          <p:nvPr>
            <p:ph type="body" sz="half" idx="1"/>
          </p:nvPr>
        </p:nvSpPr>
        <p:spPr>
          <a:xfrm>
            <a:off x="539750" y="692150"/>
            <a:ext cx="8135938" cy="5689600"/>
          </a:xfrm>
        </p:spPr>
        <p:txBody>
          <a:bodyPr/>
          <a:lstStyle/>
          <a:p>
            <a:pPr lvl="1" eaLnBrk="1" hangingPunct="1"/>
            <a:r>
              <a:rPr lang="en-US" altLang="zh-TW" sz="2200" i="1" smtClean="0"/>
              <a:t>r</a:t>
            </a:r>
            <a:r>
              <a:rPr lang="en-US" altLang="zh-TW" sz="2200" i="1" baseline="-25000" smtClean="0"/>
              <a:t>mean</a:t>
            </a:r>
            <a:r>
              <a:rPr lang="en-US" altLang="zh-TW" sz="2200" i="1" smtClean="0"/>
              <a:t> </a:t>
            </a:r>
            <a:r>
              <a:rPr lang="en-US" altLang="zh-TW" sz="2200" smtClean="0"/>
              <a:t>: The mean value of Rayleigh distribution</a:t>
            </a:r>
          </a:p>
          <a:p>
            <a:pPr lvl="1" eaLnBrk="1" hangingPunct="1"/>
            <a:endParaRPr lang="en-US" altLang="zh-TW" sz="2200" smtClean="0"/>
          </a:p>
          <a:p>
            <a:pPr lvl="1" eaLnBrk="1" hangingPunct="1"/>
            <a:endParaRPr lang="en-US" altLang="zh-TW" sz="2200" smtClean="0"/>
          </a:p>
          <a:p>
            <a:pPr lvl="1" eaLnBrk="1" hangingPunct="1"/>
            <a:endParaRPr lang="en-US" altLang="zh-TW" sz="2200" smtClean="0"/>
          </a:p>
          <a:p>
            <a:pPr lvl="1" eaLnBrk="1" hangingPunct="1">
              <a:lnSpc>
                <a:spcPct val="110000"/>
              </a:lnSpc>
            </a:pPr>
            <a:r>
              <a:rPr lang="en-US" altLang="zh-TW" sz="2200" smtClean="0"/>
              <a:t>σ</a:t>
            </a:r>
            <a:r>
              <a:rPr lang="en-US" altLang="zh-TW" sz="2200" i="1" baseline="-25000" smtClean="0"/>
              <a:t>r</a:t>
            </a:r>
            <a:r>
              <a:rPr lang="en-US" altLang="zh-TW" sz="2200" baseline="30000" smtClean="0"/>
              <a:t>2</a:t>
            </a:r>
            <a:r>
              <a:rPr lang="en-US" altLang="zh-TW" sz="2200" smtClean="0"/>
              <a:t> : The variance of Rayleigh distribution; ac power of signal envelope</a:t>
            </a:r>
          </a:p>
          <a:p>
            <a:pPr lvl="1" eaLnBrk="1" hangingPunct="1"/>
            <a:endParaRPr lang="en-US" altLang="zh-TW" sz="2200" smtClean="0"/>
          </a:p>
          <a:p>
            <a:pPr lvl="1" eaLnBrk="1" hangingPunct="1"/>
            <a:endParaRPr lang="en-US" altLang="zh-TW" sz="2200" smtClean="0"/>
          </a:p>
          <a:p>
            <a:pPr lvl="1" eaLnBrk="1" hangingPunct="1"/>
            <a:endParaRPr lang="en-US" altLang="zh-TW" sz="2200" smtClean="0"/>
          </a:p>
          <a:p>
            <a:pPr lvl="1" eaLnBrk="1" hangingPunct="1"/>
            <a:endParaRPr lang="en-US" altLang="zh-TW" sz="2200" smtClean="0"/>
          </a:p>
          <a:p>
            <a:pPr lvl="1" eaLnBrk="1" hangingPunct="1"/>
            <a:endParaRPr lang="en-US" altLang="zh-TW" sz="2200" smtClean="0"/>
          </a:p>
          <a:p>
            <a:pPr lvl="2" eaLnBrk="1" hangingPunct="1"/>
            <a:r>
              <a:rPr lang="en-US" altLang="zh-TW" sz="2100" smtClean="0"/>
              <a:t>σ : RMS value of Rx signal </a:t>
            </a:r>
            <a:r>
              <a:rPr lang="en-US" altLang="zh-TW" sz="2100" b="1" smtClean="0"/>
              <a:t>before </a:t>
            </a:r>
            <a:r>
              <a:rPr lang="en-US" altLang="zh-TW" sz="2100" smtClean="0"/>
              <a:t>detection (demodulation)</a:t>
            </a:r>
          </a:p>
          <a:p>
            <a:pPr lvl="1" eaLnBrk="1" hangingPunct="1"/>
            <a:endParaRPr lang="en-US" altLang="zh-TW" sz="2200" smtClean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 smtClean="0"/>
              <a:t> </a:t>
            </a:r>
          </a:p>
        </p:txBody>
      </p:sp>
      <p:graphicFrame>
        <p:nvGraphicFramePr>
          <p:cNvPr id="12290" name="Object 5"/>
          <p:cNvGraphicFramePr>
            <a:graphicFrameLocks noChangeAspect="1"/>
          </p:cNvGraphicFramePr>
          <p:nvPr>
            <p:ph sz="quarter" idx="2"/>
          </p:nvPr>
        </p:nvGraphicFramePr>
        <p:xfrm>
          <a:off x="1692275" y="1196975"/>
          <a:ext cx="5472113" cy="915988"/>
        </p:xfrm>
        <a:graphic>
          <a:graphicData uri="http://schemas.openxmlformats.org/presentationml/2006/ole">
            <p:oleObj spid="_x0000_s25602" name="Equation" r:id="rId4" imgW="2654280" imgH="444240" progId="">
              <p:embed/>
            </p:oleObj>
          </a:graphicData>
        </a:graphic>
      </p:graphicFrame>
      <p:graphicFrame>
        <p:nvGraphicFramePr>
          <p:cNvPr id="12291" name="Object 8"/>
          <p:cNvGraphicFramePr>
            <a:graphicFrameLocks noChangeAspect="1"/>
          </p:cNvGraphicFramePr>
          <p:nvPr>
            <p:ph sz="quarter" idx="3"/>
          </p:nvPr>
        </p:nvGraphicFramePr>
        <p:xfrm>
          <a:off x="2339975" y="3141663"/>
          <a:ext cx="4608513" cy="1624012"/>
        </p:xfrm>
        <a:graphic>
          <a:graphicData uri="http://schemas.openxmlformats.org/presentationml/2006/ole">
            <p:oleObj spid="_x0000_s25603" name="Equation" r:id="rId5" imgW="2450880" imgH="863280" progId="">
              <p:embed/>
            </p:oleObj>
          </a:graphicData>
        </a:graphic>
      </p:graphicFrame>
      <p:grpSp>
        <p:nvGrpSpPr>
          <p:cNvPr id="7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8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9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10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2" name="Half Frame 11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Half Frame 14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" name="Rectangle 15"/>
          <p:cNvSpPr/>
          <p:nvPr/>
        </p:nvSpPr>
        <p:spPr>
          <a:xfrm>
            <a:off x="990600" y="0"/>
            <a:ext cx="74676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ctr">
              <a:lnSpc>
                <a:spcPct val="90000"/>
              </a:lnSpc>
            </a:pPr>
            <a:r>
              <a:rPr lang="en-US" altLang="zh-TW" sz="3200" b="1" dirty="0" smtClean="0">
                <a:solidFill>
                  <a:schemeClr val="bg1"/>
                </a:solidFill>
              </a:rPr>
              <a:t>Rayleigh distribution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625A64-F686-4CEE-A873-22E687FB542A}" type="slidenum">
              <a:rPr lang="en-US" altLang="zh-TW" smtClean="0"/>
              <a:pPr/>
              <a:t>22</a:t>
            </a:fld>
            <a:endParaRPr lang="en-US" altLang="zh-TW" smtClean="0"/>
          </a:p>
        </p:txBody>
      </p:sp>
      <p:pic>
        <p:nvPicPr>
          <p:cNvPr id="77828" name="Picture 4" descr="TMP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2988" y="1196975"/>
            <a:ext cx="6492875" cy="487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6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7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8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0" name="Half Frame 9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Rectangle 13"/>
          <p:cNvSpPr/>
          <p:nvPr/>
        </p:nvSpPr>
        <p:spPr>
          <a:xfrm>
            <a:off x="990600" y="0"/>
            <a:ext cx="74676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ctr">
              <a:lnSpc>
                <a:spcPct val="90000"/>
              </a:lnSpc>
            </a:pPr>
            <a:r>
              <a:rPr lang="en-US" altLang="zh-TW" sz="3200" b="1" dirty="0" smtClean="0">
                <a:solidFill>
                  <a:schemeClr val="bg1"/>
                </a:solidFill>
              </a:rPr>
              <a:t>Rayleigh distribution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5505549-77E9-476D-99DD-C3B6BA04FDEB}" type="slidenum">
              <a:rPr lang="en-US" altLang="zh-TW" smtClean="0"/>
              <a:pPr/>
              <a:t>23</a:t>
            </a:fld>
            <a:endParaRPr lang="en-US" altLang="zh-TW" smtClean="0"/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TW" dirty="0" smtClean="0"/>
              <a:t>one dominant signal component along with weaker multipath signals</a:t>
            </a:r>
          </a:p>
          <a:p>
            <a:pPr lvl="1" eaLnBrk="1" hangingPunct="1"/>
            <a:r>
              <a:rPr lang="en-US" altLang="zh-TW" dirty="0" smtClean="0"/>
              <a:t>dominant signal → LOS path</a:t>
            </a:r>
          </a:p>
          <a:p>
            <a:pPr lvl="2" eaLnBrk="1" hangingPunct="1"/>
            <a:r>
              <a:rPr lang="en-US" altLang="zh-TW" dirty="0" smtClean="0"/>
              <a:t>suburban or rural areas with light clutter</a:t>
            </a:r>
          </a:p>
          <a:p>
            <a:pPr lvl="1" eaLnBrk="1" hangingPunct="1"/>
            <a:r>
              <a:rPr lang="en-US" altLang="zh-TW" dirty="0" smtClean="0"/>
              <a:t>becomes a Rayleigh distribution as the dominant component weakens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dirty="0" smtClean="0"/>
          </a:p>
          <a:p>
            <a:pPr lvl="1" eaLnBrk="1" hangingPunct="1">
              <a:buFont typeface="Wingdings" pitchFamily="2" charset="2"/>
              <a:buNone/>
            </a:pPr>
            <a:endParaRPr lang="en-US" altLang="zh-TW" dirty="0" smtClean="0"/>
          </a:p>
        </p:txBody>
      </p:sp>
      <p:pic>
        <p:nvPicPr>
          <p:cNvPr id="78853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92275" y="4076700"/>
            <a:ext cx="5113338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7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8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9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17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18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19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21" name="Half Frame 2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Half Frame 2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Half Frame 2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Half Frame 2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5" name="Rectangle 24"/>
          <p:cNvSpPr/>
          <p:nvPr/>
        </p:nvSpPr>
        <p:spPr>
          <a:xfrm>
            <a:off x="990600" y="0"/>
            <a:ext cx="74676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ctr">
              <a:lnSpc>
                <a:spcPct val="90000"/>
              </a:lnSpc>
            </a:pPr>
            <a:r>
              <a:rPr lang="en-US" altLang="zh-TW" sz="3200" b="1" dirty="0" err="1" smtClean="0">
                <a:solidFill>
                  <a:schemeClr val="bg1"/>
                </a:solidFill>
              </a:rPr>
              <a:t>Ricean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 distribution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96AE7B-37F3-4EDD-80FA-68A63316D990}" type="slidenum">
              <a:rPr lang="en-US" altLang="zh-TW" smtClean="0"/>
              <a:pPr/>
              <a:t>24</a:t>
            </a:fld>
            <a:endParaRPr lang="en-US" altLang="zh-TW" smtClean="0"/>
          </a:p>
        </p:txBody>
      </p:sp>
      <p:pic>
        <p:nvPicPr>
          <p:cNvPr id="79876" name="Picture 4" descr="TMP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288" y="1341438"/>
            <a:ext cx="7921625" cy="3779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6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7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8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0" name="Half Frame 9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Rectangle 13"/>
          <p:cNvSpPr/>
          <p:nvPr/>
        </p:nvSpPr>
        <p:spPr>
          <a:xfrm>
            <a:off x="990600" y="0"/>
            <a:ext cx="74676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ctr">
              <a:lnSpc>
                <a:spcPct val="90000"/>
              </a:lnSpc>
            </a:pPr>
            <a:r>
              <a:rPr lang="en-US" altLang="zh-TW" sz="3200" b="1" dirty="0" err="1" smtClean="0">
                <a:solidFill>
                  <a:schemeClr val="bg1"/>
                </a:solidFill>
              </a:rPr>
              <a:t>Ricean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 distribution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6" name="image96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5892" y="1482242"/>
            <a:ext cx="6991913" cy="392856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11.0&quot;&gt;&lt;object type=&quot;1&quot; unique_id=&quot;10001&quot;&gt;&lt;object type=&quot;2&quot; unique_id=&quot;22273&quot;&gt;&lt;object type=&quot;3&quot; unique_id=&quot;22274&quot;&gt;&lt;property id=&quot;20148&quot; value=&quot;5&quot;/&gt;&lt;property id=&quot;20300&quot; value=&quot;Slide 1 - &amp;quot;Wireless and Mobile Communication (UEC 804) &amp;quot;&quot;/&gt;&lt;property id=&quot;20307&quot; value=&quot;258&quot;/&gt;&lt;/object&gt;&lt;object type=&quot;3&quot; unique_id=&quot;22275&quot;&gt;&lt;property id=&quot;20148&quot; value=&quot;5&quot;/&gt;&lt;property id=&quot;20300&quot; value=&quot;Slide 2&quot;/&gt;&lt;property id=&quot;20307&quot; value=&quot;259&quot;/&gt;&lt;/object&gt;&lt;object type=&quot;3&quot; unique_id=&quot;22276&quot;&gt;&lt;property id=&quot;20148&quot; value=&quot;5&quot;/&gt;&lt;property id=&quot;20300&quot; value=&quot;Slide 3&quot;/&gt;&lt;property id=&quot;20307&quot; value=&quot;260&quot;/&gt;&lt;/object&gt;&lt;object type=&quot;3&quot; unique_id=&quot;22277&quot;&gt;&lt;property id=&quot;20148&quot; value=&quot;5&quot;/&gt;&lt;property id=&quot;20300&quot; value=&quot;Slide 4&quot;/&gt;&lt;property id=&quot;20307&quot; value=&quot;262&quot;/&gt;&lt;/object&gt;&lt;object type=&quot;3&quot; unique_id=&quot;22278&quot;&gt;&lt;property id=&quot;20148&quot; value=&quot;5&quot;/&gt;&lt;property id=&quot;20300&quot; value=&quot;Slide 5&quot;/&gt;&lt;property id=&quot;20307&quot; value=&quot;263&quot;/&gt;&lt;/object&gt;&lt;object type=&quot;3&quot; unique_id=&quot;22279&quot;&gt;&lt;property id=&quot;20148&quot; value=&quot;5&quot;/&gt;&lt;property id=&quot;20300&quot; value=&quot;Slide 6&quot;/&gt;&lt;property id=&quot;20307&quot; value=&quot;264&quot;/&gt;&lt;/object&gt;&lt;object type=&quot;3&quot; unique_id=&quot;22280&quot;&gt;&lt;property id=&quot;20148&quot; value=&quot;5&quot;/&gt;&lt;property id=&quot;20300&quot; value=&quot;Slide 7&quot;/&gt;&lt;property id=&quot;20307&quot; value=&quot;265&quot;/&gt;&lt;/object&gt;&lt;object type=&quot;3&quot; unique_id=&quot;22281&quot;&gt;&lt;property id=&quot;20148&quot; value=&quot;5&quot;/&gt;&lt;property id=&quot;20300&quot; value=&quot;Slide 25&quot;/&gt;&lt;property id=&quot;20307&quot; value=&quot;257&quot;/&gt;&lt;/object&gt;&lt;object type=&quot;3&quot; unique_id=&quot;22592&quot;&gt;&lt;property id=&quot;20148&quot; value=&quot;5&quot;/&gt;&lt;property id=&quot;20300&quot; value=&quot;Slide 8&quot;/&gt;&lt;property id=&quot;20307&quot; value=&quot;269&quot;/&gt;&lt;/object&gt;&lt;object type=&quot;3&quot; unique_id=&quot;22593&quot;&gt;&lt;property id=&quot;20148&quot; value=&quot;5&quot;/&gt;&lt;property id=&quot;20300&quot; value=&quot;Slide 9&quot;/&gt;&lt;property id=&quot;20307&quot; value=&quot;270&quot;/&gt;&lt;/object&gt;&lt;object type=&quot;3&quot; unique_id=&quot;22594&quot;&gt;&lt;property id=&quot;20148&quot; value=&quot;5&quot;/&gt;&lt;property id=&quot;20300&quot; value=&quot;Slide 10&quot;/&gt;&lt;property id=&quot;20307&quot; value=&quot;266&quot;/&gt;&lt;/object&gt;&lt;object type=&quot;3&quot; unique_id=&quot;22595&quot;&gt;&lt;property id=&quot;20148&quot; value=&quot;5&quot;/&gt;&lt;property id=&quot;20300&quot; value=&quot;Slide 11&quot;/&gt;&lt;property id=&quot;20307&quot; value=&quot;267&quot;/&gt;&lt;/object&gt;&lt;object type=&quot;3&quot; unique_id=&quot;22596&quot;&gt;&lt;property id=&quot;20148&quot; value=&quot;5&quot;/&gt;&lt;property id=&quot;20300&quot; value=&quot;Slide 12&quot;/&gt;&lt;property id=&quot;20307&quot; value=&quot;268&quot;/&gt;&lt;/object&gt;&lt;object type=&quot;3&quot; unique_id=&quot;22687&quot;&gt;&lt;property id=&quot;20148&quot; value=&quot;5&quot;/&gt;&lt;property id=&quot;20300&quot; value=&quot;Slide 13&quot;/&gt;&lt;property id=&quot;20307&quot; value=&quot;271&quot;/&gt;&lt;/object&gt;&lt;object type=&quot;3&quot; unique_id=&quot;22688&quot;&gt;&lt;property id=&quot;20148&quot; value=&quot;5&quot;/&gt;&lt;property id=&quot;20300&quot; value=&quot;Slide 14&quot;/&gt;&lt;property id=&quot;20307&quot; value=&quot;272&quot;/&gt;&lt;/object&gt;&lt;object type=&quot;3&quot; unique_id=&quot;22689&quot;&gt;&lt;property id=&quot;20148&quot; value=&quot;5&quot;/&gt;&lt;property id=&quot;20300&quot; value=&quot;Slide 15&quot;/&gt;&lt;property id=&quot;20307&quot; value=&quot;273&quot;/&gt;&lt;/object&gt;&lt;object type=&quot;3&quot; unique_id=&quot;22690&quot;&gt;&lt;property id=&quot;20148&quot; value=&quot;5&quot;/&gt;&lt;property id=&quot;20300&quot; value=&quot;Slide 17&quot;/&gt;&lt;property id=&quot;20307&quot; value=&quot;274&quot;/&gt;&lt;/object&gt;&lt;object type=&quot;3&quot; unique_id=&quot;23137&quot;&gt;&lt;property id=&quot;20148&quot; value=&quot;5&quot;/&gt;&lt;property id=&quot;20300&quot; value=&quot;Slide 16&quot;/&gt;&lt;property id=&quot;20307&quot; value=&quot;278&quot;/&gt;&lt;/object&gt;&lt;object type=&quot;3&quot; unique_id=&quot;23138&quot;&gt;&lt;property id=&quot;20148&quot; value=&quot;5&quot;/&gt;&lt;property id=&quot;20300&quot; value=&quot;Slide 18&quot;/&gt;&lt;property id=&quot;20307&quot; value=&quot;275&quot;/&gt;&lt;/object&gt;&lt;object type=&quot;3&quot; unique_id=&quot;23139&quot;&gt;&lt;property id=&quot;20148&quot; value=&quot;5&quot;/&gt;&lt;property id=&quot;20300&quot; value=&quot;Slide 20&quot;/&gt;&lt;property id=&quot;20307&quot; value=&quot;279&quot;/&gt;&lt;/object&gt;&lt;object type=&quot;3&quot; unique_id=&quot;23140&quot;&gt;&lt;property id=&quot;20148&quot; value=&quot;5&quot;/&gt;&lt;property id=&quot;20300&quot; value=&quot;Slide 21&quot;/&gt;&lt;property id=&quot;20307&quot; value=&quot;280&quot;/&gt;&lt;/object&gt;&lt;object type=&quot;3&quot; unique_id=&quot;23141&quot;&gt;&lt;property id=&quot;20148&quot; value=&quot;5&quot;/&gt;&lt;property id=&quot;20300&quot; value=&quot;Slide 22&quot;/&gt;&lt;property id=&quot;20307&quot; value=&quot;281&quot;/&gt;&lt;/object&gt;&lt;object type=&quot;3&quot; unique_id=&quot;23142&quot;&gt;&lt;property id=&quot;20148&quot; value=&quot;5&quot;/&gt;&lt;property id=&quot;20300&quot; value=&quot;Slide 23&quot;/&gt;&lt;property id=&quot;20307&quot; value=&quot;282&quot;/&gt;&lt;/object&gt;&lt;object type=&quot;3&quot; unique_id=&quot;23143&quot;&gt;&lt;property id=&quot;20148&quot; value=&quot;5&quot;/&gt;&lt;property id=&quot;20300&quot; value=&quot;Slide 24&quot;/&gt;&lt;property id=&quot;20307&quot; value=&quot;283&quot;/&gt;&lt;/object&gt;&lt;object type=&quot;3&quot; unique_id=&quot;23222&quot;&gt;&lt;property id=&quot;20148&quot; value=&quot;5&quot;/&gt;&lt;property id=&quot;20300&quot; value=&quot;Slide 19 - &amp;quot; Fading Signal Distributions&amp;quot;&quot;/&gt;&lt;property id=&quot;20307&quot; value=&quot;284&quot;/&gt;&lt;/object&gt;&lt;/object&gt;&lt;object type=&quot;8&quot; unique_id=&quot;22291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6977</TotalTime>
  <Words>898</Words>
  <Application>Microsoft Office PowerPoint</Application>
  <PresentationFormat>On-screen Show (4:3)</PresentationFormat>
  <Paragraphs>160</Paragraphs>
  <Slides>25</Slides>
  <Notes>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Office Theme</vt:lpstr>
      <vt:lpstr>Equation</vt:lpstr>
      <vt:lpstr>Wireless and Mobile Communication (UEC 804)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 Fading Signal Distributions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and Mobile Communication (UEC 804)</dc:title>
  <dc:creator>Surbhi Sharma</dc:creator>
  <cp:lastModifiedBy>Surbhi Sharma</cp:lastModifiedBy>
  <cp:revision>12</cp:revision>
  <dcterms:created xsi:type="dcterms:W3CDTF">2020-09-23T17:16:55Z</dcterms:created>
  <dcterms:modified xsi:type="dcterms:W3CDTF">2020-10-30T19:01:58Z</dcterms:modified>
</cp:coreProperties>
</file>
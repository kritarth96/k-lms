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80" r:id="rId4"/>
    <p:sldId id="286" r:id="rId5"/>
    <p:sldId id="288" r:id="rId6"/>
    <p:sldId id="287" r:id="rId7"/>
    <p:sldId id="289" r:id="rId8"/>
    <p:sldId id="290" r:id="rId9"/>
    <p:sldId id="291" r:id="rId10"/>
    <p:sldId id="292" r:id="rId11"/>
    <p:sldId id="293" r:id="rId12"/>
    <p:sldId id="267" r:id="rId13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301" autoAdjust="0"/>
    <p:restoredTop sz="94660"/>
  </p:normalViewPr>
  <p:slideViewPr>
    <p:cSldViewPr>
      <p:cViewPr>
        <p:scale>
          <a:sx n="75" d="100"/>
          <a:sy n="75" d="100"/>
        </p:scale>
        <p:origin x="-1560" y="-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C512F-57E2-4347-8AB9-97726AFAFBD4}" type="datetimeFigureOut">
              <a:rPr lang="en-US" smtClean="0"/>
              <a:pPr/>
              <a:t>7/11/2020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76728-E605-4C9D-BB71-97F5CA16A8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E5AC8-DF32-4530-BE70-4DF10E957B0F}" type="datetime1">
              <a:rPr lang="en-US" smtClean="0"/>
              <a:pPr/>
              <a:t>7/11/2020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DC05-DC1C-4BC7-83D0-F2C687841CD6}" type="datetime1">
              <a:rPr lang="en-US" smtClean="0"/>
              <a:pPr/>
              <a:t>7/11/2020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4021-6D00-490C-8F05-8D1CB4FDB300}" type="datetime1">
              <a:rPr lang="en-US" smtClean="0"/>
              <a:pPr/>
              <a:t>7/11/2020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B5E5-83F0-489B-A5B1-2EA4EABA0270}" type="datetime1">
              <a:rPr lang="en-US" smtClean="0"/>
              <a:pPr/>
              <a:t>7/11/2020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58A4-F9DF-4793-AEFB-9444EF4A4B9E}" type="datetime1">
              <a:rPr lang="en-US" smtClean="0"/>
              <a:pPr/>
              <a:t>7/11/2020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DFC1B-246B-4E89-B316-110A873EC268}" type="datetime1">
              <a:rPr lang="en-US" smtClean="0"/>
              <a:pPr/>
              <a:t>7/11/2020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D7A26-3A9D-42B8-9383-DEFFCAB98889}" type="datetime1">
              <a:rPr lang="en-US" smtClean="0"/>
              <a:pPr/>
              <a:t>7/11/2020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9A30-FFAB-4DBF-94A6-2E145F2FCA2A}" type="datetime1">
              <a:rPr lang="en-US" smtClean="0"/>
              <a:pPr/>
              <a:t>7/11/2020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C8A4-2A60-4EF9-9287-209AD1D300D3}" type="datetime1">
              <a:rPr lang="en-US" smtClean="0"/>
              <a:pPr/>
              <a:t>7/11/2020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6E30-7210-464E-8302-9DD7751FDC36}" type="datetime1">
              <a:rPr lang="en-US" smtClean="0"/>
              <a:pPr/>
              <a:t>7/11/2020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0983-422B-47AA-A7F1-7ABBD3BE51B8}" type="datetime1">
              <a:rPr lang="en-US" smtClean="0"/>
              <a:pPr/>
              <a:t>7/11/2020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72A2C-A8D6-4D99-8E80-99D45247B09F}" type="datetime1">
              <a:rPr lang="en-US" smtClean="0"/>
              <a:pPr/>
              <a:t>7/11/2020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397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and Mobile Communication</a:t>
            </a:r>
            <a:br>
              <a:rPr lang="en-US" dirty="0" smtClean="0"/>
            </a:br>
            <a:r>
              <a:rPr lang="en-US" dirty="0" smtClean="0"/>
              <a:t>(UEC 804) </a:t>
            </a:r>
            <a:endParaRPr lang="en-US" dirty="0"/>
          </a:p>
        </p:txBody>
      </p:sp>
      <p:grpSp>
        <p:nvGrpSpPr>
          <p:cNvPr id="3" name="Group 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3" cy="5538266"/>
              <a:chOff x="211286" y="1131023"/>
              <a:chExt cx="13623320" cy="6982618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1143000" y="4743271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Reference Text book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“Wireless communication_ principles and practices” (Second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 smtClean="0">
                <a:solidFill>
                  <a:srgbClr val="C00000"/>
                </a:solidFill>
              </a:rPr>
              <a:t>dition )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Author: Theodore s Rapport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Publisher: Prentice Hall (2002)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38400" y="2286000"/>
            <a:ext cx="5562600" cy="1447800"/>
          </a:xfrm>
        </p:spPr>
        <p:txBody>
          <a:bodyPr/>
          <a:lstStyle/>
          <a:p>
            <a:pPr>
              <a:buNone/>
            </a:pPr>
            <a:r>
              <a:rPr lang="en-US" sz="6600" smtClean="0">
                <a:solidFill>
                  <a:srgbClr val="C00000"/>
                </a:solidFill>
              </a:rPr>
              <a:t>MODULE -V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5" cy="5538266"/>
              <a:chOff x="211286" y="1131023"/>
              <a:chExt cx="13623320" cy="6982618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1600200" y="3352800"/>
            <a:ext cx="6400800" cy="1600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Mobile Radio Propagation: Small-Scale Fading and Multipath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04800" y="838200"/>
            <a:ext cx="72010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Topics covered till now in this module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1459468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163" indent="-284163">
              <a:buFont typeface="Arial" pitchFamily="34" charset="0"/>
              <a:buChar char="•"/>
            </a:pPr>
            <a:r>
              <a:rPr lang="en-US" dirty="0" smtClean="0"/>
              <a:t>Introduction to fading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57200" y="2286000"/>
            <a:ext cx="6377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Topic to be 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video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33400" y="31242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163" indent="-284163">
              <a:buFont typeface="Arial" pitchFamily="34" charset="0"/>
              <a:buChar char="•"/>
            </a:pPr>
            <a:r>
              <a:rPr lang="en-US" dirty="0" smtClean="0"/>
              <a:t>Factors influencing the fading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0" y="1"/>
            <a:ext cx="8991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chemeClr val="bg1"/>
                </a:solidFill>
              </a:rPr>
              <a:t>Physical Factors Influencing Fading in Mobile Radio Channel (MRC) 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152400" y="482600"/>
            <a:ext cx="8388350" cy="61468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Multipath Propagation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Strength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 multipath signals </a:t>
            </a:r>
          </a:p>
          <a:p>
            <a:pPr marL="742950" marR="0" lvl="1" indent="-28575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Time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delay of signal arrival </a:t>
            </a:r>
          </a:p>
          <a:p>
            <a:pPr marL="1143000" marR="0" lvl="2" indent="-22860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Calibri" pitchFamily="34" charset="0"/>
              <a:buChar char="-"/>
              <a:tabLst/>
              <a:defRPr/>
            </a:pP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large path length differences → large differences in delay between signals </a:t>
            </a:r>
          </a:p>
          <a:p>
            <a:pPr marL="1371600" lvl="2" indent="-457200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altLang="zh-TW" sz="2000" b="1" dirty="0" smtClean="0"/>
              <a:t>U</a:t>
            </a:r>
            <a:r>
              <a:rPr kumimoji="0" lang="en-US" altLang="zh-TW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rban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area</a:t>
            </a: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- many buildings distributed over large spatial scale </a:t>
            </a:r>
          </a:p>
          <a:p>
            <a:pPr marL="1828800" lvl="3" indent="-457200">
              <a:spcBef>
                <a:spcPct val="20000"/>
              </a:spcBef>
              <a:defRPr/>
            </a:pP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large </a:t>
            </a: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interference of strong multipath signals with </a:t>
            </a: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only </a:t>
            </a: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few having a large time delay </a:t>
            </a:r>
          </a:p>
          <a:p>
            <a:pPr marL="1371600" lvl="2" indent="-457200">
              <a:spcBef>
                <a:spcPct val="20000"/>
              </a:spcBef>
              <a:buFont typeface="+mj-lt"/>
              <a:buAutoNum type="alphaLcPeriod"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Suburban  with nearby office park or shopping mall</a:t>
            </a: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1828800" lvl="3" indent="-457200">
              <a:spcBef>
                <a:spcPct val="20000"/>
              </a:spcBef>
              <a:defRPr/>
            </a:pP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moderate  </a:t>
            </a: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interference of strong multipath signals </a:t>
            </a: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with </a:t>
            </a: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small to moderate delay times </a:t>
            </a:r>
          </a:p>
          <a:p>
            <a:pPr marL="1371600" lvl="2" indent="-457200">
              <a:lnSpc>
                <a:spcPct val="150000"/>
              </a:lnSpc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altLang="zh-TW" sz="2000" b="1" dirty="0" smtClean="0"/>
              <a:t>R</a:t>
            </a:r>
            <a:r>
              <a:rPr kumimoji="0" lang="en-US" altLang="zh-TW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ural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area</a:t>
            </a: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altLang="zh-TW" sz="2000" dirty="0" smtClean="0"/>
              <a:t>-</a:t>
            </a: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few </a:t>
            </a:r>
            <a:r>
              <a:rPr kumimoji="0" lang="en-US" altLang="zh-TW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multipath signals (LOS + ground reflection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Fading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1000" y="838200"/>
            <a:ext cx="83058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b="1" dirty="0" smtClean="0"/>
              <a:t>   Speed of Mobile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dirty="0" smtClean="0"/>
              <a:t>relative motion between base station &amp; mobile causes random frequency modulation due to Doppler shift (</a:t>
            </a:r>
            <a:r>
              <a:rPr lang="en-US" altLang="zh-TW" sz="2000" i="1" dirty="0" err="1" smtClean="0"/>
              <a:t>f</a:t>
            </a:r>
            <a:r>
              <a:rPr lang="en-US" altLang="zh-TW" sz="2000" i="1" baseline="-25000" dirty="0" err="1" smtClean="0"/>
              <a:t>d</a:t>
            </a:r>
            <a:r>
              <a:rPr lang="en-US" altLang="zh-TW" sz="2000" dirty="0" smtClean="0"/>
              <a:t>)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dirty="0" smtClean="0"/>
              <a:t>Different multipath components may have different frequency shifts.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b="1" dirty="0" smtClean="0"/>
              <a:t>   Speed of Surrounding Objects </a:t>
            </a:r>
          </a:p>
          <a:p>
            <a:pPr marL="974725" lvl="1" indent="-517525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dirty="0" smtClean="0"/>
              <a:t>also influence Doppler shifts on multipath signals </a:t>
            </a:r>
          </a:p>
          <a:p>
            <a:pPr marL="974725" lvl="1" indent="-517525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dirty="0" smtClean="0"/>
              <a:t>dominates small-scale fading if speed of objects &gt; mobile speed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Fading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762000"/>
            <a:ext cx="8991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6875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b="1" dirty="0" err="1" smtClean="0"/>
              <a:t>Tx</a:t>
            </a:r>
            <a:r>
              <a:rPr lang="en-US" altLang="zh-TW" sz="2000" b="1" dirty="0" smtClean="0"/>
              <a:t> signal bandwidth (</a:t>
            </a:r>
            <a:r>
              <a:rPr lang="en-US" altLang="zh-TW" sz="2000" b="1" i="1" dirty="0" smtClean="0"/>
              <a:t>B</a:t>
            </a:r>
            <a:r>
              <a:rPr lang="en-US" altLang="zh-TW" sz="2000" b="1" i="1" baseline="-25000" dirty="0" smtClean="0"/>
              <a:t>s</a:t>
            </a:r>
            <a:r>
              <a:rPr lang="en-US" altLang="zh-TW" sz="2000" b="1" dirty="0" smtClean="0"/>
              <a:t>) </a:t>
            </a:r>
          </a:p>
          <a:p>
            <a:pPr marL="741363" lvl="1" indent="-284163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dirty="0" smtClean="0"/>
              <a:t>The mobile radio channel (MRC) is modeled as filter with specific bandwidth (BW</a:t>
            </a:r>
            <a:r>
              <a:rPr lang="en-US" altLang="zh-TW" sz="2000" dirty="0" smtClean="0"/>
              <a:t>).  </a:t>
            </a:r>
            <a:r>
              <a:rPr lang="en-US" altLang="zh-TW" sz="2000" dirty="0" smtClean="0"/>
              <a:t>The relationship between the signal BW &amp; the MRC BW will affect fading rates and distortion, and so will determine: </a:t>
            </a:r>
          </a:p>
          <a:p>
            <a:pPr marL="1260475" lvl="2">
              <a:lnSpc>
                <a:spcPct val="150000"/>
              </a:lnSpc>
              <a:tabLst>
                <a:tab pos="1260475" algn="l"/>
              </a:tabLst>
            </a:pPr>
            <a:r>
              <a:rPr lang="en-US" altLang="zh-TW" sz="2000" dirty="0" smtClean="0"/>
              <a:t>a) if small-scale fading is significant </a:t>
            </a:r>
          </a:p>
          <a:p>
            <a:pPr marL="1260475" lvl="2">
              <a:lnSpc>
                <a:spcPct val="150000"/>
              </a:lnSpc>
              <a:tabLst>
                <a:tab pos="1260475" algn="l"/>
              </a:tabLst>
            </a:pPr>
            <a:r>
              <a:rPr lang="en-US" altLang="zh-TW" sz="2000" dirty="0" smtClean="0"/>
              <a:t>b) if time distortion of signal leads to inter-symbol interference (ISI)</a:t>
            </a:r>
          </a:p>
          <a:p>
            <a:pPr marL="803275" lvl="1" indent="-346075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dirty="0" smtClean="0"/>
              <a:t>An MRC can cause distortion/ISI or small-scale fading, or </a:t>
            </a:r>
            <a:r>
              <a:rPr lang="en-US" altLang="zh-TW" sz="2000" dirty="0" err="1" smtClean="0"/>
              <a:t>both.But</a:t>
            </a:r>
            <a:r>
              <a:rPr lang="en-US" altLang="zh-TW" sz="2000" dirty="0" smtClean="0"/>
              <a:t> typically one or the other.</a:t>
            </a:r>
          </a:p>
          <a:p>
            <a:pPr marL="396875" indent="-396875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0" y="1"/>
            <a:ext cx="84582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2600" b="1" dirty="0" smtClean="0">
                <a:solidFill>
                  <a:schemeClr val="bg1"/>
                </a:solidFill>
              </a:rPr>
              <a:t>Motion causes frequency modulation due to Doppler shift (</a:t>
            </a:r>
            <a:r>
              <a:rPr lang="en-US" altLang="zh-TW" sz="2600" b="1" i="1" dirty="0" err="1" smtClean="0">
                <a:solidFill>
                  <a:schemeClr val="bg1"/>
                </a:solidFill>
              </a:rPr>
              <a:t>f</a:t>
            </a:r>
            <a:r>
              <a:rPr lang="en-US" altLang="zh-TW" sz="2600" b="1" i="1" baseline="-25000" dirty="0" err="1" smtClean="0">
                <a:solidFill>
                  <a:schemeClr val="bg1"/>
                </a:solidFill>
              </a:rPr>
              <a:t>d</a:t>
            </a:r>
            <a:r>
              <a:rPr lang="en-US" altLang="zh-TW" sz="2600" b="1" dirty="0" smtClean="0">
                <a:solidFill>
                  <a:schemeClr val="bg1"/>
                </a:solidFill>
              </a:rPr>
              <a:t>) </a:t>
            </a:r>
          </a:p>
          <a:p>
            <a:pPr algn="ctr"/>
            <a:endParaRPr lang="en-US" sz="2600" b="1" dirty="0" smtClean="0">
              <a:solidFill>
                <a:schemeClr val="bg1"/>
              </a:solidFill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228600" y="685800"/>
            <a:ext cx="8001000" cy="59055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zh-TW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altLang="zh-TW" sz="1800" b="1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velocity (m/s)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λ : wavelength (m)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θ : angle between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mobile direction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and arrival direction of RF energy 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shift → mobile moving toward S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− shift → mobile moving away from S </a:t>
            </a:r>
          </a:p>
        </p:txBody>
      </p:sp>
      <p:pic>
        <p:nvPicPr>
          <p:cNvPr id="18" name="Picture 5" descr="TMP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738188"/>
            <a:ext cx="4968875" cy="352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838200"/>
            <a:ext cx="3967162" cy="117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000" y="1828800"/>
            <a:ext cx="3582987" cy="107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Fading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539750" y="692150"/>
            <a:ext cx="8001000" cy="56896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Two Doppler shifts to consider above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 Doppler shift of the signal when it is received at the car.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 Doppler shift of the signal when it bounces off the car and is received somewhere else.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Multipath signals will have </a:t>
            </a:r>
            <a:r>
              <a:rPr kumimoji="0" lang="en-US" altLang="zh-TW" sz="2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different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TW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TW" sz="2000" b="1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altLang="zh-TW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’s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for constant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because of random arrival directions!!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Fading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539750" y="692150"/>
            <a:ext cx="8001000" cy="56896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Carrier frequency = 1850 MHz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Vehicle moving 60 mph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 frequency deviation in the following situations. </a:t>
            </a:r>
          </a:p>
          <a:p>
            <a:pPr marL="1366837" marR="0" lvl="2" indent="-4572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AutoNum type="alphaLcParenBoth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Moving directly toward the transmitter </a:t>
            </a:r>
          </a:p>
          <a:p>
            <a:pPr marL="1366837" marR="0" lvl="2" indent="-4572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AutoNum type="alphaLcParenBoth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Moving away from the transmitter</a:t>
            </a:r>
          </a:p>
          <a:p>
            <a:pPr marL="1366837" marR="0" lvl="2" indent="-4572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AutoNum type="alphaLcParenBoth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Moving perpendicular to the transmitter</a:t>
            </a:r>
          </a:p>
          <a:p>
            <a:pPr marL="1143000" marR="0" lvl="2" indent="-2286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Fading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625" y="714375"/>
            <a:ext cx="8001000" cy="3957638"/>
          </a:xfrm>
          <a:prstGeom prst="rect">
            <a:avLst/>
          </a:prstGeom>
          <a:noFill/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7688" y="4572000"/>
            <a:ext cx="7667625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Fading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539750" y="765175"/>
            <a:ext cx="8001000" cy="5616575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Note: What matters with Doppler shift is not the absolute frequency, but the shift in frequency relative to the bandwidth of a channel.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example: A shift of 166 Hz may be significant for a channel with a 1 kHz bandwidth.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general, low bit rate (low bandwidth) channels are affected by Doppler shift.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6" name="image96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5892" y="1482242"/>
            <a:ext cx="6991913" cy="392856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13&quot;&gt;&lt;property id=&quot;20148&quot; value=&quot;5&quot;/&gt;&lt;property id=&quot;20300&quot; value=&quot;Slide 12&quot;/&gt;&lt;property id=&quot;20307&quot; value=&quot;267&quot;/&gt;&lt;/object&gt;&lt;object type=&quot;3&quot; unique_id=&quot;10027&quot;&gt;&lt;property id=&quot;20148&quot; value=&quot;5&quot;/&gt;&lt;property id=&quot;20300&quot; value=&quot;Slide 3&quot;/&gt;&lt;property id=&quot;20307&quot; value=&quot;280&quot;/&gt;&lt;/object&gt;&lt;object type=&quot;3&quot; unique_id=&quot;10034&quot;&gt;&lt;property id=&quot;20148&quot; value=&quot;5&quot;/&gt;&lt;property id=&quot;20300&quot; value=&quot;Slide 4&quot;/&gt;&lt;property id=&quot;20307&quot; value=&quot;286&quot;/&gt;&lt;/object&gt;&lt;object type=&quot;3&quot; unique_id=&quot;10035&quot;&gt;&lt;property id=&quot;20148&quot; value=&quot;5&quot;/&gt;&lt;property id=&quot;20300&quot; value=&quot;Slide 6&quot;/&gt;&lt;property id=&quot;20307&quot; value=&quot;287&quot;/&gt;&lt;/object&gt;&lt;object type=&quot;3&quot; unique_id=&quot;10036&quot;&gt;&lt;property id=&quot;20148&quot; value=&quot;5&quot;/&gt;&lt;property id=&quot;20300&quot; value=&quot;Slide 5&quot;/&gt;&lt;property id=&quot;20307&quot; value=&quot;288&quot;/&gt;&lt;/object&gt;&lt;object type=&quot;3&quot; unique_id=&quot;10037&quot;&gt;&lt;property id=&quot;20148&quot; value=&quot;5&quot;/&gt;&lt;property id=&quot;20300&quot; value=&quot;Slide 7&quot;/&gt;&lt;property id=&quot;20307&quot; value=&quot;289&quot;/&gt;&lt;/object&gt;&lt;object type=&quot;3&quot; unique_id=&quot;10038&quot;&gt;&lt;property id=&quot;20148&quot; value=&quot;5&quot;/&gt;&lt;property id=&quot;20300&quot; value=&quot;Slide 8&quot;/&gt;&lt;property id=&quot;20307&quot; value=&quot;290&quot;/&gt;&lt;/object&gt;&lt;object type=&quot;3&quot; unique_id=&quot;10039&quot;&gt;&lt;property id=&quot;20148&quot; value=&quot;5&quot;/&gt;&lt;property id=&quot;20300&quot; value=&quot;Slide 11&quot;/&gt;&lt;property id=&quot;20307&quot; value=&quot;293&quot;/&gt;&lt;/object&gt;&lt;object type=&quot;3&quot; unique_id=&quot;10040&quot;&gt;&lt;property id=&quot;20148&quot; value=&quot;5&quot;/&gt;&lt;property id=&quot;20300&quot; value=&quot;Slide 9&quot;/&gt;&lt;property id=&quot;20307&quot; value=&quot;291&quot;/&gt;&lt;/object&gt;&lt;object type=&quot;3&quot; unique_id=&quot;10041&quot;&gt;&lt;property id=&quot;20148&quot; value=&quot;5&quot;/&gt;&lt;property id=&quot;20300&quot; value=&quot;Slide 10&quot;/&gt;&lt;property id=&quot;20307&quot; value=&quot;292&quot;/&gt;&lt;/object&gt;&lt;object type=&quot;3&quot; unique_id=&quot;21801&quot;&gt;&lt;property id=&quot;20148&quot; value=&quot;5&quot;/&gt;&lt;property id=&quot;20300&quot; value=&quot;Slide 1 - &amp;quot;Wireless and Mobile Communication (UEC 804) &amp;quot;&quot;/&gt;&lt;property id=&quot;20307&quot; value=&quot;257&quot;/&gt;&lt;/object&gt;&lt;/object&gt;&lt;object type=&quot;8&quot; unique_id=&quot;1016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11679</TotalTime>
  <Words>440</Words>
  <Application>Microsoft Office PowerPoint</Application>
  <PresentationFormat>On-screen Show (4:3)</PresentationFormat>
  <Paragraphs>80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Wireless and Mobile Communication (UEC 804)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and Mobile Communication (UEC 804)</dc:title>
  <dc:creator>Surbhi Sharma</dc:creator>
  <cp:lastModifiedBy>Surbhi Sharma</cp:lastModifiedBy>
  <cp:revision>96</cp:revision>
  <dcterms:created xsi:type="dcterms:W3CDTF">2020-06-07T16:43:59Z</dcterms:created>
  <dcterms:modified xsi:type="dcterms:W3CDTF">2020-07-11T06:10:02Z</dcterms:modified>
</cp:coreProperties>
</file>
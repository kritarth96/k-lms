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2" r:id="rId7"/>
    <p:sldId id="263" r:id="rId8"/>
    <p:sldId id="265"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D81509B-0EF8-4131-BAA7-3CB443DAB4A5}"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781D81-4DAC-4F8E-B5C3-F39CDCAED2CB}" type="slidenum">
              <a:rPr lang="en-IN" smtClean="0"/>
              <a:t>‹#›</a:t>
            </a:fld>
            <a:endParaRPr lang="en-IN"/>
          </a:p>
        </p:txBody>
      </p:sp>
    </p:spTree>
    <p:extLst>
      <p:ext uri="{BB962C8B-B14F-4D97-AF65-F5344CB8AC3E}">
        <p14:creationId xmlns:p14="http://schemas.microsoft.com/office/powerpoint/2010/main" val="1535573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D81509B-0EF8-4131-BAA7-3CB443DAB4A5}"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781D81-4DAC-4F8E-B5C3-F39CDCAED2CB}" type="slidenum">
              <a:rPr lang="en-IN" smtClean="0"/>
              <a:t>‹#›</a:t>
            </a:fld>
            <a:endParaRPr lang="en-IN"/>
          </a:p>
        </p:txBody>
      </p:sp>
    </p:spTree>
    <p:extLst>
      <p:ext uri="{BB962C8B-B14F-4D97-AF65-F5344CB8AC3E}">
        <p14:creationId xmlns:p14="http://schemas.microsoft.com/office/powerpoint/2010/main" val="2503008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D81509B-0EF8-4131-BAA7-3CB443DAB4A5}"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781D81-4DAC-4F8E-B5C3-F39CDCAED2CB}" type="slidenum">
              <a:rPr lang="en-IN" smtClean="0"/>
              <a:t>‹#›</a:t>
            </a:fld>
            <a:endParaRPr lang="en-IN"/>
          </a:p>
        </p:txBody>
      </p:sp>
    </p:spTree>
    <p:extLst>
      <p:ext uri="{BB962C8B-B14F-4D97-AF65-F5344CB8AC3E}">
        <p14:creationId xmlns:p14="http://schemas.microsoft.com/office/powerpoint/2010/main" val="1535953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D81509B-0EF8-4131-BAA7-3CB443DAB4A5}"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781D81-4DAC-4F8E-B5C3-F39CDCAED2CB}" type="slidenum">
              <a:rPr lang="en-IN" smtClean="0"/>
              <a:t>‹#›</a:t>
            </a:fld>
            <a:endParaRPr lang="en-IN"/>
          </a:p>
        </p:txBody>
      </p:sp>
    </p:spTree>
    <p:extLst>
      <p:ext uri="{BB962C8B-B14F-4D97-AF65-F5344CB8AC3E}">
        <p14:creationId xmlns:p14="http://schemas.microsoft.com/office/powerpoint/2010/main" val="3778970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D81509B-0EF8-4131-BAA7-3CB443DAB4A5}" type="datetimeFigureOut">
              <a:rPr lang="en-IN" smtClean="0"/>
              <a:t>03-08-2023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1781D81-4DAC-4F8E-B5C3-F39CDCAED2CB}" type="slidenum">
              <a:rPr lang="en-IN" smtClean="0"/>
              <a:t>‹#›</a:t>
            </a:fld>
            <a:endParaRPr lang="en-IN"/>
          </a:p>
        </p:txBody>
      </p:sp>
    </p:spTree>
    <p:extLst>
      <p:ext uri="{BB962C8B-B14F-4D97-AF65-F5344CB8AC3E}">
        <p14:creationId xmlns:p14="http://schemas.microsoft.com/office/powerpoint/2010/main" val="1165713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D81509B-0EF8-4131-BAA7-3CB443DAB4A5}" type="datetimeFigureOut">
              <a:rPr lang="en-IN" smtClean="0"/>
              <a:t>03-08-2023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1781D81-4DAC-4F8E-B5C3-F39CDCAED2CB}" type="slidenum">
              <a:rPr lang="en-IN" smtClean="0"/>
              <a:t>‹#›</a:t>
            </a:fld>
            <a:endParaRPr lang="en-IN"/>
          </a:p>
        </p:txBody>
      </p:sp>
    </p:spTree>
    <p:extLst>
      <p:ext uri="{BB962C8B-B14F-4D97-AF65-F5344CB8AC3E}">
        <p14:creationId xmlns:p14="http://schemas.microsoft.com/office/powerpoint/2010/main" val="4289608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81509B-0EF8-4131-BAA7-3CB443DAB4A5}" type="datetimeFigureOut">
              <a:rPr lang="en-IN" smtClean="0"/>
              <a:t>03-08-2023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1781D81-4DAC-4F8E-B5C3-F39CDCAED2CB}" type="slidenum">
              <a:rPr lang="en-IN" smtClean="0"/>
              <a:t>‹#›</a:t>
            </a:fld>
            <a:endParaRPr lang="en-IN"/>
          </a:p>
        </p:txBody>
      </p:sp>
    </p:spTree>
    <p:extLst>
      <p:ext uri="{BB962C8B-B14F-4D97-AF65-F5344CB8AC3E}">
        <p14:creationId xmlns:p14="http://schemas.microsoft.com/office/powerpoint/2010/main" val="1852722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D81509B-0EF8-4131-BAA7-3CB443DAB4A5}"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781D81-4DAC-4F8E-B5C3-F39CDCAED2CB}" type="slidenum">
              <a:rPr lang="en-IN" smtClean="0"/>
              <a:t>‹#›</a:t>
            </a:fld>
            <a:endParaRPr lang="en-IN"/>
          </a:p>
        </p:txBody>
      </p:sp>
    </p:spTree>
    <p:extLst>
      <p:ext uri="{BB962C8B-B14F-4D97-AF65-F5344CB8AC3E}">
        <p14:creationId xmlns:p14="http://schemas.microsoft.com/office/powerpoint/2010/main" val="386959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D81509B-0EF8-4131-BAA7-3CB443DAB4A5}"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781D81-4DAC-4F8E-B5C3-F39CDCAED2CB}" type="slidenum">
              <a:rPr lang="en-IN" smtClean="0"/>
              <a:t>‹#›</a:t>
            </a:fld>
            <a:endParaRPr lang="en-IN"/>
          </a:p>
        </p:txBody>
      </p:sp>
    </p:spTree>
    <p:extLst>
      <p:ext uri="{BB962C8B-B14F-4D97-AF65-F5344CB8AC3E}">
        <p14:creationId xmlns:p14="http://schemas.microsoft.com/office/powerpoint/2010/main" val="3612193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D81509B-0EF8-4131-BAA7-3CB443DAB4A5}"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781D81-4DAC-4F8E-B5C3-F39CDCAED2CB}" type="slidenum">
              <a:rPr lang="en-IN" smtClean="0"/>
              <a:t>‹#›</a:t>
            </a:fld>
            <a:endParaRPr lang="en-IN"/>
          </a:p>
        </p:txBody>
      </p:sp>
    </p:spTree>
    <p:extLst>
      <p:ext uri="{BB962C8B-B14F-4D97-AF65-F5344CB8AC3E}">
        <p14:creationId xmlns:p14="http://schemas.microsoft.com/office/powerpoint/2010/main" val="2814965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D81509B-0EF8-4131-BAA7-3CB443DAB4A5}"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781D81-4DAC-4F8E-B5C3-F39CDCAED2CB}" type="slidenum">
              <a:rPr lang="en-IN" smtClean="0"/>
              <a:t>‹#›</a:t>
            </a:fld>
            <a:endParaRPr lang="en-IN"/>
          </a:p>
        </p:txBody>
      </p:sp>
    </p:spTree>
    <p:extLst>
      <p:ext uri="{BB962C8B-B14F-4D97-AF65-F5344CB8AC3E}">
        <p14:creationId xmlns:p14="http://schemas.microsoft.com/office/powerpoint/2010/main" val="1088399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81509B-0EF8-4131-BAA7-3CB443DAB4A5}" type="datetimeFigureOut">
              <a:rPr lang="en-IN" smtClean="0"/>
              <a:t>03-08-2023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781D81-4DAC-4F8E-B5C3-F39CDCAED2CB}" type="slidenum">
              <a:rPr lang="en-IN" smtClean="0"/>
              <a:t>‹#›</a:t>
            </a:fld>
            <a:endParaRPr lang="en-IN"/>
          </a:p>
        </p:txBody>
      </p:sp>
    </p:spTree>
    <p:extLst>
      <p:ext uri="{BB962C8B-B14F-4D97-AF65-F5344CB8AC3E}">
        <p14:creationId xmlns:p14="http://schemas.microsoft.com/office/powerpoint/2010/main" val="519999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t>Value Spectrum for a Good Life</a:t>
            </a:r>
            <a:endParaRPr lang="en-IN" dirty="0"/>
          </a:p>
        </p:txBody>
      </p:sp>
    </p:spTree>
    <p:extLst>
      <p:ext uri="{BB962C8B-B14F-4D97-AF65-F5344CB8AC3E}">
        <p14:creationId xmlns:p14="http://schemas.microsoft.com/office/powerpoint/2010/main" val="2927922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Values</a:t>
            </a:r>
            <a:endParaRPr lang="en-IN" dirty="0"/>
          </a:p>
        </p:txBody>
      </p:sp>
      <p:sp>
        <p:nvSpPr>
          <p:cNvPr id="3" name="Content Placeholder 2"/>
          <p:cNvSpPr>
            <a:spLocks noGrp="1"/>
          </p:cNvSpPr>
          <p:nvPr>
            <p:ph idx="1"/>
          </p:nvPr>
        </p:nvSpPr>
        <p:spPr>
          <a:xfrm>
            <a:off x="179512" y="1484784"/>
            <a:ext cx="8507288" cy="4641379"/>
          </a:xfrm>
        </p:spPr>
        <p:txBody>
          <a:bodyPr/>
          <a:lstStyle/>
          <a:p>
            <a:pPr algn="just"/>
            <a:r>
              <a:rPr lang="en-US" dirty="0" smtClean="0"/>
              <a:t>Values </a:t>
            </a:r>
            <a:r>
              <a:rPr lang="en-US" dirty="0"/>
              <a:t>affect a person's </a:t>
            </a:r>
            <a:r>
              <a:rPr lang="en-US" dirty="0" smtClean="0"/>
              <a:t>behavior </a:t>
            </a:r>
            <a:r>
              <a:rPr lang="en-US" dirty="0"/>
              <a:t>and serve as criteria for evaluating other people's actions.</a:t>
            </a:r>
            <a:endParaRPr lang="en-IN" dirty="0"/>
          </a:p>
        </p:txBody>
      </p:sp>
    </p:spTree>
    <p:extLst>
      <p:ext uri="{BB962C8B-B14F-4D97-AF65-F5344CB8AC3E}">
        <p14:creationId xmlns:p14="http://schemas.microsoft.com/office/powerpoint/2010/main" val="1848944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values</a:t>
            </a:r>
            <a:endParaRPr lang="en-IN" dirty="0"/>
          </a:p>
        </p:txBody>
      </p:sp>
      <p:sp>
        <p:nvSpPr>
          <p:cNvPr id="3" name="Content Placeholder 2"/>
          <p:cNvSpPr>
            <a:spLocks noGrp="1"/>
          </p:cNvSpPr>
          <p:nvPr>
            <p:ph idx="1"/>
          </p:nvPr>
        </p:nvSpPr>
        <p:spPr>
          <a:xfrm>
            <a:off x="323528" y="1412776"/>
            <a:ext cx="8363272" cy="4713387"/>
          </a:xfrm>
        </p:spPr>
        <p:txBody>
          <a:bodyPr/>
          <a:lstStyle/>
          <a:p>
            <a:pPr algn="just"/>
            <a:r>
              <a:rPr lang="en-US" dirty="0"/>
              <a:t>Social values are a set of principles that are morally acceptable by society. These principles are created by the dynamics of the community, institutions in the society, traditions, and cultural beliefs of the people in the society. </a:t>
            </a:r>
            <a:endParaRPr lang="en-US" dirty="0" smtClean="0"/>
          </a:p>
          <a:p>
            <a:pPr algn="just"/>
            <a:r>
              <a:rPr lang="en-US" dirty="0" smtClean="0"/>
              <a:t>The </a:t>
            </a:r>
            <a:r>
              <a:rPr lang="en-US" dirty="0"/>
              <a:t>laws are a guide for people in society on how to conduct themselves appropriately.</a:t>
            </a:r>
            <a:endParaRPr lang="en-IN" dirty="0"/>
          </a:p>
        </p:txBody>
      </p:sp>
    </p:spTree>
    <p:extLst>
      <p:ext uri="{BB962C8B-B14F-4D97-AF65-F5344CB8AC3E}">
        <p14:creationId xmlns:p14="http://schemas.microsoft.com/office/powerpoint/2010/main" val="3016828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Material Values</a:t>
            </a:r>
            <a:endParaRPr lang="en-IN" dirty="0"/>
          </a:p>
        </p:txBody>
      </p:sp>
      <p:sp>
        <p:nvSpPr>
          <p:cNvPr id="3" name="Content Placeholder 2"/>
          <p:cNvSpPr>
            <a:spLocks noGrp="1"/>
          </p:cNvSpPr>
          <p:nvPr>
            <p:ph idx="1"/>
          </p:nvPr>
        </p:nvSpPr>
        <p:spPr/>
        <p:txBody>
          <a:bodyPr/>
          <a:lstStyle/>
          <a:p>
            <a:pPr algn="just"/>
            <a:r>
              <a:rPr lang="en-US" dirty="0" smtClean="0">
                <a:latin typeface="Times New Roman" pitchFamily="18" charset="0"/>
                <a:cs typeface="Times New Roman" pitchFamily="18" charset="0"/>
              </a:rPr>
              <a:t>The material goods and services that contribute to the quality of life.</a:t>
            </a:r>
          </a:p>
          <a:p>
            <a:pPr algn="just"/>
            <a:r>
              <a:rPr lang="en-US" dirty="0" smtClean="0">
                <a:latin typeface="Times New Roman" pitchFamily="18" charset="0"/>
                <a:cs typeface="Times New Roman" pitchFamily="18" charset="0"/>
              </a:rPr>
              <a:t>Their significance is underplayed at spiritual level.</a:t>
            </a:r>
          </a:p>
          <a:p>
            <a:pPr algn="just"/>
            <a:r>
              <a:rPr lang="en-US" dirty="0" smtClean="0">
                <a:latin typeface="Times New Roman" pitchFamily="18" charset="0"/>
                <a:cs typeface="Times New Roman" pitchFamily="18" charset="0"/>
              </a:rPr>
              <a:t>However, accepting material values in human life is an important component.</a:t>
            </a:r>
          </a:p>
          <a:p>
            <a:endParaRPr lang="en-IN" dirty="0"/>
          </a:p>
        </p:txBody>
      </p:sp>
    </p:spTree>
    <p:extLst>
      <p:ext uri="{BB962C8B-B14F-4D97-AF65-F5344CB8AC3E}">
        <p14:creationId xmlns:p14="http://schemas.microsoft.com/office/powerpoint/2010/main" val="4216709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620688"/>
            <a:ext cx="8511480" cy="5780112"/>
          </a:xfrm>
        </p:spPr>
        <p:txBody>
          <a:bodyPr>
            <a:normAutofit/>
          </a:bodyPr>
          <a:lstStyle/>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Material values therefore must be seen as a means for pursuit of the value spectrum rather than the end in itself.</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material gains should be made only through moral means.</a:t>
            </a:r>
          </a:p>
        </p:txBody>
      </p:sp>
      <p:sp>
        <p:nvSpPr>
          <p:cNvPr id="6" name="Slide Number Placeholder 5"/>
          <p:cNvSpPr>
            <a:spLocks noGrp="1"/>
          </p:cNvSpPr>
          <p:nvPr>
            <p:ph type="sldNum" sz="quarter" idx="12"/>
          </p:nvPr>
        </p:nvSpPr>
        <p:spPr/>
        <p:txBody>
          <a:bodyPr/>
          <a:lstStyle/>
          <a:p>
            <a:fld id="{ECA5857C-D6C6-427F-B952-C6B0CB5B82BD}" type="slidenum">
              <a:rPr lang="en-US" smtClean="0"/>
              <a:pPr/>
              <a:t>5</a:t>
            </a:fld>
            <a:endParaRPr lang="en-US"/>
          </a:p>
        </p:txBody>
      </p:sp>
    </p:spTree>
    <p:extLst>
      <p:ext uri="{BB962C8B-B14F-4D97-AF65-F5344CB8AC3E}">
        <p14:creationId xmlns:p14="http://schemas.microsoft.com/office/powerpoint/2010/main" val="24393789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Spirituality and spiritual Values</a:t>
            </a:r>
            <a:endParaRPr lang="en-US" dirty="0"/>
          </a:p>
        </p:txBody>
      </p:sp>
      <p:sp>
        <p:nvSpPr>
          <p:cNvPr id="3" name="Content Placeholder 2"/>
          <p:cNvSpPr>
            <a:spLocks noGrp="1"/>
          </p:cNvSpPr>
          <p:nvPr>
            <p:ph idx="1"/>
          </p:nvPr>
        </p:nvSpPr>
        <p:spPr/>
        <p:txBody>
          <a:bodyPr/>
          <a:lstStyle/>
          <a:p>
            <a:pPr algn="just"/>
            <a:r>
              <a:rPr lang="en-US" dirty="0" smtClean="0"/>
              <a:t>Absolute values</a:t>
            </a:r>
          </a:p>
          <a:p>
            <a:pPr algn="just"/>
            <a:r>
              <a:rPr lang="en-US" dirty="0" smtClean="0"/>
              <a:t>Ultimate purpose and final truths of life and nature.</a:t>
            </a:r>
          </a:p>
          <a:p>
            <a:pPr algn="just">
              <a:lnSpc>
                <a:spcPct val="90000"/>
              </a:lnSpc>
            </a:pPr>
            <a:r>
              <a:rPr lang="en-US" dirty="0" smtClean="0"/>
              <a:t>Spirituality is experiential, not just theoretical</a:t>
            </a:r>
          </a:p>
          <a:p>
            <a:pPr algn="just">
              <a:lnSpc>
                <a:spcPct val="90000"/>
              </a:lnSpc>
            </a:pPr>
            <a:r>
              <a:rPr lang="en-US" dirty="0" smtClean="0"/>
              <a:t>Spirituality is knowing you are part of something much bigger than </a:t>
            </a:r>
            <a:r>
              <a:rPr lang="en-US" dirty="0" smtClean="0"/>
              <a:t>yourself.</a:t>
            </a:r>
            <a:endParaRPr lang="en-US" dirty="0" smtClean="0"/>
          </a:p>
          <a:p>
            <a:pPr algn="just">
              <a:lnSpc>
                <a:spcPct val="90000"/>
              </a:lnSpc>
            </a:pPr>
            <a:r>
              <a:rPr lang="en-US" dirty="0" smtClean="0"/>
              <a:t>Spirituality is the recognition of the Divine, whatever that means to </a:t>
            </a:r>
            <a:r>
              <a:rPr lang="en-US" dirty="0" smtClean="0"/>
              <a:t>you.</a:t>
            </a:r>
            <a:endParaRPr lang="en-US" dirty="0" smtClean="0"/>
          </a:p>
          <a:p>
            <a:pPr algn="just"/>
            <a:endParaRPr lang="en-US" b="1" dirty="0" smtClean="0"/>
          </a:p>
          <a:p>
            <a:pPr algn="just"/>
            <a:endParaRPr lang="en-US" dirty="0"/>
          </a:p>
        </p:txBody>
      </p:sp>
      <p:sp>
        <p:nvSpPr>
          <p:cNvPr id="4" name="Date Placeholder 3"/>
          <p:cNvSpPr>
            <a:spLocks noGrp="1"/>
          </p:cNvSpPr>
          <p:nvPr>
            <p:ph type="dt" sz="half" idx="10"/>
          </p:nvPr>
        </p:nvSpPr>
        <p:spPr/>
        <p:txBody>
          <a:bodyPr/>
          <a:lstStyle/>
          <a:p>
            <a:fld id="{FBF52C3E-BD99-46FA-A2CC-BC00D824890C}" type="datetime2">
              <a:rPr lang="en-US" smtClean="0"/>
              <a:pPr/>
              <a:t>Thursday, August 3, 2023</a:t>
            </a:fld>
            <a:endParaRPr lang="en-US"/>
          </a:p>
        </p:txBody>
      </p:sp>
      <p:sp>
        <p:nvSpPr>
          <p:cNvPr id="5" name="Footer Placeholder 4"/>
          <p:cNvSpPr>
            <a:spLocks noGrp="1"/>
          </p:cNvSpPr>
          <p:nvPr>
            <p:ph type="ftr" sz="quarter" idx="11"/>
          </p:nvPr>
        </p:nvSpPr>
        <p:spPr/>
        <p:txBody>
          <a:bodyPr/>
          <a:lstStyle/>
          <a:p>
            <a:r>
              <a:rPr lang="en-US" smtClean="0"/>
              <a:t>THAPAR UNIVERSITY, PATIALA</a:t>
            </a:r>
            <a:endParaRPr lang="en-US"/>
          </a:p>
        </p:txBody>
      </p:sp>
      <p:sp>
        <p:nvSpPr>
          <p:cNvPr id="6" name="Slide Number Placeholder 5"/>
          <p:cNvSpPr>
            <a:spLocks noGrp="1"/>
          </p:cNvSpPr>
          <p:nvPr>
            <p:ph type="sldNum" sz="quarter" idx="12"/>
          </p:nvPr>
        </p:nvSpPr>
        <p:spPr/>
        <p:txBody>
          <a:bodyPr/>
          <a:lstStyle/>
          <a:p>
            <a:fld id="{ECA5857C-D6C6-427F-B952-C6B0CB5B82BD}" type="slidenum">
              <a:rPr lang="en-US" smtClean="0"/>
              <a:pPr/>
              <a:t>6</a:t>
            </a:fld>
            <a:endParaRPr lang="en-US"/>
          </a:p>
        </p:txBody>
      </p:sp>
    </p:spTree>
    <p:extLst>
      <p:ext uri="{BB962C8B-B14F-4D97-AF65-F5344CB8AC3E}">
        <p14:creationId xmlns:p14="http://schemas.microsoft.com/office/powerpoint/2010/main" val="4073929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dirty="0" smtClean="0"/>
              <a:t>The essence of spiritual values</a:t>
            </a:r>
            <a:endParaRPr lang="en-US" dirty="0"/>
          </a:p>
        </p:txBody>
      </p:sp>
      <p:sp>
        <p:nvSpPr>
          <p:cNvPr id="26627" name="Rectangle 3"/>
          <p:cNvSpPr>
            <a:spLocks noGrp="1" noChangeArrowheads="1"/>
          </p:cNvSpPr>
          <p:nvPr>
            <p:ph type="body" idx="1"/>
          </p:nvPr>
        </p:nvSpPr>
        <p:spPr>
          <a:xfrm>
            <a:off x="457200" y="1371600"/>
            <a:ext cx="8229600" cy="4754563"/>
          </a:xfrm>
        </p:spPr>
        <p:txBody>
          <a:bodyPr>
            <a:normAutofit/>
          </a:bodyPr>
          <a:lstStyle/>
          <a:p>
            <a:pPr algn="just">
              <a:lnSpc>
                <a:spcPct val="110000"/>
              </a:lnSpc>
            </a:pPr>
            <a:r>
              <a:rPr lang="en-US" dirty="0" smtClean="0"/>
              <a:t>Self fulfillment</a:t>
            </a:r>
          </a:p>
          <a:p>
            <a:pPr algn="just">
              <a:lnSpc>
                <a:spcPct val="110000"/>
              </a:lnSpc>
            </a:pPr>
            <a:r>
              <a:rPr lang="en-US" dirty="0" smtClean="0"/>
              <a:t>Egoless</a:t>
            </a:r>
          </a:p>
          <a:p>
            <a:pPr algn="just">
              <a:lnSpc>
                <a:spcPct val="110000"/>
              </a:lnSpc>
            </a:pPr>
            <a:r>
              <a:rPr lang="en-US" dirty="0" smtClean="0"/>
              <a:t>Complete freedom</a:t>
            </a:r>
          </a:p>
          <a:p>
            <a:pPr algn="just">
              <a:lnSpc>
                <a:spcPct val="110000"/>
              </a:lnSpc>
            </a:pPr>
            <a:r>
              <a:rPr lang="en-US" dirty="0" smtClean="0"/>
              <a:t>Unconditional love</a:t>
            </a:r>
            <a:endParaRPr lang="en-US" dirty="0"/>
          </a:p>
        </p:txBody>
      </p:sp>
    </p:spTree>
    <p:extLst>
      <p:ext uri="{BB962C8B-B14F-4D97-AF65-F5344CB8AC3E}">
        <p14:creationId xmlns:p14="http://schemas.microsoft.com/office/powerpoint/2010/main" val="1307679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fade">
                                      <p:cBhvr>
                                        <p:cTn id="7" dur="2000"/>
                                        <p:tgtEl>
                                          <p:spTgt spid="266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Effect transition="in" filter="fade">
                                      <p:cBhvr>
                                        <p:cTn id="12" dur="2000"/>
                                        <p:tgtEl>
                                          <p:spTgt spid="266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627">
                                            <p:txEl>
                                              <p:pRg st="1" end="1"/>
                                            </p:txEl>
                                          </p:spTgt>
                                        </p:tgtEl>
                                        <p:attrNameLst>
                                          <p:attrName>style.visibility</p:attrName>
                                        </p:attrNameLst>
                                      </p:cBhvr>
                                      <p:to>
                                        <p:strVal val="visible"/>
                                      </p:to>
                                    </p:set>
                                    <p:animEffect transition="in" filter="fade">
                                      <p:cBhvr>
                                        <p:cTn id="17" dur="2000"/>
                                        <p:tgtEl>
                                          <p:spTgt spid="266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627">
                                            <p:txEl>
                                              <p:pRg st="2" end="2"/>
                                            </p:txEl>
                                          </p:spTgt>
                                        </p:tgtEl>
                                        <p:attrNameLst>
                                          <p:attrName>style.visibility</p:attrName>
                                        </p:attrNameLst>
                                      </p:cBhvr>
                                      <p:to>
                                        <p:strVal val="visible"/>
                                      </p:to>
                                    </p:set>
                                    <p:animEffect transition="in" filter="fade">
                                      <p:cBhvr>
                                        <p:cTn id="22" dur="2000"/>
                                        <p:tgtEl>
                                          <p:spTgt spid="2662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627">
                                            <p:txEl>
                                              <p:pRg st="3" end="3"/>
                                            </p:txEl>
                                          </p:spTgt>
                                        </p:tgtEl>
                                        <p:attrNameLst>
                                          <p:attrName>style.visibility</p:attrName>
                                        </p:attrNameLst>
                                      </p:cBhvr>
                                      <p:to>
                                        <p:strVal val="visible"/>
                                      </p:to>
                                    </p:set>
                                    <p:animEffect transition="in" filter="fade">
                                      <p:cBhvr>
                                        <p:cTn id="27" dur="2000"/>
                                        <p:tgtEl>
                                          <p:spTgt spid="266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2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Nirvana</a:t>
            </a:r>
            <a:endParaRPr lang="en-US" dirty="0"/>
          </a:p>
        </p:txBody>
      </p:sp>
      <p:sp>
        <p:nvSpPr>
          <p:cNvPr id="3" name="Content Placeholder 2"/>
          <p:cNvSpPr>
            <a:spLocks noGrp="1"/>
          </p:cNvSpPr>
          <p:nvPr>
            <p:ph idx="1"/>
          </p:nvPr>
        </p:nvSpPr>
        <p:spPr/>
        <p:txBody>
          <a:bodyPr/>
          <a:lstStyle/>
          <a:p>
            <a:pPr algn="just"/>
            <a:r>
              <a:rPr lang="en-US" dirty="0" smtClean="0"/>
              <a:t>Beyond enlightenment is the highest destiny of the human spirit: </a:t>
            </a:r>
            <a:r>
              <a:rPr lang="en-US" b="1" i="1" dirty="0" smtClean="0"/>
              <a:t>Nirvana, which literally means “to blow out.” When one </a:t>
            </a:r>
            <a:r>
              <a:rPr lang="en-US" dirty="0" smtClean="0"/>
              <a:t>reaches Nirvana the self is extinguished and boundless life begins.</a:t>
            </a:r>
            <a:endParaRPr lang="en-US" dirty="0"/>
          </a:p>
        </p:txBody>
      </p:sp>
      <p:sp>
        <p:nvSpPr>
          <p:cNvPr id="4" name="Date Placeholder 3"/>
          <p:cNvSpPr>
            <a:spLocks noGrp="1"/>
          </p:cNvSpPr>
          <p:nvPr>
            <p:ph type="dt" sz="half" idx="10"/>
          </p:nvPr>
        </p:nvSpPr>
        <p:spPr/>
        <p:txBody>
          <a:bodyPr/>
          <a:lstStyle/>
          <a:p>
            <a:fld id="{FBF52C3E-BD99-46FA-A2CC-BC00D824890C}" type="datetime2">
              <a:rPr lang="en-US" smtClean="0"/>
              <a:pPr/>
              <a:t>Thursday, August 3, 2023</a:t>
            </a:fld>
            <a:endParaRPr lang="en-US"/>
          </a:p>
        </p:txBody>
      </p:sp>
      <p:sp>
        <p:nvSpPr>
          <p:cNvPr id="5" name="Footer Placeholder 4"/>
          <p:cNvSpPr>
            <a:spLocks noGrp="1"/>
          </p:cNvSpPr>
          <p:nvPr>
            <p:ph type="ftr" sz="quarter" idx="11"/>
          </p:nvPr>
        </p:nvSpPr>
        <p:spPr/>
        <p:txBody>
          <a:bodyPr/>
          <a:lstStyle/>
          <a:p>
            <a:r>
              <a:rPr lang="en-US" smtClean="0"/>
              <a:t>THAPAR UNIVERSITY, PATIALA</a:t>
            </a:r>
            <a:endParaRPr lang="en-US"/>
          </a:p>
        </p:txBody>
      </p:sp>
      <p:sp>
        <p:nvSpPr>
          <p:cNvPr id="6" name="Slide Number Placeholder 5"/>
          <p:cNvSpPr>
            <a:spLocks noGrp="1"/>
          </p:cNvSpPr>
          <p:nvPr>
            <p:ph type="sldNum" sz="quarter" idx="12"/>
          </p:nvPr>
        </p:nvSpPr>
        <p:spPr/>
        <p:txBody>
          <a:bodyPr/>
          <a:lstStyle/>
          <a:p>
            <a:fld id="{ECA5857C-D6C6-427F-B952-C6B0CB5B82BD}" type="slidenum">
              <a:rPr lang="en-US" smtClean="0"/>
              <a:pPr/>
              <a:t>8</a:t>
            </a:fld>
            <a:endParaRPr lang="en-US"/>
          </a:p>
        </p:txBody>
      </p:sp>
    </p:spTree>
    <p:extLst>
      <p:ext uri="{BB962C8B-B14F-4D97-AF65-F5344CB8AC3E}">
        <p14:creationId xmlns:p14="http://schemas.microsoft.com/office/powerpoint/2010/main" val="19414533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206</Words>
  <Application>Microsoft Office PowerPoint</Application>
  <PresentationFormat>On-screen Show (4:3)</PresentationFormat>
  <Paragraphs>34</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Value Spectrum for a Good Life</vt:lpstr>
      <vt:lpstr>Values</vt:lpstr>
      <vt:lpstr>Social values</vt:lpstr>
      <vt:lpstr>Material Values</vt:lpstr>
      <vt:lpstr>PowerPoint Presentation</vt:lpstr>
      <vt:lpstr>Spirituality and spiritual Values</vt:lpstr>
      <vt:lpstr>The essence of spiritual values</vt:lpstr>
      <vt:lpstr>Nirvana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Spectrum for a Good Life</dc:title>
  <dc:creator>Ti</dc:creator>
  <cp:lastModifiedBy>Ti</cp:lastModifiedBy>
  <cp:revision>4</cp:revision>
  <dcterms:created xsi:type="dcterms:W3CDTF">2023-07-13T06:31:20Z</dcterms:created>
  <dcterms:modified xsi:type="dcterms:W3CDTF">2023-08-03T07:40:00Z</dcterms:modified>
</cp:coreProperties>
</file>
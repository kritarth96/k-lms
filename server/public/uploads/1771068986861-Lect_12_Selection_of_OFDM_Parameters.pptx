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75" r:id="rId2"/>
    <p:sldId id="476" r:id="rId3"/>
    <p:sldId id="477" r:id="rId4"/>
    <p:sldId id="329" r:id="rId5"/>
    <p:sldId id="478" r:id="rId6"/>
    <p:sldId id="479" r:id="rId7"/>
    <p:sldId id="481" r:id="rId8"/>
    <p:sldId id="482" r:id="rId9"/>
    <p:sldId id="483" r:id="rId10"/>
    <p:sldId id="484" r:id="rId11"/>
    <p:sldId id="485" r:id="rId12"/>
    <p:sldId id="490" r:id="rId13"/>
    <p:sldId id="487" r:id="rId14"/>
    <p:sldId id="488" r:id="rId15"/>
    <p:sldId id="486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3B2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ECA2C06-48EA-444B-B9BC-9DB7AAF658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5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852CF7BC-1EF5-43C7-BA8D-DD21BCE2072B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155FBE-02BC-4D76-8E1F-6571902C5603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0105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9E04C5-6E55-49EA-A522-01BB2B97AD50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546833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B9A7F3-0346-4688-B807-CA6E6533888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5058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B88AE-A3C3-4D8D-9F8A-519F4C44DA0F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16A62-86D7-437F-94CD-618077AE3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19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0E37C-F364-4050-AAD7-C22EEAF077E7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CB056-FB42-45E8-8E76-4D14E449F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65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0CFC-E9C9-483B-8829-AE6C01B14053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DB0094-847B-40FE-8075-AE7E1A86F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73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3F39A-5137-4B5F-ADB4-573C3237F1D6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267B8-7F74-423C-B4D2-FEA9FCA2EF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74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D9F2D-822C-444A-B2D8-1DA876E06AF1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0B7D7-301D-431B-9398-1CAA57139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66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7F092-CB28-406F-8F4D-A9CB9C6DDF6E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99854B-65BC-43BE-A440-239932B51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02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07E84-0DE2-4EBA-A409-4F43CD13252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F4165-8E61-41BD-BC99-D27EFE733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4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E5DB6-A284-4473-8D52-2F93B221A663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5AC913-5F39-4B24-BFD0-B77263A5C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28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AB68A-FDA8-4C6A-8D84-B7BB18575DE0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63986-ACC6-45AD-BDD0-5F965E378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280E-22ED-4EE1-B707-2A227E6C5DF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C7317-8101-4973-AC7E-BD1AD42ECD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8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ACD89-3346-458A-A6CB-1C441E96DBEA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E295A-1F21-45D2-9B8C-DF51B8F8C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674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4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C3EC6-FBA6-45B6-B3D5-58AC3D9E5AB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6CEE9F-ABAF-4D64-B423-0B2F034D9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735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190" y="228600"/>
            <a:ext cx="854162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1191" y="1600200"/>
            <a:ext cx="4198851" cy="44989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476" y="1600200"/>
            <a:ext cx="4200334" cy="44989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1190" y="6245225"/>
            <a:ext cx="2289338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658" y="6245225"/>
            <a:ext cx="289468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472" y="6245225"/>
            <a:ext cx="2289338" cy="476250"/>
          </a:xfrm>
        </p:spPr>
        <p:txBody>
          <a:bodyPr/>
          <a:lstStyle>
            <a:lvl1pPr>
              <a:defRPr/>
            </a:lvl1pPr>
          </a:lstStyle>
          <a:p>
            <a:fld id="{2C770B88-4392-488A-A772-8049DB1314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08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fld id="{97959B4A-5782-4BCA-8A5F-9502DE7283C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855D25F-EAF1-44F4-B045-AF33E30AA7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543800" cy="147002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5G WIRELESS </a:t>
            </a:r>
            <a: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COMMUNICATION </a:t>
            </a:r>
            <a:b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</a:br>
            <a: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(UEC 719) </a:t>
            </a:r>
            <a:endParaRPr lang="en-US" b="1" dirty="0">
              <a:solidFill>
                <a:srgbClr val="000099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Slide Number Placeholder 14"/>
          <p:cNvSpPr txBox="1">
            <a:spLocks/>
          </p:cNvSpPr>
          <p:nvPr/>
        </p:nvSpPr>
        <p:spPr bwMode="auto">
          <a:xfrm>
            <a:off x="7442200" y="6149975"/>
            <a:ext cx="28448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4846ABB7-46DB-4F16-AB8B-BFEDDDD52D19}" type="slidenum">
              <a:rPr lang="en-US" smtClean="0">
                <a:latin typeface="Cambria" pitchFamily="18" charset="0"/>
                <a:ea typeface="Cambria" pitchFamily="18" charset="0"/>
              </a:rPr>
              <a:pPr/>
              <a:t>1</a:t>
            </a:fld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" y="4441813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Amit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Mishra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1057" y="4376836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Surbhi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Sharma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57895" y="1752600"/>
            <a:ext cx="5029200" cy="1749425"/>
          </a:xfrm>
        </p:spPr>
        <p:txBody>
          <a:bodyPr>
            <a:normAutofit fontScale="47500" lnSpcReduction="20000"/>
          </a:bodyPr>
          <a:lstStyle/>
          <a:p>
            <a:pPr algn="ctr">
              <a:buFontTx/>
              <a:buNone/>
              <a:defRPr/>
            </a:pPr>
            <a:r>
              <a:rPr lang="en-US" sz="6000" dirty="0">
                <a:solidFill>
                  <a:srgbClr val="00B0F0"/>
                </a:solidFill>
              </a:rPr>
              <a:t>Lecture: </a:t>
            </a:r>
            <a:r>
              <a:rPr lang="en-US" sz="6000" dirty="0" smtClean="0">
                <a:solidFill>
                  <a:srgbClr val="00B0F0"/>
                </a:solidFill>
              </a:rPr>
              <a:t>12</a:t>
            </a:r>
            <a:endParaRPr lang="en-US" sz="6000" dirty="0">
              <a:solidFill>
                <a:srgbClr val="00B0F0"/>
              </a:solidFill>
            </a:endParaRPr>
          </a:p>
          <a:p>
            <a:pPr algn="ctr">
              <a:buFontTx/>
              <a:buNone/>
              <a:defRPr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5700" dirty="0" smtClean="0">
                <a:solidFill>
                  <a:srgbClr val="C00000"/>
                </a:solidFill>
              </a:rPr>
              <a:t>Selection of OFDM Parameters</a:t>
            </a:r>
            <a:endParaRPr lang="en-US" sz="570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2850" dirty="0">
                <a:solidFill>
                  <a:srgbClr val="C00000"/>
                </a:solidFill>
              </a:rPr>
              <a:t>OFDM-Waveform for 5G</a:t>
            </a:r>
          </a:p>
          <a:p>
            <a:pPr algn="ctr">
              <a:buFontTx/>
              <a:buNone/>
              <a:defRPr/>
            </a:pP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307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70C2B-F570-482D-B7D8-379B0AD8AD3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4294967295"/>
          </p:nvPr>
        </p:nvSpPr>
        <p:spPr>
          <a:xfrm>
            <a:off x="2365375" y="187325"/>
            <a:ext cx="4171950" cy="8794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300" smtClean="0">
                <a:solidFill>
                  <a:srgbClr val="00B0F0"/>
                </a:solidFill>
              </a:rPr>
              <a:t>Contents</a:t>
            </a:r>
          </a:p>
        </p:txBody>
      </p:sp>
      <p:sp>
        <p:nvSpPr>
          <p:cNvPr id="4099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E9BFDC-D866-4011-871E-84FBC2DB700C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" name="Rectangle 6"/>
          <p:cNvSpPr/>
          <p:nvPr/>
        </p:nvSpPr>
        <p:spPr>
          <a:xfrm>
            <a:off x="304800" y="1066800"/>
            <a:ext cx="79248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OFDM SYSTEM MODEL</a:t>
            </a: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Delay Spread Values</a:t>
            </a:r>
            <a:endParaRPr lang="en-US" sz="2000" dirty="0">
              <a:solidFill>
                <a:srgbClr val="C00000"/>
              </a:solidFill>
              <a:latin typeface="+mj-lt"/>
            </a:endParaRP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Selection of OFDM Parameters</a:t>
            </a:r>
            <a:endParaRPr lang="en-US" sz="2000" dirty="0">
              <a:solidFill>
                <a:srgbClr val="C00000"/>
              </a:solidFill>
              <a:latin typeface="+mj-lt"/>
            </a:endParaRP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Steps to decide the OFDM parameters</a:t>
            </a: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smtClean="0">
                <a:solidFill>
                  <a:srgbClr val="C00000"/>
                </a:solidFill>
                <a:latin typeface="+mj-lt"/>
              </a:rPr>
              <a:t>Examples</a:t>
            </a:r>
            <a:endParaRPr lang="en-US" sz="2000" dirty="0">
              <a:solidFill>
                <a:srgbClr val="C00000"/>
              </a:solidFill>
              <a:latin typeface="+mj-lt"/>
            </a:endParaRP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title"/>
          </p:nvPr>
        </p:nvSpPr>
        <p:spPr>
          <a:xfrm>
            <a:off x="1433513" y="182563"/>
            <a:ext cx="6172200" cy="600075"/>
          </a:xfrm>
        </p:spPr>
        <p:txBody>
          <a:bodyPr/>
          <a:lstStyle/>
          <a:p>
            <a:pPr eaLnBrk="1" hangingPunct="1"/>
            <a:r>
              <a:rPr lang="fr-FR" altLang="en-US" sz="1800" b="1" smtClean="0"/>
              <a:t>OFDM System Model </a:t>
            </a:r>
            <a:br>
              <a:rPr lang="fr-FR" altLang="en-US" sz="1800" b="1" smtClean="0"/>
            </a:br>
            <a:r>
              <a:rPr lang="fr-FR" altLang="en-US" sz="1200" smtClean="0"/>
              <a:t>[S. Hara and R. Prasad (2003)]</a:t>
            </a:r>
            <a:endParaRPr lang="fr-FR" altLang="en-US" sz="1800" smtClean="0"/>
          </a:p>
        </p:txBody>
      </p:sp>
      <p:grpSp>
        <p:nvGrpSpPr>
          <p:cNvPr id="6147" name="Group 57"/>
          <p:cNvGrpSpPr>
            <a:grpSpLocks/>
          </p:cNvGrpSpPr>
          <p:nvPr/>
        </p:nvGrpSpPr>
        <p:grpSpPr bwMode="auto">
          <a:xfrm>
            <a:off x="428625" y="990600"/>
            <a:ext cx="8362950" cy="5486400"/>
            <a:chOff x="255447" y="736600"/>
            <a:chExt cx="9208433" cy="5054600"/>
          </a:xfrm>
        </p:grpSpPr>
        <p:grpSp>
          <p:nvGrpSpPr>
            <p:cNvPr id="6148" name="Group 64"/>
            <p:cNvGrpSpPr>
              <a:grpSpLocks/>
            </p:cNvGrpSpPr>
            <p:nvPr/>
          </p:nvGrpSpPr>
          <p:grpSpPr bwMode="auto">
            <a:xfrm>
              <a:off x="255447" y="736600"/>
              <a:ext cx="9208433" cy="5054600"/>
              <a:chOff x="255447" y="736600"/>
              <a:chExt cx="9208433" cy="5054600"/>
            </a:xfrm>
          </p:grpSpPr>
          <p:grpSp>
            <p:nvGrpSpPr>
              <p:cNvPr id="6150" name="Group 180"/>
              <p:cNvGrpSpPr>
                <a:grpSpLocks/>
              </p:cNvGrpSpPr>
              <p:nvPr/>
            </p:nvGrpSpPr>
            <p:grpSpPr bwMode="auto">
              <a:xfrm>
                <a:off x="255447" y="736600"/>
                <a:ext cx="9208433" cy="5054600"/>
                <a:chOff x="12829" y="304800"/>
                <a:chExt cx="9208738" cy="5054600"/>
              </a:xfrm>
            </p:grpSpPr>
            <p:grpSp>
              <p:nvGrpSpPr>
                <p:cNvPr id="6159" name="Group 115"/>
                <p:cNvGrpSpPr>
                  <a:grpSpLocks/>
                </p:cNvGrpSpPr>
                <p:nvPr/>
              </p:nvGrpSpPr>
              <p:grpSpPr bwMode="auto">
                <a:xfrm>
                  <a:off x="12829" y="304800"/>
                  <a:ext cx="9208738" cy="5054600"/>
                  <a:chOff x="12829" y="304800"/>
                  <a:chExt cx="9208738" cy="5054600"/>
                </a:xfrm>
              </p:grpSpPr>
              <p:sp>
                <p:nvSpPr>
                  <p:cNvPr id="86" name="Rectangle 85"/>
                  <p:cNvSpPr/>
                  <p:nvPr/>
                </p:nvSpPr>
                <p:spPr bwMode="auto">
                  <a:xfrm>
                    <a:off x="1098370" y="304800"/>
                    <a:ext cx="1059320" cy="1073517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r>
                      <a:rPr lang="en-US" sz="1200" dirty="0">
                        <a:solidFill>
                          <a:schemeClr val="tx1"/>
                        </a:solidFill>
                      </a:rPr>
                      <a:t>Encoder</a:t>
                    </a:r>
                  </a:p>
                  <a:p>
                    <a:pPr algn="ctr" eaLnBrk="1" hangingPunct="1">
                      <a:defRPr/>
                    </a:pPr>
                    <a:r>
                      <a:rPr lang="en-US" sz="1200" dirty="0">
                        <a:solidFill>
                          <a:schemeClr val="tx1"/>
                        </a:solidFill>
                      </a:rPr>
                      <a:t>(M-PSK, </a:t>
                    </a:r>
                  </a:p>
                  <a:p>
                    <a:pPr algn="ctr" eaLnBrk="1" hangingPunct="1">
                      <a:defRPr/>
                    </a:pPr>
                    <a:r>
                      <a:rPr lang="en-US" sz="1200" dirty="0">
                        <a:solidFill>
                          <a:schemeClr val="tx1"/>
                        </a:solidFill>
                      </a:rPr>
                      <a:t>M-QAM etc)</a:t>
                    </a:r>
                  </a:p>
                </p:txBody>
              </p:sp>
              <p:cxnSp>
                <p:nvCxnSpPr>
                  <p:cNvPr id="91" name="Straight Arrow Connector 90"/>
                  <p:cNvCxnSpPr/>
                  <p:nvPr/>
                </p:nvCxnSpPr>
                <p:spPr bwMode="auto">
                  <a:xfrm>
                    <a:off x="566962" y="876661"/>
                    <a:ext cx="531408" cy="1462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sp>
                <p:nvSpPr>
                  <p:cNvPr id="92" name="Rectangle 91"/>
                  <p:cNvSpPr/>
                  <p:nvPr/>
                </p:nvSpPr>
                <p:spPr bwMode="auto">
                  <a:xfrm>
                    <a:off x="687577" y="3428824"/>
                    <a:ext cx="1443891" cy="1073517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Decoder</a:t>
                    </a:r>
                  </a:p>
                  <a:p>
                    <a:pPr algn="ctr" eaLnBrk="1" hangingPunct="1">
                      <a:defRPr/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(M-PSK, </a:t>
                    </a:r>
                  </a:p>
                  <a:p>
                    <a:pPr algn="ctr" eaLnBrk="1" hangingPunct="1">
                      <a:defRPr/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M-QAM etc)</a:t>
                    </a:r>
                  </a:p>
                </p:txBody>
              </p:sp>
              <p:cxnSp>
                <p:nvCxnSpPr>
                  <p:cNvPr id="93" name="Straight Arrow Connector 92"/>
                  <p:cNvCxnSpPr>
                    <a:endCxn id="92" idx="3"/>
                  </p:cNvCxnSpPr>
                  <p:nvPr/>
                </p:nvCxnSpPr>
                <p:spPr bwMode="auto">
                  <a:xfrm rot="10800000">
                    <a:off x="2131468" y="3967045"/>
                    <a:ext cx="251719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cxnSp>
                <p:nvCxnSpPr>
                  <p:cNvPr id="94" name="Straight Arrow Connector 93"/>
                  <p:cNvCxnSpPr>
                    <a:stCxn id="86" idx="3"/>
                    <a:endCxn id="108" idx="1"/>
                  </p:cNvCxnSpPr>
                  <p:nvPr/>
                </p:nvCxnSpPr>
                <p:spPr bwMode="auto">
                  <a:xfrm>
                    <a:off x="2157689" y="843021"/>
                    <a:ext cx="305909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sp>
                <p:nvSpPr>
                  <p:cNvPr id="97" name="TextBox 96"/>
                  <p:cNvSpPr txBox="1"/>
                  <p:nvPr/>
                </p:nvSpPr>
                <p:spPr bwMode="auto">
                  <a:xfrm>
                    <a:off x="14578" y="2615641"/>
                    <a:ext cx="1248109" cy="5967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>
                    <a:spAutoFit/>
                  </a:bodyPr>
                  <a:lstStyle/>
                  <a:p>
                    <a:pPr algn="ctr" eaLnBrk="1" hangingPunct="1">
                      <a:defRPr/>
                    </a:pPr>
                    <a:r>
                      <a:rPr lang="en-US" dirty="0"/>
                      <a:t>output bit</a:t>
                    </a:r>
                  </a:p>
                  <a:p>
                    <a:pPr algn="ctr" eaLnBrk="1" hangingPunct="1">
                      <a:defRPr/>
                    </a:pPr>
                    <a:r>
                      <a:rPr lang="en-US" dirty="0"/>
                      <a:t>stream</a:t>
                    </a:r>
                  </a:p>
                </p:txBody>
              </p:sp>
              <p:grpSp>
                <p:nvGrpSpPr>
                  <p:cNvPr id="6168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12829" y="304800"/>
                    <a:ext cx="9208738" cy="5054600"/>
                    <a:chOff x="12829" y="304800"/>
                    <a:chExt cx="9208738" cy="5054600"/>
                  </a:xfrm>
                </p:grpSpPr>
                <p:grpSp>
                  <p:nvGrpSpPr>
                    <p:cNvPr id="6169" name="Group 28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829" y="304800"/>
                      <a:ext cx="9208738" cy="5054600"/>
                      <a:chOff x="-48893" y="304800"/>
                      <a:chExt cx="9328685" cy="5387140"/>
                    </a:xfrm>
                  </p:grpSpPr>
                  <p:sp>
                    <p:nvSpPr>
                      <p:cNvPr id="108" name="Rectangle 107"/>
                      <p:cNvSpPr/>
                      <p:nvPr/>
                    </p:nvSpPr>
                    <p:spPr bwMode="auto">
                      <a:xfrm>
                        <a:off x="2433798" y="304800"/>
                        <a:ext cx="571976" cy="11441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sz="1200" dirty="0">
                            <a:solidFill>
                              <a:schemeClr val="tx1"/>
                            </a:solidFill>
                          </a:rPr>
                          <a:t>S/P</a:t>
                        </a:r>
                      </a:p>
                      <a:p>
                        <a:pPr algn="ctr" eaLnBrk="1" hangingPunct="1">
                          <a:defRPr/>
                        </a:pPr>
                        <a:endParaRPr lang="en-US" sz="12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9" name="Rectangle 108"/>
                      <p:cNvSpPr/>
                      <p:nvPr/>
                    </p:nvSpPr>
                    <p:spPr bwMode="auto">
                      <a:xfrm>
                        <a:off x="3515770" y="304800"/>
                        <a:ext cx="915514" cy="11441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N-Point</a:t>
                        </a:r>
                      </a:p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IFFT</a:t>
                        </a:r>
                      </a:p>
                    </p:txBody>
                  </p:sp>
                  <p:sp>
                    <p:nvSpPr>
                      <p:cNvPr id="110" name="Rectangle 109"/>
                      <p:cNvSpPr/>
                      <p:nvPr/>
                    </p:nvSpPr>
                    <p:spPr bwMode="auto">
                      <a:xfrm>
                        <a:off x="6000232" y="304800"/>
                        <a:ext cx="901348" cy="11441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Add</a:t>
                        </a:r>
                      </a:p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Cyclic Prefix </a:t>
                        </a:r>
                      </a:p>
                    </p:txBody>
                  </p:sp>
                  <p:sp>
                    <p:nvSpPr>
                      <p:cNvPr id="116" name="Rectangle 115"/>
                      <p:cNvSpPr/>
                      <p:nvPr/>
                    </p:nvSpPr>
                    <p:spPr bwMode="auto">
                      <a:xfrm>
                        <a:off x="4971385" y="304800"/>
                        <a:ext cx="649891" cy="11441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P/S</a:t>
                        </a:r>
                      </a:p>
                      <a:p>
                        <a:pPr algn="ctr" eaLnBrk="1" hangingPunct="1">
                          <a:defRPr/>
                        </a:pP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17" name="Rectangle 116"/>
                      <p:cNvSpPr/>
                      <p:nvPr/>
                    </p:nvSpPr>
                    <p:spPr bwMode="auto">
                      <a:xfrm>
                        <a:off x="8213758" y="1279037"/>
                        <a:ext cx="1066034" cy="9134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sz="1200" dirty="0">
                            <a:solidFill>
                              <a:schemeClr val="tx1"/>
                            </a:solidFill>
                          </a:rPr>
                          <a:t>Fading Channel</a:t>
                        </a:r>
                      </a:p>
                    </p:txBody>
                  </p:sp>
                  <p:sp>
                    <p:nvSpPr>
                      <p:cNvPr id="118" name="Rectangle 117"/>
                      <p:cNvSpPr/>
                      <p:nvPr/>
                    </p:nvSpPr>
                    <p:spPr bwMode="auto">
                      <a:xfrm>
                        <a:off x="7317722" y="3628117"/>
                        <a:ext cx="1002285" cy="11441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sz="1050" dirty="0">
                            <a:solidFill>
                              <a:schemeClr val="tx1"/>
                            </a:solidFill>
                          </a:rPr>
                          <a:t>Remove</a:t>
                        </a:r>
                      </a:p>
                      <a:p>
                        <a:pPr algn="ctr" eaLnBrk="1" hangingPunct="1">
                          <a:defRPr/>
                        </a:pPr>
                        <a:r>
                          <a:rPr lang="en-US" sz="1050" dirty="0">
                            <a:solidFill>
                              <a:schemeClr val="tx1"/>
                            </a:solidFill>
                          </a:rPr>
                          <a:t>Cyclic Prefix </a:t>
                        </a:r>
                      </a:p>
                    </p:txBody>
                  </p:sp>
                  <p:sp>
                    <p:nvSpPr>
                      <p:cNvPr id="119" name="Rectangle 118"/>
                      <p:cNvSpPr/>
                      <p:nvPr/>
                    </p:nvSpPr>
                    <p:spPr bwMode="auto">
                      <a:xfrm>
                        <a:off x="5001488" y="3634352"/>
                        <a:ext cx="917285" cy="11441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N</a:t>
                        </a:r>
                      </a:p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Point</a:t>
                        </a:r>
                      </a:p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FFT</a:t>
                        </a:r>
                      </a:p>
                    </p:txBody>
                  </p:sp>
                  <p:cxnSp>
                    <p:nvCxnSpPr>
                      <p:cNvPr id="120" name="Straight Arrow Connector 119"/>
                      <p:cNvCxnSpPr/>
                      <p:nvPr/>
                    </p:nvCxnSpPr>
                    <p:spPr bwMode="auto">
                      <a:xfrm>
                        <a:off x="5665547" y="914283"/>
                        <a:ext cx="302810" cy="1558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sp>
                    <p:nvSpPr>
                      <p:cNvPr id="121" name="Flowchart: Or 120"/>
                      <p:cNvSpPr/>
                      <p:nvPr/>
                    </p:nvSpPr>
                    <p:spPr bwMode="auto">
                      <a:xfrm>
                        <a:off x="8367820" y="2660115"/>
                        <a:ext cx="761453" cy="531543"/>
                      </a:xfrm>
                      <a:prstGeom prst="flowChartOr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endParaRPr lang="en-US"/>
                      </a:p>
                    </p:txBody>
                  </p:sp>
                  <p:cxnSp>
                    <p:nvCxnSpPr>
                      <p:cNvPr id="122" name="Straight Arrow Connector 121"/>
                      <p:cNvCxnSpPr>
                        <a:stCxn id="117" idx="2"/>
                        <a:endCxn id="121" idx="0"/>
                      </p:cNvCxnSpPr>
                      <p:nvPr/>
                    </p:nvCxnSpPr>
                    <p:spPr bwMode="auto">
                      <a:xfrm rot="16200000" flipH="1">
                        <a:off x="8513844" y="2425413"/>
                        <a:ext cx="467634" cy="1770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23" name="Straight Arrow Connector 122"/>
                      <p:cNvCxnSpPr>
                        <a:endCxn id="121" idx="2"/>
                      </p:cNvCxnSpPr>
                      <p:nvPr/>
                    </p:nvCxnSpPr>
                    <p:spPr bwMode="auto">
                      <a:xfrm>
                        <a:off x="7301786" y="2887697"/>
                        <a:ext cx="1066034" cy="38969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30" name="Straight Arrow Connector 129"/>
                      <p:cNvCxnSpPr>
                        <a:stCxn id="118" idx="1"/>
                      </p:cNvCxnSpPr>
                      <p:nvPr/>
                    </p:nvCxnSpPr>
                    <p:spPr bwMode="auto">
                      <a:xfrm rot="10800000">
                        <a:off x="6947621" y="4198630"/>
                        <a:ext cx="370101" cy="1559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31" name="Straight Arrow Connector 130"/>
                      <p:cNvCxnSpPr/>
                      <p:nvPr/>
                    </p:nvCxnSpPr>
                    <p:spPr bwMode="auto">
                      <a:xfrm rot="10800000">
                        <a:off x="4548158" y="4016253"/>
                        <a:ext cx="453330" cy="0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32" name="Straight Arrow Connector 131"/>
                      <p:cNvCxnSpPr/>
                      <p:nvPr/>
                    </p:nvCxnSpPr>
                    <p:spPr bwMode="auto">
                      <a:xfrm rot="10800000">
                        <a:off x="4548158" y="3785554"/>
                        <a:ext cx="453330" cy="3118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33" name="Straight Arrow Connector 132"/>
                      <p:cNvCxnSpPr/>
                      <p:nvPr/>
                    </p:nvCxnSpPr>
                    <p:spPr bwMode="auto">
                      <a:xfrm rot="10800000">
                        <a:off x="4548158" y="4320215"/>
                        <a:ext cx="453330" cy="0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35" name="Straight Arrow Connector 134"/>
                      <p:cNvCxnSpPr/>
                      <p:nvPr/>
                    </p:nvCxnSpPr>
                    <p:spPr bwMode="auto">
                      <a:xfrm rot="10800000">
                        <a:off x="4548158" y="4547796"/>
                        <a:ext cx="453330" cy="3118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sp>
                    <p:nvSpPr>
                      <p:cNvPr id="136" name="TextBox 135"/>
                      <p:cNvSpPr txBox="1"/>
                      <p:nvPr/>
                    </p:nvSpPr>
                    <p:spPr bwMode="auto">
                      <a:xfrm>
                        <a:off x="-48893" y="1062367"/>
                        <a:ext cx="1120930" cy="634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wrap="none">
                        <a:spAutoFit/>
                      </a:bodyPr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dirty="0"/>
                          <a:t>Input bit</a:t>
                        </a:r>
                      </a:p>
                      <a:p>
                        <a:pPr algn="ctr" eaLnBrk="1" hangingPunct="1">
                          <a:defRPr/>
                        </a:pPr>
                        <a:r>
                          <a:rPr lang="en-US" dirty="0"/>
                          <a:t>stream</a:t>
                        </a:r>
                      </a:p>
                    </p:txBody>
                  </p:sp>
                  <p:sp>
                    <p:nvSpPr>
                      <p:cNvPr id="137" name="TextBox 136"/>
                      <p:cNvSpPr txBox="1"/>
                      <p:nvPr/>
                    </p:nvSpPr>
                    <p:spPr bwMode="auto">
                      <a:xfrm>
                        <a:off x="5699192" y="2398241"/>
                        <a:ext cx="2751856" cy="363195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wrap="none">
                        <a:spAutoFit/>
                      </a:bodyPr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dirty="0"/>
                          <a:t>White Gaussian Noise</a:t>
                        </a:r>
                      </a:p>
                    </p:txBody>
                  </p:sp>
                  <p:cxnSp>
                    <p:nvCxnSpPr>
                      <p:cNvPr id="138" name="Straight Arrow Connector 137"/>
                      <p:cNvCxnSpPr/>
                      <p:nvPr/>
                    </p:nvCxnSpPr>
                    <p:spPr bwMode="auto">
                      <a:xfrm>
                        <a:off x="2980982" y="457560"/>
                        <a:ext cx="534788" cy="0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39" name="Straight Arrow Connector 138"/>
                      <p:cNvCxnSpPr/>
                      <p:nvPr/>
                    </p:nvCxnSpPr>
                    <p:spPr bwMode="auto">
                      <a:xfrm>
                        <a:off x="2980982" y="1065484"/>
                        <a:ext cx="534788" cy="1559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40" name="Straight Arrow Connector 139"/>
                      <p:cNvCxnSpPr/>
                      <p:nvPr/>
                    </p:nvCxnSpPr>
                    <p:spPr bwMode="auto">
                      <a:xfrm>
                        <a:off x="2980982" y="759963"/>
                        <a:ext cx="534788" cy="3118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41" name="Straight Arrow Connector 140"/>
                      <p:cNvCxnSpPr/>
                      <p:nvPr/>
                    </p:nvCxnSpPr>
                    <p:spPr bwMode="auto">
                      <a:xfrm>
                        <a:off x="2980982" y="1372564"/>
                        <a:ext cx="534788" cy="0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sp>
                    <p:nvSpPr>
                      <p:cNvPr id="143" name="Rectangle 142"/>
                      <p:cNvSpPr/>
                      <p:nvPr/>
                    </p:nvSpPr>
                    <p:spPr bwMode="auto">
                      <a:xfrm>
                        <a:off x="3478582" y="3634352"/>
                        <a:ext cx="1069576" cy="114414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MMSE Equalizer</a:t>
                        </a:r>
                      </a:p>
                    </p:txBody>
                  </p:sp>
                  <p:cxnSp>
                    <p:nvCxnSpPr>
                      <p:cNvPr id="144" name="Straight Arrow Connector 143"/>
                      <p:cNvCxnSpPr/>
                      <p:nvPr/>
                    </p:nvCxnSpPr>
                    <p:spPr bwMode="auto">
                      <a:xfrm rot="10800000">
                        <a:off x="3023482" y="4016253"/>
                        <a:ext cx="455100" cy="0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46" name="Straight Arrow Connector 145"/>
                      <p:cNvCxnSpPr/>
                      <p:nvPr/>
                    </p:nvCxnSpPr>
                    <p:spPr bwMode="auto">
                      <a:xfrm rot="10800000">
                        <a:off x="3023482" y="3785554"/>
                        <a:ext cx="455100" cy="3118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47" name="Straight Arrow Connector 146"/>
                      <p:cNvCxnSpPr/>
                      <p:nvPr/>
                    </p:nvCxnSpPr>
                    <p:spPr bwMode="auto">
                      <a:xfrm rot="10800000">
                        <a:off x="3023482" y="4320215"/>
                        <a:ext cx="455100" cy="0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49" name="Straight Arrow Connector 148"/>
                      <p:cNvCxnSpPr/>
                      <p:nvPr/>
                    </p:nvCxnSpPr>
                    <p:spPr bwMode="auto">
                      <a:xfrm rot="10800000">
                        <a:off x="3023482" y="4547796"/>
                        <a:ext cx="455100" cy="3118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sp>
                    <p:nvSpPr>
                      <p:cNvPr id="150" name="Rectangle 149"/>
                      <p:cNvSpPr/>
                      <p:nvPr/>
                    </p:nvSpPr>
                    <p:spPr bwMode="auto">
                      <a:xfrm>
                        <a:off x="4038162" y="5012312"/>
                        <a:ext cx="1296241" cy="679628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anchor="ctr"/>
                      <a:lstStyle/>
                      <a:p>
                        <a:pPr algn="ctr" eaLnBrk="1" hangingPunct="1">
                          <a:defRPr/>
                        </a:pPr>
                        <a:r>
                          <a:rPr lang="en-US" sz="1200" dirty="0">
                            <a:solidFill>
                              <a:schemeClr val="tx1"/>
                            </a:solidFill>
                          </a:rPr>
                          <a:t>Channel</a:t>
                        </a:r>
                      </a:p>
                      <a:p>
                        <a:pPr algn="ctr" eaLnBrk="1" hangingPunct="1">
                          <a:defRPr/>
                        </a:pPr>
                        <a:r>
                          <a:rPr lang="en-US" sz="1200" dirty="0">
                            <a:solidFill>
                              <a:schemeClr val="tx1"/>
                            </a:solidFill>
                          </a:rPr>
                          <a:t>Estimation</a:t>
                        </a:r>
                      </a:p>
                    </p:txBody>
                  </p:sp>
                  <p:cxnSp>
                    <p:nvCxnSpPr>
                      <p:cNvPr id="151" name="Elbow Connector 64"/>
                      <p:cNvCxnSpPr>
                        <a:stCxn id="150" idx="1"/>
                      </p:cNvCxnSpPr>
                      <p:nvPr/>
                    </p:nvCxnSpPr>
                    <p:spPr bwMode="auto">
                      <a:xfrm rot="10800000">
                        <a:off x="3659206" y="4778496"/>
                        <a:ext cx="378956" cy="572072"/>
                      </a:xfrm>
                      <a:prstGeom prst="bentConnector2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  <p:cxnSp>
                    <p:nvCxnSpPr>
                      <p:cNvPr id="152" name="Elbow Connector 64"/>
                      <p:cNvCxnSpPr>
                        <a:endCxn id="150" idx="3"/>
                      </p:cNvCxnSpPr>
                      <p:nvPr/>
                    </p:nvCxnSpPr>
                    <p:spPr bwMode="auto">
                      <a:xfrm rot="5400000">
                        <a:off x="5201542" y="4911356"/>
                        <a:ext cx="572072" cy="306353"/>
                      </a:xfrm>
                      <a:prstGeom prst="bentConnector2">
                        <a:avLst/>
                      </a:prstGeom>
                      <a:ln>
                        <a:tailEnd type="arrow"/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</p:cxnSp>
                </p:grpSp>
                <p:cxnSp>
                  <p:nvCxnSpPr>
                    <p:cNvPr id="101" name="Shape 100"/>
                    <p:cNvCxnSpPr>
                      <a:endCxn id="117" idx="0"/>
                    </p:cNvCxnSpPr>
                    <p:nvPr/>
                  </p:nvCxnSpPr>
                  <p:spPr>
                    <a:xfrm>
                      <a:off x="6873934" y="838634"/>
                      <a:ext cx="1821470" cy="380265"/>
                    </a:xfrm>
                    <a:prstGeom prst="bentConnector2">
                      <a:avLst/>
                    </a:prstGeom>
                    <a:ln w="25400">
                      <a:solidFill>
                        <a:srgbClr val="00000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Shape 101"/>
                    <p:cNvCxnSpPr>
                      <a:stCxn id="121" idx="4"/>
                      <a:endCxn id="118" idx="3"/>
                    </p:cNvCxnSpPr>
                    <p:nvPr/>
                  </p:nvCxnSpPr>
                  <p:spPr>
                    <a:xfrm rot="5400000">
                      <a:off x="8012499" y="3275081"/>
                      <a:ext cx="946275" cy="423029"/>
                    </a:xfrm>
                    <a:prstGeom prst="bentConnector2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84" name="Rectangle 83"/>
                <p:cNvSpPr/>
                <p:nvPr/>
              </p:nvSpPr>
              <p:spPr bwMode="auto">
                <a:xfrm>
                  <a:off x="2400668" y="3422973"/>
                  <a:ext cx="645032" cy="107351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P/S</a:t>
                  </a:r>
                </a:p>
                <a:p>
                  <a:pPr algn="ctr" eaLnBrk="1" hangingPunct="1">
                    <a:defRPr/>
                  </a:pP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 84"/>
                <p:cNvSpPr/>
                <p:nvPr/>
              </p:nvSpPr>
              <p:spPr bwMode="auto">
                <a:xfrm>
                  <a:off x="6340777" y="3422973"/>
                  <a:ext cx="562873" cy="107351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S/P</a:t>
                  </a:r>
                </a:p>
                <a:p>
                  <a:pPr algn="ctr" eaLnBrk="1" hangingPunct="1">
                    <a:defRPr/>
                  </a:pP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68" name="Straight Arrow Connector 67"/>
              <p:cNvCxnSpPr/>
              <p:nvPr/>
            </p:nvCxnSpPr>
            <p:spPr bwMode="auto">
              <a:xfrm>
                <a:off x="4681368" y="888706"/>
                <a:ext cx="529643" cy="292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 bwMode="auto">
              <a:xfrm>
                <a:off x="4681368" y="1460567"/>
                <a:ext cx="529643" cy="146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 bwMode="auto">
              <a:xfrm>
                <a:off x="4681368" y="1175367"/>
                <a:ext cx="529643" cy="146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2" name="Straight Arrow Connector 71"/>
              <p:cNvCxnSpPr/>
              <p:nvPr/>
            </p:nvCxnSpPr>
            <p:spPr bwMode="auto">
              <a:xfrm>
                <a:off x="4681368" y="1748690"/>
                <a:ext cx="529643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 bwMode="auto">
              <a:xfrm rot="10800000">
                <a:off x="6130456" y="4218951"/>
                <a:ext cx="452730" cy="146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 bwMode="auto">
              <a:xfrm rot="10800000">
                <a:off x="6130456" y="4005417"/>
                <a:ext cx="45273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8" name="Straight Arrow Connector 77"/>
              <p:cNvCxnSpPr/>
              <p:nvPr/>
            </p:nvCxnSpPr>
            <p:spPr bwMode="auto">
              <a:xfrm rot="10800000">
                <a:off x="6130456" y="4504149"/>
                <a:ext cx="452730" cy="292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9" name="Straight Arrow Connector 78"/>
              <p:cNvCxnSpPr/>
              <p:nvPr/>
            </p:nvCxnSpPr>
            <p:spPr bwMode="auto">
              <a:xfrm rot="10800000">
                <a:off x="6130456" y="4717683"/>
                <a:ext cx="452730" cy="292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cxnSp>
          <p:nvCxnSpPr>
            <p:cNvPr id="65" name="Shape 64"/>
            <p:cNvCxnSpPr>
              <a:stCxn id="92" idx="1"/>
            </p:cNvCxnSpPr>
            <p:nvPr/>
          </p:nvCxnSpPr>
          <p:spPr>
            <a:xfrm rot="10800000">
              <a:off x="472198" y="3733382"/>
              <a:ext cx="457974" cy="665463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/>
          <a:lstStyle/>
          <a:p>
            <a:r>
              <a:rPr lang="en-US" dirty="0" smtClean="0"/>
              <a:t>Delay Spread Values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5562599"/>
            <a:ext cx="7697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Reference: Book on OFDM for Wireless Multimedia Communications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by R Van Nee and </a:t>
            </a:r>
            <a:r>
              <a:rPr lang="en-US" b="1" dirty="0" err="1" smtClean="0"/>
              <a:t>Ramjee</a:t>
            </a:r>
            <a:r>
              <a:rPr lang="en-US" b="1" dirty="0" smtClean="0"/>
              <a:t> Prasad </a:t>
            </a:r>
            <a:endParaRPr lang="en-IN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49" y="838200"/>
            <a:ext cx="8252236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9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/>
          <a:lstStyle/>
          <a:p>
            <a:r>
              <a:rPr lang="en-US" dirty="0" smtClean="0"/>
              <a:t>Delay Spread Values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5562599"/>
            <a:ext cx="7697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Reference: Book on OFDM for Wireless Multimedia Communications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by R Van Nee and </a:t>
            </a:r>
            <a:r>
              <a:rPr lang="en-US" b="1" dirty="0" err="1" smtClean="0"/>
              <a:t>Ramjee</a:t>
            </a:r>
            <a:r>
              <a:rPr lang="en-US" b="1" dirty="0" smtClean="0"/>
              <a:t> Prasad 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8382000" cy="5407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25012"/>
            <a:ext cx="8229600" cy="383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2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/>
          <a:lstStyle/>
          <a:p>
            <a:r>
              <a:rPr lang="en-US" dirty="0" smtClean="0"/>
              <a:t>Selection of OFDM Parameter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92163"/>
            <a:ext cx="8686800" cy="960437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sz="1800" dirty="0" smtClean="0"/>
              <a:t>The choice or selection of various OFDM parameters is a tradeoff between various conflicting requirements like:</a:t>
            </a:r>
          </a:p>
          <a:p>
            <a:pPr lvl="1" algn="just"/>
            <a:r>
              <a:rPr lang="en-US" sz="1800" b="1" dirty="0" smtClean="0">
                <a:solidFill>
                  <a:srgbClr val="FF0000"/>
                </a:solidFill>
              </a:rPr>
              <a:t>Bandwidth;    </a:t>
            </a:r>
            <a:r>
              <a:rPr lang="en-US" sz="1800" b="1" dirty="0" smtClean="0">
                <a:solidFill>
                  <a:srgbClr val="00B050"/>
                </a:solidFill>
              </a:rPr>
              <a:t>Bit Rate;   </a:t>
            </a:r>
            <a:r>
              <a:rPr lang="en-US" sz="1800" b="1" dirty="0" smtClean="0">
                <a:solidFill>
                  <a:srgbClr val="00B0F0"/>
                </a:solidFill>
              </a:rPr>
              <a:t>Delay Spread</a:t>
            </a:r>
          </a:p>
          <a:p>
            <a:pPr marL="0" indent="0" algn="just">
              <a:buNone/>
            </a:pPr>
            <a:endParaRPr lang="en-US" sz="1800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18902" y="3200400"/>
            <a:ext cx="869649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algn="just"/>
            <a:r>
              <a:rPr lang="en-US" sz="1500" kern="0" dirty="0" smtClean="0"/>
              <a:t>After </a:t>
            </a:r>
            <a:r>
              <a:rPr lang="en-US" sz="1500" b="1" kern="0" dirty="0">
                <a:solidFill>
                  <a:srgbClr val="00B0F0"/>
                </a:solidFill>
              </a:rPr>
              <a:t>Guard </a:t>
            </a:r>
            <a:r>
              <a:rPr lang="en-US" sz="1500" b="1" kern="0" dirty="0" smtClean="0">
                <a:solidFill>
                  <a:srgbClr val="00B0F0"/>
                </a:solidFill>
              </a:rPr>
              <a:t>Time selection, </a:t>
            </a:r>
            <a:r>
              <a:rPr lang="en-US" sz="1500" kern="0" dirty="0"/>
              <a:t>the </a:t>
            </a:r>
            <a:r>
              <a:rPr lang="en-US" sz="1500" b="1" kern="0" dirty="0">
                <a:solidFill>
                  <a:srgbClr val="FF0000"/>
                </a:solidFill>
              </a:rPr>
              <a:t>symbol duration </a:t>
            </a:r>
            <a:r>
              <a:rPr lang="en-US" sz="1500" kern="0" dirty="0"/>
              <a:t>can be </a:t>
            </a:r>
            <a:r>
              <a:rPr lang="en-US" sz="1500" kern="0" dirty="0" smtClean="0"/>
              <a:t>fixed.</a:t>
            </a:r>
          </a:p>
          <a:p>
            <a:pPr algn="just"/>
            <a:r>
              <a:rPr lang="en-US" sz="1500" b="1" kern="0" dirty="0">
                <a:solidFill>
                  <a:srgbClr val="FF0000"/>
                </a:solidFill>
              </a:rPr>
              <a:t>Symbol duration </a:t>
            </a:r>
            <a:r>
              <a:rPr lang="en-US" sz="1500" kern="0" dirty="0" smtClean="0"/>
              <a:t>must be larger than the guard time to minimize the signal-to-noise ratio (SNR) by the guard time.</a:t>
            </a:r>
          </a:p>
          <a:p>
            <a:pPr algn="just"/>
            <a:r>
              <a:rPr lang="en-US" sz="1500" kern="0" dirty="0" smtClean="0"/>
              <a:t>But a larger symbol duration means -- </a:t>
            </a:r>
            <a:r>
              <a:rPr lang="en-US" sz="1500" b="1" kern="0" dirty="0" smtClean="0"/>
              <a:t>more sub-carriers with a smaller sub-carrier spacing, </a:t>
            </a:r>
          </a:p>
          <a:p>
            <a:pPr lvl="1" algn="just"/>
            <a:r>
              <a:rPr lang="en-US" sz="1500" b="1" kern="0" dirty="0" smtClean="0"/>
              <a:t>A larger implementation complexity</a:t>
            </a:r>
          </a:p>
          <a:p>
            <a:pPr lvl="1" algn="just"/>
            <a:r>
              <a:rPr lang="en-US" sz="1500" b="1" kern="0" dirty="0" smtClean="0"/>
              <a:t>More sensitivity to phase noise and frequency offset</a:t>
            </a:r>
          </a:p>
          <a:p>
            <a:pPr lvl="1" algn="just"/>
            <a:r>
              <a:rPr lang="en-US" sz="1500" b="1" kern="0" dirty="0" smtClean="0"/>
              <a:t>Increased peak-average-power ratio (PAPR)</a:t>
            </a:r>
            <a:endParaRPr lang="en-US" sz="1500" b="1" kern="0" dirty="0"/>
          </a:p>
        </p:txBody>
      </p:sp>
      <p:sp>
        <p:nvSpPr>
          <p:cNvPr id="8" name="Rounded Rectangle 7"/>
          <p:cNvSpPr/>
          <p:nvPr/>
        </p:nvSpPr>
        <p:spPr bwMode="auto">
          <a:xfrm>
            <a:off x="228600" y="1981200"/>
            <a:ext cx="8686800" cy="9906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delay spread </a:t>
            </a:r>
            <a:r>
              <a:rPr lang="en-US" sz="2000" dirty="0"/>
              <a:t>value directly decide the value of </a:t>
            </a:r>
            <a:r>
              <a:rPr lang="en-US" sz="2000" b="1" dirty="0">
                <a:solidFill>
                  <a:srgbClr val="00B0F0"/>
                </a:solidFill>
              </a:rPr>
              <a:t>Guard Time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As a rule, </a:t>
            </a:r>
            <a:r>
              <a:rPr lang="en-US" sz="2000" b="1" dirty="0" smtClean="0">
                <a:solidFill>
                  <a:srgbClr val="FF0000"/>
                </a:solidFill>
              </a:rPr>
              <a:t>Guard time </a:t>
            </a:r>
            <a:r>
              <a:rPr lang="en-US" sz="2000" dirty="0" smtClean="0"/>
              <a:t>should be about </a:t>
            </a:r>
            <a:r>
              <a:rPr lang="en-US" sz="2000" b="1" dirty="0" smtClean="0">
                <a:solidFill>
                  <a:srgbClr val="FF0000"/>
                </a:solidFill>
              </a:rPr>
              <a:t>two to four </a:t>
            </a:r>
            <a:r>
              <a:rPr lang="en-US" sz="2000" dirty="0" smtClean="0"/>
              <a:t>times of </a:t>
            </a:r>
            <a:r>
              <a:rPr lang="en-US" sz="2000" dirty="0" err="1" smtClean="0"/>
              <a:t>rms</a:t>
            </a:r>
            <a:r>
              <a:rPr lang="en-US" sz="2000" dirty="0" smtClean="0"/>
              <a:t> value of delay spread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 bwMode="auto">
          <a:xfrm>
            <a:off x="228600" y="5363094"/>
            <a:ext cx="8458200" cy="1266305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 algn="just">
              <a:buNone/>
            </a:pPr>
            <a:r>
              <a:rPr lang="en-US" sz="1400" kern="0" dirty="0"/>
              <a:t>Hence, a practical design choice is :</a:t>
            </a:r>
          </a:p>
          <a:p>
            <a:pPr algn="just"/>
            <a:endParaRPr lang="en-US" b="1" kern="0" dirty="0" smtClean="0">
              <a:solidFill>
                <a:srgbClr val="FF000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kern="0" dirty="0" smtClean="0">
                <a:solidFill>
                  <a:srgbClr val="FF0000"/>
                </a:solidFill>
              </a:rPr>
              <a:t>Symbol </a:t>
            </a:r>
            <a:r>
              <a:rPr lang="en-US" sz="2200" b="1" kern="0" dirty="0">
                <a:solidFill>
                  <a:srgbClr val="FF0000"/>
                </a:solidFill>
              </a:rPr>
              <a:t>duration </a:t>
            </a:r>
            <a:r>
              <a:rPr lang="en-US" sz="2200" kern="0" dirty="0"/>
              <a:t>should be at least five times of </a:t>
            </a:r>
            <a:r>
              <a:rPr lang="en-US" sz="2200" b="1" kern="0" dirty="0">
                <a:solidFill>
                  <a:srgbClr val="00B0F0"/>
                </a:solidFill>
              </a:rPr>
              <a:t>Guard Time</a:t>
            </a:r>
            <a:endParaRPr lang="en-US" sz="2200" b="1" kern="0" dirty="0"/>
          </a:p>
        </p:txBody>
      </p:sp>
    </p:spTree>
    <p:extLst>
      <p:ext uri="{BB962C8B-B14F-4D97-AF65-F5344CB8AC3E}">
        <p14:creationId xmlns:p14="http://schemas.microsoft.com/office/powerpoint/2010/main" val="261060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1" y="304800"/>
            <a:ext cx="8686800" cy="41904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sz="1800" dirty="0" smtClean="0"/>
              <a:t>After Symbol duration,  Number of Sub-carriers will be decided by following rule: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44726" y="1066800"/>
                <a:ext cx="5402889" cy="854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Sub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−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carrier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 = </m:t>
                      </m:r>
                      <m:f>
                        <m:f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3 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dB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bandwidth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sub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carrier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m:t>spacing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0B0F0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726" y="1066800"/>
                <a:ext cx="5402889" cy="8544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81000" y="3747546"/>
            <a:ext cx="77059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If M-QAM is used with r code rate then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[ </a:t>
            </a:r>
            <a:r>
              <a:rPr lang="en-US" b="1" dirty="0" smtClean="0">
                <a:solidFill>
                  <a:srgbClr val="FF0000"/>
                </a:solidFill>
              </a:rPr>
              <a:t>Log2(M) * r </a:t>
            </a:r>
            <a:r>
              <a:rPr lang="en-US" b="1" dirty="0" smtClean="0"/>
              <a:t>] bits of information per QAM symbol per sub-carrier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70" y="2133600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Number of bits per OFDM symbol required to achieve </a:t>
            </a:r>
            <a:r>
              <a:rPr lang="en-US" b="1" dirty="0" smtClean="0">
                <a:solidFill>
                  <a:srgbClr val="00B050"/>
                </a:solidFill>
              </a:rPr>
              <a:t>given date rate is obtained from following relationship:</a:t>
            </a:r>
            <a:endParaRPr lang="en-US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753096" y="2971800"/>
                <a:ext cx="3790205" cy="538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𝑵𝒐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𝒐𝒇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𝒃𝒊𝒕𝒔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𝒑𝒆𝒓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𝑶𝑭𝑫𝑴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𝒔𝒚𝒎𝒃𝒐𝒍</m:t>
                          </m:r>
                        </m:num>
                        <m:den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𝑻𝒐𝒕𝒂𝒍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𝑺𝒚𝒎𝒃𝒐𝒍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𝑫𝒖𝒓𝒂𝒕𝒊𝒐𝒏</m:t>
                          </m:r>
                        </m:den>
                      </m:f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𝒅𝒂𝒕𝒂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𝒓𝒂𝒕𝒆</m:t>
                      </m:r>
                    </m:oMath>
                  </m:oMathPara>
                </a14:m>
                <a:endParaRPr lang="en-US" sz="14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96" y="2971800"/>
                <a:ext cx="3790205" cy="538802"/>
              </a:xfrm>
              <a:prstGeom prst="rect">
                <a:avLst/>
              </a:prstGeom>
              <a:blipFill rotWithShape="1"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93658" y="5029200"/>
                <a:ext cx="570502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𝑵𝒐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𝒐𝒇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𝒔𝒖𝒃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𝒄𝒂𝒓𝒓𝒊𝒆𝒓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𝒄𝒐𝒅𝒆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𝒓𝒂𝒕𝒆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∗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𝑵𝒐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𝒐𝒇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𝒃𝒊𝒕𝒔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𝒑𝒆𝒓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𝑶𝑭𝑫𝑴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𝒔𝒚𝒎𝒃𝒐𝒍</m:t>
                      </m:r>
                    </m:oMath>
                  </m:oMathPara>
                </a14:m>
                <a:endParaRPr lang="en-US" sz="1400" b="1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658" y="5029200"/>
                <a:ext cx="5705023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44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6471" y="-26221"/>
            <a:ext cx="6019800" cy="715962"/>
          </a:xfrm>
        </p:spPr>
        <p:txBody>
          <a:bodyPr/>
          <a:lstStyle/>
          <a:p>
            <a:r>
              <a:rPr lang="en-US" sz="2400" dirty="0" smtClean="0">
                <a:solidFill>
                  <a:srgbClr val="FF0000"/>
                </a:solidFill>
              </a:rPr>
              <a:t>Steps to Decide the OFDM parameters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Oval 3"/>
          <p:cNvSpPr/>
          <p:nvPr/>
        </p:nvSpPr>
        <p:spPr bwMode="auto">
          <a:xfrm>
            <a:off x="266700" y="829831"/>
            <a:ext cx="3810000" cy="685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IN" b="1" dirty="0">
                <a:solidFill>
                  <a:srgbClr val="FF0000"/>
                </a:solidFill>
              </a:rPr>
              <a:t>Select the application</a:t>
            </a:r>
          </a:p>
        </p:txBody>
      </p:sp>
      <p:cxnSp>
        <p:nvCxnSpPr>
          <p:cNvPr id="6" name="Straight Arrow Connector 5"/>
          <p:cNvCxnSpPr>
            <a:stCxn id="4" idx="4"/>
            <a:endCxn id="7" idx="0"/>
          </p:cNvCxnSpPr>
          <p:nvPr/>
        </p:nvCxnSpPr>
        <p:spPr bwMode="auto">
          <a:xfrm>
            <a:off x="2171700" y="1515631"/>
            <a:ext cx="0" cy="560791"/>
          </a:xfrm>
          <a:prstGeom prst="straightConnector1">
            <a:avLst/>
          </a:prstGeom>
          <a:ln w="57150"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 bwMode="auto">
          <a:xfrm>
            <a:off x="533400" y="2076422"/>
            <a:ext cx="3276600" cy="609600"/>
          </a:xfrm>
          <a:prstGeom prst="roundRect">
            <a:avLst/>
          </a:prstGeom>
          <a:solidFill>
            <a:srgbClr val="ECD3B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Select the </a:t>
            </a:r>
            <a:r>
              <a:rPr lang="en-US" b="1" dirty="0" smtClean="0">
                <a:solidFill>
                  <a:srgbClr val="7030A0"/>
                </a:solidFill>
              </a:rPr>
              <a:t>Environment </a:t>
            </a:r>
            <a:r>
              <a:rPr lang="en-US" b="1" dirty="0">
                <a:solidFill>
                  <a:srgbClr val="7030A0"/>
                </a:solidFill>
              </a:rPr>
              <a:t>(outdoor or indoor)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122613" y="3060469"/>
            <a:ext cx="3954087" cy="838200"/>
          </a:xfrm>
          <a:prstGeom prst="roundRect">
            <a:avLst/>
          </a:prstGeom>
          <a:solidFill>
            <a:srgbClr val="ECD3B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Determine the delay spread value of that environment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175606" y="4411231"/>
            <a:ext cx="3848100" cy="838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Determine the guard time </a:t>
            </a:r>
            <a:endParaRPr lang="en-US" b="1" dirty="0" smtClean="0">
              <a:solidFill>
                <a:srgbClr val="7030A0"/>
              </a:solidFill>
            </a:endParaRPr>
          </a:p>
          <a:p>
            <a:pPr algn="ctr"/>
            <a:r>
              <a:rPr lang="en-US" b="1" dirty="0" smtClean="0">
                <a:solidFill>
                  <a:srgbClr val="7030A0"/>
                </a:solidFill>
              </a:rPr>
              <a:t>(</a:t>
            </a:r>
            <a:r>
              <a:rPr lang="en-US" b="1" dirty="0">
                <a:solidFill>
                  <a:srgbClr val="7030A0"/>
                </a:solidFill>
              </a:rPr>
              <a:t>2 to 4 times of delay spread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298566" y="5782831"/>
            <a:ext cx="3848100" cy="838200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Determine the symbol duration (~ 4 𝑡𝑜 5 𝑡𝑖𝑚𝑒𝑠 𝑜𝑓 𝑔𝑢𝑎𝑟𝑑 𝑡𝑖𝑚𝑒)</a:t>
            </a:r>
          </a:p>
        </p:txBody>
      </p:sp>
      <p:sp>
        <p:nvSpPr>
          <p:cNvPr id="13" name="Rounded Rectangle 12"/>
          <p:cNvSpPr/>
          <p:nvPr/>
        </p:nvSpPr>
        <p:spPr bwMode="auto">
          <a:xfrm>
            <a:off x="5105400" y="5270934"/>
            <a:ext cx="3848100" cy="1078576"/>
          </a:xfrm>
          <a:prstGeom prst="roundRect">
            <a:avLst/>
          </a:prstGeom>
          <a:solidFill>
            <a:srgbClr val="ECD3B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Determine the number of sub-carrier using </a:t>
            </a:r>
            <a:r>
              <a:rPr lang="en-US" b="1" dirty="0" smtClean="0">
                <a:solidFill>
                  <a:srgbClr val="FF0000"/>
                </a:solidFill>
              </a:rPr>
              <a:t>3-dB bandwidth and sub-carrier spacing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>
            <a:endCxn id="8" idx="0"/>
          </p:cNvCxnSpPr>
          <p:nvPr/>
        </p:nvCxnSpPr>
        <p:spPr bwMode="auto">
          <a:xfrm flipH="1">
            <a:off x="2099657" y="2706860"/>
            <a:ext cx="11776" cy="353609"/>
          </a:xfrm>
          <a:prstGeom prst="straightConnector1">
            <a:avLst/>
          </a:prstGeom>
          <a:ln w="57150"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 bwMode="auto">
          <a:xfrm>
            <a:off x="2077489" y="3898669"/>
            <a:ext cx="0" cy="560791"/>
          </a:xfrm>
          <a:prstGeom prst="straightConnector1">
            <a:avLst/>
          </a:prstGeom>
          <a:ln w="57150"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>
            <a:off x="2038696" y="5249431"/>
            <a:ext cx="0" cy="560791"/>
          </a:xfrm>
          <a:prstGeom prst="straightConnector1">
            <a:avLst/>
          </a:prstGeom>
          <a:ln w="57150"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2" idx="3"/>
            <a:endCxn id="13" idx="1"/>
          </p:cNvCxnSpPr>
          <p:nvPr/>
        </p:nvCxnSpPr>
        <p:spPr bwMode="auto">
          <a:xfrm flipV="1">
            <a:off x="4146666" y="5810222"/>
            <a:ext cx="958734" cy="391709"/>
          </a:xfrm>
          <a:prstGeom prst="straightConnector1">
            <a:avLst/>
          </a:prstGeom>
          <a:ln w="57150"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 rot="20032152">
            <a:off x="3351044" y="4957414"/>
            <a:ext cx="27190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SNR loss should be less than 1 dB</a:t>
            </a:r>
            <a:endParaRPr lang="en-I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33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790" y="76200"/>
            <a:ext cx="8229600" cy="381000"/>
          </a:xfrm>
        </p:spPr>
        <p:txBody>
          <a:bodyPr/>
          <a:lstStyle/>
          <a:p>
            <a:r>
              <a:rPr lang="en-US" sz="2400" dirty="0" smtClean="0"/>
              <a:t>Example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39" y="548657"/>
            <a:ext cx="8229600" cy="1356343"/>
          </a:xfrm>
        </p:spPr>
        <p:txBody>
          <a:bodyPr/>
          <a:lstStyle/>
          <a:p>
            <a:r>
              <a:rPr lang="en-US" sz="1800" dirty="0" smtClean="0"/>
              <a:t>Determine the OFDM parameters for the following given condition:</a:t>
            </a:r>
          </a:p>
          <a:p>
            <a:pPr marL="585787" lvl="2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Bandwidth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= </a:t>
            </a:r>
            <a:r>
              <a:rPr lang="en-US" b="1" dirty="0">
                <a:solidFill>
                  <a:srgbClr val="FF0000"/>
                </a:solidFill>
              </a:rPr>
              <a:t>15 MHz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585787" lvl="2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00B050"/>
                </a:solidFill>
              </a:rPr>
              <a:t>Bit Rate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&lt; </a:t>
            </a:r>
            <a:r>
              <a:rPr lang="en-US" b="1" dirty="0">
                <a:solidFill>
                  <a:srgbClr val="00B050"/>
                </a:solidFill>
              </a:rPr>
              <a:t>20 Mbps </a:t>
            </a:r>
          </a:p>
          <a:p>
            <a:pPr marL="585787" lvl="2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00B0F0"/>
                </a:solidFill>
              </a:rPr>
              <a:t>Delay Spread  = 200 ns</a:t>
            </a:r>
            <a:endParaRPr lang="en-US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4036" y="2063710"/>
                <a:ext cx="639790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kern="0" dirty="0" smtClean="0">
                    <a:solidFill>
                      <a:srgbClr val="00B0F0"/>
                    </a:solidFill>
                  </a:rPr>
                  <a:t>(1)   Guard Time = </a:t>
                </a:r>
                <a:r>
                  <a:rPr lang="en-US" b="1" kern="0" dirty="0" err="1" smtClean="0">
                    <a:solidFill>
                      <a:srgbClr val="00B0F0"/>
                    </a:solidFill>
                  </a:rPr>
                  <a:t>Tg</a:t>
                </a:r>
                <a:r>
                  <a:rPr lang="en-US" b="1" kern="0" dirty="0" smtClean="0">
                    <a:solidFill>
                      <a:srgbClr val="00B0F0"/>
                    </a:solidFill>
                  </a:rPr>
                  <a:t> = 4 * delay spread = 800 ns = 0.8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IN" dirty="0"/>
              </a:p>
              <a:p>
                <a:r>
                  <a:rPr lang="en-US" b="1" kern="0" dirty="0" smtClean="0">
                    <a:solidFill>
                      <a:srgbClr val="00B0F0"/>
                    </a:solidFill>
                  </a:rPr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36" y="2063710"/>
                <a:ext cx="6397905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762" t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85747" y="2450068"/>
                <a:ext cx="6556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 (2)   Total Symbol Duration =</a:t>
                </a:r>
                <a:r>
                  <a:rPr lang="en-US" b="1" dirty="0" err="1" smtClean="0">
                    <a:solidFill>
                      <a:srgbClr val="FF0000"/>
                    </a:solidFill>
                  </a:rPr>
                  <a:t>Ts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 = 6 * Guard time = 4.8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7" y="2450068"/>
                <a:ext cx="655602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621383" y="3542507"/>
            <a:ext cx="27190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SNR loss should be less than 1 dB</a:t>
            </a:r>
            <a:endParaRPr lang="en-IN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95947" y="2895600"/>
                <a:ext cx="62889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kern="0" dirty="0">
                    <a:solidFill>
                      <a:srgbClr val="00B0F0"/>
                    </a:solidFill>
                  </a:rPr>
                  <a:t> (3)   </a:t>
                </a:r>
                <a:r>
                  <a:rPr lang="en-US" b="1" kern="0" dirty="0" smtClean="0">
                    <a:solidFill>
                      <a:srgbClr val="00B0F0"/>
                    </a:solidFill>
                  </a:rPr>
                  <a:t>Useful Symbol </a:t>
                </a:r>
                <a:r>
                  <a:rPr lang="en-US" b="1" kern="0" dirty="0">
                    <a:solidFill>
                      <a:srgbClr val="00B0F0"/>
                    </a:solidFill>
                  </a:rPr>
                  <a:t>Duration =</a:t>
                </a:r>
                <a:r>
                  <a:rPr lang="en-US" b="1" kern="0" dirty="0" err="1" smtClean="0">
                    <a:solidFill>
                      <a:srgbClr val="00B0F0"/>
                    </a:solidFill>
                  </a:rPr>
                  <a:t>Tu</a:t>
                </a:r>
                <a:r>
                  <a:rPr lang="en-US" b="1" kern="0" dirty="0" smtClean="0">
                    <a:solidFill>
                      <a:srgbClr val="00B0F0"/>
                    </a:solidFill>
                  </a:rPr>
                  <a:t> = </a:t>
                </a:r>
                <a:r>
                  <a:rPr lang="en-US" b="1" kern="0" dirty="0" err="1" smtClean="0">
                    <a:solidFill>
                      <a:srgbClr val="00B0F0"/>
                    </a:solidFill>
                  </a:rPr>
                  <a:t>Ts-Tg</a:t>
                </a:r>
                <a:r>
                  <a:rPr lang="en-US" b="1" kern="0" dirty="0" smtClean="0">
                    <a:solidFill>
                      <a:srgbClr val="00B0F0"/>
                    </a:solidFill>
                  </a:rPr>
                  <a:t>= (4.8 – 0.8 )</a:t>
                </a:r>
                <a14:m>
                  <m:oMath xmlns:m="http://schemas.openxmlformats.org/officeDocument/2006/math">
                    <m:r>
                      <a:rPr lang="en-US" b="1" kern="0">
                        <a:solidFill>
                          <a:srgbClr val="00B0F0"/>
                        </a:solidFill>
                        <a:latin typeface="Cambria Math"/>
                      </a:rPr>
                      <m:t>𝝁</m:t>
                    </m:r>
                    <m:r>
                      <a:rPr lang="en-US" b="1" kern="0">
                        <a:solidFill>
                          <a:srgbClr val="00B0F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IN" b="1" kern="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47" y="2895600"/>
                <a:ext cx="628890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942331" y="3450174"/>
            <a:ext cx="4006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Calculation of SNR Loss due to CP</a:t>
            </a:r>
            <a:endParaRPr lang="en-IN" b="1" dirty="0"/>
          </a:p>
        </p:txBody>
      </p:sp>
      <p:sp>
        <p:nvSpPr>
          <p:cNvPr id="15" name="Rectangle 14"/>
          <p:cNvSpPr/>
          <p:nvPr/>
        </p:nvSpPr>
        <p:spPr>
          <a:xfrm>
            <a:off x="317236" y="4592952"/>
            <a:ext cx="3865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(4) The SNR loss in decibels (dB)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989831" y="3886200"/>
                <a:ext cx="1905000" cy="525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dirty="0" smtClean="0"/>
                  <a:t>SNR Loss=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𝒔</m:t>
                            </m:r>
                          </m:sub>
                        </m:sSub>
                      </m:den>
                    </m:f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831" y="3886200"/>
                <a:ext cx="1905000" cy="525208"/>
              </a:xfrm>
              <a:prstGeom prst="rect">
                <a:avLst/>
              </a:prstGeom>
              <a:blipFill rotWithShape="1">
                <a:blip r:embed="rId5"/>
                <a:stretch>
                  <a:fillRect l="-2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951123" y="4516460"/>
                <a:ext cx="5067450" cy="5339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dirty="0" smtClean="0"/>
                  <a:t> =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10 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log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10 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IN" b="1" dirty="0" smtClean="0"/>
                  <a:t> = 10 * log10(4.8/4) = 0.79 dB</a:t>
                </a:r>
                <a:endParaRPr lang="en-IN" b="1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123" y="4516460"/>
                <a:ext cx="5067450" cy="53392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87482" y="5257800"/>
                <a:ext cx="5453801" cy="6230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b="1" kern="0" dirty="0" smtClean="0">
                    <a:solidFill>
                      <a:srgbClr val="00B050"/>
                    </a:solidFill>
                  </a:rPr>
                  <a:t>(5)   Sub-carrier Spacing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0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𝐓</m:t>
                            </m:r>
                          </m:e>
                          <m:sub>
                            <m:r>
                              <a:rPr lang="en-US" sz="2200" b="1" i="0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𝐮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200" b="1" dirty="0" smtClean="0">
                    <a:solidFill>
                      <a:srgbClr val="00B050"/>
                    </a:solidFill>
                  </a:rPr>
                  <a:t> =  250 kHz</a:t>
                </a:r>
                <a:endParaRPr lang="en-IN" sz="2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82" y="5257800"/>
                <a:ext cx="5453801" cy="623056"/>
              </a:xfrm>
              <a:prstGeom prst="rect">
                <a:avLst/>
              </a:prstGeom>
              <a:blipFill rotWithShape="1">
                <a:blip r:embed="rId7"/>
                <a:stretch>
                  <a:fillRect l="-1341" r="-4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17236" y="5897307"/>
            <a:ext cx="360547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kern="0" dirty="0" smtClean="0">
                <a:solidFill>
                  <a:srgbClr val="00B0F0"/>
                </a:solidFill>
              </a:rPr>
              <a:t>(6) Number of Sub-carrier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8977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5800" y="2971800"/>
            <a:ext cx="6910866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If 16-QAM is used with 1/2 code rate then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2 bits of information per QAM symbol per sub-carrier 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B050"/>
                </a:solidFill>
              </a:rPr>
              <a:t>This require </a:t>
            </a:r>
            <a:r>
              <a:rPr lang="en-US" b="1" dirty="0" smtClean="0">
                <a:solidFill>
                  <a:srgbClr val="FF0000"/>
                </a:solidFill>
              </a:rPr>
              <a:t>48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sub-carrie</a:t>
            </a:r>
            <a:r>
              <a:rPr lang="en-US" b="1" dirty="0" smtClean="0">
                <a:solidFill>
                  <a:srgbClr val="00B050"/>
                </a:solidFill>
              </a:rPr>
              <a:t>r to get </a:t>
            </a:r>
            <a:r>
              <a:rPr lang="en-US" b="1" dirty="0" smtClean="0">
                <a:solidFill>
                  <a:srgbClr val="FF0000"/>
                </a:solidFill>
              </a:rPr>
              <a:t>96 bits </a:t>
            </a:r>
            <a:r>
              <a:rPr lang="en-US" b="1" dirty="0" smtClean="0">
                <a:solidFill>
                  <a:srgbClr val="00B050"/>
                </a:solidFill>
              </a:rPr>
              <a:t>per OFDM symbol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018587" y="163919"/>
            <a:ext cx="32592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kern="0" dirty="0" smtClean="0">
                <a:solidFill>
                  <a:srgbClr val="00B0F0"/>
                </a:solidFill>
              </a:rPr>
              <a:t>Number of Sub-carrier</a:t>
            </a:r>
            <a:endParaRPr lang="en-IN" sz="2200" dirty="0"/>
          </a:p>
        </p:txBody>
      </p:sp>
      <p:sp>
        <p:nvSpPr>
          <p:cNvPr id="9" name="Rectangle 8"/>
          <p:cNvSpPr/>
          <p:nvPr/>
        </p:nvSpPr>
        <p:spPr>
          <a:xfrm>
            <a:off x="228600" y="907932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Number of bits per OFDM symbol required to achieve 20 Mbps date </a:t>
            </a:r>
            <a:r>
              <a:rPr lang="en-US" b="1" dirty="0" smtClean="0">
                <a:solidFill>
                  <a:srgbClr val="00B050"/>
                </a:solidFill>
              </a:rPr>
              <a:t>rate is obtained from following relationship:</a:t>
            </a:r>
            <a:endParaRPr lang="en-US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895600" y="1676400"/>
                <a:ext cx="3790205" cy="538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𝑵𝒐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𝒐𝒇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𝒃𝒊𝒕𝒔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𝒑𝒆𝒓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𝑶𝑭𝑫𝑴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𝒔𝒚𝒎𝒃𝒐𝒍</m:t>
                          </m:r>
                        </m:num>
                        <m:den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𝑻𝒐𝒕𝒂𝒍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𝑺𝒚𝒎𝒃𝒐𝒍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𝑫𝒖𝒓𝒂𝒕𝒊𝒐𝒏</m:t>
                          </m:r>
                        </m:den>
                      </m:f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𝒅𝒂𝒕𝒂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𝒓𝒂𝒕𝒆</m:t>
                      </m:r>
                    </m:oMath>
                  </m:oMathPara>
                </a14:m>
                <a:endParaRPr lang="en-US" sz="14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676400"/>
                <a:ext cx="3790205" cy="538802"/>
              </a:xfrm>
              <a:prstGeom prst="rect">
                <a:avLst/>
              </a:prstGeom>
              <a:blipFill rotWithShape="1">
                <a:blip r:embed="rId2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830986" y="2362200"/>
                <a:ext cx="5634427" cy="3125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𝑵𝒐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𝒐𝒇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𝒃𝒊𝒕𝒔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𝒑𝒆𝒓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𝑶𝑭𝑫𝑴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𝒔𝒚𝒎𝒃𝒐𝒍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𝟐𝟎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∗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𝟎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∗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𝟖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∗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𝟎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𝟗𝟔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𝒃𝒊𝒕𝒔</m:t>
                      </m:r>
                    </m:oMath>
                  </m:oMathPara>
                </a14:m>
                <a:endParaRPr lang="en-US" sz="1400" b="1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986" y="2362200"/>
                <a:ext cx="5634427" cy="312586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722290" y="4646711"/>
                <a:ext cx="570502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𝑵𝒐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𝒐𝒇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𝒔𝒖𝒃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𝒄𝒂𝒓𝒓𝒊𝒆𝒓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𝒄𝒐𝒅𝒆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𝒓𝒂𝒕𝒆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∗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𝑵𝒐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𝒐𝒇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𝒃𝒊𝒕𝒔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𝒑𝒆𝒓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𝑶𝑭𝑫𝑴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𝒔𝒚𝒎𝒃𝒐𝒍</m:t>
                      </m:r>
                    </m:oMath>
                  </m:oMathPara>
                </a14:m>
                <a:endParaRPr lang="en-US" sz="1400" b="1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290" y="4646711"/>
                <a:ext cx="5705023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99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843" y="1236689"/>
            <a:ext cx="3213045" cy="10230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71005" y="228600"/>
            <a:ext cx="28873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kern="0" dirty="0" smtClean="0">
                <a:solidFill>
                  <a:srgbClr val="00B0F0"/>
                </a:solidFill>
              </a:rPr>
              <a:t>Bandwidth of OFDM</a:t>
            </a:r>
            <a:endParaRPr lang="en-IN" sz="2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53" y="2667000"/>
            <a:ext cx="6238303" cy="4858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27" y="2362200"/>
            <a:ext cx="1299567" cy="8891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459" y="3152898"/>
            <a:ext cx="31908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0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42141" y="437875"/>
            <a:ext cx="7793840" cy="712173"/>
          </a:xfrm>
          <a:noFill/>
          <a:ln/>
        </p:spPr>
        <p:txBody>
          <a:bodyPr anchor="b"/>
          <a:lstStyle/>
          <a:p>
            <a:r>
              <a:rPr lang="en-US" altLang="en-US" b="1"/>
              <a:t>IEEE 802.11a Overview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201" y="2150057"/>
            <a:ext cx="7773067" cy="3845732"/>
          </a:xfrm>
          <a:noFill/>
          <a:ln/>
        </p:spPr>
        <p:txBody>
          <a:bodyPr/>
          <a:lstStyle/>
          <a:p>
            <a:r>
              <a:rPr lang="en-US" altLang="en-US" sz="2243"/>
              <a:t>Carrier frequency= 5 GHz</a:t>
            </a:r>
          </a:p>
          <a:p>
            <a:r>
              <a:rPr lang="en-US" altLang="en-US" sz="2243"/>
              <a:t>Total allotted bandwidth= 20 MHz x 10 = 200MHz</a:t>
            </a:r>
          </a:p>
          <a:p>
            <a:r>
              <a:rPr lang="en-US" altLang="en-US" sz="2243"/>
              <a:t>Size of the FFT= 64  </a:t>
            </a:r>
          </a:p>
          <a:p>
            <a:r>
              <a:rPr lang="en-US" altLang="en-US" sz="2243"/>
              <a:t>Number of data subcarriers= 48</a:t>
            </a:r>
          </a:p>
          <a:p>
            <a:r>
              <a:rPr lang="en-US" altLang="en-US" sz="2243"/>
              <a:t>Number of Pilot subcarriers= 4</a:t>
            </a:r>
          </a:p>
          <a:p>
            <a:r>
              <a:rPr lang="en-US" altLang="en-US" sz="2243"/>
              <a:t>FFT period= 3.2 µs </a:t>
            </a:r>
          </a:p>
          <a:p>
            <a:r>
              <a:rPr lang="en-US" altLang="en-US" sz="2243"/>
              <a:t>Channel bandwidth used= 64/3.2 µs =&gt; 20 MHz</a:t>
            </a:r>
          </a:p>
          <a:p>
            <a:endParaRPr lang="en-US" altLang="en-US" sz="2243"/>
          </a:p>
        </p:txBody>
      </p:sp>
    </p:spTree>
    <p:extLst>
      <p:ext uri="{BB962C8B-B14F-4D97-AF65-F5344CB8AC3E}">
        <p14:creationId xmlns:p14="http://schemas.microsoft.com/office/powerpoint/2010/main" val="29055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06533" y="332533"/>
            <a:ext cx="7771584" cy="1068259"/>
          </a:xfrm>
        </p:spPr>
        <p:txBody>
          <a:bodyPr/>
          <a:lstStyle/>
          <a:p>
            <a:r>
              <a:rPr lang="fr-FR" altLang="en-US"/>
              <a:t>Typical Configuration</a:t>
            </a:r>
          </a:p>
        </p:txBody>
      </p:sp>
      <p:sp>
        <p:nvSpPr>
          <p:cNvPr id="140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847" y="1881509"/>
            <a:ext cx="8178116" cy="3899145"/>
          </a:xfrm>
        </p:spPr>
        <p:txBody>
          <a:bodyPr/>
          <a:lstStyle/>
          <a:p>
            <a:r>
              <a:rPr lang="fr-FR" altLang="en-US" sz="2243"/>
              <a:t>52 subcarriers, 64 point FT/IFFT</a:t>
            </a:r>
          </a:p>
          <a:p>
            <a:r>
              <a:rPr lang="fr-FR" altLang="en-US" sz="2243"/>
              <a:t>Symbol time 4 µs</a:t>
            </a:r>
          </a:p>
          <a:p>
            <a:r>
              <a:rPr lang="fr-FR" altLang="en-US" sz="2243"/>
              <a:t>Guard time 800 ns</a:t>
            </a:r>
          </a:p>
          <a:p>
            <a:r>
              <a:rPr lang="fr-FR" altLang="en-US" sz="2243"/>
              <a:t>BPSK, QPSK, 16-QAM, 64-QAM</a:t>
            </a:r>
          </a:p>
          <a:p>
            <a:r>
              <a:rPr lang="fr-FR" altLang="en-US" sz="2243"/>
              <a:t>Coding rates 1/2,3/4,2/3</a:t>
            </a:r>
          </a:p>
          <a:p>
            <a:r>
              <a:rPr lang="fr-FR" altLang="en-US" sz="2243"/>
              <a:t>Bit rates 6,12,18,24,36,48,54 Mbps</a:t>
            </a:r>
          </a:p>
          <a:p>
            <a:r>
              <a:rPr lang="fr-FR" altLang="en-US" sz="2243"/>
              <a:t>Channel spacing 20 MHz</a:t>
            </a:r>
          </a:p>
          <a:p>
            <a:r>
              <a:rPr lang="fr-FR" altLang="en-US" sz="2243"/>
              <a:t>Tolerable delay spread about 250 ns at 24 Mbps</a:t>
            </a:r>
          </a:p>
        </p:txBody>
      </p:sp>
    </p:spTree>
    <p:extLst>
      <p:ext uri="{BB962C8B-B14F-4D97-AF65-F5344CB8AC3E}">
        <p14:creationId xmlns:p14="http://schemas.microsoft.com/office/powerpoint/2010/main" val="1558673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1190" y="228600"/>
            <a:ext cx="8541620" cy="685800"/>
          </a:xfrm>
          <a:noFill/>
          <a:ln/>
        </p:spPr>
        <p:txBody>
          <a:bodyPr anchor="b"/>
          <a:lstStyle/>
          <a:p>
            <a:r>
              <a:rPr lang="en-US" altLang="en-US" b="1" dirty="0"/>
              <a:t>Simulation work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106" y="1210267"/>
            <a:ext cx="7903632" cy="854607"/>
          </a:xfrm>
          <a:noFill/>
          <a:ln/>
        </p:spPr>
        <p:txBody>
          <a:bodyPr/>
          <a:lstStyle/>
          <a:p>
            <a:r>
              <a:rPr lang="en-US" altLang="en-US" sz="1869" dirty="0"/>
              <a:t>Transmitter of OFDM system which is based on IEEE 802.11 has been simulated</a:t>
            </a:r>
          </a:p>
        </p:txBody>
      </p:sp>
      <p:pic>
        <p:nvPicPr>
          <p:cNvPr id="138244" name="Picture 4" descr="qpsk 64 ofdm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035779"/>
            <a:ext cx="8842810" cy="4822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50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748</Words>
  <Application>Microsoft Office PowerPoint</Application>
  <PresentationFormat>On-screen Show (4:3)</PresentationFormat>
  <Paragraphs>137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</vt:lpstr>
      <vt:lpstr>Cambria Math</vt:lpstr>
      <vt:lpstr>Wingdings</vt:lpstr>
      <vt:lpstr>Default Design</vt:lpstr>
      <vt:lpstr>5G WIRELESS COMMUNICATION  (UEC 719) </vt:lpstr>
      <vt:lpstr>PowerPoint Presentation</vt:lpstr>
      <vt:lpstr>PowerPoint Presentation</vt:lpstr>
      <vt:lpstr>OFDM System Model  [S. Hara and R. Prasad (2003)]</vt:lpstr>
      <vt:lpstr>Delay Spread Values</vt:lpstr>
      <vt:lpstr>Delay Spread Values</vt:lpstr>
      <vt:lpstr>Selection of OFDM Parameter</vt:lpstr>
      <vt:lpstr>PowerPoint Presentation</vt:lpstr>
      <vt:lpstr>Steps to Decide the OFDM parameters</vt:lpstr>
      <vt:lpstr>Example</vt:lpstr>
      <vt:lpstr>PowerPoint Presentation</vt:lpstr>
      <vt:lpstr>PowerPoint Presentation</vt:lpstr>
      <vt:lpstr>IEEE 802.11a Overview</vt:lpstr>
      <vt:lpstr>Typical Configuration</vt:lpstr>
      <vt:lpstr>Simulation work</vt:lpstr>
    </vt:vector>
  </TitlesOfParts>
  <Company>jiet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Research</dc:title>
  <dc:creator>hemdutt.joshi</dc:creator>
  <cp:lastModifiedBy>ti</cp:lastModifiedBy>
  <cp:revision>328</cp:revision>
  <dcterms:created xsi:type="dcterms:W3CDTF">2007-08-08T07:13:51Z</dcterms:created>
  <dcterms:modified xsi:type="dcterms:W3CDTF">2025-09-02T11:25:39Z</dcterms:modified>
</cp:coreProperties>
</file>
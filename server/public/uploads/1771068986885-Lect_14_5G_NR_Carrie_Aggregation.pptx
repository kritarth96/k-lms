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475" r:id="rId2"/>
    <p:sldId id="476" r:id="rId3"/>
    <p:sldId id="477" r:id="rId4"/>
    <p:sldId id="531" r:id="rId5"/>
    <p:sldId id="625" r:id="rId6"/>
    <p:sldId id="626" r:id="rId7"/>
    <p:sldId id="627" r:id="rId8"/>
    <p:sldId id="624" r:id="rId9"/>
    <p:sldId id="532" r:id="rId10"/>
    <p:sldId id="533" r:id="rId11"/>
    <p:sldId id="534" r:id="rId12"/>
    <p:sldId id="535" r:id="rId13"/>
    <p:sldId id="536" r:id="rId14"/>
    <p:sldId id="537" r:id="rId15"/>
    <p:sldId id="538" r:id="rId16"/>
    <p:sldId id="539" r:id="rId17"/>
    <p:sldId id="540" r:id="rId18"/>
    <p:sldId id="541" r:id="rId19"/>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D3B2"/>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3" d="100"/>
          <a:sy n="63" d="100"/>
        </p:scale>
        <p:origin x="1380" y="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Arial" charset="0"/>
              </a:defRPr>
            </a:lvl1pPr>
          </a:lstStyle>
          <a:p>
            <a:pPr>
              <a:defRPr/>
            </a:pPr>
            <a:endParaRPr lang="en-US"/>
          </a:p>
        </p:txBody>
      </p:sp>
      <p:sp>
        <p:nvSpPr>
          <p:cNvPr id="3891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20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891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p>
        </p:txBody>
      </p:sp>
      <p:sp>
        <p:nvSpPr>
          <p:cNvPr id="3891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5ECA2C06-48EA-444B-B9BC-9DB7AAF658DE}" type="slidenum">
              <a:rPr lang="en-US" altLang="en-US"/>
              <a:pPr/>
              <a:t>‹#›</a:t>
            </a:fld>
            <a:endParaRPr lang="en-US" altLang="en-US"/>
          </a:p>
        </p:txBody>
      </p:sp>
    </p:spTree>
    <p:extLst>
      <p:ext uri="{BB962C8B-B14F-4D97-AF65-F5344CB8AC3E}">
        <p14:creationId xmlns:p14="http://schemas.microsoft.com/office/powerpoint/2010/main" val="38110598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9"/>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6C1B88AE-A3C3-4D8D-9F8A-519F4C44DA0F}" type="datetime1">
              <a:rPr lang="en-US"/>
              <a:pPr>
                <a:defRPr/>
              </a:pPr>
              <a:t>9/2/2025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6" name="Rectangle 6"/>
          <p:cNvSpPr>
            <a:spLocks noGrp="1" noChangeArrowheads="1"/>
          </p:cNvSpPr>
          <p:nvPr>
            <p:ph type="sldNum" sz="quarter" idx="12"/>
          </p:nvPr>
        </p:nvSpPr>
        <p:spPr>
          <a:ln/>
        </p:spPr>
        <p:txBody>
          <a:bodyPr/>
          <a:lstStyle>
            <a:lvl1pPr>
              <a:defRPr/>
            </a:lvl1pPr>
          </a:lstStyle>
          <a:p>
            <a:fld id="{9E616A62-86D7-437F-94CD-618077AE3B6F}" type="slidenum">
              <a:rPr lang="en-US" altLang="en-US"/>
              <a:pPr/>
              <a:t>‹#›</a:t>
            </a:fld>
            <a:endParaRPr lang="en-US" altLang="en-US"/>
          </a:p>
        </p:txBody>
      </p:sp>
    </p:spTree>
    <p:extLst>
      <p:ext uri="{BB962C8B-B14F-4D97-AF65-F5344CB8AC3E}">
        <p14:creationId xmlns:p14="http://schemas.microsoft.com/office/powerpoint/2010/main" val="3739194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1930E37C-F364-4050-AAD7-C22EEAF077E7}" type="datetime1">
              <a:rPr lang="en-US"/>
              <a:pPr>
                <a:defRPr/>
              </a:pPr>
              <a:t>9/2/2025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6" name="Rectangle 6"/>
          <p:cNvSpPr>
            <a:spLocks noGrp="1" noChangeArrowheads="1"/>
          </p:cNvSpPr>
          <p:nvPr>
            <p:ph type="sldNum" sz="quarter" idx="12"/>
          </p:nvPr>
        </p:nvSpPr>
        <p:spPr>
          <a:ln/>
        </p:spPr>
        <p:txBody>
          <a:bodyPr/>
          <a:lstStyle>
            <a:lvl1pPr>
              <a:defRPr/>
            </a:lvl1pPr>
          </a:lstStyle>
          <a:p>
            <a:fld id="{B7FCB056-FB42-45E8-8E76-4D14E449FAF4}" type="slidenum">
              <a:rPr lang="en-US" altLang="en-US"/>
              <a:pPr/>
              <a:t>‹#›</a:t>
            </a:fld>
            <a:endParaRPr lang="en-US" altLang="en-US"/>
          </a:p>
        </p:txBody>
      </p:sp>
    </p:spTree>
    <p:extLst>
      <p:ext uri="{BB962C8B-B14F-4D97-AF65-F5344CB8AC3E}">
        <p14:creationId xmlns:p14="http://schemas.microsoft.com/office/powerpoint/2010/main" val="2115650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3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22230CFC-E9C9-483B-8829-AE6C01B14053}" type="datetime1">
              <a:rPr lang="en-US"/>
              <a:pPr>
                <a:defRPr/>
              </a:pPr>
              <a:t>9/2/2025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6" name="Rectangle 6"/>
          <p:cNvSpPr>
            <a:spLocks noGrp="1" noChangeArrowheads="1"/>
          </p:cNvSpPr>
          <p:nvPr>
            <p:ph type="sldNum" sz="quarter" idx="12"/>
          </p:nvPr>
        </p:nvSpPr>
        <p:spPr>
          <a:ln/>
        </p:spPr>
        <p:txBody>
          <a:bodyPr/>
          <a:lstStyle>
            <a:lvl1pPr>
              <a:defRPr/>
            </a:lvl1pPr>
          </a:lstStyle>
          <a:p>
            <a:fld id="{79DB0094-847B-40FE-8075-AE7E1A86F6A1}" type="slidenum">
              <a:rPr lang="en-US" altLang="en-US"/>
              <a:pPr/>
              <a:t>‹#›</a:t>
            </a:fld>
            <a:endParaRPr lang="en-US" altLang="en-US"/>
          </a:p>
        </p:txBody>
      </p:sp>
    </p:spTree>
    <p:extLst>
      <p:ext uri="{BB962C8B-B14F-4D97-AF65-F5344CB8AC3E}">
        <p14:creationId xmlns:p14="http://schemas.microsoft.com/office/powerpoint/2010/main" val="2984733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4"/>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4"/>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fld id="{19A3F39A-5137-4B5F-ADB4-573C3237F1D6}" type="datetime1">
              <a:rPr lang="en-US"/>
              <a:pPr>
                <a:defRPr/>
              </a:pPr>
              <a:t>9/2/2025</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7" name="Rectangle 6"/>
          <p:cNvSpPr>
            <a:spLocks noGrp="1" noChangeArrowheads="1"/>
          </p:cNvSpPr>
          <p:nvPr>
            <p:ph type="sldNum" sz="quarter" idx="12"/>
          </p:nvPr>
        </p:nvSpPr>
        <p:spPr>
          <a:ln/>
        </p:spPr>
        <p:txBody>
          <a:bodyPr/>
          <a:lstStyle>
            <a:lvl1pPr>
              <a:defRPr/>
            </a:lvl1pPr>
          </a:lstStyle>
          <a:p>
            <a:fld id="{8FF267B8-7F74-423C-B4D2-FEA9FCA2EF1C}" type="slidenum">
              <a:rPr lang="en-US" altLang="en-US"/>
              <a:pPr/>
              <a:t>‹#›</a:t>
            </a:fld>
            <a:endParaRPr lang="en-US" altLang="en-US"/>
          </a:p>
        </p:txBody>
      </p:sp>
    </p:spTree>
    <p:extLst>
      <p:ext uri="{BB962C8B-B14F-4D97-AF65-F5344CB8AC3E}">
        <p14:creationId xmlns:p14="http://schemas.microsoft.com/office/powerpoint/2010/main" val="772745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fld id="{F99D9F2D-822C-444A-B2D8-1DA876E06AF1}" type="datetime1">
              <a:rPr lang="en-US"/>
              <a:pPr>
                <a:defRPr/>
              </a:pPr>
              <a:t>9/2/2025</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9" name="Rectangle 6"/>
          <p:cNvSpPr>
            <a:spLocks noGrp="1" noChangeArrowheads="1"/>
          </p:cNvSpPr>
          <p:nvPr>
            <p:ph type="sldNum" sz="quarter" idx="12"/>
          </p:nvPr>
        </p:nvSpPr>
        <p:spPr>
          <a:ln/>
        </p:spPr>
        <p:txBody>
          <a:bodyPr/>
          <a:lstStyle>
            <a:lvl1pPr>
              <a:defRPr/>
            </a:lvl1pPr>
          </a:lstStyle>
          <a:p>
            <a:fld id="{EAC0B7D7-301D-431B-9398-1CAA57139677}" type="slidenum">
              <a:rPr lang="en-US" altLang="en-US"/>
              <a:pPr/>
              <a:t>‹#›</a:t>
            </a:fld>
            <a:endParaRPr lang="en-US" altLang="en-US"/>
          </a:p>
        </p:txBody>
      </p:sp>
    </p:spTree>
    <p:extLst>
      <p:ext uri="{BB962C8B-B14F-4D97-AF65-F5344CB8AC3E}">
        <p14:creationId xmlns:p14="http://schemas.microsoft.com/office/powerpoint/2010/main" val="3277668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fld id="{4A47F092-CB28-406F-8F4D-A9CB9C6DDF6E}" type="datetime1">
              <a:rPr lang="en-US"/>
              <a:pPr>
                <a:defRPr/>
              </a:pPr>
              <a:t>9/2/2025</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5" name="Rectangle 6"/>
          <p:cNvSpPr>
            <a:spLocks noGrp="1" noChangeArrowheads="1"/>
          </p:cNvSpPr>
          <p:nvPr>
            <p:ph type="sldNum" sz="quarter" idx="12"/>
          </p:nvPr>
        </p:nvSpPr>
        <p:spPr>
          <a:ln/>
        </p:spPr>
        <p:txBody>
          <a:bodyPr/>
          <a:lstStyle>
            <a:lvl1pPr>
              <a:defRPr/>
            </a:lvl1pPr>
          </a:lstStyle>
          <a:p>
            <a:fld id="{1B99854B-65BC-43BE-A440-239932B51D95}" type="slidenum">
              <a:rPr lang="en-US" altLang="en-US"/>
              <a:pPr/>
              <a:t>‹#›</a:t>
            </a:fld>
            <a:endParaRPr lang="en-US" altLang="en-US"/>
          </a:p>
        </p:txBody>
      </p:sp>
    </p:spTree>
    <p:extLst>
      <p:ext uri="{BB962C8B-B14F-4D97-AF65-F5344CB8AC3E}">
        <p14:creationId xmlns:p14="http://schemas.microsoft.com/office/powerpoint/2010/main" val="1237025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89007E84-0DE2-4EBA-A409-4F43CD132524}" type="datetime1">
              <a:rPr lang="en-US"/>
              <a:pPr>
                <a:defRPr/>
              </a:pPr>
              <a:t>9/2/2025</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4" name="Rectangle 6"/>
          <p:cNvSpPr>
            <a:spLocks noGrp="1" noChangeArrowheads="1"/>
          </p:cNvSpPr>
          <p:nvPr>
            <p:ph type="sldNum" sz="quarter" idx="12"/>
          </p:nvPr>
        </p:nvSpPr>
        <p:spPr>
          <a:ln/>
        </p:spPr>
        <p:txBody>
          <a:bodyPr/>
          <a:lstStyle>
            <a:lvl1pPr>
              <a:defRPr/>
            </a:lvl1pPr>
          </a:lstStyle>
          <a:p>
            <a:fld id="{F31F4165-8E61-41BD-BC99-D27EFE7336C0}" type="slidenum">
              <a:rPr lang="en-US" altLang="en-US"/>
              <a:pPr/>
              <a:t>‹#›</a:t>
            </a:fld>
            <a:endParaRPr lang="en-US" altLang="en-US"/>
          </a:p>
        </p:txBody>
      </p:sp>
    </p:spTree>
    <p:extLst>
      <p:ext uri="{BB962C8B-B14F-4D97-AF65-F5344CB8AC3E}">
        <p14:creationId xmlns:p14="http://schemas.microsoft.com/office/powerpoint/2010/main" val="2001470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1500" b="1"/>
            </a:lvl1pPr>
          </a:lstStyle>
          <a:p>
            <a:r>
              <a:rPr lang="en-US" smtClean="0"/>
              <a:t>Click to edit Master title style</a:t>
            </a:r>
            <a:endParaRPr lang="en-US"/>
          </a:p>
        </p:txBody>
      </p:sp>
      <p:sp>
        <p:nvSpPr>
          <p:cNvPr id="3" name="Content Placeholder 2"/>
          <p:cNvSpPr>
            <a:spLocks noGrp="1"/>
          </p:cNvSpPr>
          <p:nvPr>
            <p:ph idx="1"/>
          </p:nvPr>
        </p:nvSpPr>
        <p:spPr>
          <a:xfrm>
            <a:off x="3575050" y="273054"/>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FC8E5DB6-A284-4473-8D52-2F93B221A663}" type="datetime1">
              <a:rPr lang="en-US"/>
              <a:pPr>
                <a:defRPr/>
              </a:pPr>
              <a:t>9/2/2025</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7" name="Rectangle 6"/>
          <p:cNvSpPr>
            <a:spLocks noGrp="1" noChangeArrowheads="1"/>
          </p:cNvSpPr>
          <p:nvPr>
            <p:ph type="sldNum" sz="quarter" idx="12"/>
          </p:nvPr>
        </p:nvSpPr>
        <p:spPr>
          <a:ln/>
        </p:spPr>
        <p:txBody>
          <a:bodyPr/>
          <a:lstStyle>
            <a:lvl1pPr>
              <a:defRPr/>
            </a:lvl1pPr>
          </a:lstStyle>
          <a:p>
            <a:fld id="{465AC913-5F39-4B24-BFD0-B77263A5C7A7}" type="slidenum">
              <a:rPr lang="en-US" altLang="en-US"/>
              <a:pPr/>
              <a:t>‹#›</a:t>
            </a:fld>
            <a:endParaRPr lang="en-US" altLang="en-US"/>
          </a:p>
        </p:txBody>
      </p:sp>
    </p:spTree>
    <p:extLst>
      <p:ext uri="{BB962C8B-B14F-4D97-AF65-F5344CB8AC3E}">
        <p14:creationId xmlns:p14="http://schemas.microsoft.com/office/powerpoint/2010/main" val="1173289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922AB68A-FDA8-4C6A-8D84-B7BB18575DE0}" type="datetime1">
              <a:rPr lang="en-US"/>
              <a:pPr>
                <a:defRPr/>
              </a:pPr>
              <a:t>9/2/2025</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7" name="Rectangle 6"/>
          <p:cNvSpPr>
            <a:spLocks noGrp="1" noChangeArrowheads="1"/>
          </p:cNvSpPr>
          <p:nvPr>
            <p:ph type="sldNum" sz="quarter" idx="12"/>
          </p:nvPr>
        </p:nvSpPr>
        <p:spPr>
          <a:ln/>
        </p:spPr>
        <p:txBody>
          <a:bodyPr/>
          <a:lstStyle>
            <a:lvl1pPr>
              <a:defRPr/>
            </a:lvl1pPr>
          </a:lstStyle>
          <a:p>
            <a:fld id="{9E063986-ACC6-45AD-BDD0-5F965E3788AA}" type="slidenum">
              <a:rPr lang="en-US" altLang="en-US"/>
              <a:pPr/>
              <a:t>‹#›</a:t>
            </a:fld>
            <a:endParaRPr lang="en-US" altLang="en-US"/>
          </a:p>
        </p:txBody>
      </p:sp>
    </p:spTree>
    <p:extLst>
      <p:ext uri="{BB962C8B-B14F-4D97-AF65-F5344CB8AC3E}">
        <p14:creationId xmlns:p14="http://schemas.microsoft.com/office/powerpoint/2010/main" val="2491451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2AD4280E-22ED-4EE1-B707-2A227E6C5DF4}" type="datetime1">
              <a:rPr lang="en-US"/>
              <a:pPr>
                <a:defRPr/>
              </a:pPr>
              <a:t>9/2/2025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6" name="Rectangle 6"/>
          <p:cNvSpPr>
            <a:spLocks noGrp="1" noChangeArrowheads="1"/>
          </p:cNvSpPr>
          <p:nvPr>
            <p:ph type="sldNum" sz="quarter" idx="12"/>
          </p:nvPr>
        </p:nvSpPr>
        <p:spPr>
          <a:ln/>
        </p:spPr>
        <p:txBody>
          <a:bodyPr/>
          <a:lstStyle>
            <a:lvl1pPr>
              <a:defRPr/>
            </a:lvl1pPr>
          </a:lstStyle>
          <a:p>
            <a:fld id="{4C7C7317-8101-4973-AC7E-BD1AD42ECD8E}" type="slidenum">
              <a:rPr lang="en-US" altLang="en-US"/>
              <a:pPr/>
              <a:t>‹#›</a:t>
            </a:fld>
            <a:endParaRPr lang="en-US" altLang="en-US"/>
          </a:p>
        </p:txBody>
      </p:sp>
    </p:spTree>
    <p:extLst>
      <p:ext uri="{BB962C8B-B14F-4D97-AF65-F5344CB8AC3E}">
        <p14:creationId xmlns:p14="http://schemas.microsoft.com/office/powerpoint/2010/main" val="2329808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2"/>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2"/>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DE5ACD89-3346-458A-A6CB-1C441E96DBEA}" type="datetime1">
              <a:rPr lang="en-US"/>
              <a:pPr>
                <a:defRPr/>
              </a:pPr>
              <a:t>9/2/2025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6" name="Rectangle 6"/>
          <p:cNvSpPr>
            <a:spLocks noGrp="1" noChangeArrowheads="1"/>
          </p:cNvSpPr>
          <p:nvPr>
            <p:ph type="sldNum" sz="quarter" idx="12"/>
          </p:nvPr>
        </p:nvSpPr>
        <p:spPr>
          <a:ln/>
        </p:spPr>
        <p:txBody>
          <a:bodyPr/>
          <a:lstStyle>
            <a:lvl1pPr>
              <a:defRPr/>
            </a:lvl1pPr>
          </a:lstStyle>
          <a:p>
            <a:fld id="{E98E295A-1F21-45D2-9B8C-DF51B8F8C321}" type="slidenum">
              <a:rPr lang="en-US" altLang="en-US"/>
              <a:pPr/>
              <a:t>‹#›</a:t>
            </a:fld>
            <a:endParaRPr lang="en-US" altLang="en-US"/>
          </a:p>
        </p:txBody>
      </p:sp>
    </p:spTree>
    <p:extLst>
      <p:ext uri="{BB962C8B-B14F-4D97-AF65-F5344CB8AC3E}">
        <p14:creationId xmlns:p14="http://schemas.microsoft.com/office/powerpoint/2010/main" val="27146748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600204"/>
            <a:ext cx="8229600" cy="4525963"/>
          </a:xfrm>
        </p:spPr>
        <p:txBody>
          <a:bodyPr/>
          <a:lstStyle/>
          <a:p>
            <a:pPr lvl="0"/>
            <a:endParaRPr lang="en-US" noProof="0" smtClean="0"/>
          </a:p>
        </p:txBody>
      </p:sp>
      <p:sp>
        <p:nvSpPr>
          <p:cNvPr id="4" name="Rectangle 4"/>
          <p:cNvSpPr>
            <a:spLocks noGrp="1" noChangeArrowheads="1"/>
          </p:cNvSpPr>
          <p:nvPr>
            <p:ph type="dt" sz="half" idx="10"/>
          </p:nvPr>
        </p:nvSpPr>
        <p:spPr>
          <a:ln/>
        </p:spPr>
        <p:txBody>
          <a:bodyPr/>
          <a:lstStyle>
            <a:lvl1pPr>
              <a:defRPr/>
            </a:lvl1pPr>
          </a:lstStyle>
          <a:p>
            <a:pPr>
              <a:defRPr/>
            </a:pPr>
            <a:fld id="{6B3C3EC6-FBA6-45B6-B3D5-58AC3D9E5AB4}" type="datetime1">
              <a:rPr lang="en-US"/>
              <a:pPr>
                <a:defRPr/>
              </a:pPr>
              <a:t>9/2/2025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6" name="Rectangle 6"/>
          <p:cNvSpPr>
            <a:spLocks noGrp="1" noChangeArrowheads="1"/>
          </p:cNvSpPr>
          <p:nvPr>
            <p:ph type="sldNum" sz="quarter" idx="12"/>
          </p:nvPr>
        </p:nvSpPr>
        <p:spPr>
          <a:ln/>
        </p:spPr>
        <p:txBody>
          <a:bodyPr/>
          <a:lstStyle>
            <a:lvl1pPr>
              <a:defRPr/>
            </a:lvl1pPr>
          </a:lstStyle>
          <a:p>
            <a:fld id="{4F6CEE9F-ABAF-4D64-B423-0B2F034D9054}" type="slidenum">
              <a:rPr lang="en-US" altLang="en-US"/>
              <a:pPr/>
              <a:t>‹#›</a:t>
            </a:fld>
            <a:endParaRPr lang="en-US" altLang="en-US"/>
          </a:p>
        </p:txBody>
      </p:sp>
    </p:spTree>
    <p:extLst>
      <p:ext uri="{BB962C8B-B14F-4D97-AF65-F5344CB8AC3E}">
        <p14:creationId xmlns:p14="http://schemas.microsoft.com/office/powerpoint/2010/main" val="29947353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050">
                <a:latin typeface="Arial" charset="0"/>
              </a:defRPr>
            </a:lvl1pPr>
          </a:lstStyle>
          <a:p>
            <a:pPr>
              <a:defRPr/>
            </a:pPr>
            <a:fld id="{97959B4A-5782-4BCA-8A5F-9502DE7283C4}" type="datetime1">
              <a:rPr lang="en-US"/>
              <a:pPr>
                <a:defRPr/>
              </a:pPr>
              <a:t>9/2/2025</a:t>
            </a:fld>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50">
                <a:latin typeface="Arial" charset="0"/>
              </a:defRPr>
            </a:lvl1pPr>
          </a:lstStyle>
          <a:p>
            <a:pPr>
              <a:defRPr/>
            </a:pPr>
            <a:r>
              <a:rPr lang="en-US"/>
              <a:t>Paper No – 50; Session No - 41</a:t>
            </a: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vl1pPr>
          </a:lstStyle>
          <a:p>
            <a:fld id="{6855D25F-EAF1-44F4-B045-AF33E30AA7E5}"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eaLnBrk="0" fontAlgn="base" hangingPunct="0">
        <a:spcBef>
          <a:spcPct val="0"/>
        </a:spcBef>
        <a:spcAft>
          <a:spcPct val="0"/>
        </a:spcAft>
        <a:defRPr sz="3300">
          <a:solidFill>
            <a:schemeClr val="tx2"/>
          </a:solidFill>
          <a:latin typeface="+mj-lt"/>
          <a:ea typeface="+mj-ea"/>
          <a:cs typeface="+mj-cs"/>
        </a:defRPr>
      </a:lvl1pPr>
      <a:lvl2pPr algn="ctr" rtl="0" eaLnBrk="0" fontAlgn="base" hangingPunct="0">
        <a:spcBef>
          <a:spcPct val="0"/>
        </a:spcBef>
        <a:spcAft>
          <a:spcPct val="0"/>
        </a:spcAft>
        <a:defRPr sz="3300">
          <a:solidFill>
            <a:schemeClr val="tx2"/>
          </a:solidFill>
          <a:latin typeface="Arial" charset="0"/>
        </a:defRPr>
      </a:lvl2pPr>
      <a:lvl3pPr algn="ctr" rtl="0" eaLnBrk="0" fontAlgn="base" hangingPunct="0">
        <a:spcBef>
          <a:spcPct val="0"/>
        </a:spcBef>
        <a:spcAft>
          <a:spcPct val="0"/>
        </a:spcAft>
        <a:defRPr sz="3300">
          <a:solidFill>
            <a:schemeClr val="tx2"/>
          </a:solidFill>
          <a:latin typeface="Arial" charset="0"/>
        </a:defRPr>
      </a:lvl3pPr>
      <a:lvl4pPr algn="ctr" rtl="0" eaLnBrk="0" fontAlgn="base" hangingPunct="0">
        <a:spcBef>
          <a:spcPct val="0"/>
        </a:spcBef>
        <a:spcAft>
          <a:spcPct val="0"/>
        </a:spcAft>
        <a:defRPr sz="3300">
          <a:solidFill>
            <a:schemeClr val="tx2"/>
          </a:solidFill>
          <a:latin typeface="Arial" charset="0"/>
        </a:defRPr>
      </a:lvl4pPr>
      <a:lvl5pPr algn="ctr" rtl="0" eaLnBrk="0" fontAlgn="base" hangingPunct="0">
        <a:spcBef>
          <a:spcPct val="0"/>
        </a:spcBef>
        <a:spcAft>
          <a:spcPct val="0"/>
        </a:spcAft>
        <a:defRPr sz="3300">
          <a:solidFill>
            <a:schemeClr val="tx2"/>
          </a:solidFill>
          <a:latin typeface="Arial" charset="0"/>
        </a:defRPr>
      </a:lvl5pPr>
      <a:lvl6pPr marL="342900" algn="ctr" rtl="0" fontAlgn="base">
        <a:spcBef>
          <a:spcPct val="0"/>
        </a:spcBef>
        <a:spcAft>
          <a:spcPct val="0"/>
        </a:spcAft>
        <a:defRPr sz="3300">
          <a:solidFill>
            <a:schemeClr val="tx2"/>
          </a:solidFill>
          <a:latin typeface="Arial" charset="0"/>
        </a:defRPr>
      </a:lvl6pPr>
      <a:lvl7pPr marL="685800" algn="ctr" rtl="0" fontAlgn="base">
        <a:spcBef>
          <a:spcPct val="0"/>
        </a:spcBef>
        <a:spcAft>
          <a:spcPct val="0"/>
        </a:spcAft>
        <a:defRPr sz="3300">
          <a:solidFill>
            <a:schemeClr val="tx2"/>
          </a:solidFill>
          <a:latin typeface="Arial" charset="0"/>
        </a:defRPr>
      </a:lvl7pPr>
      <a:lvl8pPr marL="1028700" algn="ctr" rtl="0" fontAlgn="base">
        <a:spcBef>
          <a:spcPct val="0"/>
        </a:spcBef>
        <a:spcAft>
          <a:spcPct val="0"/>
        </a:spcAft>
        <a:defRPr sz="3300">
          <a:solidFill>
            <a:schemeClr val="tx2"/>
          </a:solidFill>
          <a:latin typeface="Arial" charset="0"/>
        </a:defRPr>
      </a:lvl8pPr>
      <a:lvl9pPr marL="1371600" algn="ctr" rtl="0" fontAlgn="base">
        <a:spcBef>
          <a:spcPct val="0"/>
        </a:spcBef>
        <a:spcAft>
          <a:spcPct val="0"/>
        </a:spcAft>
        <a:defRPr sz="3300">
          <a:solidFill>
            <a:schemeClr val="tx2"/>
          </a:solidFill>
          <a:latin typeface="Arial" charset="0"/>
        </a:defRPr>
      </a:lvl9pPr>
    </p:titleStyle>
    <p:bodyStyle>
      <a:lvl1pPr marL="257175" indent="-257175" algn="l" rtl="0" eaLnBrk="0" fontAlgn="base" hangingPunct="0">
        <a:spcBef>
          <a:spcPct val="20000"/>
        </a:spcBef>
        <a:spcAft>
          <a:spcPct val="0"/>
        </a:spcAft>
        <a:buChar char="•"/>
        <a:defRPr sz="2400">
          <a:solidFill>
            <a:schemeClr val="tx1"/>
          </a:solidFill>
          <a:latin typeface="+mn-lt"/>
          <a:ea typeface="+mn-ea"/>
          <a:cs typeface="+mn-cs"/>
        </a:defRPr>
      </a:lvl1pPr>
      <a:lvl2pPr marL="557213" indent="-214313" algn="l" rtl="0" eaLnBrk="0" fontAlgn="base" hangingPunct="0">
        <a:spcBef>
          <a:spcPct val="20000"/>
        </a:spcBef>
        <a:spcAft>
          <a:spcPct val="0"/>
        </a:spcAft>
        <a:buChar char="–"/>
        <a:defRPr sz="2100">
          <a:solidFill>
            <a:schemeClr val="tx1"/>
          </a:solidFill>
          <a:latin typeface="+mn-lt"/>
        </a:defRPr>
      </a:lvl2pPr>
      <a:lvl3pPr marL="857250" indent="-171450" algn="l" rtl="0" eaLnBrk="0" fontAlgn="base" hangingPunct="0">
        <a:spcBef>
          <a:spcPct val="20000"/>
        </a:spcBef>
        <a:spcAft>
          <a:spcPct val="0"/>
        </a:spcAft>
        <a:buChar char="•"/>
        <a:defRPr>
          <a:solidFill>
            <a:schemeClr val="tx1"/>
          </a:solidFill>
          <a:latin typeface="+mn-lt"/>
        </a:defRPr>
      </a:lvl3pPr>
      <a:lvl4pPr marL="1200150" indent="-171450" algn="l" rtl="0" eaLnBrk="0" fontAlgn="base" hangingPunct="0">
        <a:spcBef>
          <a:spcPct val="20000"/>
        </a:spcBef>
        <a:spcAft>
          <a:spcPct val="0"/>
        </a:spcAft>
        <a:buChar char="–"/>
        <a:defRPr sz="1500">
          <a:solidFill>
            <a:schemeClr val="tx1"/>
          </a:solidFill>
          <a:latin typeface="+mn-lt"/>
        </a:defRPr>
      </a:lvl4pPr>
      <a:lvl5pPr marL="1543050" indent="-171450" algn="l" rtl="0" eaLnBrk="0" fontAlgn="base" hangingPunct="0">
        <a:spcBef>
          <a:spcPct val="20000"/>
        </a:spcBef>
        <a:spcAft>
          <a:spcPct val="0"/>
        </a:spcAft>
        <a:buChar char="»"/>
        <a:defRPr sz="1500">
          <a:solidFill>
            <a:schemeClr val="tx1"/>
          </a:solidFill>
          <a:latin typeface="+mn-lt"/>
        </a:defRPr>
      </a:lvl5pPr>
      <a:lvl6pPr marL="1885950" indent="-171450" algn="l" rtl="0" fontAlgn="base">
        <a:spcBef>
          <a:spcPct val="20000"/>
        </a:spcBef>
        <a:spcAft>
          <a:spcPct val="0"/>
        </a:spcAft>
        <a:buChar char="»"/>
        <a:defRPr sz="1500">
          <a:solidFill>
            <a:schemeClr val="tx1"/>
          </a:solidFill>
          <a:latin typeface="+mn-lt"/>
        </a:defRPr>
      </a:lvl6pPr>
      <a:lvl7pPr marL="2228850" indent="-171450" algn="l" rtl="0" fontAlgn="base">
        <a:spcBef>
          <a:spcPct val="20000"/>
        </a:spcBef>
        <a:spcAft>
          <a:spcPct val="0"/>
        </a:spcAft>
        <a:buChar char="»"/>
        <a:defRPr sz="1500">
          <a:solidFill>
            <a:schemeClr val="tx1"/>
          </a:solidFill>
          <a:latin typeface="+mn-lt"/>
        </a:defRPr>
      </a:lvl7pPr>
      <a:lvl8pPr marL="2571750" indent="-171450" algn="l" rtl="0" fontAlgn="base">
        <a:spcBef>
          <a:spcPct val="20000"/>
        </a:spcBef>
        <a:spcAft>
          <a:spcPct val="0"/>
        </a:spcAft>
        <a:buChar char="»"/>
        <a:defRPr sz="1500">
          <a:solidFill>
            <a:schemeClr val="tx1"/>
          </a:solidFill>
          <a:latin typeface="+mn-lt"/>
        </a:defRPr>
      </a:lvl8pPr>
      <a:lvl9pPr marL="2914650" indent="-171450" algn="l" rtl="0" fontAlgn="base">
        <a:spcBef>
          <a:spcPct val="20000"/>
        </a:spcBef>
        <a:spcAft>
          <a:spcPct val="0"/>
        </a:spcAft>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hyperlink" Target="http://www.3gpp.org/technologies/keywords-acronyms/101-carrier-aggregation-explained" TargetMode="External"/><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9.jpg"/><Relationship Id="rId4" Type="http://schemas.openxmlformats.org/officeDocument/2006/relationships/image" Target="../media/image8.jpg"/></Relationships>
</file>

<file path=ppt/slides/_rels/slide1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2.jpg"/><Relationship Id="rId4" Type="http://schemas.openxmlformats.org/officeDocument/2006/relationships/image" Target="../media/image11.png"/><Relationship Id="rId9"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23.jp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7.jpg"/><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jp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8" Type="http://schemas.openxmlformats.org/officeDocument/2006/relationships/image" Target="../media/image39.jpg"/><Relationship Id="rId3" Type="http://schemas.openxmlformats.org/officeDocument/2006/relationships/image" Target="../media/image34.png"/><Relationship Id="rId7" Type="http://schemas.openxmlformats.org/officeDocument/2006/relationships/image" Target="../media/image38.jp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37.jpg"/><Relationship Id="rId5" Type="http://schemas.openxmlformats.org/officeDocument/2006/relationships/image" Target="../media/image36.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Slide Number Placeholder 14"/>
          <p:cNvSpPr>
            <a:spLocks noGrp="1"/>
          </p:cNvSpPr>
          <p:nvPr>
            <p:ph type="sldNum" sz="quarter" idx="12"/>
          </p:nvPr>
        </p:nvSpPr>
        <p:spPr>
          <a:xfrm>
            <a:off x="6057900" y="5624513"/>
            <a:ext cx="1600200" cy="27463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charset="0"/>
              </a:defRPr>
            </a:lvl1pPr>
            <a:lvl2pPr marL="557213" indent="-214313">
              <a:spcBef>
                <a:spcPct val="20000"/>
              </a:spcBef>
              <a:buChar char="–"/>
              <a:defRPr sz="2100">
                <a:solidFill>
                  <a:schemeClr val="tx1"/>
                </a:solidFill>
                <a:latin typeface="Arial" charset="0"/>
              </a:defRPr>
            </a:lvl2pPr>
            <a:lvl3pPr marL="857250" indent="-171450">
              <a:spcBef>
                <a:spcPct val="20000"/>
              </a:spcBef>
              <a:buChar char="•"/>
              <a:defRPr>
                <a:solidFill>
                  <a:schemeClr val="tx1"/>
                </a:solidFill>
                <a:latin typeface="Arial" charset="0"/>
              </a:defRPr>
            </a:lvl3pPr>
            <a:lvl4pPr marL="1200150" indent="-171450">
              <a:spcBef>
                <a:spcPct val="20000"/>
              </a:spcBef>
              <a:buChar char="–"/>
              <a:defRPr sz="1500">
                <a:solidFill>
                  <a:schemeClr val="tx1"/>
                </a:solidFill>
                <a:latin typeface="Arial" charset="0"/>
              </a:defRPr>
            </a:lvl4pPr>
            <a:lvl5pPr marL="1543050" indent="-171450">
              <a:spcBef>
                <a:spcPct val="20000"/>
              </a:spcBef>
              <a:buChar char="»"/>
              <a:defRPr sz="1500">
                <a:solidFill>
                  <a:schemeClr val="tx1"/>
                </a:solidFill>
                <a:latin typeface="Arial" charset="0"/>
              </a:defRPr>
            </a:lvl5pPr>
            <a:lvl6pPr marL="2000250" indent="-171450" eaLnBrk="0" fontAlgn="base" hangingPunct="0">
              <a:spcBef>
                <a:spcPct val="20000"/>
              </a:spcBef>
              <a:spcAft>
                <a:spcPct val="0"/>
              </a:spcAft>
              <a:buChar char="»"/>
              <a:defRPr sz="1500">
                <a:solidFill>
                  <a:schemeClr val="tx1"/>
                </a:solidFill>
                <a:latin typeface="Arial" charset="0"/>
              </a:defRPr>
            </a:lvl6pPr>
            <a:lvl7pPr marL="2457450" indent="-171450" eaLnBrk="0" fontAlgn="base" hangingPunct="0">
              <a:spcBef>
                <a:spcPct val="20000"/>
              </a:spcBef>
              <a:spcAft>
                <a:spcPct val="0"/>
              </a:spcAft>
              <a:buChar char="»"/>
              <a:defRPr sz="1500">
                <a:solidFill>
                  <a:schemeClr val="tx1"/>
                </a:solidFill>
                <a:latin typeface="Arial" charset="0"/>
              </a:defRPr>
            </a:lvl7pPr>
            <a:lvl8pPr marL="2914650" indent="-171450" eaLnBrk="0" fontAlgn="base" hangingPunct="0">
              <a:spcBef>
                <a:spcPct val="20000"/>
              </a:spcBef>
              <a:spcAft>
                <a:spcPct val="0"/>
              </a:spcAft>
              <a:buChar char="»"/>
              <a:defRPr sz="1500">
                <a:solidFill>
                  <a:schemeClr val="tx1"/>
                </a:solidFill>
                <a:latin typeface="Arial" charset="0"/>
              </a:defRPr>
            </a:lvl8pPr>
            <a:lvl9pPr marL="3371850" indent="-171450" eaLnBrk="0" fontAlgn="base" hangingPunct="0">
              <a:spcBef>
                <a:spcPct val="20000"/>
              </a:spcBef>
              <a:spcAft>
                <a:spcPct val="0"/>
              </a:spcAft>
              <a:buChar char="»"/>
              <a:defRPr sz="1500">
                <a:solidFill>
                  <a:schemeClr val="tx1"/>
                </a:solidFill>
                <a:latin typeface="Arial" charset="0"/>
              </a:defRPr>
            </a:lvl9pPr>
          </a:lstStyle>
          <a:p>
            <a:pPr>
              <a:spcBef>
                <a:spcPct val="0"/>
              </a:spcBef>
              <a:buFontTx/>
              <a:buNone/>
            </a:pPr>
            <a:fld id="{84DA2316-809F-4484-8675-B1A5134D60BD}" type="slidenum">
              <a:rPr lang="en-US" altLang="en-US" sz="1000"/>
              <a:pPr>
                <a:spcBef>
                  <a:spcPct val="0"/>
                </a:spcBef>
                <a:buFontTx/>
                <a:buNone/>
              </a:pPr>
              <a:t>1</a:t>
            </a:fld>
            <a:endParaRPr lang="en-US" altLang="en-US" sz="1000"/>
          </a:p>
        </p:txBody>
      </p:sp>
      <p:sp>
        <p:nvSpPr>
          <p:cNvPr id="6" name="Title 1"/>
          <p:cNvSpPr>
            <a:spLocks noGrp="1"/>
          </p:cNvSpPr>
          <p:nvPr>
            <p:ph type="ctrTitle"/>
          </p:nvPr>
        </p:nvSpPr>
        <p:spPr>
          <a:xfrm>
            <a:off x="-5080" y="838200"/>
            <a:ext cx="8463280" cy="1470025"/>
          </a:xfrm>
        </p:spPr>
        <p:txBody>
          <a:bodyPr>
            <a:normAutofit/>
          </a:bodyPr>
          <a:lstStyle/>
          <a:p>
            <a:pPr algn="ctr"/>
            <a:r>
              <a:rPr lang="en-US" b="1" dirty="0">
                <a:solidFill>
                  <a:srgbClr val="000099"/>
                </a:solidFill>
                <a:latin typeface="Cambria" pitchFamily="18" charset="0"/>
                <a:ea typeface="Cambria" pitchFamily="18" charset="0"/>
              </a:rPr>
              <a:t>5G WIRELESS </a:t>
            </a:r>
            <a:r>
              <a:rPr lang="en-US" b="1" dirty="0" smtClean="0">
                <a:solidFill>
                  <a:srgbClr val="000099"/>
                </a:solidFill>
                <a:latin typeface="Cambria" pitchFamily="18" charset="0"/>
                <a:ea typeface="Cambria" pitchFamily="18" charset="0"/>
              </a:rPr>
              <a:t>COMMUNICATION </a:t>
            </a:r>
            <a:br>
              <a:rPr lang="en-US" b="1" dirty="0" smtClean="0">
                <a:solidFill>
                  <a:srgbClr val="000099"/>
                </a:solidFill>
                <a:latin typeface="Cambria" pitchFamily="18" charset="0"/>
                <a:ea typeface="Cambria" pitchFamily="18" charset="0"/>
              </a:rPr>
            </a:br>
            <a:r>
              <a:rPr lang="en-US" b="1" dirty="0" smtClean="0">
                <a:solidFill>
                  <a:srgbClr val="000099"/>
                </a:solidFill>
                <a:latin typeface="Cambria" pitchFamily="18" charset="0"/>
                <a:ea typeface="Cambria" pitchFamily="18" charset="0"/>
              </a:rPr>
              <a:t>(UEC 719) </a:t>
            </a:r>
            <a:endParaRPr lang="en-US" b="1" dirty="0">
              <a:solidFill>
                <a:srgbClr val="000099"/>
              </a:solidFill>
              <a:latin typeface="Cambria" pitchFamily="18" charset="0"/>
              <a:ea typeface="Cambria" pitchFamily="18" charset="0"/>
            </a:endParaRPr>
          </a:p>
        </p:txBody>
      </p:sp>
      <p:sp>
        <p:nvSpPr>
          <p:cNvPr id="7" name="Slide Number Placeholder 14"/>
          <p:cNvSpPr txBox="1">
            <a:spLocks/>
          </p:cNvSpPr>
          <p:nvPr/>
        </p:nvSpPr>
        <p:spPr bwMode="auto">
          <a:xfrm>
            <a:off x="7818120" y="6454775"/>
            <a:ext cx="2844800" cy="2769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000"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fld id="{4846ABB7-46DB-4F16-AB8B-BFEDDDD52D19}" type="slidenum">
              <a:rPr lang="en-US" smtClean="0">
                <a:latin typeface="Cambria" pitchFamily="18" charset="0"/>
                <a:ea typeface="Cambria" pitchFamily="18" charset="0"/>
              </a:rPr>
              <a:pPr/>
              <a:t>1</a:t>
            </a:fld>
            <a:endParaRPr lang="en-US">
              <a:latin typeface="Cambria" pitchFamily="18" charset="0"/>
              <a:ea typeface="Cambria" pitchFamily="18" charset="0"/>
            </a:endParaRPr>
          </a:p>
        </p:txBody>
      </p:sp>
      <p:sp>
        <p:nvSpPr>
          <p:cNvPr id="8" name="TextBox 7"/>
          <p:cNvSpPr txBox="1"/>
          <p:nvPr/>
        </p:nvSpPr>
        <p:spPr>
          <a:xfrm>
            <a:off x="223520" y="4746614"/>
            <a:ext cx="3342583" cy="1384995"/>
          </a:xfrm>
          <a:prstGeom prst="rect">
            <a:avLst/>
          </a:prstGeom>
          <a:noFill/>
        </p:spPr>
        <p:txBody>
          <a:bodyPr wrap="none" rtlCol="0">
            <a:spAutoFit/>
          </a:bodyPr>
          <a:lstStyle/>
          <a:p>
            <a:pPr algn="ctr"/>
            <a:r>
              <a:rPr lang="en-US" sz="2800" dirty="0" smtClean="0">
                <a:solidFill>
                  <a:srgbClr val="002060"/>
                </a:solidFill>
                <a:latin typeface="Cambria" pitchFamily="18" charset="0"/>
                <a:ea typeface="Cambria" pitchFamily="18" charset="0"/>
                <a:cs typeface="+mj-cs"/>
              </a:rPr>
              <a:t>Dr</a:t>
            </a:r>
            <a:r>
              <a:rPr lang="en-US" sz="2800" dirty="0">
                <a:solidFill>
                  <a:srgbClr val="002060"/>
                </a:solidFill>
                <a:latin typeface="Cambria" pitchFamily="18" charset="0"/>
                <a:ea typeface="Cambria" pitchFamily="18" charset="0"/>
                <a:cs typeface="+mj-cs"/>
              </a:rPr>
              <a:t>. </a:t>
            </a:r>
            <a:r>
              <a:rPr lang="en-US" sz="2800" dirty="0" err="1" smtClean="0">
                <a:solidFill>
                  <a:srgbClr val="002060"/>
                </a:solidFill>
                <a:latin typeface="Cambria" pitchFamily="18" charset="0"/>
                <a:ea typeface="Cambria" pitchFamily="18" charset="0"/>
                <a:cs typeface="+mj-cs"/>
              </a:rPr>
              <a:t>Amit</a:t>
            </a:r>
            <a:r>
              <a:rPr lang="en-US" sz="2800" dirty="0" smtClean="0">
                <a:solidFill>
                  <a:srgbClr val="002060"/>
                </a:solidFill>
                <a:latin typeface="Cambria" pitchFamily="18" charset="0"/>
                <a:ea typeface="Cambria" pitchFamily="18" charset="0"/>
                <a:cs typeface="+mj-cs"/>
              </a:rPr>
              <a:t> Mishra</a:t>
            </a:r>
            <a:endParaRPr lang="en-US" sz="2800" dirty="0">
              <a:solidFill>
                <a:srgbClr val="002060"/>
              </a:solidFill>
              <a:latin typeface="Cambria" pitchFamily="18" charset="0"/>
              <a:ea typeface="Cambria" pitchFamily="18" charset="0"/>
              <a:cs typeface="+mj-cs"/>
            </a:endParaRPr>
          </a:p>
          <a:p>
            <a:pPr algn="ctr"/>
            <a:r>
              <a:rPr lang="en-US" sz="2800" dirty="0">
                <a:solidFill>
                  <a:srgbClr val="002060"/>
                </a:solidFill>
                <a:latin typeface="Cambria" pitchFamily="18" charset="0"/>
                <a:ea typeface="Cambria" pitchFamily="18" charset="0"/>
                <a:cs typeface="+mj-cs"/>
              </a:rPr>
              <a:t>Associate Professor, </a:t>
            </a:r>
          </a:p>
          <a:p>
            <a:pPr algn="ctr"/>
            <a:r>
              <a:rPr lang="en-US" sz="2800" dirty="0">
                <a:solidFill>
                  <a:srgbClr val="002060"/>
                </a:solidFill>
                <a:latin typeface="Cambria" pitchFamily="18" charset="0"/>
                <a:ea typeface="Cambria" pitchFamily="18" charset="0"/>
                <a:cs typeface="+mj-cs"/>
              </a:rPr>
              <a:t>TIET, Patiala</a:t>
            </a:r>
            <a:endParaRPr lang="en-IN" sz="2800" dirty="0">
              <a:solidFill>
                <a:srgbClr val="002060"/>
              </a:solidFill>
              <a:latin typeface="Cambria" pitchFamily="18" charset="0"/>
              <a:ea typeface="Cambria" pitchFamily="18" charset="0"/>
              <a:cs typeface="+mj-cs"/>
            </a:endParaRPr>
          </a:p>
        </p:txBody>
      </p:sp>
      <p:sp>
        <p:nvSpPr>
          <p:cNvPr id="9" name="TextBox 8"/>
          <p:cNvSpPr txBox="1"/>
          <p:nvPr/>
        </p:nvSpPr>
        <p:spPr>
          <a:xfrm>
            <a:off x="5638800" y="4746613"/>
            <a:ext cx="3342583" cy="1384995"/>
          </a:xfrm>
          <a:prstGeom prst="rect">
            <a:avLst/>
          </a:prstGeom>
          <a:noFill/>
        </p:spPr>
        <p:txBody>
          <a:bodyPr wrap="none" rtlCol="0">
            <a:spAutoFit/>
          </a:bodyPr>
          <a:lstStyle/>
          <a:p>
            <a:pPr algn="ctr"/>
            <a:r>
              <a:rPr lang="en-US" sz="2800" dirty="0" smtClean="0">
                <a:solidFill>
                  <a:srgbClr val="002060"/>
                </a:solidFill>
                <a:latin typeface="Cambria" pitchFamily="18" charset="0"/>
                <a:ea typeface="Cambria" pitchFamily="18" charset="0"/>
                <a:cs typeface="+mj-cs"/>
              </a:rPr>
              <a:t>Dr</a:t>
            </a:r>
            <a:r>
              <a:rPr lang="en-US" sz="2800" dirty="0">
                <a:solidFill>
                  <a:srgbClr val="002060"/>
                </a:solidFill>
                <a:latin typeface="Cambria" pitchFamily="18" charset="0"/>
                <a:ea typeface="Cambria" pitchFamily="18" charset="0"/>
                <a:cs typeface="+mj-cs"/>
              </a:rPr>
              <a:t>. </a:t>
            </a:r>
            <a:r>
              <a:rPr lang="en-US" sz="2800" dirty="0" err="1" smtClean="0">
                <a:solidFill>
                  <a:srgbClr val="002060"/>
                </a:solidFill>
                <a:latin typeface="Cambria" pitchFamily="18" charset="0"/>
                <a:ea typeface="Cambria" pitchFamily="18" charset="0"/>
                <a:cs typeface="+mj-cs"/>
              </a:rPr>
              <a:t>Surbhi</a:t>
            </a:r>
            <a:r>
              <a:rPr lang="en-US" sz="2800" dirty="0" smtClean="0">
                <a:solidFill>
                  <a:srgbClr val="002060"/>
                </a:solidFill>
                <a:latin typeface="Cambria" pitchFamily="18" charset="0"/>
                <a:ea typeface="Cambria" pitchFamily="18" charset="0"/>
                <a:cs typeface="+mj-cs"/>
              </a:rPr>
              <a:t> Sharma</a:t>
            </a:r>
            <a:endParaRPr lang="en-US" sz="2800" dirty="0">
              <a:solidFill>
                <a:srgbClr val="002060"/>
              </a:solidFill>
              <a:latin typeface="Cambria" pitchFamily="18" charset="0"/>
              <a:ea typeface="Cambria" pitchFamily="18" charset="0"/>
              <a:cs typeface="+mj-cs"/>
            </a:endParaRPr>
          </a:p>
          <a:p>
            <a:pPr algn="ctr"/>
            <a:r>
              <a:rPr lang="en-US" sz="2800" dirty="0">
                <a:solidFill>
                  <a:srgbClr val="002060"/>
                </a:solidFill>
                <a:latin typeface="Cambria" pitchFamily="18" charset="0"/>
                <a:ea typeface="Cambria" pitchFamily="18" charset="0"/>
                <a:cs typeface="+mj-cs"/>
              </a:rPr>
              <a:t>Associate Professor, </a:t>
            </a:r>
          </a:p>
          <a:p>
            <a:pPr algn="ctr"/>
            <a:r>
              <a:rPr lang="en-US" sz="2800" dirty="0">
                <a:solidFill>
                  <a:srgbClr val="002060"/>
                </a:solidFill>
                <a:latin typeface="Cambria" pitchFamily="18" charset="0"/>
                <a:ea typeface="Cambria" pitchFamily="18" charset="0"/>
                <a:cs typeface="+mj-cs"/>
              </a:rPr>
              <a:t>TIET, Patiala</a:t>
            </a:r>
            <a:endParaRPr lang="en-IN" sz="2800" dirty="0">
              <a:solidFill>
                <a:srgbClr val="002060"/>
              </a:solidFill>
              <a:latin typeface="Cambria" pitchFamily="18" charset="0"/>
              <a:ea typeface="Cambria" pitchFamily="18" charset="0"/>
              <a:cs typeface="+mj-c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857895" y="1752600"/>
            <a:ext cx="5029200" cy="1749425"/>
          </a:xfrm>
        </p:spPr>
        <p:txBody>
          <a:bodyPr>
            <a:normAutofit fontScale="70000" lnSpcReduction="20000"/>
          </a:bodyPr>
          <a:lstStyle/>
          <a:p>
            <a:pPr algn="ctr">
              <a:buFontTx/>
              <a:buNone/>
              <a:defRPr/>
            </a:pPr>
            <a:r>
              <a:rPr lang="en-US" sz="6000" dirty="0">
                <a:solidFill>
                  <a:srgbClr val="00B0F0"/>
                </a:solidFill>
              </a:rPr>
              <a:t>Lecture: </a:t>
            </a:r>
            <a:r>
              <a:rPr lang="en-US" sz="6000" dirty="0" smtClean="0">
                <a:solidFill>
                  <a:srgbClr val="00B0F0"/>
                </a:solidFill>
              </a:rPr>
              <a:t>14</a:t>
            </a:r>
            <a:endParaRPr lang="en-US" sz="6000" dirty="0">
              <a:solidFill>
                <a:srgbClr val="00B0F0"/>
              </a:solidFill>
            </a:endParaRPr>
          </a:p>
          <a:p>
            <a:pPr algn="ctr">
              <a:buFontTx/>
              <a:buNone/>
              <a:defRPr/>
            </a:pPr>
            <a:endParaRPr lang="en-US" sz="4950" dirty="0">
              <a:solidFill>
                <a:srgbClr val="C00000"/>
              </a:solidFill>
            </a:endParaRPr>
          </a:p>
          <a:p>
            <a:pPr algn="ctr">
              <a:buFontTx/>
              <a:buNone/>
              <a:defRPr/>
            </a:pPr>
            <a:r>
              <a:rPr lang="en-US" sz="5700" dirty="0" smtClean="0">
                <a:solidFill>
                  <a:srgbClr val="C00000"/>
                </a:solidFill>
              </a:rPr>
              <a:t>5G NR</a:t>
            </a:r>
            <a:endParaRPr lang="en-US" sz="5700" dirty="0">
              <a:solidFill>
                <a:srgbClr val="C00000"/>
              </a:solidFill>
            </a:endParaRPr>
          </a:p>
          <a:p>
            <a:pPr algn="ctr">
              <a:buFontTx/>
              <a:buNone/>
              <a:defRPr/>
            </a:pPr>
            <a:endParaRPr lang="en-US" sz="1725" dirty="0">
              <a:solidFill>
                <a:srgbClr val="C00000"/>
              </a:solidFill>
            </a:endParaRPr>
          </a:p>
        </p:txBody>
      </p:sp>
      <p:sp>
        <p:nvSpPr>
          <p:cNvPr id="3075" name="Slide Number Placeholder 14"/>
          <p:cNvSpPr>
            <a:spLocks noGrp="1"/>
          </p:cNvSpPr>
          <p:nvPr>
            <p:ph type="sldNum" sz="quarter" idx="12"/>
          </p:nvPr>
        </p:nvSpPr>
        <p:spPr>
          <a:xfrm>
            <a:off x="6057900" y="5624513"/>
            <a:ext cx="1600200" cy="27463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charset="0"/>
              </a:defRPr>
            </a:lvl1pPr>
            <a:lvl2pPr marL="557213" indent="-214313">
              <a:spcBef>
                <a:spcPct val="20000"/>
              </a:spcBef>
              <a:buChar char="–"/>
              <a:defRPr sz="2100">
                <a:solidFill>
                  <a:schemeClr val="tx1"/>
                </a:solidFill>
                <a:latin typeface="Arial" charset="0"/>
              </a:defRPr>
            </a:lvl2pPr>
            <a:lvl3pPr marL="857250" indent="-171450">
              <a:spcBef>
                <a:spcPct val="20000"/>
              </a:spcBef>
              <a:buChar char="•"/>
              <a:defRPr>
                <a:solidFill>
                  <a:schemeClr val="tx1"/>
                </a:solidFill>
                <a:latin typeface="Arial" charset="0"/>
              </a:defRPr>
            </a:lvl3pPr>
            <a:lvl4pPr marL="1200150" indent="-171450">
              <a:spcBef>
                <a:spcPct val="20000"/>
              </a:spcBef>
              <a:buChar char="–"/>
              <a:defRPr sz="1500">
                <a:solidFill>
                  <a:schemeClr val="tx1"/>
                </a:solidFill>
                <a:latin typeface="Arial" charset="0"/>
              </a:defRPr>
            </a:lvl4pPr>
            <a:lvl5pPr marL="1543050" indent="-171450">
              <a:spcBef>
                <a:spcPct val="20000"/>
              </a:spcBef>
              <a:buChar char="»"/>
              <a:defRPr sz="1500">
                <a:solidFill>
                  <a:schemeClr val="tx1"/>
                </a:solidFill>
                <a:latin typeface="Arial" charset="0"/>
              </a:defRPr>
            </a:lvl5pPr>
            <a:lvl6pPr marL="2000250" indent="-171450" eaLnBrk="0" fontAlgn="base" hangingPunct="0">
              <a:spcBef>
                <a:spcPct val="20000"/>
              </a:spcBef>
              <a:spcAft>
                <a:spcPct val="0"/>
              </a:spcAft>
              <a:buChar char="»"/>
              <a:defRPr sz="1500">
                <a:solidFill>
                  <a:schemeClr val="tx1"/>
                </a:solidFill>
                <a:latin typeface="Arial" charset="0"/>
              </a:defRPr>
            </a:lvl6pPr>
            <a:lvl7pPr marL="2457450" indent="-171450" eaLnBrk="0" fontAlgn="base" hangingPunct="0">
              <a:spcBef>
                <a:spcPct val="20000"/>
              </a:spcBef>
              <a:spcAft>
                <a:spcPct val="0"/>
              </a:spcAft>
              <a:buChar char="»"/>
              <a:defRPr sz="1500">
                <a:solidFill>
                  <a:schemeClr val="tx1"/>
                </a:solidFill>
                <a:latin typeface="Arial" charset="0"/>
              </a:defRPr>
            </a:lvl7pPr>
            <a:lvl8pPr marL="2914650" indent="-171450" eaLnBrk="0" fontAlgn="base" hangingPunct="0">
              <a:spcBef>
                <a:spcPct val="20000"/>
              </a:spcBef>
              <a:spcAft>
                <a:spcPct val="0"/>
              </a:spcAft>
              <a:buChar char="»"/>
              <a:defRPr sz="1500">
                <a:solidFill>
                  <a:schemeClr val="tx1"/>
                </a:solidFill>
                <a:latin typeface="Arial" charset="0"/>
              </a:defRPr>
            </a:lvl8pPr>
            <a:lvl9pPr marL="3371850" indent="-171450" eaLnBrk="0" fontAlgn="base" hangingPunct="0">
              <a:spcBef>
                <a:spcPct val="20000"/>
              </a:spcBef>
              <a:spcAft>
                <a:spcPct val="0"/>
              </a:spcAft>
              <a:buChar char="»"/>
              <a:defRPr sz="1500">
                <a:solidFill>
                  <a:schemeClr val="tx1"/>
                </a:solidFill>
                <a:latin typeface="Arial" charset="0"/>
              </a:defRPr>
            </a:lvl9pPr>
          </a:lstStyle>
          <a:p>
            <a:pPr>
              <a:spcBef>
                <a:spcPct val="0"/>
              </a:spcBef>
              <a:buFontTx/>
              <a:buNone/>
            </a:pPr>
            <a:fld id="{28270C2B-F570-482D-B7D8-379B0AD8AD3A}" type="slidenum">
              <a:rPr lang="en-US" altLang="en-US" sz="1000"/>
              <a:pPr>
                <a:spcBef>
                  <a:spcPct val="0"/>
                </a:spcBef>
                <a:buFontTx/>
                <a:buNone/>
              </a:pPr>
              <a:t>2</a:t>
            </a:fld>
            <a:endParaRPr lang="en-US" altLang="en-US" sz="1000"/>
          </a:p>
        </p:txBody>
      </p:sp>
      <p:sp>
        <p:nvSpPr>
          <p:cNvPr id="2" name="Rectangle 1"/>
          <p:cNvSpPr/>
          <p:nvPr/>
        </p:nvSpPr>
        <p:spPr>
          <a:xfrm>
            <a:off x="2569309" y="3639315"/>
            <a:ext cx="3606372" cy="615553"/>
          </a:xfrm>
          <a:prstGeom prst="rect">
            <a:avLst/>
          </a:prstGeom>
        </p:spPr>
        <p:txBody>
          <a:bodyPr wrap="none">
            <a:spAutoFit/>
          </a:bodyPr>
          <a:lstStyle/>
          <a:p>
            <a:pPr marL="12700">
              <a:lnSpc>
                <a:spcPct val="100000"/>
              </a:lnSpc>
              <a:spcBef>
                <a:spcPts val="95"/>
              </a:spcBef>
            </a:pPr>
            <a:r>
              <a:rPr lang="en-IN" sz="3400" spc="-10" dirty="0">
                <a:solidFill>
                  <a:srgbClr val="FF0000"/>
                </a:solidFill>
                <a:latin typeface="Calibri"/>
                <a:cs typeface="Calibri"/>
              </a:rPr>
              <a:t>Carrier</a:t>
            </a:r>
            <a:r>
              <a:rPr lang="en-IN" sz="3400" spc="-50" dirty="0">
                <a:solidFill>
                  <a:srgbClr val="FF0000"/>
                </a:solidFill>
                <a:latin typeface="Calibri"/>
                <a:cs typeface="Calibri"/>
              </a:rPr>
              <a:t> </a:t>
            </a:r>
            <a:r>
              <a:rPr lang="en-IN" sz="3400" spc="-15" dirty="0">
                <a:solidFill>
                  <a:srgbClr val="FF0000"/>
                </a:solidFill>
                <a:latin typeface="Calibri"/>
                <a:cs typeface="Calibri"/>
              </a:rPr>
              <a:t>Aggregation</a:t>
            </a:r>
            <a:endParaRPr lang="en-IN" sz="3400" dirty="0">
              <a:solidFill>
                <a:srgbClr val="FF0000"/>
              </a:solidFill>
              <a:latin typeface="Calibri"/>
              <a:cs typeface="Calibri"/>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p:cNvSpPr>
            <a:spLocks noGrp="1"/>
          </p:cNvSpPr>
          <p:nvPr>
            <p:ph idx="4294967295"/>
          </p:nvPr>
        </p:nvSpPr>
        <p:spPr>
          <a:xfrm>
            <a:off x="2365375" y="187325"/>
            <a:ext cx="4171950" cy="879475"/>
          </a:xfrm>
        </p:spPr>
        <p:txBody>
          <a:bodyPr/>
          <a:lstStyle/>
          <a:p>
            <a:pPr algn="ctr">
              <a:buFontTx/>
              <a:buNone/>
            </a:pPr>
            <a:r>
              <a:rPr lang="en-US" altLang="en-US" sz="3300" smtClean="0">
                <a:solidFill>
                  <a:srgbClr val="00B0F0"/>
                </a:solidFill>
              </a:rPr>
              <a:t>Contents</a:t>
            </a:r>
          </a:p>
        </p:txBody>
      </p:sp>
      <p:sp>
        <p:nvSpPr>
          <p:cNvPr id="4099" name="Slide Number Placeholder 14"/>
          <p:cNvSpPr>
            <a:spLocks noGrp="1"/>
          </p:cNvSpPr>
          <p:nvPr>
            <p:ph type="sldNum" sz="quarter" idx="12"/>
          </p:nvPr>
        </p:nvSpPr>
        <p:spPr>
          <a:xfrm>
            <a:off x="6057900" y="5624513"/>
            <a:ext cx="1600200" cy="27463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charset="0"/>
              </a:defRPr>
            </a:lvl1pPr>
            <a:lvl2pPr marL="557213" indent="-214313">
              <a:spcBef>
                <a:spcPct val="20000"/>
              </a:spcBef>
              <a:buChar char="–"/>
              <a:defRPr sz="2100">
                <a:solidFill>
                  <a:schemeClr val="tx1"/>
                </a:solidFill>
                <a:latin typeface="Arial" charset="0"/>
              </a:defRPr>
            </a:lvl2pPr>
            <a:lvl3pPr marL="857250" indent="-171450">
              <a:spcBef>
                <a:spcPct val="20000"/>
              </a:spcBef>
              <a:buChar char="•"/>
              <a:defRPr>
                <a:solidFill>
                  <a:schemeClr val="tx1"/>
                </a:solidFill>
                <a:latin typeface="Arial" charset="0"/>
              </a:defRPr>
            </a:lvl3pPr>
            <a:lvl4pPr marL="1200150" indent="-171450">
              <a:spcBef>
                <a:spcPct val="20000"/>
              </a:spcBef>
              <a:buChar char="–"/>
              <a:defRPr sz="1500">
                <a:solidFill>
                  <a:schemeClr val="tx1"/>
                </a:solidFill>
                <a:latin typeface="Arial" charset="0"/>
              </a:defRPr>
            </a:lvl4pPr>
            <a:lvl5pPr marL="1543050" indent="-171450">
              <a:spcBef>
                <a:spcPct val="20000"/>
              </a:spcBef>
              <a:buChar char="»"/>
              <a:defRPr sz="1500">
                <a:solidFill>
                  <a:schemeClr val="tx1"/>
                </a:solidFill>
                <a:latin typeface="Arial" charset="0"/>
              </a:defRPr>
            </a:lvl5pPr>
            <a:lvl6pPr marL="2000250" indent="-171450" eaLnBrk="0" fontAlgn="base" hangingPunct="0">
              <a:spcBef>
                <a:spcPct val="20000"/>
              </a:spcBef>
              <a:spcAft>
                <a:spcPct val="0"/>
              </a:spcAft>
              <a:buChar char="»"/>
              <a:defRPr sz="1500">
                <a:solidFill>
                  <a:schemeClr val="tx1"/>
                </a:solidFill>
                <a:latin typeface="Arial" charset="0"/>
              </a:defRPr>
            </a:lvl6pPr>
            <a:lvl7pPr marL="2457450" indent="-171450" eaLnBrk="0" fontAlgn="base" hangingPunct="0">
              <a:spcBef>
                <a:spcPct val="20000"/>
              </a:spcBef>
              <a:spcAft>
                <a:spcPct val="0"/>
              </a:spcAft>
              <a:buChar char="»"/>
              <a:defRPr sz="1500">
                <a:solidFill>
                  <a:schemeClr val="tx1"/>
                </a:solidFill>
                <a:latin typeface="Arial" charset="0"/>
              </a:defRPr>
            </a:lvl7pPr>
            <a:lvl8pPr marL="2914650" indent="-171450" eaLnBrk="0" fontAlgn="base" hangingPunct="0">
              <a:spcBef>
                <a:spcPct val="20000"/>
              </a:spcBef>
              <a:spcAft>
                <a:spcPct val="0"/>
              </a:spcAft>
              <a:buChar char="»"/>
              <a:defRPr sz="1500">
                <a:solidFill>
                  <a:schemeClr val="tx1"/>
                </a:solidFill>
                <a:latin typeface="Arial" charset="0"/>
              </a:defRPr>
            </a:lvl8pPr>
            <a:lvl9pPr marL="3371850" indent="-171450" eaLnBrk="0" fontAlgn="base" hangingPunct="0">
              <a:spcBef>
                <a:spcPct val="20000"/>
              </a:spcBef>
              <a:spcAft>
                <a:spcPct val="0"/>
              </a:spcAft>
              <a:buChar char="»"/>
              <a:defRPr sz="1500">
                <a:solidFill>
                  <a:schemeClr val="tx1"/>
                </a:solidFill>
                <a:latin typeface="Arial" charset="0"/>
              </a:defRPr>
            </a:lvl9pPr>
          </a:lstStyle>
          <a:p>
            <a:pPr>
              <a:spcBef>
                <a:spcPct val="0"/>
              </a:spcBef>
              <a:buFontTx/>
              <a:buNone/>
            </a:pPr>
            <a:fld id="{D8E9BFDC-D866-4011-871E-84FBC2DB700C}" type="slidenum">
              <a:rPr lang="en-US" altLang="en-US" sz="1000"/>
              <a:pPr>
                <a:spcBef>
                  <a:spcPct val="0"/>
                </a:spcBef>
                <a:buFontTx/>
                <a:buNone/>
              </a:pPr>
              <a:t>3</a:t>
            </a:fld>
            <a:endParaRPr lang="en-US" altLang="en-US" sz="1000"/>
          </a:p>
        </p:txBody>
      </p:sp>
      <p:sp>
        <p:nvSpPr>
          <p:cNvPr id="7" name="Rectangle 6"/>
          <p:cNvSpPr/>
          <p:nvPr/>
        </p:nvSpPr>
        <p:spPr>
          <a:xfrm>
            <a:off x="304800" y="990600"/>
            <a:ext cx="7924800" cy="577850"/>
          </a:xfrm>
          <a:prstGeom prst="rect">
            <a:avLst/>
          </a:prstGeom>
        </p:spPr>
        <p:txBody>
          <a:bodyPr>
            <a:spAutoFit/>
          </a:bodyPr>
          <a:lstStyle/>
          <a:p>
            <a:pPr marL="214313" indent="-214313" algn="just" eaLnBrk="1" hangingPunct="1">
              <a:lnSpc>
                <a:spcPct val="150000"/>
              </a:lnSpc>
              <a:buFont typeface="Arial" panose="020B0604020202020204" pitchFamily="34" charset="0"/>
              <a:buChar char="•"/>
              <a:defRPr/>
            </a:pPr>
            <a:r>
              <a:rPr lang="en-US" sz="2400" dirty="0">
                <a:solidFill>
                  <a:srgbClr val="C00000"/>
                </a:solidFill>
                <a:latin typeface="+mj-lt"/>
              </a:rPr>
              <a:t>Carrier </a:t>
            </a:r>
            <a:r>
              <a:rPr lang="en-US" sz="2400" dirty="0" smtClean="0">
                <a:solidFill>
                  <a:srgbClr val="C00000"/>
                </a:solidFill>
                <a:latin typeface="+mj-lt"/>
              </a:rPr>
              <a:t>Aggregation</a:t>
            </a:r>
            <a:endParaRPr lang="en-US" sz="2400" dirty="0">
              <a:solidFill>
                <a:srgbClr val="C00000"/>
              </a:solidFill>
              <a:latin typeface="+mj-lt"/>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287187" y="228600"/>
            <a:ext cx="6569625" cy="381515"/>
          </a:xfrm>
          <a:prstGeom prst="rect">
            <a:avLst/>
          </a:prstGeom>
        </p:spPr>
        <p:txBody>
          <a:bodyPr vert="horz" wrap="square" lIns="0" tIns="12065" rIns="0" bIns="0" rtlCol="0">
            <a:spAutoFit/>
          </a:bodyPr>
          <a:lstStyle/>
          <a:p>
            <a:pPr marL="12700">
              <a:lnSpc>
                <a:spcPct val="100000"/>
              </a:lnSpc>
              <a:spcBef>
                <a:spcPts val="95"/>
              </a:spcBef>
            </a:pPr>
            <a:r>
              <a:rPr sz="2400" spc="-10" dirty="0">
                <a:solidFill>
                  <a:srgbClr val="FF0000"/>
                </a:solidFill>
              </a:rPr>
              <a:t>Carrier</a:t>
            </a:r>
            <a:r>
              <a:rPr sz="2400" spc="5" dirty="0">
                <a:solidFill>
                  <a:srgbClr val="FF0000"/>
                </a:solidFill>
              </a:rPr>
              <a:t> </a:t>
            </a:r>
            <a:r>
              <a:rPr sz="2400" spc="-15" dirty="0">
                <a:solidFill>
                  <a:srgbClr val="FF0000"/>
                </a:solidFill>
              </a:rPr>
              <a:t>Aggregation</a:t>
            </a:r>
            <a:r>
              <a:rPr sz="2400" spc="15" dirty="0">
                <a:solidFill>
                  <a:srgbClr val="FF0000"/>
                </a:solidFill>
              </a:rPr>
              <a:t> </a:t>
            </a:r>
            <a:r>
              <a:rPr sz="2400" spc="-5" dirty="0">
                <a:solidFill>
                  <a:srgbClr val="FF0000"/>
                </a:solidFill>
              </a:rPr>
              <a:t>(CA)</a:t>
            </a:r>
            <a:r>
              <a:rPr sz="2400" spc="5" dirty="0">
                <a:solidFill>
                  <a:srgbClr val="FF0000"/>
                </a:solidFill>
              </a:rPr>
              <a:t> </a:t>
            </a:r>
            <a:r>
              <a:rPr sz="2400" spc="-10" dirty="0">
                <a:solidFill>
                  <a:srgbClr val="FF0000"/>
                </a:solidFill>
              </a:rPr>
              <a:t>Concept</a:t>
            </a:r>
          </a:p>
        </p:txBody>
      </p:sp>
      <p:sp>
        <p:nvSpPr>
          <p:cNvPr id="5" name="Rectangle 4"/>
          <p:cNvSpPr/>
          <p:nvPr/>
        </p:nvSpPr>
        <p:spPr>
          <a:xfrm>
            <a:off x="381000" y="838200"/>
            <a:ext cx="8382000" cy="5755422"/>
          </a:xfrm>
          <a:prstGeom prst="rect">
            <a:avLst/>
          </a:prstGeom>
        </p:spPr>
        <p:txBody>
          <a:bodyPr wrap="square">
            <a:spAutoFit/>
          </a:bodyPr>
          <a:lstStyle/>
          <a:p>
            <a:pPr marL="285750" indent="-285750" algn="just">
              <a:buFont typeface="Arial" panose="020B0604020202020204" pitchFamily="34" charset="0"/>
              <a:buChar char="•"/>
            </a:pPr>
            <a:r>
              <a:rPr lang="en-US" sz="2000" dirty="0"/>
              <a:t>Carrier aggregation (CA) is a technique that uses multiple carriers simultaneously to increase bandwidth and data rates for mobile networks.</a:t>
            </a:r>
          </a:p>
          <a:p>
            <a:pPr marL="285750" indent="-285750" algn="just">
              <a:buFont typeface="Arial" panose="020B0604020202020204" pitchFamily="34" charset="0"/>
              <a:buChar char="•"/>
            </a:pPr>
            <a:r>
              <a:rPr lang="en-US" sz="2200" dirty="0" smtClean="0">
                <a:solidFill>
                  <a:srgbClr val="1D1E20"/>
                </a:solidFill>
                <a:latin typeface="NokiaPureHeadline"/>
              </a:rPr>
              <a:t>Carrier </a:t>
            </a:r>
            <a:r>
              <a:rPr lang="en-US" sz="2200" dirty="0">
                <a:solidFill>
                  <a:srgbClr val="1D1E20"/>
                </a:solidFill>
                <a:latin typeface="NokiaPureHeadline"/>
              </a:rPr>
              <a:t>Aggregation is a software functionality in Radio Access Networks and user devices which allows Mobile Network Operators (MNOs) to combine the capabilities of radio cells at distinct frequency allocations to enhance the end user experience.</a:t>
            </a:r>
          </a:p>
          <a:p>
            <a:pPr marL="285750" indent="-285750" algn="just">
              <a:buFont typeface="Arial" panose="020B0604020202020204" pitchFamily="34" charset="0"/>
              <a:buChar char="•"/>
            </a:pPr>
            <a:r>
              <a:rPr lang="en-US" sz="2200" dirty="0" smtClean="0">
                <a:solidFill>
                  <a:srgbClr val="1D1E20"/>
                </a:solidFill>
                <a:latin typeface="NokiaPureHeadline"/>
              </a:rPr>
              <a:t>It is a key </a:t>
            </a:r>
            <a:r>
              <a:rPr lang="en-US" sz="2200" dirty="0">
                <a:solidFill>
                  <a:srgbClr val="1D1E20"/>
                </a:solidFill>
                <a:latin typeface="NokiaPureHeadline"/>
              </a:rPr>
              <a:t>technology </a:t>
            </a:r>
            <a:r>
              <a:rPr lang="en-US" sz="2200" dirty="0" smtClean="0">
                <a:solidFill>
                  <a:srgbClr val="1D1E20"/>
                </a:solidFill>
                <a:latin typeface="NokiaPureHeadline"/>
              </a:rPr>
              <a:t>of the LTE-Advanced networks</a:t>
            </a:r>
          </a:p>
          <a:p>
            <a:pPr marL="285750" indent="-285750" algn="just">
              <a:buFont typeface="Arial" panose="020B0604020202020204" pitchFamily="34" charset="0"/>
              <a:buChar char="•"/>
            </a:pPr>
            <a:r>
              <a:rPr lang="en-US" sz="2200" dirty="0" smtClean="0">
                <a:solidFill>
                  <a:srgbClr val="1D1E20"/>
                </a:solidFill>
                <a:latin typeface="NokiaPureHeadline"/>
              </a:rPr>
              <a:t>Carrier </a:t>
            </a:r>
            <a:r>
              <a:rPr lang="en-US" sz="2200" dirty="0">
                <a:solidFill>
                  <a:srgbClr val="1D1E20"/>
                </a:solidFill>
                <a:latin typeface="NokiaPureHeadline"/>
              </a:rPr>
              <a:t>Aggregation enabled the evolution to </a:t>
            </a:r>
            <a:r>
              <a:rPr lang="en-US" sz="2200" dirty="0" smtClean="0">
                <a:solidFill>
                  <a:srgbClr val="1D1E20"/>
                </a:solidFill>
                <a:latin typeface="NokiaPureHeadline"/>
              </a:rPr>
              <a:t>Gigabit-LTE, achieving </a:t>
            </a:r>
            <a:r>
              <a:rPr lang="en-US" sz="2200" dirty="0">
                <a:solidFill>
                  <a:srgbClr val="1D1E20"/>
                </a:solidFill>
                <a:latin typeface="NokiaPureHeadline"/>
              </a:rPr>
              <a:t>user data rates of more than 1 </a:t>
            </a:r>
            <a:r>
              <a:rPr lang="en-US" sz="2200" dirty="0" err="1">
                <a:solidFill>
                  <a:srgbClr val="1D1E20"/>
                </a:solidFill>
                <a:latin typeface="NokiaPureHeadline"/>
              </a:rPr>
              <a:t>Gbps</a:t>
            </a:r>
            <a:r>
              <a:rPr lang="en-US" sz="2200" dirty="0">
                <a:solidFill>
                  <a:srgbClr val="1D1E20"/>
                </a:solidFill>
                <a:latin typeface="NokiaPureHeadline"/>
              </a:rPr>
              <a:t>. </a:t>
            </a:r>
            <a:endParaRPr lang="en-US" sz="2200" dirty="0" smtClean="0">
              <a:solidFill>
                <a:srgbClr val="1D1E20"/>
              </a:solidFill>
              <a:latin typeface="NokiaPureHeadline"/>
            </a:endParaRPr>
          </a:p>
          <a:p>
            <a:pPr marL="285750" indent="-285750" algn="just">
              <a:buFont typeface="Arial" panose="020B0604020202020204" pitchFamily="34" charset="0"/>
              <a:buChar char="•"/>
            </a:pPr>
            <a:r>
              <a:rPr lang="en-US" sz="2200" dirty="0" smtClean="0">
                <a:solidFill>
                  <a:srgbClr val="1D1E20"/>
                </a:solidFill>
                <a:latin typeface="NokiaPureHeadline"/>
              </a:rPr>
              <a:t>In </a:t>
            </a:r>
            <a:r>
              <a:rPr lang="en-US" sz="2200" dirty="0">
                <a:solidFill>
                  <a:srgbClr val="1D1E20"/>
                </a:solidFill>
                <a:latin typeface="NokiaPureHeadline"/>
              </a:rPr>
              <a:t>5G networks, Carrier Aggregation will enable the evolution to multi-Gigabit-5G, reaching user data rates of about 4 </a:t>
            </a:r>
            <a:r>
              <a:rPr lang="en-US" sz="2200" dirty="0" err="1">
                <a:solidFill>
                  <a:srgbClr val="1D1E20"/>
                </a:solidFill>
                <a:latin typeface="NokiaPureHeadline"/>
              </a:rPr>
              <a:t>Gbps</a:t>
            </a:r>
            <a:r>
              <a:rPr lang="en-US" sz="2200" dirty="0">
                <a:solidFill>
                  <a:srgbClr val="1D1E20"/>
                </a:solidFill>
                <a:latin typeface="NokiaPureHeadline"/>
              </a:rPr>
              <a:t> and above</a:t>
            </a:r>
            <a:r>
              <a:rPr lang="en-US" sz="2200" dirty="0" smtClean="0">
                <a:solidFill>
                  <a:srgbClr val="1D1E20"/>
                </a:solidFill>
                <a:latin typeface="NokiaPureHeadline"/>
              </a:rPr>
              <a:t>.</a:t>
            </a:r>
          </a:p>
          <a:p>
            <a:pPr marL="285750" indent="-285750" algn="just">
              <a:buFont typeface="Arial" panose="020B0604020202020204" pitchFamily="34" charset="0"/>
              <a:buChar char="•"/>
            </a:pPr>
            <a:r>
              <a:rPr lang="en-US" sz="2200" dirty="0" smtClean="0">
                <a:solidFill>
                  <a:srgbClr val="1D1E20"/>
                </a:solidFill>
                <a:latin typeface="NokiaPureHeadline"/>
              </a:rPr>
              <a:t>5G </a:t>
            </a:r>
            <a:r>
              <a:rPr lang="en-US" sz="2200" dirty="0">
                <a:solidFill>
                  <a:srgbClr val="1D1E20"/>
                </a:solidFill>
                <a:latin typeface="NokiaPureHeadline"/>
              </a:rPr>
              <a:t>Carrier Aggregation is also capable of improving the geographic availability, more commonly referred to as coverage, of high data rates.</a:t>
            </a:r>
            <a:endParaRPr lang="en-US" sz="2200" b="0" i="0" dirty="0">
              <a:solidFill>
                <a:srgbClr val="1D1E20"/>
              </a:solidFill>
              <a:effectLst/>
              <a:latin typeface="NokiaPureHeadline"/>
            </a:endParaRPr>
          </a:p>
        </p:txBody>
      </p:sp>
    </p:spTree>
    <p:extLst>
      <p:ext uri="{BB962C8B-B14F-4D97-AF65-F5344CB8AC3E}">
        <p14:creationId xmlns:p14="http://schemas.microsoft.com/office/powerpoint/2010/main" val="12865787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89286" y="889686"/>
            <a:ext cx="8382000" cy="4893647"/>
          </a:xfrm>
          <a:prstGeom prst="rect">
            <a:avLst/>
          </a:prstGeom>
        </p:spPr>
        <p:txBody>
          <a:bodyPr wrap="square">
            <a:spAutoFit/>
          </a:bodyPr>
          <a:lstStyle/>
          <a:p>
            <a:pPr marL="342900" indent="-342900" algn="just">
              <a:buFont typeface="Arial" panose="020B0604020202020204" pitchFamily="34" charset="0"/>
              <a:buChar char="•"/>
            </a:pPr>
            <a:r>
              <a:rPr lang="en-US" sz="2400" dirty="0"/>
              <a:t>Each </a:t>
            </a:r>
            <a:r>
              <a:rPr lang="en-US" sz="2400" dirty="0" smtClean="0"/>
              <a:t>carrier has </a:t>
            </a:r>
            <a:r>
              <a:rPr lang="en-US" sz="2400" dirty="0"/>
              <a:t>specific characteristics in terms of coverage (the range around the antenna where signals can still be received) and capacity (bandwidth, data rates, throughput).  </a:t>
            </a:r>
            <a:endParaRPr lang="en-US" sz="2400" dirty="0" smtClean="0"/>
          </a:p>
          <a:p>
            <a:pPr marL="342900" indent="-342900" algn="just">
              <a:buFont typeface="Arial" panose="020B0604020202020204" pitchFamily="34" charset="0"/>
              <a:buChar char="•"/>
            </a:pPr>
            <a:r>
              <a:rPr lang="en-US" sz="2400" dirty="0" smtClean="0"/>
              <a:t>Higher </a:t>
            </a:r>
            <a:r>
              <a:rPr lang="en-US" sz="2400" dirty="0"/>
              <a:t>frequency ranges typically provide greater capacity, </a:t>
            </a:r>
            <a:endParaRPr lang="en-US" sz="2400" dirty="0" smtClean="0"/>
          </a:p>
          <a:p>
            <a:pPr marL="342900" indent="-342900" algn="just">
              <a:buFont typeface="Arial" panose="020B0604020202020204" pitchFamily="34" charset="0"/>
              <a:buChar char="•"/>
            </a:pPr>
            <a:r>
              <a:rPr lang="en-US" sz="2400" dirty="0" smtClean="0"/>
              <a:t>while </a:t>
            </a:r>
            <a:r>
              <a:rPr lang="en-US" sz="2400" dirty="0"/>
              <a:t>carriers in the lower range provide wider or deeper coverage. </a:t>
            </a:r>
            <a:endParaRPr lang="en-US" sz="2400" dirty="0" smtClean="0"/>
          </a:p>
          <a:p>
            <a:pPr marL="342900" indent="-342900" algn="just">
              <a:buFont typeface="Arial" panose="020B0604020202020204" pitchFamily="34" charset="0"/>
              <a:buChar char="•"/>
            </a:pPr>
            <a:r>
              <a:rPr lang="en-US" sz="2400" dirty="0" smtClean="0"/>
              <a:t>Lower </a:t>
            </a:r>
            <a:r>
              <a:rPr lang="en-US" sz="2400" dirty="0"/>
              <a:t>frequency bands are typically used in FDD (Frequency Division Duplex) mode, which has higher uplink signal strength compared to TDD (Time Division Duplex) mode, which is almost exclusively used for cellular allocations above 2.5 GHz. </a:t>
            </a:r>
          </a:p>
        </p:txBody>
      </p:sp>
      <p:sp>
        <p:nvSpPr>
          <p:cNvPr id="4" name="Rectangle 3"/>
          <p:cNvSpPr/>
          <p:nvPr/>
        </p:nvSpPr>
        <p:spPr>
          <a:xfrm>
            <a:off x="609600" y="5934670"/>
            <a:ext cx="8305800" cy="646331"/>
          </a:xfrm>
          <a:prstGeom prst="rect">
            <a:avLst/>
          </a:prstGeom>
        </p:spPr>
        <p:txBody>
          <a:bodyPr wrap="square">
            <a:spAutoFit/>
          </a:bodyPr>
          <a:lstStyle/>
          <a:p>
            <a:r>
              <a:rPr lang="en-IN" dirty="0" smtClean="0"/>
              <a:t>Reference --https</a:t>
            </a:r>
            <a:r>
              <a:rPr lang="en-IN" dirty="0"/>
              <a:t>://www.nokia.com/about-us/newsroom/articles/5g-carrier-aggregation-explained/</a:t>
            </a:r>
          </a:p>
        </p:txBody>
      </p:sp>
      <p:sp>
        <p:nvSpPr>
          <p:cNvPr id="6" name="object 3"/>
          <p:cNvSpPr txBox="1">
            <a:spLocks/>
          </p:cNvSpPr>
          <p:nvPr/>
        </p:nvSpPr>
        <p:spPr bwMode="auto">
          <a:xfrm>
            <a:off x="1447800" y="39976"/>
            <a:ext cx="6569625" cy="381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12065" rIns="0" bIns="0" numCol="1" rtlCol="0" anchor="ctr" anchorCtr="0" compatLnSpc="1">
            <a:prstTxWarp prst="textNoShape">
              <a:avLst/>
            </a:prstTxWarp>
            <a:spAutoFit/>
          </a:bodyPr>
          <a:lstStyle>
            <a:lvl1pPr algn="ctr" rtl="0" eaLnBrk="0" fontAlgn="base" hangingPunct="0">
              <a:spcBef>
                <a:spcPct val="0"/>
              </a:spcBef>
              <a:spcAft>
                <a:spcPct val="0"/>
              </a:spcAft>
              <a:defRPr sz="3300">
                <a:solidFill>
                  <a:schemeClr val="tx2"/>
                </a:solidFill>
                <a:latin typeface="+mj-lt"/>
                <a:ea typeface="+mj-ea"/>
                <a:cs typeface="+mj-cs"/>
              </a:defRPr>
            </a:lvl1pPr>
            <a:lvl2pPr algn="ctr" rtl="0" eaLnBrk="0" fontAlgn="base" hangingPunct="0">
              <a:spcBef>
                <a:spcPct val="0"/>
              </a:spcBef>
              <a:spcAft>
                <a:spcPct val="0"/>
              </a:spcAft>
              <a:defRPr sz="3300">
                <a:solidFill>
                  <a:schemeClr val="tx2"/>
                </a:solidFill>
                <a:latin typeface="Arial" charset="0"/>
              </a:defRPr>
            </a:lvl2pPr>
            <a:lvl3pPr algn="ctr" rtl="0" eaLnBrk="0" fontAlgn="base" hangingPunct="0">
              <a:spcBef>
                <a:spcPct val="0"/>
              </a:spcBef>
              <a:spcAft>
                <a:spcPct val="0"/>
              </a:spcAft>
              <a:defRPr sz="3300">
                <a:solidFill>
                  <a:schemeClr val="tx2"/>
                </a:solidFill>
                <a:latin typeface="Arial" charset="0"/>
              </a:defRPr>
            </a:lvl3pPr>
            <a:lvl4pPr algn="ctr" rtl="0" eaLnBrk="0" fontAlgn="base" hangingPunct="0">
              <a:spcBef>
                <a:spcPct val="0"/>
              </a:spcBef>
              <a:spcAft>
                <a:spcPct val="0"/>
              </a:spcAft>
              <a:defRPr sz="3300">
                <a:solidFill>
                  <a:schemeClr val="tx2"/>
                </a:solidFill>
                <a:latin typeface="Arial" charset="0"/>
              </a:defRPr>
            </a:lvl4pPr>
            <a:lvl5pPr algn="ctr" rtl="0" eaLnBrk="0" fontAlgn="base" hangingPunct="0">
              <a:spcBef>
                <a:spcPct val="0"/>
              </a:spcBef>
              <a:spcAft>
                <a:spcPct val="0"/>
              </a:spcAft>
              <a:defRPr sz="3300">
                <a:solidFill>
                  <a:schemeClr val="tx2"/>
                </a:solidFill>
                <a:latin typeface="Arial" charset="0"/>
              </a:defRPr>
            </a:lvl5pPr>
            <a:lvl6pPr marL="342900" algn="ctr" rtl="0" fontAlgn="base">
              <a:spcBef>
                <a:spcPct val="0"/>
              </a:spcBef>
              <a:spcAft>
                <a:spcPct val="0"/>
              </a:spcAft>
              <a:defRPr sz="3300">
                <a:solidFill>
                  <a:schemeClr val="tx2"/>
                </a:solidFill>
                <a:latin typeface="Arial" charset="0"/>
              </a:defRPr>
            </a:lvl6pPr>
            <a:lvl7pPr marL="685800" algn="ctr" rtl="0" fontAlgn="base">
              <a:spcBef>
                <a:spcPct val="0"/>
              </a:spcBef>
              <a:spcAft>
                <a:spcPct val="0"/>
              </a:spcAft>
              <a:defRPr sz="3300">
                <a:solidFill>
                  <a:schemeClr val="tx2"/>
                </a:solidFill>
                <a:latin typeface="Arial" charset="0"/>
              </a:defRPr>
            </a:lvl7pPr>
            <a:lvl8pPr marL="1028700" algn="ctr" rtl="0" fontAlgn="base">
              <a:spcBef>
                <a:spcPct val="0"/>
              </a:spcBef>
              <a:spcAft>
                <a:spcPct val="0"/>
              </a:spcAft>
              <a:defRPr sz="3300">
                <a:solidFill>
                  <a:schemeClr val="tx2"/>
                </a:solidFill>
                <a:latin typeface="Arial" charset="0"/>
              </a:defRPr>
            </a:lvl8pPr>
            <a:lvl9pPr marL="1371600" algn="ctr" rtl="0" fontAlgn="base">
              <a:spcBef>
                <a:spcPct val="0"/>
              </a:spcBef>
              <a:spcAft>
                <a:spcPct val="0"/>
              </a:spcAft>
              <a:defRPr sz="3300">
                <a:solidFill>
                  <a:schemeClr val="tx2"/>
                </a:solidFill>
                <a:latin typeface="Arial" charset="0"/>
              </a:defRPr>
            </a:lvl9pPr>
          </a:lstStyle>
          <a:p>
            <a:pPr marL="12700">
              <a:spcBef>
                <a:spcPts val="95"/>
              </a:spcBef>
            </a:pPr>
            <a:r>
              <a:rPr lang="en-IN" sz="2400" kern="0" spc="-10" dirty="0" smtClean="0">
                <a:solidFill>
                  <a:srgbClr val="FF0000"/>
                </a:solidFill>
              </a:rPr>
              <a:t>Carrier</a:t>
            </a:r>
            <a:r>
              <a:rPr lang="en-IN" sz="2400" kern="0" spc="5" dirty="0" smtClean="0">
                <a:solidFill>
                  <a:srgbClr val="FF0000"/>
                </a:solidFill>
              </a:rPr>
              <a:t> </a:t>
            </a:r>
            <a:r>
              <a:rPr lang="en-IN" sz="2400" kern="0" spc="-15" dirty="0" smtClean="0">
                <a:solidFill>
                  <a:srgbClr val="FF0000"/>
                </a:solidFill>
              </a:rPr>
              <a:t>Aggregation</a:t>
            </a:r>
            <a:r>
              <a:rPr lang="en-IN" sz="2400" kern="0" spc="15" dirty="0" smtClean="0">
                <a:solidFill>
                  <a:srgbClr val="FF0000"/>
                </a:solidFill>
              </a:rPr>
              <a:t> </a:t>
            </a:r>
            <a:r>
              <a:rPr lang="en-IN" sz="2400" kern="0" spc="-5" dirty="0" smtClean="0">
                <a:solidFill>
                  <a:srgbClr val="FF0000"/>
                </a:solidFill>
              </a:rPr>
              <a:t>(CA)</a:t>
            </a:r>
            <a:r>
              <a:rPr lang="en-IN" sz="2400" kern="0" spc="5" dirty="0" smtClean="0">
                <a:solidFill>
                  <a:srgbClr val="FF0000"/>
                </a:solidFill>
              </a:rPr>
              <a:t> </a:t>
            </a:r>
            <a:r>
              <a:rPr lang="en-IN" sz="2400" kern="0" spc="-10" dirty="0" smtClean="0">
                <a:solidFill>
                  <a:srgbClr val="FF0000"/>
                </a:solidFill>
              </a:rPr>
              <a:t>Concept</a:t>
            </a:r>
            <a:endParaRPr lang="en-IN" sz="2400" kern="0" spc="-10" dirty="0">
              <a:solidFill>
                <a:srgbClr val="FF0000"/>
              </a:solidFill>
            </a:endParaRPr>
          </a:p>
        </p:txBody>
      </p:sp>
    </p:spTree>
    <p:extLst>
      <p:ext uri="{BB962C8B-B14F-4D97-AF65-F5344CB8AC3E}">
        <p14:creationId xmlns:p14="http://schemas.microsoft.com/office/powerpoint/2010/main" val="3945720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89286" y="889686"/>
            <a:ext cx="8382000" cy="5632311"/>
          </a:xfrm>
          <a:prstGeom prst="rect">
            <a:avLst/>
          </a:prstGeom>
        </p:spPr>
        <p:txBody>
          <a:bodyPr wrap="square">
            <a:spAutoFit/>
          </a:bodyPr>
          <a:lstStyle/>
          <a:p>
            <a:pPr marL="342900" indent="-342900" algn="just">
              <a:buFont typeface="Arial" panose="020B0604020202020204" pitchFamily="34" charset="0"/>
              <a:buChar char="•"/>
            </a:pPr>
            <a:r>
              <a:rPr lang="en-US" sz="2400" dirty="0"/>
              <a:t>At the cell edge, Carrier Aggregation brings another benefit to the user. </a:t>
            </a:r>
            <a:endParaRPr lang="en-US" sz="2400" dirty="0" smtClean="0"/>
          </a:p>
          <a:p>
            <a:pPr marL="342900" indent="-342900" algn="just">
              <a:buFont typeface="Arial" panose="020B0604020202020204" pitchFamily="34" charset="0"/>
              <a:buChar char="•"/>
            </a:pPr>
            <a:r>
              <a:rPr lang="en-US" sz="2400" dirty="0" smtClean="0"/>
              <a:t>Because coverage </a:t>
            </a:r>
            <a:r>
              <a:rPr lang="en-US" sz="2400" dirty="0"/>
              <a:t>is typically limited by uplink, not by downlink. </a:t>
            </a:r>
            <a:endParaRPr lang="en-US" sz="2400" dirty="0" smtClean="0"/>
          </a:p>
          <a:p>
            <a:pPr marL="342900" indent="-342900" algn="just">
              <a:buFont typeface="Arial" panose="020B0604020202020204" pitchFamily="34" charset="0"/>
              <a:buChar char="•"/>
            </a:pPr>
            <a:r>
              <a:rPr lang="en-US" sz="2400" dirty="0" smtClean="0"/>
              <a:t>That </a:t>
            </a:r>
            <a:r>
              <a:rPr lang="en-US" sz="2400" dirty="0"/>
              <a:t>means that in downlink the cell could reach further than in uplink. </a:t>
            </a:r>
            <a:endParaRPr lang="en-US" sz="2400" dirty="0" smtClean="0"/>
          </a:p>
          <a:p>
            <a:pPr marL="342900" indent="-342900" algn="just">
              <a:buFont typeface="Arial" panose="020B0604020202020204" pitchFamily="34" charset="0"/>
              <a:buChar char="•"/>
            </a:pPr>
            <a:r>
              <a:rPr lang="en-US" sz="2400" dirty="0" smtClean="0"/>
              <a:t>But </a:t>
            </a:r>
            <a:r>
              <a:rPr lang="en-US" sz="2400" dirty="0"/>
              <a:t>for a stable connection one needs both, downlink and uplink. </a:t>
            </a:r>
            <a:endParaRPr lang="en-US" sz="2400" dirty="0" smtClean="0"/>
          </a:p>
          <a:p>
            <a:pPr marL="342900" indent="-342900" algn="just">
              <a:buFont typeface="Arial" panose="020B0604020202020204" pitchFamily="34" charset="0"/>
              <a:buChar char="•"/>
            </a:pPr>
            <a:r>
              <a:rPr lang="en-US" sz="2400" dirty="0" smtClean="0"/>
              <a:t>And </a:t>
            </a:r>
            <a:r>
              <a:rPr lang="en-US" sz="2400" dirty="0"/>
              <a:t>this is where Carrier Aggregation comes in: it allows the use of downlink for all aggregated cells</a:t>
            </a:r>
            <a:r>
              <a:rPr lang="en-US" sz="2400" dirty="0" smtClean="0"/>
              <a:t>,</a:t>
            </a:r>
          </a:p>
          <a:p>
            <a:pPr marL="342900" indent="-342900" algn="just">
              <a:buFont typeface="Arial" panose="020B0604020202020204" pitchFamily="34" charset="0"/>
              <a:buChar char="•"/>
            </a:pPr>
            <a:r>
              <a:rPr lang="en-US" sz="2400" dirty="0" smtClean="0"/>
              <a:t> </a:t>
            </a:r>
            <a:r>
              <a:rPr lang="en-US" sz="2400" dirty="0"/>
              <a:t>while securing the connection stability through a common uplink on the lower aggregated carrier</a:t>
            </a:r>
            <a:r>
              <a:rPr lang="en-US" sz="2400" dirty="0" smtClean="0"/>
              <a:t>.</a:t>
            </a:r>
          </a:p>
          <a:p>
            <a:pPr marL="342900" indent="-342900" algn="just">
              <a:buFont typeface="Arial" panose="020B0604020202020204" pitchFamily="34" charset="0"/>
              <a:buChar char="•"/>
            </a:pPr>
            <a:r>
              <a:rPr lang="en-US" sz="2400" dirty="0" smtClean="0"/>
              <a:t>Especially </a:t>
            </a:r>
            <a:r>
              <a:rPr lang="en-US" sz="2400" dirty="0"/>
              <a:t>when aggregating low and mid bands, Carrier Aggregation does not only boost data rates, but also the range in which the user will benefit from it.  </a:t>
            </a:r>
          </a:p>
        </p:txBody>
      </p:sp>
      <p:sp>
        <p:nvSpPr>
          <p:cNvPr id="6" name="object 3"/>
          <p:cNvSpPr txBox="1">
            <a:spLocks/>
          </p:cNvSpPr>
          <p:nvPr/>
        </p:nvSpPr>
        <p:spPr bwMode="auto">
          <a:xfrm>
            <a:off x="1447800" y="39976"/>
            <a:ext cx="6569625" cy="381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12065" rIns="0" bIns="0" numCol="1" rtlCol="0" anchor="ctr" anchorCtr="0" compatLnSpc="1">
            <a:prstTxWarp prst="textNoShape">
              <a:avLst/>
            </a:prstTxWarp>
            <a:spAutoFit/>
          </a:bodyPr>
          <a:lstStyle>
            <a:lvl1pPr algn="ctr" rtl="0" eaLnBrk="0" fontAlgn="base" hangingPunct="0">
              <a:spcBef>
                <a:spcPct val="0"/>
              </a:spcBef>
              <a:spcAft>
                <a:spcPct val="0"/>
              </a:spcAft>
              <a:defRPr sz="3300">
                <a:solidFill>
                  <a:schemeClr val="tx2"/>
                </a:solidFill>
                <a:latin typeface="+mj-lt"/>
                <a:ea typeface="+mj-ea"/>
                <a:cs typeface="+mj-cs"/>
              </a:defRPr>
            </a:lvl1pPr>
            <a:lvl2pPr algn="ctr" rtl="0" eaLnBrk="0" fontAlgn="base" hangingPunct="0">
              <a:spcBef>
                <a:spcPct val="0"/>
              </a:spcBef>
              <a:spcAft>
                <a:spcPct val="0"/>
              </a:spcAft>
              <a:defRPr sz="3300">
                <a:solidFill>
                  <a:schemeClr val="tx2"/>
                </a:solidFill>
                <a:latin typeface="Arial" charset="0"/>
              </a:defRPr>
            </a:lvl2pPr>
            <a:lvl3pPr algn="ctr" rtl="0" eaLnBrk="0" fontAlgn="base" hangingPunct="0">
              <a:spcBef>
                <a:spcPct val="0"/>
              </a:spcBef>
              <a:spcAft>
                <a:spcPct val="0"/>
              </a:spcAft>
              <a:defRPr sz="3300">
                <a:solidFill>
                  <a:schemeClr val="tx2"/>
                </a:solidFill>
                <a:latin typeface="Arial" charset="0"/>
              </a:defRPr>
            </a:lvl3pPr>
            <a:lvl4pPr algn="ctr" rtl="0" eaLnBrk="0" fontAlgn="base" hangingPunct="0">
              <a:spcBef>
                <a:spcPct val="0"/>
              </a:spcBef>
              <a:spcAft>
                <a:spcPct val="0"/>
              </a:spcAft>
              <a:defRPr sz="3300">
                <a:solidFill>
                  <a:schemeClr val="tx2"/>
                </a:solidFill>
                <a:latin typeface="Arial" charset="0"/>
              </a:defRPr>
            </a:lvl4pPr>
            <a:lvl5pPr algn="ctr" rtl="0" eaLnBrk="0" fontAlgn="base" hangingPunct="0">
              <a:spcBef>
                <a:spcPct val="0"/>
              </a:spcBef>
              <a:spcAft>
                <a:spcPct val="0"/>
              </a:spcAft>
              <a:defRPr sz="3300">
                <a:solidFill>
                  <a:schemeClr val="tx2"/>
                </a:solidFill>
                <a:latin typeface="Arial" charset="0"/>
              </a:defRPr>
            </a:lvl5pPr>
            <a:lvl6pPr marL="342900" algn="ctr" rtl="0" fontAlgn="base">
              <a:spcBef>
                <a:spcPct val="0"/>
              </a:spcBef>
              <a:spcAft>
                <a:spcPct val="0"/>
              </a:spcAft>
              <a:defRPr sz="3300">
                <a:solidFill>
                  <a:schemeClr val="tx2"/>
                </a:solidFill>
                <a:latin typeface="Arial" charset="0"/>
              </a:defRPr>
            </a:lvl6pPr>
            <a:lvl7pPr marL="685800" algn="ctr" rtl="0" fontAlgn="base">
              <a:spcBef>
                <a:spcPct val="0"/>
              </a:spcBef>
              <a:spcAft>
                <a:spcPct val="0"/>
              </a:spcAft>
              <a:defRPr sz="3300">
                <a:solidFill>
                  <a:schemeClr val="tx2"/>
                </a:solidFill>
                <a:latin typeface="Arial" charset="0"/>
              </a:defRPr>
            </a:lvl7pPr>
            <a:lvl8pPr marL="1028700" algn="ctr" rtl="0" fontAlgn="base">
              <a:spcBef>
                <a:spcPct val="0"/>
              </a:spcBef>
              <a:spcAft>
                <a:spcPct val="0"/>
              </a:spcAft>
              <a:defRPr sz="3300">
                <a:solidFill>
                  <a:schemeClr val="tx2"/>
                </a:solidFill>
                <a:latin typeface="Arial" charset="0"/>
              </a:defRPr>
            </a:lvl8pPr>
            <a:lvl9pPr marL="1371600" algn="ctr" rtl="0" fontAlgn="base">
              <a:spcBef>
                <a:spcPct val="0"/>
              </a:spcBef>
              <a:spcAft>
                <a:spcPct val="0"/>
              </a:spcAft>
              <a:defRPr sz="3300">
                <a:solidFill>
                  <a:schemeClr val="tx2"/>
                </a:solidFill>
                <a:latin typeface="Arial" charset="0"/>
              </a:defRPr>
            </a:lvl9pPr>
          </a:lstStyle>
          <a:p>
            <a:pPr marL="12700">
              <a:spcBef>
                <a:spcPts val="95"/>
              </a:spcBef>
            </a:pPr>
            <a:r>
              <a:rPr lang="en-IN" sz="2400" kern="0" spc="-10" dirty="0" smtClean="0">
                <a:solidFill>
                  <a:srgbClr val="FF0000"/>
                </a:solidFill>
              </a:rPr>
              <a:t>Carrier</a:t>
            </a:r>
            <a:r>
              <a:rPr lang="en-IN" sz="2400" kern="0" spc="5" dirty="0" smtClean="0">
                <a:solidFill>
                  <a:srgbClr val="FF0000"/>
                </a:solidFill>
              </a:rPr>
              <a:t> </a:t>
            </a:r>
            <a:r>
              <a:rPr lang="en-IN" sz="2400" kern="0" spc="-15" dirty="0" smtClean="0">
                <a:solidFill>
                  <a:srgbClr val="FF0000"/>
                </a:solidFill>
              </a:rPr>
              <a:t>Aggregation</a:t>
            </a:r>
            <a:r>
              <a:rPr lang="en-IN" sz="2400" kern="0" spc="15" dirty="0" smtClean="0">
                <a:solidFill>
                  <a:srgbClr val="FF0000"/>
                </a:solidFill>
              </a:rPr>
              <a:t> </a:t>
            </a:r>
            <a:r>
              <a:rPr lang="en-IN" sz="2400" kern="0" spc="-5" dirty="0" smtClean="0">
                <a:solidFill>
                  <a:srgbClr val="FF0000"/>
                </a:solidFill>
              </a:rPr>
              <a:t>(CA)</a:t>
            </a:r>
            <a:r>
              <a:rPr lang="en-IN" sz="2400" kern="0" spc="5" dirty="0" smtClean="0">
                <a:solidFill>
                  <a:srgbClr val="FF0000"/>
                </a:solidFill>
              </a:rPr>
              <a:t> </a:t>
            </a:r>
            <a:r>
              <a:rPr lang="en-IN" sz="2400" kern="0" spc="-10" dirty="0" smtClean="0">
                <a:solidFill>
                  <a:srgbClr val="FF0000"/>
                </a:solidFill>
              </a:rPr>
              <a:t>Concept</a:t>
            </a:r>
            <a:endParaRPr lang="en-IN" sz="2400" kern="0" spc="-10" dirty="0">
              <a:solidFill>
                <a:srgbClr val="FF0000"/>
              </a:solidFill>
            </a:endParaRPr>
          </a:p>
        </p:txBody>
      </p:sp>
    </p:spTree>
    <p:extLst>
      <p:ext uri="{BB962C8B-B14F-4D97-AF65-F5344CB8AC3E}">
        <p14:creationId xmlns:p14="http://schemas.microsoft.com/office/powerpoint/2010/main" val="27850813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89286" y="889686"/>
            <a:ext cx="8382000" cy="4154984"/>
          </a:xfrm>
          <a:prstGeom prst="rect">
            <a:avLst/>
          </a:prstGeom>
        </p:spPr>
        <p:txBody>
          <a:bodyPr wrap="square">
            <a:spAutoFit/>
          </a:bodyPr>
          <a:lstStyle/>
          <a:p>
            <a:pPr marL="342900" indent="-342900" algn="just">
              <a:buFont typeface="Arial" panose="020B0604020202020204" pitchFamily="34" charset="0"/>
              <a:buChar char="•"/>
            </a:pPr>
            <a:r>
              <a:rPr lang="en-US" sz="2400" dirty="0"/>
              <a:t>Improved data speeds and </a:t>
            </a:r>
            <a:r>
              <a:rPr lang="en-US" sz="2400" dirty="0" smtClean="0"/>
              <a:t>throughput</a:t>
            </a:r>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IN" sz="2400" dirty="0"/>
              <a:t>Greater cell coverage  </a:t>
            </a:r>
            <a:endParaRPr lang="en-IN" sz="2400" dirty="0" smtClean="0"/>
          </a:p>
          <a:p>
            <a:pPr marL="342900" indent="-342900" algn="just">
              <a:buFont typeface="Arial" panose="020B0604020202020204" pitchFamily="34" charset="0"/>
              <a:buChar char="•"/>
            </a:pPr>
            <a:endParaRPr lang="en-IN" sz="2400" dirty="0"/>
          </a:p>
          <a:p>
            <a:pPr marL="342900" indent="-342900" algn="just">
              <a:buFont typeface="Arial" panose="020B0604020202020204" pitchFamily="34" charset="0"/>
              <a:buChar char="•"/>
            </a:pPr>
            <a:r>
              <a:rPr lang="en-IN" sz="2400" dirty="0"/>
              <a:t>Enhanced energy </a:t>
            </a:r>
            <a:r>
              <a:rPr lang="en-IN" sz="2400" dirty="0" smtClean="0"/>
              <a:t>efficiency</a:t>
            </a:r>
          </a:p>
          <a:p>
            <a:pPr marL="342900" indent="-342900" algn="just">
              <a:buFont typeface="Arial" panose="020B0604020202020204" pitchFamily="34" charset="0"/>
              <a:buChar char="•"/>
            </a:pPr>
            <a:endParaRPr lang="en-IN" sz="2400" dirty="0"/>
          </a:p>
          <a:p>
            <a:pPr marL="342900" indent="-342900" algn="just">
              <a:buFont typeface="Arial" panose="020B0604020202020204" pitchFamily="34" charset="0"/>
              <a:buChar char="•"/>
            </a:pPr>
            <a:r>
              <a:rPr lang="en-IN" sz="2400" dirty="0"/>
              <a:t>Greater </a:t>
            </a:r>
            <a:r>
              <a:rPr lang="en-IN" sz="2400" dirty="0" smtClean="0"/>
              <a:t>ROI</a:t>
            </a:r>
          </a:p>
          <a:p>
            <a:pPr marL="342900" indent="-342900" algn="just">
              <a:buFont typeface="Arial" panose="020B0604020202020204" pitchFamily="34" charset="0"/>
              <a:buChar char="•"/>
            </a:pPr>
            <a:endParaRPr lang="en-IN" sz="2400" dirty="0"/>
          </a:p>
          <a:p>
            <a:pPr marL="342900" indent="-342900" algn="just">
              <a:buFont typeface="Arial" panose="020B0604020202020204" pitchFamily="34" charset="0"/>
              <a:buChar char="•"/>
            </a:pPr>
            <a:r>
              <a:rPr lang="en-US" sz="2400" dirty="0"/>
              <a:t>Carrier aggregation (CA) is a technique that uses multiple carriers simultaneously to increase bandwidth and data rates for mobile networks.</a:t>
            </a:r>
          </a:p>
        </p:txBody>
      </p:sp>
      <p:sp>
        <p:nvSpPr>
          <p:cNvPr id="6" name="object 3"/>
          <p:cNvSpPr txBox="1">
            <a:spLocks/>
          </p:cNvSpPr>
          <p:nvPr/>
        </p:nvSpPr>
        <p:spPr bwMode="auto">
          <a:xfrm>
            <a:off x="1447800" y="39976"/>
            <a:ext cx="6569625" cy="381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12065" rIns="0" bIns="0" numCol="1" rtlCol="0" anchor="ctr" anchorCtr="0" compatLnSpc="1">
            <a:prstTxWarp prst="textNoShape">
              <a:avLst/>
            </a:prstTxWarp>
            <a:spAutoFit/>
          </a:bodyPr>
          <a:lstStyle>
            <a:lvl1pPr algn="ctr" rtl="0" eaLnBrk="0" fontAlgn="base" hangingPunct="0">
              <a:spcBef>
                <a:spcPct val="0"/>
              </a:spcBef>
              <a:spcAft>
                <a:spcPct val="0"/>
              </a:spcAft>
              <a:defRPr sz="3300">
                <a:solidFill>
                  <a:schemeClr val="tx2"/>
                </a:solidFill>
                <a:latin typeface="+mj-lt"/>
                <a:ea typeface="+mj-ea"/>
                <a:cs typeface="+mj-cs"/>
              </a:defRPr>
            </a:lvl1pPr>
            <a:lvl2pPr algn="ctr" rtl="0" eaLnBrk="0" fontAlgn="base" hangingPunct="0">
              <a:spcBef>
                <a:spcPct val="0"/>
              </a:spcBef>
              <a:spcAft>
                <a:spcPct val="0"/>
              </a:spcAft>
              <a:defRPr sz="3300">
                <a:solidFill>
                  <a:schemeClr val="tx2"/>
                </a:solidFill>
                <a:latin typeface="Arial" charset="0"/>
              </a:defRPr>
            </a:lvl2pPr>
            <a:lvl3pPr algn="ctr" rtl="0" eaLnBrk="0" fontAlgn="base" hangingPunct="0">
              <a:spcBef>
                <a:spcPct val="0"/>
              </a:spcBef>
              <a:spcAft>
                <a:spcPct val="0"/>
              </a:spcAft>
              <a:defRPr sz="3300">
                <a:solidFill>
                  <a:schemeClr val="tx2"/>
                </a:solidFill>
                <a:latin typeface="Arial" charset="0"/>
              </a:defRPr>
            </a:lvl3pPr>
            <a:lvl4pPr algn="ctr" rtl="0" eaLnBrk="0" fontAlgn="base" hangingPunct="0">
              <a:spcBef>
                <a:spcPct val="0"/>
              </a:spcBef>
              <a:spcAft>
                <a:spcPct val="0"/>
              </a:spcAft>
              <a:defRPr sz="3300">
                <a:solidFill>
                  <a:schemeClr val="tx2"/>
                </a:solidFill>
                <a:latin typeface="Arial" charset="0"/>
              </a:defRPr>
            </a:lvl4pPr>
            <a:lvl5pPr algn="ctr" rtl="0" eaLnBrk="0" fontAlgn="base" hangingPunct="0">
              <a:spcBef>
                <a:spcPct val="0"/>
              </a:spcBef>
              <a:spcAft>
                <a:spcPct val="0"/>
              </a:spcAft>
              <a:defRPr sz="3300">
                <a:solidFill>
                  <a:schemeClr val="tx2"/>
                </a:solidFill>
                <a:latin typeface="Arial" charset="0"/>
              </a:defRPr>
            </a:lvl5pPr>
            <a:lvl6pPr marL="342900" algn="ctr" rtl="0" fontAlgn="base">
              <a:spcBef>
                <a:spcPct val="0"/>
              </a:spcBef>
              <a:spcAft>
                <a:spcPct val="0"/>
              </a:spcAft>
              <a:defRPr sz="3300">
                <a:solidFill>
                  <a:schemeClr val="tx2"/>
                </a:solidFill>
                <a:latin typeface="Arial" charset="0"/>
              </a:defRPr>
            </a:lvl6pPr>
            <a:lvl7pPr marL="685800" algn="ctr" rtl="0" fontAlgn="base">
              <a:spcBef>
                <a:spcPct val="0"/>
              </a:spcBef>
              <a:spcAft>
                <a:spcPct val="0"/>
              </a:spcAft>
              <a:defRPr sz="3300">
                <a:solidFill>
                  <a:schemeClr val="tx2"/>
                </a:solidFill>
                <a:latin typeface="Arial" charset="0"/>
              </a:defRPr>
            </a:lvl7pPr>
            <a:lvl8pPr marL="1028700" algn="ctr" rtl="0" fontAlgn="base">
              <a:spcBef>
                <a:spcPct val="0"/>
              </a:spcBef>
              <a:spcAft>
                <a:spcPct val="0"/>
              </a:spcAft>
              <a:defRPr sz="3300">
                <a:solidFill>
                  <a:schemeClr val="tx2"/>
                </a:solidFill>
                <a:latin typeface="Arial" charset="0"/>
              </a:defRPr>
            </a:lvl8pPr>
            <a:lvl9pPr marL="1371600" algn="ctr" rtl="0" fontAlgn="base">
              <a:spcBef>
                <a:spcPct val="0"/>
              </a:spcBef>
              <a:spcAft>
                <a:spcPct val="0"/>
              </a:spcAft>
              <a:defRPr sz="3300">
                <a:solidFill>
                  <a:schemeClr val="tx2"/>
                </a:solidFill>
                <a:latin typeface="Arial" charset="0"/>
              </a:defRPr>
            </a:lvl9pPr>
          </a:lstStyle>
          <a:p>
            <a:pPr marL="12700">
              <a:spcBef>
                <a:spcPts val="95"/>
              </a:spcBef>
            </a:pPr>
            <a:r>
              <a:rPr lang="en-US" sz="2400" kern="0" spc="-10" dirty="0">
                <a:solidFill>
                  <a:srgbClr val="FF0000"/>
                </a:solidFill>
              </a:rPr>
              <a:t>Key benefits of 5G Carrier Aggregation </a:t>
            </a:r>
            <a:r>
              <a:rPr lang="en-IN" sz="2400" kern="0" spc="-10" dirty="0" smtClean="0">
                <a:solidFill>
                  <a:srgbClr val="FF0000"/>
                </a:solidFill>
              </a:rPr>
              <a:t>t</a:t>
            </a:r>
            <a:endParaRPr lang="en-IN" sz="2400" kern="0" spc="-10" dirty="0">
              <a:solidFill>
                <a:srgbClr val="FF0000"/>
              </a:solidFill>
            </a:endParaRPr>
          </a:p>
        </p:txBody>
      </p:sp>
    </p:spTree>
    <p:extLst>
      <p:ext uri="{BB962C8B-B14F-4D97-AF65-F5344CB8AC3E}">
        <p14:creationId xmlns:p14="http://schemas.microsoft.com/office/powerpoint/2010/main" val="69216797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573" y="23622"/>
            <a:ext cx="9127427" cy="1143000"/>
          </a:xfrm>
          <a:prstGeom prst="rect">
            <a:avLst/>
          </a:prstGeom>
        </p:spPr>
      </p:pic>
      <p:sp>
        <p:nvSpPr>
          <p:cNvPr id="3" name="object 3"/>
          <p:cNvSpPr txBox="1">
            <a:spLocks noGrp="1"/>
          </p:cNvSpPr>
          <p:nvPr>
            <p:ph type="title"/>
          </p:nvPr>
        </p:nvSpPr>
        <p:spPr>
          <a:xfrm>
            <a:off x="1812175" y="45209"/>
            <a:ext cx="5595650" cy="1027845"/>
          </a:xfrm>
          <a:prstGeom prst="rect">
            <a:avLst/>
          </a:prstGeom>
        </p:spPr>
        <p:txBody>
          <a:bodyPr vert="horz" wrap="square" lIns="0" tIns="12065" rIns="0" bIns="0" rtlCol="0">
            <a:spAutoFit/>
          </a:bodyPr>
          <a:lstStyle/>
          <a:p>
            <a:pPr marL="12700">
              <a:lnSpc>
                <a:spcPct val="100000"/>
              </a:lnSpc>
              <a:spcBef>
                <a:spcPts val="95"/>
              </a:spcBef>
            </a:pPr>
            <a:r>
              <a:rPr spc="-10" dirty="0">
                <a:solidFill>
                  <a:srgbClr val="FF0000"/>
                </a:solidFill>
              </a:rPr>
              <a:t>Carrier</a:t>
            </a:r>
            <a:r>
              <a:rPr spc="5" dirty="0">
                <a:solidFill>
                  <a:srgbClr val="FF0000"/>
                </a:solidFill>
              </a:rPr>
              <a:t> </a:t>
            </a:r>
            <a:r>
              <a:rPr spc="-15" dirty="0">
                <a:solidFill>
                  <a:srgbClr val="FF0000"/>
                </a:solidFill>
              </a:rPr>
              <a:t>Aggregation</a:t>
            </a:r>
            <a:r>
              <a:rPr spc="15" dirty="0">
                <a:solidFill>
                  <a:srgbClr val="FF0000"/>
                </a:solidFill>
              </a:rPr>
              <a:t> </a:t>
            </a:r>
            <a:r>
              <a:rPr spc="-5" dirty="0">
                <a:solidFill>
                  <a:srgbClr val="FF0000"/>
                </a:solidFill>
              </a:rPr>
              <a:t>(CA)</a:t>
            </a:r>
            <a:r>
              <a:rPr spc="5" dirty="0">
                <a:solidFill>
                  <a:srgbClr val="FF0000"/>
                </a:solidFill>
              </a:rPr>
              <a:t> </a:t>
            </a:r>
            <a:r>
              <a:rPr spc="-10" dirty="0">
                <a:solidFill>
                  <a:srgbClr val="FF0000"/>
                </a:solidFill>
              </a:rPr>
              <a:t>Concept</a:t>
            </a:r>
          </a:p>
        </p:txBody>
      </p:sp>
      <p:pic>
        <p:nvPicPr>
          <p:cNvPr id="4" name="object 4"/>
          <p:cNvPicPr/>
          <p:nvPr/>
        </p:nvPicPr>
        <p:blipFill>
          <a:blip r:embed="rId3" cstate="print"/>
          <a:stretch>
            <a:fillRect/>
          </a:stretch>
        </p:blipFill>
        <p:spPr>
          <a:xfrm>
            <a:off x="1028701" y="1524001"/>
            <a:ext cx="6651116" cy="4910315"/>
          </a:xfrm>
          <a:prstGeom prst="rect">
            <a:avLst/>
          </a:prstGeom>
        </p:spPr>
      </p:pic>
    </p:spTree>
    <p:extLst>
      <p:ext uri="{BB962C8B-B14F-4D97-AF65-F5344CB8AC3E}">
        <p14:creationId xmlns:p14="http://schemas.microsoft.com/office/powerpoint/2010/main" val="254969961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573" y="23622"/>
            <a:ext cx="9127427" cy="1143000"/>
          </a:xfrm>
          <a:prstGeom prst="rect">
            <a:avLst/>
          </a:prstGeom>
        </p:spPr>
      </p:pic>
      <p:sp>
        <p:nvSpPr>
          <p:cNvPr id="3" name="object 3"/>
          <p:cNvSpPr txBox="1">
            <a:spLocks noGrp="1"/>
          </p:cNvSpPr>
          <p:nvPr>
            <p:ph type="title"/>
          </p:nvPr>
        </p:nvSpPr>
        <p:spPr>
          <a:xfrm>
            <a:off x="1029480" y="45209"/>
            <a:ext cx="7098030" cy="1027845"/>
          </a:xfrm>
          <a:prstGeom prst="rect">
            <a:avLst/>
          </a:prstGeom>
        </p:spPr>
        <p:txBody>
          <a:bodyPr vert="horz" wrap="square" lIns="0" tIns="12065" rIns="0" bIns="0" rtlCol="0">
            <a:spAutoFit/>
          </a:bodyPr>
          <a:lstStyle/>
          <a:p>
            <a:pPr marL="12700">
              <a:lnSpc>
                <a:spcPct val="100000"/>
              </a:lnSpc>
              <a:spcBef>
                <a:spcPts val="95"/>
              </a:spcBef>
            </a:pPr>
            <a:r>
              <a:rPr spc="-10" dirty="0">
                <a:solidFill>
                  <a:srgbClr val="FF0000"/>
                </a:solidFill>
              </a:rPr>
              <a:t>Carrier</a:t>
            </a:r>
            <a:r>
              <a:rPr spc="15" dirty="0">
                <a:solidFill>
                  <a:srgbClr val="FF0000"/>
                </a:solidFill>
              </a:rPr>
              <a:t> </a:t>
            </a:r>
            <a:r>
              <a:rPr spc="-15" dirty="0">
                <a:solidFill>
                  <a:srgbClr val="FF0000"/>
                </a:solidFill>
              </a:rPr>
              <a:t>Aggregation</a:t>
            </a:r>
            <a:r>
              <a:rPr spc="30" dirty="0">
                <a:solidFill>
                  <a:srgbClr val="FF0000"/>
                </a:solidFill>
              </a:rPr>
              <a:t> </a:t>
            </a:r>
            <a:r>
              <a:rPr spc="-5" dirty="0">
                <a:solidFill>
                  <a:srgbClr val="FF0000"/>
                </a:solidFill>
              </a:rPr>
              <a:t>in</a:t>
            </a:r>
            <a:r>
              <a:rPr dirty="0">
                <a:solidFill>
                  <a:srgbClr val="FF0000"/>
                </a:solidFill>
              </a:rPr>
              <a:t> </a:t>
            </a:r>
            <a:r>
              <a:rPr spc="-114" dirty="0">
                <a:solidFill>
                  <a:srgbClr val="FF0000"/>
                </a:solidFill>
              </a:rPr>
              <a:t>LTE</a:t>
            </a:r>
            <a:r>
              <a:rPr spc="15" dirty="0">
                <a:solidFill>
                  <a:srgbClr val="FF0000"/>
                </a:solidFill>
              </a:rPr>
              <a:t> </a:t>
            </a:r>
            <a:r>
              <a:rPr spc="-15" dirty="0">
                <a:solidFill>
                  <a:srgbClr val="FF0000"/>
                </a:solidFill>
              </a:rPr>
              <a:t>Advanced</a:t>
            </a:r>
            <a:r>
              <a:rPr spc="25" dirty="0">
                <a:solidFill>
                  <a:srgbClr val="FF0000"/>
                </a:solidFill>
              </a:rPr>
              <a:t> </a:t>
            </a:r>
            <a:r>
              <a:rPr spc="-5" dirty="0">
                <a:solidFill>
                  <a:srgbClr val="FF0000"/>
                </a:solidFill>
              </a:rPr>
              <a:t>/</a:t>
            </a:r>
            <a:r>
              <a:rPr dirty="0">
                <a:solidFill>
                  <a:srgbClr val="FF0000"/>
                </a:solidFill>
              </a:rPr>
              <a:t> </a:t>
            </a:r>
            <a:r>
              <a:rPr spc="-25" dirty="0">
                <a:solidFill>
                  <a:srgbClr val="FF0000"/>
                </a:solidFill>
              </a:rPr>
              <a:t>Pro</a:t>
            </a:r>
          </a:p>
        </p:txBody>
      </p:sp>
      <p:grpSp>
        <p:nvGrpSpPr>
          <p:cNvPr id="4" name="object 4"/>
          <p:cNvGrpSpPr/>
          <p:nvPr/>
        </p:nvGrpSpPr>
        <p:grpSpPr>
          <a:xfrm>
            <a:off x="169735" y="1315211"/>
            <a:ext cx="8974455" cy="5069840"/>
            <a:chOff x="226313" y="1315211"/>
            <a:chExt cx="11965940" cy="5069840"/>
          </a:xfrm>
        </p:grpSpPr>
        <p:pic>
          <p:nvPicPr>
            <p:cNvPr id="5" name="object 5"/>
            <p:cNvPicPr/>
            <p:nvPr/>
          </p:nvPicPr>
          <p:blipFill>
            <a:blip r:embed="rId3" cstate="print"/>
            <a:stretch>
              <a:fillRect/>
            </a:stretch>
          </p:blipFill>
          <p:spPr>
            <a:xfrm>
              <a:off x="5767578" y="2438400"/>
              <a:ext cx="6424421" cy="3023615"/>
            </a:xfrm>
            <a:prstGeom prst="rect">
              <a:avLst/>
            </a:prstGeom>
          </p:spPr>
        </p:pic>
        <p:pic>
          <p:nvPicPr>
            <p:cNvPr id="6" name="object 6"/>
            <p:cNvPicPr/>
            <p:nvPr/>
          </p:nvPicPr>
          <p:blipFill>
            <a:blip r:embed="rId4" cstate="print"/>
            <a:stretch>
              <a:fillRect/>
            </a:stretch>
          </p:blipFill>
          <p:spPr>
            <a:xfrm>
              <a:off x="226313" y="1315211"/>
              <a:ext cx="5583174" cy="1712975"/>
            </a:xfrm>
            <a:prstGeom prst="rect">
              <a:avLst/>
            </a:prstGeom>
          </p:spPr>
        </p:pic>
        <p:pic>
          <p:nvPicPr>
            <p:cNvPr id="7" name="object 7"/>
            <p:cNvPicPr/>
            <p:nvPr/>
          </p:nvPicPr>
          <p:blipFill>
            <a:blip r:embed="rId5" cstate="print"/>
            <a:stretch>
              <a:fillRect/>
            </a:stretch>
          </p:blipFill>
          <p:spPr>
            <a:xfrm>
              <a:off x="226313" y="2993897"/>
              <a:ext cx="5644133" cy="1712975"/>
            </a:xfrm>
            <a:prstGeom prst="rect">
              <a:avLst/>
            </a:prstGeom>
          </p:spPr>
        </p:pic>
        <p:pic>
          <p:nvPicPr>
            <p:cNvPr id="8" name="object 8"/>
            <p:cNvPicPr/>
            <p:nvPr/>
          </p:nvPicPr>
          <p:blipFill>
            <a:blip r:embed="rId6" cstate="print"/>
            <a:stretch>
              <a:fillRect/>
            </a:stretch>
          </p:blipFill>
          <p:spPr>
            <a:xfrm>
              <a:off x="226313" y="4671821"/>
              <a:ext cx="5583174" cy="1712975"/>
            </a:xfrm>
            <a:prstGeom prst="rect">
              <a:avLst/>
            </a:prstGeom>
          </p:spPr>
        </p:pic>
      </p:grpSp>
      <p:sp>
        <p:nvSpPr>
          <p:cNvPr id="9" name="object 9"/>
          <p:cNvSpPr txBox="1"/>
          <p:nvPr/>
        </p:nvSpPr>
        <p:spPr>
          <a:xfrm>
            <a:off x="304800" y="1372603"/>
            <a:ext cx="4116527" cy="4951997"/>
          </a:xfrm>
          <a:prstGeom prst="rect">
            <a:avLst/>
          </a:prstGeom>
        </p:spPr>
        <p:txBody>
          <a:bodyPr vert="horz" wrap="square" lIns="0" tIns="57785" rIns="0" bIns="0" rtlCol="0">
            <a:spAutoFit/>
          </a:bodyPr>
          <a:lstStyle/>
          <a:p>
            <a:pPr marL="12700" marR="519430">
              <a:lnSpc>
                <a:spcPts val="3180"/>
              </a:lnSpc>
              <a:spcBef>
                <a:spcPts val="455"/>
              </a:spcBef>
            </a:pPr>
            <a:r>
              <a:rPr sz="2400" spc="-5" dirty="0">
                <a:solidFill>
                  <a:srgbClr val="FFFFFF"/>
                </a:solidFill>
                <a:latin typeface="Calibri"/>
                <a:cs typeface="Calibri"/>
              </a:rPr>
              <a:t>CA </a:t>
            </a:r>
            <a:r>
              <a:rPr sz="2400" spc="-10" dirty="0">
                <a:solidFill>
                  <a:srgbClr val="FFFFFF"/>
                </a:solidFill>
                <a:latin typeface="Calibri"/>
                <a:cs typeface="Calibri"/>
              </a:rPr>
              <a:t>concept</a:t>
            </a:r>
            <a:r>
              <a:rPr sz="2400" dirty="0">
                <a:solidFill>
                  <a:srgbClr val="FFFFFF"/>
                </a:solidFill>
                <a:latin typeface="Calibri"/>
                <a:cs typeface="Calibri"/>
              </a:rPr>
              <a:t> </a:t>
            </a:r>
            <a:r>
              <a:rPr sz="2400" spc="-15" dirty="0">
                <a:solidFill>
                  <a:srgbClr val="FFFFFF"/>
                </a:solidFill>
                <a:latin typeface="Calibri"/>
                <a:cs typeface="Calibri"/>
              </a:rPr>
              <a:t>introduced</a:t>
            </a:r>
            <a:r>
              <a:rPr sz="2400" spc="5" dirty="0">
                <a:solidFill>
                  <a:srgbClr val="FFFFFF"/>
                </a:solidFill>
                <a:latin typeface="Calibri"/>
                <a:cs typeface="Calibri"/>
              </a:rPr>
              <a:t> </a:t>
            </a:r>
            <a:r>
              <a:rPr sz="2400" spc="-5" dirty="0">
                <a:solidFill>
                  <a:srgbClr val="FFFFFF"/>
                </a:solidFill>
                <a:latin typeface="Calibri"/>
                <a:cs typeface="Calibri"/>
              </a:rPr>
              <a:t>in</a:t>
            </a:r>
            <a:r>
              <a:rPr sz="2400" spc="-10" dirty="0">
                <a:solidFill>
                  <a:srgbClr val="FFFFFF"/>
                </a:solidFill>
                <a:latin typeface="Calibri"/>
                <a:cs typeface="Calibri"/>
              </a:rPr>
              <a:t> </a:t>
            </a:r>
            <a:r>
              <a:rPr sz="2400" spc="-75" dirty="0">
                <a:solidFill>
                  <a:srgbClr val="FFFFFF"/>
                </a:solidFill>
                <a:latin typeface="Calibri"/>
                <a:cs typeface="Calibri"/>
              </a:rPr>
              <a:t>LTE </a:t>
            </a:r>
            <a:r>
              <a:rPr sz="2400" spc="-70" dirty="0">
                <a:solidFill>
                  <a:srgbClr val="FFFFFF"/>
                </a:solidFill>
                <a:latin typeface="Calibri"/>
                <a:cs typeface="Calibri"/>
              </a:rPr>
              <a:t> </a:t>
            </a:r>
            <a:r>
              <a:rPr sz="2400" spc="-10" dirty="0">
                <a:solidFill>
                  <a:srgbClr val="FFFFFF"/>
                </a:solidFill>
                <a:latin typeface="Calibri"/>
                <a:cs typeface="Calibri"/>
              </a:rPr>
              <a:t>Advanced</a:t>
            </a:r>
            <a:r>
              <a:rPr sz="2400" spc="-5" dirty="0">
                <a:solidFill>
                  <a:srgbClr val="FFFFFF"/>
                </a:solidFill>
                <a:latin typeface="Calibri"/>
                <a:cs typeface="Calibri"/>
              </a:rPr>
              <a:t> (</a:t>
            </a:r>
            <a:r>
              <a:rPr sz="2400" spc="-15" dirty="0">
                <a:solidFill>
                  <a:srgbClr val="FFFFFF"/>
                </a:solidFill>
                <a:latin typeface="Calibri"/>
                <a:cs typeface="Calibri"/>
              </a:rPr>
              <a:t> </a:t>
            </a:r>
            <a:r>
              <a:rPr sz="2400" spc="-10" dirty="0">
                <a:solidFill>
                  <a:srgbClr val="FFFFFF"/>
                </a:solidFill>
                <a:latin typeface="Calibri"/>
                <a:cs typeface="Calibri"/>
              </a:rPr>
              <a:t>Release-10)</a:t>
            </a:r>
            <a:r>
              <a:rPr sz="2400" spc="5" dirty="0">
                <a:solidFill>
                  <a:srgbClr val="FFFFFF"/>
                </a:solidFill>
                <a:latin typeface="Calibri"/>
                <a:cs typeface="Calibri"/>
              </a:rPr>
              <a:t> </a:t>
            </a:r>
            <a:r>
              <a:rPr sz="2400" spc="-5" dirty="0">
                <a:solidFill>
                  <a:srgbClr val="FFFFFF"/>
                </a:solidFill>
                <a:latin typeface="Calibri"/>
                <a:cs typeface="Calibri"/>
              </a:rPr>
              <a:t>with</a:t>
            </a:r>
            <a:r>
              <a:rPr sz="2400" spc="-15" dirty="0">
                <a:solidFill>
                  <a:srgbClr val="FFFFFF"/>
                </a:solidFill>
                <a:latin typeface="Calibri"/>
                <a:cs typeface="Calibri"/>
              </a:rPr>
              <a:t> </a:t>
            </a:r>
            <a:r>
              <a:rPr sz="2400" spc="-5" dirty="0">
                <a:solidFill>
                  <a:srgbClr val="FFFFFF"/>
                </a:solidFill>
                <a:latin typeface="Calibri"/>
                <a:cs typeface="Calibri"/>
              </a:rPr>
              <a:t>5 </a:t>
            </a:r>
            <a:r>
              <a:rPr sz="2400" spc="-640" dirty="0">
                <a:solidFill>
                  <a:srgbClr val="FFFFFF"/>
                </a:solidFill>
                <a:latin typeface="Calibri"/>
                <a:cs typeface="Calibri"/>
              </a:rPr>
              <a:t> </a:t>
            </a:r>
            <a:r>
              <a:rPr sz="2400" spc="-15" dirty="0">
                <a:solidFill>
                  <a:srgbClr val="FFFFFF"/>
                </a:solidFill>
                <a:latin typeface="Calibri"/>
                <a:cs typeface="Calibri"/>
              </a:rPr>
              <a:t>Carriers</a:t>
            </a:r>
            <a:r>
              <a:rPr sz="2400" spc="5" dirty="0">
                <a:solidFill>
                  <a:srgbClr val="FFFFFF"/>
                </a:solidFill>
                <a:latin typeface="Calibri"/>
                <a:cs typeface="Calibri"/>
              </a:rPr>
              <a:t> </a:t>
            </a:r>
            <a:r>
              <a:rPr sz="2400" spc="-5" dirty="0">
                <a:solidFill>
                  <a:srgbClr val="FFFFFF"/>
                </a:solidFill>
                <a:latin typeface="Calibri"/>
                <a:cs typeface="Calibri"/>
              </a:rPr>
              <a:t>Components</a:t>
            </a:r>
            <a:r>
              <a:rPr sz="2400" dirty="0">
                <a:solidFill>
                  <a:srgbClr val="FFFFFF"/>
                </a:solidFill>
                <a:latin typeface="Calibri"/>
                <a:cs typeface="Calibri"/>
              </a:rPr>
              <a:t> </a:t>
            </a:r>
            <a:r>
              <a:rPr sz="2400" spc="-5" dirty="0">
                <a:solidFill>
                  <a:srgbClr val="FFFFFF"/>
                </a:solidFill>
                <a:latin typeface="Calibri"/>
                <a:cs typeface="Calibri"/>
              </a:rPr>
              <a:t>(CC)</a:t>
            </a:r>
            <a:endParaRPr sz="2400" dirty="0">
              <a:latin typeface="Calibri"/>
              <a:cs typeface="Calibri"/>
            </a:endParaRPr>
          </a:p>
          <a:p>
            <a:pPr>
              <a:lnSpc>
                <a:spcPct val="100000"/>
              </a:lnSpc>
              <a:spcBef>
                <a:spcPts val="10"/>
              </a:spcBef>
            </a:pPr>
            <a:endParaRPr sz="2400" dirty="0">
              <a:latin typeface="Calibri"/>
              <a:cs typeface="Calibri"/>
            </a:endParaRPr>
          </a:p>
          <a:p>
            <a:pPr marL="12700" marR="5080">
              <a:lnSpc>
                <a:spcPts val="3180"/>
              </a:lnSpc>
            </a:pPr>
            <a:r>
              <a:rPr sz="2400" spc="-15" dirty="0">
                <a:solidFill>
                  <a:srgbClr val="FFFFFF"/>
                </a:solidFill>
                <a:latin typeface="Calibri"/>
                <a:cs typeface="Calibri"/>
              </a:rPr>
              <a:t>Max</a:t>
            </a:r>
            <a:r>
              <a:rPr sz="2400" dirty="0">
                <a:solidFill>
                  <a:srgbClr val="FFFFFF"/>
                </a:solidFill>
                <a:latin typeface="Calibri"/>
                <a:cs typeface="Calibri"/>
              </a:rPr>
              <a:t> </a:t>
            </a:r>
            <a:r>
              <a:rPr sz="2400" spc="-5" dirty="0">
                <a:solidFill>
                  <a:srgbClr val="FFFFFF"/>
                </a:solidFill>
                <a:latin typeface="Calibri"/>
                <a:cs typeface="Calibri"/>
              </a:rPr>
              <a:t>Channel</a:t>
            </a:r>
            <a:r>
              <a:rPr sz="2400" dirty="0">
                <a:solidFill>
                  <a:srgbClr val="FFFFFF"/>
                </a:solidFill>
                <a:latin typeface="Calibri"/>
                <a:cs typeface="Calibri"/>
              </a:rPr>
              <a:t> </a:t>
            </a:r>
            <a:r>
              <a:rPr sz="2400" spc="-5" dirty="0">
                <a:solidFill>
                  <a:srgbClr val="FFFFFF"/>
                </a:solidFill>
                <a:latin typeface="Calibri"/>
                <a:cs typeface="Calibri"/>
              </a:rPr>
              <a:t>bandwidth with</a:t>
            </a:r>
            <a:r>
              <a:rPr sz="2400" dirty="0">
                <a:solidFill>
                  <a:srgbClr val="FFFFFF"/>
                </a:solidFill>
                <a:latin typeface="Calibri"/>
                <a:cs typeface="Calibri"/>
              </a:rPr>
              <a:t> </a:t>
            </a:r>
            <a:r>
              <a:rPr sz="2400" spc="-5" dirty="0">
                <a:solidFill>
                  <a:srgbClr val="FFFFFF"/>
                </a:solidFill>
                <a:latin typeface="Calibri"/>
                <a:cs typeface="Calibri"/>
              </a:rPr>
              <a:t>5 </a:t>
            </a:r>
            <a:r>
              <a:rPr sz="2400" dirty="0">
                <a:solidFill>
                  <a:srgbClr val="FFFFFF"/>
                </a:solidFill>
                <a:latin typeface="Calibri"/>
                <a:cs typeface="Calibri"/>
              </a:rPr>
              <a:t> </a:t>
            </a:r>
            <a:r>
              <a:rPr sz="2400" spc="-5" dirty="0">
                <a:solidFill>
                  <a:srgbClr val="FFFFFF"/>
                </a:solidFill>
                <a:latin typeface="Calibri"/>
                <a:cs typeface="Calibri"/>
              </a:rPr>
              <a:t>Carrier </a:t>
            </a:r>
            <a:r>
              <a:rPr sz="2400" spc="-10" dirty="0">
                <a:solidFill>
                  <a:srgbClr val="FFFFFF"/>
                </a:solidFill>
                <a:latin typeface="Calibri"/>
                <a:cs typeface="Calibri"/>
              </a:rPr>
              <a:t>component </a:t>
            </a:r>
            <a:r>
              <a:rPr sz="2400" spc="-5" dirty="0">
                <a:solidFill>
                  <a:srgbClr val="FFFFFF"/>
                </a:solidFill>
                <a:latin typeface="Calibri"/>
                <a:cs typeface="Calibri"/>
              </a:rPr>
              <a:t>of 20MHz </a:t>
            </a:r>
            <a:r>
              <a:rPr sz="2400" spc="-15" dirty="0">
                <a:solidFill>
                  <a:srgbClr val="FFFFFF"/>
                </a:solidFill>
                <a:latin typeface="Calibri"/>
                <a:cs typeface="Calibri"/>
              </a:rPr>
              <a:t>was </a:t>
            </a:r>
            <a:r>
              <a:rPr sz="2400" spc="-645" dirty="0">
                <a:solidFill>
                  <a:srgbClr val="FFFFFF"/>
                </a:solidFill>
                <a:latin typeface="Calibri"/>
                <a:cs typeface="Calibri"/>
              </a:rPr>
              <a:t> </a:t>
            </a:r>
            <a:r>
              <a:rPr sz="2400" spc="-5" dirty="0">
                <a:solidFill>
                  <a:srgbClr val="FFFFFF"/>
                </a:solidFill>
                <a:latin typeface="Calibri"/>
                <a:cs typeface="Calibri"/>
              </a:rPr>
              <a:t>100MHz</a:t>
            </a:r>
            <a:endParaRPr sz="2400" dirty="0">
              <a:latin typeface="Calibri"/>
              <a:cs typeface="Calibri"/>
            </a:endParaRPr>
          </a:p>
          <a:p>
            <a:pPr>
              <a:lnSpc>
                <a:spcPct val="100000"/>
              </a:lnSpc>
              <a:spcBef>
                <a:spcPts val="20"/>
              </a:spcBef>
            </a:pPr>
            <a:endParaRPr sz="2400" dirty="0">
              <a:latin typeface="Calibri"/>
              <a:cs typeface="Calibri"/>
            </a:endParaRPr>
          </a:p>
          <a:p>
            <a:pPr marL="12700">
              <a:lnSpc>
                <a:spcPts val="3329"/>
              </a:lnSpc>
            </a:pPr>
            <a:endParaRPr lang="en-US" sz="2400" spc="-75" dirty="0" smtClean="0">
              <a:solidFill>
                <a:srgbClr val="FFFFFF"/>
              </a:solidFill>
              <a:latin typeface="Calibri"/>
              <a:cs typeface="Calibri"/>
            </a:endParaRPr>
          </a:p>
          <a:p>
            <a:pPr marL="12700">
              <a:lnSpc>
                <a:spcPts val="3329"/>
              </a:lnSpc>
            </a:pPr>
            <a:r>
              <a:rPr sz="2400" spc="-75" dirty="0" smtClean="0">
                <a:solidFill>
                  <a:srgbClr val="FFFFFF"/>
                </a:solidFill>
                <a:latin typeface="Calibri"/>
                <a:cs typeface="Calibri"/>
              </a:rPr>
              <a:t>LTE</a:t>
            </a:r>
            <a:r>
              <a:rPr sz="2400" spc="-10" dirty="0" smtClean="0">
                <a:solidFill>
                  <a:srgbClr val="FFFFFF"/>
                </a:solidFill>
                <a:latin typeface="Calibri"/>
                <a:cs typeface="Calibri"/>
              </a:rPr>
              <a:t> </a:t>
            </a:r>
            <a:r>
              <a:rPr sz="2400" spc="-5" dirty="0">
                <a:solidFill>
                  <a:srgbClr val="FFFFFF"/>
                </a:solidFill>
                <a:latin typeface="Calibri"/>
                <a:cs typeface="Calibri"/>
              </a:rPr>
              <a:t>R-13</a:t>
            </a:r>
            <a:r>
              <a:rPr sz="2400" spc="-15" dirty="0">
                <a:solidFill>
                  <a:srgbClr val="FFFFFF"/>
                </a:solidFill>
                <a:latin typeface="Calibri"/>
                <a:cs typeface="Calibri"/>
              </a:rPr>
              <a:t> </a:t>
            </a:r>
            <a:r>
              <a:rPr sz="2400" spc="-60" dirty="0">
                <a:solidFill>
                  <a:srgbClr val="FFFFFF"/>
                </a:solidFill>
                <a:latin typeface="Calibri"/>
                <a:cs typeface="Calibri"/>
              </a:rPr>
              <a:t>(LTE</a:t>
            </a:r>
            <a:r>
              <a:rPr sz="2400" spc="-10" dirty="0">
                <a:solidFill>
                  <a:srgbClr val="FFFFFF"/>
                </a:solidFill>
                <a:latin typeface="Calibri"/>
                <a:cs typeface="Calibri"/>
              </a:rPr>
              <a:t> Advanced-PRO),</a:t>
            </a:r>
            <a:endParaRPr sz="2400" dirty="0">
              <a:latin typeface="Calibri"/>
              <a:cs typeface="Calibri"/>
            </a:endParaRPr>
          </a:p>
          <a:p>
            <a:pPr marL="12700" marR="452120">
              <a:lnSpc>
                <a:spcPts val="3180"/>
              </a:lnSpc>
              <a:spcBef>
                <a:spcPts val="210"/>
              </a:spcBef>
            </a:pPr>
            <a:r>
              <a:rPr sz="2400" spc="-5" dirty="0">
                <a:solidFill>
                  <a:srgbClr val="FFFFFF"/>
                </a:solidFill>
                <a:latin typeface="Calibri"/>
                <a:cs typeface="Calibri"/>
              </a:rPr>
              <a:t>supports</a:t>
            </a:r>
            <a:r>
              <a:rPr sz="2400" spc="-10" dirty="0">
                <a:solidFill>
                  <a:srgbClr val="FFFFFF"/>
                </a:solidFill>
                <a:latin typeface="Calibri"/>
                <a:cs typeface="Calibri"/>
              </a:rPr>
              <a:t> </a:t>
            </a:r>
            <a:r>
              <a:rPr sz="2400" spc="-5" dirty="0">
                <a:solidFill>
                  <a:srgbClr val="FFFFFF"/>
                </a:solidFill>
                <a:latin typeface="Calibri"/>
                <a:cs typeface="Calibri"/>
              </a:rPr>
              <a:t>32</a:t>
            </a:r>
            <a:r>
              <a:rPr sz="2400" dirty="0">
                <a:solidFill>
                  <a:srgbClr val="FFFFFF"/>
                </a:solidFill>
                <a:latin typeface="Calibri"/>
                <a:cs typeface="Calibri"/>
              </a:rPr>
              <a:t> </a:t>
            </a:r>
            <a:r>
              <a:rPr sz="2400" spc="-5" dirty="0">
                <a:solidFill>
                  <a:srgbClr val="FFFFFF"/>
                </a:solidFill>
                <a:latin typeface="Calibri"/>
                <a:cs typeface="Calibri"/>
              </a:rPr>
              <a:t>CCs</a:t>
            </a:r>
            <a:r>
              <a:rPr sz="2400" spc="-15" dirty="0">
                <a:solidFill>
                  <a:srgbClr val="FFFFFF"/>
                </a:solidFill>
                <a:latin typeface="Calibri"/>
                <a:cs typeface="Calibri"/>
              </a:rPr>
              <a:t> (Max</a:t>
            </a:r>
            <a:r>
              <a:rPr sz="2400" spc="15" dirty="0">
                <a:solidFill>
                  <a:srgbClr val="FFFFFF"/>
                </a:solidFill>
                <a:latin typeface="Calibri"/>
                <a:cs typeface="Calibri"/>
              </a:rPr>
              <a:t> </a:t>
            </a:r>
            <a:r>
              <a:rPr sz="2400" spc="-5" dirty="0">
                <a:solidFill>
                  <a:srgbClr val="FFFFFF"/>
                </a:solidFill>
                <a:latin typeface="Calibri"/>
                <a:cs typeface="Calibri"/>
              </a:rPr>
              <a:t>Ch </a:t>
            </a:r>
            <a:r>
              <a:rPr sz="2400" spc="-20" dirty="0">
                <a:solidFill>
                  <a:srgbClr val="FFFFFF"/>
                </a:solidFill>
                <a:latin typeface="Calibri"/>
                <a:cs typeface="Calibri"/>
              </a:rPr>
              <a:t>BW</a:t>
            </a:r>
            <a:r>
              <a:rPr sz="2400" spc="-5" dirty="0">
                <a:solidFill>
                  <a:srgbClr val="FFFFFF"/>
                </a:solidFill>
                <a:latin typeface="Calibri"/>
                <a:cs typeface="Calibri"/>
              </a:rPr>
              <a:t> = </a:t>
            </a:r>
            <a:r>
              <a:rPr sz="2400" spc="-640" dirty="0">
                <a:solidFill>
                  <a:srgbClr val="FFFFFF"/>
                </a:solidFill>
                <a:latin typeface="Calibri"/>
                <a:cs typeface="Calibri"/>
              </a:rPr>
              <a:t> </a:t>
            </a:r>
            <a:r>
              <a:rPr sz="2400" spc="-5" dirty="0">
                <a:solidFill>
                  <a:srgbClr val="FFFFFF"/>
                </a:solidFill>
                <a:latin typeface="Calibri"/>
                <a:cs typeface="Calibri"/>
              </a:rPr>
              <a:t>640 MHz)</a:t>
            </a:r>
            <a:endParaRPr sz="2400" dirty="0">
              <a:latin typeface="Calibri"/>
              <a:cs typeface="Calibri"/>
            </a:endParaRPr>
          </a:p>
        </p:txBody>
      </p:sp>
    </p:spTree>
    <p:extLst>
      <p:ext uri="{BB962C8B-B14F-4D97-AF65-F5344CB8AC3E}">
        <p14:creationId xmlns:p14="http://schemas.microsoft.com/office/powerpoint/2010/main" val="334413194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573" y="23622"/>
            <a:ext cx="9127427" cy="1143000"/>
          </a:xfrm>
          <a:prstGeom prst="rect">
            <a:avLst/>
          </a:prstGeom>
        </p:spPr>
      </p:pic>
      <p:sp>
        <p:nvSpPr>
          <p:cNvPr id="3" name="object 3"/>
          <p:cNvSpPr txBox="1">
            <a:spLocks noGrp="1"/>
          </p:cNvSpPr>
          <p:nvPr>
            <p:ph type="title"/>
          </p:nvPr>
        </p:nvSpPr>
        <p:spPr>
          <a:xfrm>
            <a:off x="2157644" y="45209"/>
            <a:ext cx="4842510" cy="1027845"/>
          </a:xfrm>
          <a:prstGeom prst="rect">
            <a:avLst/>
          </a:prstGeom>
        </p:spPr>
        <p:txBody>
          <a:bodyPr vert="horz" wrap="square" lIns="0" tIns="12065" rIns="0" bIns="0" rtlCol="0">
            <a:spAutoFit/>
          </a:bodyPr>
          <a:lstStyle/>
          <a:p>
            <a:pPr marL="12700">
              <a:lnSpc>
                <a:spcPct val="100000"/>
              </a:lnSpc>
              <a:spcBef>
                <a:spcPts val="95"/>
              </a:spcBef>
            </a:pPr>
            <a:r>
              <a:rPr spc="-10" dirty="0">
                <a:solidFill>
                  <a:srgbClr val="FF0000"/>
                </a:solidFill>
              </a:rPr>
              <a:t>Carrier</a:t>
            </a:r>
            <a:r>
              <a:rPr spc="-5" dirty="0">
                <a:solidFill>
                  <a:srgbClr val="FF0000"/>
                </a:solidFill>
              </a:rPr>
              <a:t> </a:t>
            </a:r>
            <a:r>
              <a:rPr spc="-15" dirty="0">
                <a:solidFill>
                  <a:srgbClr val="FF0000"/>
                </a:solidFill>
              </a:rPr>
              <a:t>Aggregation</a:t>
            </a:r>
            <a:r>
              <a:rPr spc="10" dirty="0">
                <a:solidFill>
                  <a:srgbClr val="FF0000"/>
                </a:solidFill>
              </a:rPr>
              <a:t> </a:t>
            </a:r>
            <a:r>
              <a:rPr spc="-10" dirty="0">
                <a:solidFill>
                  <a:srgbClr val="FF0000"/>
                </a:solidFill>
              </a:rPr>
              <a:t>Concept</a:t>
            </a:r>
          </a:p>
        </p:txBody>
      </p:sp>
      <p:sp>
        <p:nvSpPr>
          <p:cNvPr id="4" name="object 4"/>
          <p:cNvSpPr txBox="1"/>
          <p:nvPr/>
        </p:nvSpPr>
        <p:spPr>
          <a:xfrm>
            <a:off x="1911937" y="6339420"/>
            <a:ext cx="7025640" cy="566822"/>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Source</a:t>
            </a:r>
            <a:r>
              <a:rPr sz="1800" spc="60" dirty="0">
                <a:latin typeface="Calibri"/>
                <a:cs typeface="Calibri"/>
              </a:rPr>
              <a:t> </a:t>
            </a:r>
            <a:r>
              <a:rPr sz="1800" dirty="0">
                <a:latin typeface="Calibri"/>
                <a:cs typeface="Calibri"/>
              </a:rPr>
              <a:t>:</a:t>
            </a:r>
            <a:r>
              <a:rPr sz="1800" spc="70" dirty="0">
                <a:latin typeface="Calibri"/>
                <a:cs typeface="Calibri"/>
              </a:rPr>
              <a:t> </a:t>
            </a:r>
            <a:r>
              <a:rPr sz="1800" spc="-10" dirty="0">
                <a:latin typeface="Calibri"/>
                <a:cs typeface="Calibri"/>
              </a:rPr>
              <a:t>https://</a:t>
            </a:r>
            <a:r>
              <a:rPr sz="1800" spc="-10" dirty="0">
                <a:latin typeface="Calibri"/>
                <a:cs typeface="Calibri"/>
                <a:hlinkClick r:id="rId3"/>
              </a:rPr>
              <a:t>www.3gpp.org/technologies/keywords-acronyms/101-carrier-aggregation-explained</a:t>
            </a:r>
            <a:endParaRPr sz="1800">
              <a:latin typeface="Calibri"/>
              <a:cs typeface="Calibri"/>
            </a:endParaRPr>
          </a:p>
        </p:txBody>
      </p:sp>
      <p:pic>
        <p:nvPicPr>
          <p:cNvPr id="5" name="object 5"/>
          <p:cNvPicPr/>
          <p:nvPr/>
        </p:nvPicPr>
        <p:blipFill>
          <a:blip r:embed="rId4" cstate="print"/>
          <a:stretch>
            <a:fillRect/>
          </a:stretch>
        </p:blipFill>
        <p:spPr>
          <a:xfrm>
            <a:off x="1200151" y="1248918"/>
            <a:ext cx="6915149" cy="5090147"/>
          </a:xfrm>
          <a:prstGeom prst="rect">
            <a:avLst/>
          </a:prstGeom>
        </p:spPr>
      </p:pic>
      <p:sp>
        <p:nvSpPr>
          <p:cNvPr id="6" name="object 6"/>
          <p:cNvSpPr txBox="1"/>
          <p:nvPr/>
        </p:nvSpPr>
        <p:spPr>
          <a:xfrm>
            <a:off x="6629686" y="4115180"/>
            <a:ext cx="685800" cy="309699"/>
          </a:xfrm>
          <a:prstGeom prst="rect">
            <a:avLst/>
          </a:prstGeom>
          <a:solidFill>
            <a:srgbClr val="4F81BC"/>
          </a:solidFill>
          <a:ln w="25400">
            <a:solidFill>
              <a:srgbClr val="385D89"/>
            </a:solidFill>
          </a:ln>
        </p:spPr>
        <p:txBody>
          <a:bodyPr vert="horz" wrap="square" lIns="0" tIns="32384" rIns="0" bIns="0" rtlCol="0">
            <a:spAutoFit/>
          </a:bodyPr>
          <a:lstStyle/>
          <a:p>
            <a:pPr marL="266700">
              <a:lnSpc>
                <a:spcPct val="100000"/>
              </a:lnSpc>
              <a:spcBef>
                <a:spcPts val="254"/>
              </a:spcBef>
            </a:pPr>
            <a:r>
              <a:rPr sz="1800" spc="-5" dirty="0">
                <a:solidFill>
                  <a:srgbClr val="FFFFFF"/>
                </a:solidFill>
                <a:latin typeface="Calibri"/>
                <a:cs typeface="Calibri"/>
              </a:rPr>
              <a:t>gNB</a:t>
            </a:r>
            <a:endParaRPr sz="1800">
              <a:latin typeface="Calibri"/>
              <a:cs typeface="Calibri"/>
            </a:endParaRPr>
          </a:p>
        </p:txBody>
      </p:sp>
      <p:pic>
        <p:nvPicPr>
          <p:cNvPr id="7" name="object 7"/>
          <p:cNvPicPr/>
          <p:nvPr/>
        </p:nvPicPr>
        <p:blipFill>
          <a:blip r:embed="rId5" cstate="print"/>
          <a:stretch>
            <a:fillRect/>
          </a:stretch>
        </p:blipFill>
        <p:spPr>
          <a:xfrm>
            <a:off x="400059" y="2285239"/>
            <a:ext cx="3357552" cy="999743"/>
          </a:xfrm>
          <a:prstGeom prst="rect">
            <a:avLst/>
          </a:prstGeom>
        </p:spPr>
      </p:pic>
    </p:spTree>
    <p:extLst>
      <p:ext uri="{BB962C8B-B14F-4D97-AF65-F5344CB8AC3E}">
        <p14:creationId xmlns:p14="http://schemas.microsoft.com/office/powerpoint/2010/main" val="18989314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573" y="23622"/>
            <a:ext cx="9127427" cy="1143000"/>
          </a:xfrm>
          <a:prstGeom prst="rect">
            <a:avLst/>
          </a:prstGeom>
        </p:spPr>
      </p:pic>
      <p:sp>
        <p:nvSpPr>
          <p:cNvPr id="3" name="object 3"/>
          <p:cNvSpPr txBox="1">
            <a:spLocks noGrp="1"/>
          </p:cNvSpPr>
          <p:nvPr>
            <p:ph type="title"/>
          </p:nvPr>
        </p:nvSpPr>
        <p:spPr>
          <a:xfrm>
            <a:off x="2009602" y="299124"/>
            <a:ext cx="5991398" cy="520014"/>
          </a:xfrm>
          <a:prstGeom prst="rect">
            <a:avLst/>
          </a:prstGeom>
        </p:spPr>
        <p:txBody>
          <a:bodyPr vert="horz" wrap="square" lIns="0" tIns="12065" rIns="0" bIns="0" rtlCol="0">
            <a:spAutoFit/>
          </a:bodyPr>
          <a:lstStyle/>
          <a:p>
            <a:pPr marL="12700">
              <a:lnSpc>
                <a:spcPct val="100000"/>
              </a:lnSpc>
              <a:spcBef>
                <a:spcPts val="95"/>
              </a:spcBef>
            </a:pPr>
            <a:r>
              <a:rPr spc="-10" dirty="0">
                <a:solidFill>
                  <a:srgbClr val="FF0000"/>
                </a:solidFill>
              </a:rPr>
              <a:t>Carrier</a:t>
            </a:r>
            <a:r>
              <a:rPr spc="5" dirty="0">
                <a:solidFill>
                  <a:srgbClr val="FF0000"/>
                </a:solidFill>
              </a:rPr>
              <a:t> </a:t>
            </a:r>
            <a:r>
              <a:rPr spc="-15" dirty="0">
                <a:solidFill>
                  <a:srgbClr val="FF0000"/>
                </a:solidFill>
              </a:rPr>
              <a:t>Aggregation</a:t>
            </a:r>
            <a:r>
              <a:rPr spc="15" dirty="0">
                <a:solidFill>
                  <a:srgbClr val="FF0000"/>
                </a:solidFill>
              </a:rPr>
              <a:t> </a:t>
            </a:r>
            <a:r>
              <a:rPr spc="-5" dirty="0">
                <a:solidFill>
                  <a:srgbClr val="FF0000"/>
                </a:solidFill>
              </a:rPr>
              <a:t>(CA)</a:t>
            </a:r>
            <a:r>
              <a:rPr spc="10" dirty="0">
                <a:solidFill>
                  <a:srgbClr val="FF0000"/>
                </a:solidFill>
              </a:rPr>
              <a:t> </a:t>
            </a:r>
            <a:r>
              <a:rPr spc="-5" dirty="0">
                <a:solidFill>
                  <a:srgbClr val="FF0000"/>
                </a:solidFill>
              </a:rPr>
              <a:t>in</a:t>
            </a:r>
            <a:r>
              <a:rPr spc="-10" dirty="0">
                <a:solidFill>
                  <a:srgbClr val="FF0000"/>
                </a:solidFill>
              </a:rPr>
              <a:t> </a:t>
            </a:r>
            <a:r>
              <a:rPr spc="-5" dirty="0">
                <a:solidFill>
                  <a:srgbClr val="FF0000"/>
                </a:solidFill>
              </a:rPr>
              <a:t>5G</a:t>
            </a:r>
          </a:p>
        </p:txBody>
      </p:sp>
      <p:grpSp>
        <p:nvGrpSpPr>
          <p:cNvPr id="4" name="object 4"/>
          <p:cNvGrpSpPr/>
          <p:nvPr/>
        </p:nvGrpSpPr>
        <p:grpSpPr>
          <a:xfrm>
            <a:off x="0" y="1343406"/>
            <a:ext cx="5105400" cy="5407660"/>
            <a:chOff x="0" y="1343406"/>
            <a:chExt cx="6141085" cy="5407660"/>
          </a:xfrm>
        </p:grpSpPr>
        <p:pic>
          <p:nvPicPr>
            <p:cNvPr id="5" name="object 5"/>
            <p:cNvPicPr/>
            <p:nvPr/>
          </p:nvPicPr>
          <p:blipFill>
            <a:blip r:embed="rId3" cstate="print"/>
            <a:stretch>
              <a:fillRect/>
            </a:stretch>
          </p:blipFill>
          <p:spPr>
            <a:xfrm>
              <a:off x="0" y="1343406"/>
              <a:ext cx="6137909" cy="833627"/>
            </a:xfrm>
            <a:prstGeom prst="rect">
              <a:avLst/>
            </a:prstGeom>
          </p:spPr>
        </p:pic>
        <p:pic>
          <p:nvPicPr>
            <p:cNvPr id="6" name="object 6"/>
            <p:cNvPicPr/>
            <p:nvPr/>
          </p:nvPicPr>
          <p:blipFill>
            <a:blip r:embed="rId4" cstate="print"/>
            <a:stretch>
              <a:fillRect/>
            </a:stretch>
          </p:blipFill>
          <p:spPr>
            <a:xfrm>
              <a:off x="0" y="2110740"/>
              <a:ext cx="6140957" cy="833627"/>
            </a:xfrm>
            <a:prstGeom prst="rect">
              <a:avLst/>
            </a:prstGeom>
          </p:spPr>
        </p:pic>
        <p:pic>
          <p:nvPicPr>
            <p:cNvPr id="7" name="object 7"/>
            <p:cNvPicPr/>
            <p:nvPr/>
          </p:nvPicPr>
          <p:blipFill>
            <a:blip r:embed="rId5" cstate="print"/>
            <a:stretch>
              <a:fillRect/>
            </a:stretch>
          </p:blipFill>
          <p:spPr>
            <a:xfrm>
              <a:off x="0" y="2878836"/>
              <a:ext cx="6137909" cy="800099"/>
            </a:xfrm>
            <a:prstGeom prst="rect">
              <a:avLst/>
            </a:prstGeom>
          </p:spPr>
        </p:pic>
        <p:pic>
          <p:nvPicPr>
            <p:cNvPr id="8" name="object 8"/>
            <p:cNvPicPr/>
            <p:nvPr/>
          </p:nvPicPr>
          <p:blipFill>
            <a:blip r:embed="rId6" cstate="print"/>
            <a:stretch>
              <a:fillRect/>
            </a:stretch>
          </p:blipFill>
          <p:spPr>
            <a:xfrm>
              <a:off x="0" y="3646932"/>
              <a:ext cx="6137909" cy="799337"/>
            </a:xfrm>
            <a:prstGeom prst="rect">
              <a:avLst/>
            </a:prstGeom>
          </p:spPr>
        </p:pic>
        <p:pic>
          <p:nvPicPr>
            <p:cNvPr id="9" name="object 9"/>
            <p:cNvPicPr/>
            <p:nvPr/>
          </p:nvPicPr>
          <p:blipFill>
            <a:blip r:embed="rId7" cstate="print"/>
            <a:stretch>
              <a:fillRect/>
            </a:stretch>
          </p:blipFill>
          <p:spPr>
            <a:xfrm>
              <a:off x="0" y="4414266"/>
              <a:ext cx="6137909" cy="800099"/>
            </a:xfrm>
            <a:prstGeom prst="rect">
              <a:avLst/>
            </a:prstGeom>
          </p:spPr>
        </p:pic>
        <p:pic>
          <p:nvPicPr>
            <p:cNvPr id="10" name="object 10"/>
            <p:cNvPicPr/>
            <p:nvPr/>
          </p:nvPicPr>
          <p:blipFill>
            <a:blip r:embed="rId8" cstate="print"/>
            <a:stretch>
              <a:fillRect/>
            </a:stretch>
          </p:blipFill>
          <p:spPr>
            <a:xfrm>
              <a:off x="0" y="5182361"/>
              <a:ext cx="6137909" cy="800099"/>
            </a:xfrm>
            <a:prstGeom prst="rect">
              <a:avLst/>
            </a:prstGeom>
          </p:spPr>
        </p:pic>
        <p:pic>
          <p:nvPicPr>
            <p:cNvPr id="11" name="object 11"/>
            <p:cNvPicPr/>
            <p:nvPr/>
          </p:nvPicPr>
          <p:blipFill>
            <a:blip r:embed="rId9" cstate="print"/>
            <a:stretch>
              <a:fillRect/>
            </a:stretch>
          </p:blipFill>
          <p:spPr>
            <a:xfrm>
              <a:off x="0" y="5950458"/>
              <a:ext cx="6137909" cy="800099"/>
            </a:xfrm>
            <a:prstGeom prst="rect">
              <a:avLst/>
            </a:prstGeom>
          </p:spPr>
        </p:pic>
      </p:grpSp>
      <p:pic>
        <p:nvPicPr>
          <p:cNvPr id="13" name="object 13"/>
          <p:cNvPicPr/>
          <p:nvPr/>
        </p:nvPicPr>
        <p:blipFill>
          <a:blip r:embed="rId10" cstate="print"/>
          <a:stretch>
            <a:fillRect/>
          </a:stretch>
        </p:blipFill>
        <p:spPr>
          <a:xfrm>
            <a:off x="5257800" y="2527553"/>
            <a:ext cx="3451288" cy="2548127"/>
          </a:xfrm>
          <a:prstGeom prst="rect">
            <a:avLst/>
          </a:prstGeom>
        </p:spPr>
      </p:pic>
      <p:sp>
        <p:nvSpPr>
          <p:cNvPr id="14" name="Rectangle 13"/>
          <p:cNvSpPr/>
          <p:nvPr/>
        </p:nvSpPr>
        <p:spPr>
          <a:xfrm>
            <a:off x="72806" y="1377498"/>
            <a:ext cx="5413594" cy="605294"/>
          </a:xfrm>
          <a:prstGeom prst="rect">
            <a:avLst/>
          </a:prstGeom>
        </p:spPr>
        <p:txBody>
          <a:bodyPr wrap="square">
            <a:spAutoFit/>
          </a:bodyPr>
          <a:lstStyle/>
          <a:p>
            <a:pPr marL="12700" marR="364490">
              <a:lnSpc>
                <a:spcPts val="1980"/>
              </a:lnSpc>
              <a:spcBef>
                <a:spcPts val="315"/>
              </a:spcBef>
            </a:pPr>
            <a:r>
              <a:rPr lang="en-US" b="1" spc="-5" dirty="0">
                <a:latin typeface="Calibri"/>
                <a:cs typeface="Calibri"/>
              </a:rPr>
              <a:t>5G</a:t>
            </a:r>
            <a:r>
              <a:rPr lang="en-US" b="1" dirty="0">
                <a:latin typeface="Calibri"/>
                <a:cs typeface="Calibri"/>
              </a:rPr>
              <a:t> NR </a:t>
            </a:r>
            <a:r>
              <a:rPr lang="en-US" b="1" spc="-5" dirty="0">
                <a:latin typeface="Calibri"/>
                <a:cs typeface="Calibri"/>
              </a:rPr>
              <a:t>supports</a:t>
            </a:r>
            <a:r>
              <a:rPr lang="en-US" b="1" spc="-10" dirty="0">
                <a:latin typeface="Calibri"/>
                <a:cs typeface="Calibri"/>
              </a:rPr>
              <a:t> </a:t>
            </a:r>
            <a:r>
              <a:rPr lang="en-US" b="1" dirty="0">
                <a:latin typeface="Calibri"/>
                <a:cs typeface="Calibri"/>
              </a:rPr>
              <a:t>CA </a:t>
            </a:r>
            <a:r>
              <a:rPr lang="en-US" b="1" spc="-5" dirty="0">
                <a:latin typeface="Calibri"/>
                <a:cs typeface="Calibri"/>
              </a:rPr>
              <a:t>with</a:t>
            </a:r>
            <a:r>
              <a:rPr lang="en-US" b="1" dirty="0">
                <a:latin typeface="Calibri"/>
                <a:cs typeface="Calibri"/>
              </a:rPr>
              <a:t> </a:t>
            </a:r>
            <a:r>
              <a:rPr lang="en-US" b="1" spc="-5" dirty="0">
                <a:latin typeface="Calibri"/>
                <a:cs typeface="Calibri"/>
              </a:rPr>
              <a:t>16</a:t>
            </a:r>
            <a:r>
              <a:rPr lang="en-US" b="1" spc="5" dirty="0">
                <a:latin typeface="Calibri"/>
                <a:cs typeface="Calibri"/>
              </a:rPr>
              <a:t> </a:t>
            </a:r>
            <a:r>
              <a:rPr lang="en-US" b="1" dirty="0">
                <a:latin typeface="Calibri"/>
                <a:cs typeface="Calibri"/>
              </a:rPr>
              <a:t>CCs</a:t>
            </a:r>
            <a:r>
              <a:rPr lang="en-US" b="1" spc="-5" dirty="0">
                <a:latin typeface="Calibri"/>
                <a:cs typeface="Calibri"/>
              </a:rPr>
              <a:t> (both</a:t>
            </a:r>
            <a:r>
              <a:rPr lang="en-US" b="1" dirty="0">
                <a:latin typeface="Calibri"/>
                <a:cs typeface="Calibri"/>
              </a:rPr>
              <a:t> </a:t>
            </a:r>
            <a:r>
              <a:rPr lang="en-US" b="1" spc="-10" dirty="0">
                <a:latin typeface="Calibri"/>
                <a:cs typeface="Calibri"/>
              </a:rPr>
              <a:t>contiguous</a:t>
            </a:r>
            <a:r>
              <a:rPr lang="en-US" b="1" spc="-5" dirty="0">
                <a:latin typeface="Calibri"/>
                <a:cs typeface="Calibri"/>
              </a:rPr>
              <a:t> </a:t>
            </a:r>
            <a:r>
              <a:rPr lang="en-US" b="1" dirty="0">
                <a:latin typeface="Calibri"/>
                <a:cs typeface="Calibri"/>
              </a:rPr>
              <a:t>and</a:t>
            </a:r>
            <a:r>
              <a:rPr lang="en-US" b="1" spc="-5" dirty="0">
                <a:latin typeface="Calibri"/>
                <a:cs typeface="Calibri"/>
              </a:rPr>
              <a:t> non- </a:t>
            </a:r>
            <a:r>
              <a:rPr lang="en-US" b="1" spc="-390" dirty="0">
                <a:latin typeface="Calibri"/>
                <a:cs typeface="Calibri"/>
              </a:rPr>
              <a:t> </a:t>
            </a:r>
            <a:r>
              <a:rPr lang="en-US" b="1" spc="-10" dirty="0">
                <a:latin typeface="Calibri"/>
                <a:cs typeface="Calibri"/>
              </a:rPr>
              <a:t>contiguous)</a:t>
            </a:r>
            <a:r>
              <a:rPr lang="en-US" b="1" spc="-5" dirty="0">
                <a:latin typeface="Calibri"/>
                <a:cs typeface="Calibri"/>
              </a:rPr>
              <a:t> </a:t>
            </a:r>
            <a:r>
              <a:rPr lang="en-US" b="1" dirty="0">
                <a:latin typeface="Calibri"/>
                <a:cs typeface="Calibri"/>
              </a:rPr>
              <a:t>in </a:t>
            </a:r>
            <a:r>
              <a:rPr lang="en-US" b="1" spc="-5" dirty="0">
                <a:latin typeface="Calibri"/>
                <a:cs typeface="Calibri"/>
              </a:rPr>
              <a:t>both FR1</a:t>
            </a:r>
            <a:r>
              <a:rPr lang="en-US" b="1" dirty="0">
                <a:latin typeface="Calibri"/>
                <a:cs typeface="Calibri"/>
              </a:rPr>
              <a:t> and</a:t>
            </a:r>
            <a:r>
              <a:rPr lang="en-US" b="1" spc="-5" dirty="0">
                <a:latin typeface="Calibri"/>
                <a:cs typeface="Calibri"/>
              </a:rPr>
              <a:t> FR2</a:t>
            </a:r>
            <a:r>
              <a:rPr lang="en-US" b="1" spc="-10" dirty="0">
                <a:latin typeface="Calibri"/>
                <a:cs typeface="Calibri"/>
              </a:rPr>
              <a:t> </a:t>
            </a:r>
            <a:r>
              <a:rPr lang="en-US" b="1" dirty="0">
                <a:latin typeface="Calibri"/>
                <a:cs typeface="Calibri"/>
              </a:rPr>
              <a:t>bands</a:t>
            </a:r>
          </a:p>
        </p:txBody>
      </p:sp>
      <p:sp>
        <p:nvSpPr>
          <p:cNvPr id="15" name="Rectangle 14"/>
          <p:cNvSpPr/>
          <p:nvPr/>
        </p:nvSpPr>
        <p:spPr>
          <a:xfrm>
            <a:off x="38740" y="2144832"/>
            <a:ext cx="4572000" cy="605294"/>
          </a:xfrm>
          <a:prstGeom prst="rect">
            <a:avLst/>
          </a:prstGeom>
        </p:spPr>
        <p:txBody>
          <a:bodyPr>
            <a:spAutoFit/>
          </a:bodyPr>
          <a:lstStyle/>
          <a:p>
            <a:pPr marL="12700" marR="5080">
              <a:lnSpc>
                <a:spcPts val="1980"/>
              </a:lnSpc>
            </a:pPr>
            <a:r>
              <a:rPr lang="en-US" b="1" spc="-5" dirty="0">
                <a:latin typeface="Calibri"/>
                <a:cs typeface="Calibri"/>
              </a:rPr>
              <a:t>Carrier</a:t>
            </a:r>
            <a:r>
              <a:rPr lang="en-US" b="1" spc="-10" dirty="0">
                <a:latin typeface="Calibri"/>
                <a:cs typeface="Calibri"/>
              </a:rPr>
              <a:t> aggregation</a:t>
            </a:r>
            <a:r>
              <a:rPr lang="en-US" b="1" spc="5" dirty="0">
                <a:latin typeface="Calibri"/>
                <a:cs typeface="Calibri"/>
              </a:rPr>
              <a:t> </a:t>
            </a:r>
            <a:r>
              <a:rPr lang="en-US" b="1" spc="-5" dirty="0">
                <a:latin typeface="Calibri"/>
                <a:cs typeface="Calibri"/>
              </a:rPr>
              <a:t>of </a:t>
            </a:r>
            <a:r>
              <a:rPr lang="en-US" b="1" spc="-50" dirty="0">
                <a:latin typeface="Calibri"/>
                <a:cs typeface="Calibri"/>
              </a:rPr>
              <a:t>LTE</a:t>
            </a:r>
            <a:r>
              <a:rPr lang="en-US" b="1" dirty="0">
                <a:latin typeface="Calibri"/>
                <a:cs typeface="Calibri"/>
              </a:rPr>
              <a:t> and</a:t>
            </a:r>
            <a:r>
              <a:rPr lang="en-US" b="1" spc="-5" dirty="0">
                <a:latin typeface="Calibri"/>
                <a:cs typeface="Calibri"/>
              </a:rPr>
              <a:t> 5G </a:t>
            </a:r>
            <a:r>
              <a:rPr lang="en-US" b="1" dirty="0">
                <a:latin typeface="Calibri"/>
                <a:cs typeface="Calibri"/>
              </a:rPr>
              <a:t>NR</a:t>
            </a:r>
            <a:r>
              <a:rPr lang="en-US" b="1" spc="-5" dirty="0">
                <a:latin typeface="Calibri"/>
                <a:cs typeface="Calibri"/>
              </a:rPr>
              <a:t> </a:t>
            </a:r>
            <a:r>
              <a:rPr lang="en-US" b="1" spc="-10" dirty="0">
                <a:latin typeface="Calibri"/>
                <a:cs typeface="Calibri"/>
              </a:rPr>
              <a:t>carriers </a:t>
            </a:r>
            <a:r>
              <a:rPr lang="en-US" b="1" dirty="0">
                <a:latin typeface="Calibri"/>
                <a:cs typeface="Calibri"/>
              </a:rPr>
              <a:t>is</a:t>
            </a:r>
            <a:r>
              <a:rPr lang="en-US" b="1" spc="-5" dirty="0">
                <a:latin typeface="Calibri"/>
                <a:cs typeface="Calibri"/>
              </a:rPr>
              <a:t> known</a:t>
            </a:r>
            <a:r>
              <a:rPr lang="en-US" b="1" dirty="0">
                <a:latin typeface="Calibri"/>
                <a:cs typeface="Calibri"/>
              </a:rPr>
              <a:t> as</a:t>
            </a:r>
            <a:r>
              <a:rPr lang="en-US" b="1" spc="-5" dirty="0">
                <a:latin typeface="Calibri"/>
                <a:cs typeface="Calibri"/>
              </a:rPr>
              <a:t> </a:t>
            </a:r>
            <a:r>
              <a:rPr lang="en-US" b="1" dirty="0">
                <a:latin typeface="Calibri"/>
                <a:cs typeface="Calibri"/>
              </a:rPr>
              <a:t>Dual </a:t>
            </a:r>
            <a:r>
              <a:rPr lang="en-US" b="1" spc="-395" dirty="0">
                <a:latin typeface="Calibri"/>
                <a:cs typeface="Calibri"/>
              </a:rPr>
              <a:t> </a:t>
            </a:r>
            <a:r>
              <a:rPr lang="en-US" b="1" spc="-5" dirty="0">
                <a:latin typeface="Calibri"/>
                <a:cs typeface="Calibri"/>
              </a:rPr>
              <a:t>Connectivity</a:t>
            </a:r>
            <a:r>
              <a:rPr lang="en-US" b="1" spc="-10" dirty="0">
                <a:latin typeface="Calibri"/>
                <a:cs typeface="Calibri"/>
              </a:rPr>
              <a:t> </a:t>
            </a:r>
            <a:r>
              <a:rPr lang="en-US" b="1" dirty="0">
                <a:latin typeface="Calibri"/>
                <a:cs typeface="Calibri"/>
              </a:rPr>
              <a:t>(DC).</a:t>
            </a:r>
          </a:p>
        </p:txBody>
      </p:sp>
      <p:sp>
        <p:nvSpPr>
          <p:cNvPr id="16" name="Rectangle 15"/>
          <p:cNvSpPr/>
          <p:nvPr/>
        </p:nvSpPr>
        <p:spPr>
          <a:xfrm>
            <a:off x="79733" y="3048874"/>
            <a:ext cx="4525598" cy="369332"/>
          </a:xfrm>
          <a:prstGeom prst="rect">
            <a:avLst/>
          </a:prstGeom>
        </p:spPr>
        <p:txBody>
          <a:bodyPr wrap="none">
            <a:spAutoFit/>
          </a:bodyPr>
          <a:lstStyle/>
          <a:p>
            <a:pPr marL="12700">
              <a:lnSpc>
                <a:spcPct val="100000"/>
              </a:lnSpc>
            </a:pPr>
            <a:r>
              <a:rPr lang="en-US" b="1" spc="-5" dirty="0">
                <a:latin typeface="Calibri"/>
                <a:cs typeface="Calibri"/>
              </a:rPr>
              <a:t>Up </a:t>
            </a:r>
            <a:r>
              <a:rPr lang="en-US" b="1" spc="-15" dirty="0">
                <a:latin typeface="Calibri"/>
                <a:cs typeface="Calibri"/>
              </a:rPr>
              <a:t>to</a:t>
            </a:r>
            <a:r>
              <a:rPr lang="en-US" b="1" dirty="0">
                <a:latin typeface="Calibri"/>
                <a:cs typeface="Calibri"/>
              </a:rPr>
              <a:t> </a:t>
            </a:r>
            <a:r>
              <a:rPr lang="en-US" b="1" spc="-5" dirty="0">
                <a:latin typeface="Calibri"/>
                <a:cs typeface="Calibri"/>
              </a:rPr>
              <a:t>1.2</a:t>
            </a:r>
            <a:r>
              <a:rPr lang="en-US" b="1" spc="-10" dirty="0">
                <a:latin typeface="Calibri"/>
                <a:cs typeface="Calibri"/>
              </a:rPr>
              <a:t> </a:t>
            </a:r>
            <a:r>
              <a:rPr lang="en-US" b="1" spc="-5" dirty="0">
                <a:latin typeface="Calibri"/>
                <a:cs typeface="Calibri"/>
              </a:rPr>
              <a:t>GHz of</a:t>
            </a:r>
            <a:r>
              <a:rPr lang="en-US" b="1" spc="-10" dirty="0">
                <a:latin typeface="Calibri"/>
                <a:cs typeface="Calibri"/>
              </a:rPr>
              <a:t> </a:t>
            </a:r>
            <a:r>
              <a:rPr lang="en-US" b="1" spc="-5" dirty="0">
                <a:latin typeface="Calibri"/>
                <a:cs typeface="Calibri"/>
              </a:rPr>
              <a:t>spectrum</a:t>
            </a:r>
            <a:r>
              <a:rPr lang="en-US" b="1" dirty="0">
                <a:latin typeface="Calibri"/>
                <a:cs typeface="Calibri"/>
              </a:rPr>
              <a:t> </a:t>
            </a:r>
            <a:r>
              <a:rPr lang="en-US" b="1" spc="-10" dirty="0">
                <a:latin typeface="Calibri"/>
                <a:cs typeface="Calibri"/>
              </a:rPr>
              <a:t>can </a:t>
            </a:r>
            <a:r>
              <a:rPr lang="en-US" b="1" dirty="0">
                <a:latin typeface="Calibri"/>
                <a:cs typeface="Calibri"/>
              </a:rPr>
              <a:t>be</a:t>
            </a:r>
            <a:r>
              <a:rPr lang="en-US" b="1" spc="-10" dirty="0">
                <a:latin typeface="Calibri"/>
                <a:cs typeface="Calibri"/>
              </a:rPr>
              <a:t> aggregated.</a:t>
            </a:r>
            <a:endParaRPr lang="en-US" b="1" dirty="0">
              <a:latin typeface="Calibri"/>
              <a:cs typeface="Calibri"/>
            </a:endParaRPr>
          </a:p>
        </p:txBody>
      </p:sp>
      <p:sp>
        <p:nvSpPr>
          <p:cNvPr id="19" name="Rectangle 18"/>
          <p:cNvSpPr/>
          <p:nvPr/>
        </p:nvSpPr>
        <p:spPr>
          <a:xfrm>
            <a:off x="124684" y="3801883"/>
            <a:ext cx="3532634" cy="369332"/>
          </a:xfrm>
          <a:prstGeom prst="rect">
            <a:avLst/>
          </a:prstGeom>
        </p:spPr>
        <p:txBody>
          <a:bodyPr wrap="none">
            <a:spAutoFit/>
          </a:bodyPr>
          <a:lstStyle/>
          <a:p>
            <a:r>
              <a:rPr lang="en-US" b="1" dirty="0">
                <a:latin typeface="Calibri"/>
                <a:cs typeface="Calibri"/>
              </a:rPr>
              <a:t>CCs </a:t>
            </a:r>
            <a:r>
              <a:rPr lang="en-US" b="1" spc="-10" dirty="0">
                <a:latin typeface="Calibri"/>
                <a:cs typeface="Calibri"/>
              </a:rPr>
              <a:t>can </a:t>
            </a:r>
            <a:r>
              <a:rPr lang="en-US" b="1" spc="-5" dirty="0">
                <a:latin typeface="Calibri"/>
                <a:cs typeface="Calibri"/>
              </a:rPr>
              <a:t>use </a:t>
            </a:r>
            <a:r>
              <a:rPr lang="en-US" b="1" spc="-15" dirty="0">
                <a:latin typeface="Calibri"/>
                <a:cs typeface="Calibri"/>
              </a:rPr>
              <a:t>different numerologies </a:t>
            </a:r>
            <a:endParaRPr lang="en-IN" dirty="0"/>
          </a:p>
        </p:txBody>
      </p:sp>
      <p:sp>
        <p:nvSpPr>
          <p:cNvPr id="21" name="Rectangle 20"/>
          <p:cNvSpPr/>
          <p:nvPr/>
        </p:nvSpPr>
        <p:spPr>
          <a:xfrm>
            <a:off x="124684" y="4569217"/>
            <a:ext cx="3305713" cy="369332"/>
          </a:xfrm>
          <a:prstGeom prst="rect">
            <a:avLst/>
          </a:prstGeom>
        </p:spPr>
        <p:txBody>
          <a:bodyPr wrap="none">
            <a:spAutoFit/>
          </a:bodyPr>
          <a:lstStyle/>
          <a:p>
            <a:r>
              <a:rPr lang="en-US" b="1" spc="-15" dirty="0">
                <a:latin typeface="Calibri"/>
                <a:cs typeface="Calibri"/>
              </a:rPr>
              <a:t>CA in both </a:t>
            </a:r>
            <a:r>
              <a:rPr lang="en-US" b="1" spc="-5" dirty="0">
                <a:latin typeface="Calibri"/>
                <a:cs typeface="Calibri"/>
              </a:rPr>
              <a:t>TDD </a:t>
            </a:r>
            <a:r>
              <a:rPr lang="en-US" b="1" dirty="0">
                <a:latin typeface="Calibri"/>
                <a:cs typeface="Calibri"/>
              </a:rPr>
              <a:t>and</a:t>
            </a:r>
            <a:r>
              <a:rPr lang="en-US" b="1" spc="-15" dirty="0">
                <a:latin typeface="Calibri"/>
                <a:cs typeface="Calibri"/>
              </a:rPr>
              <a:t> </a:t>
            </a:r>
            <a:r>
              <a:rPr lang="en-US" b="1" dirty="0">
                <a:latin typeface="Calibri"/>
                <a:cs typeface="Calibri"/>
              </a:rPr>
              <a:t>FDD</a:t>
            </a:r>
            <a:r>
              <a:rPr lang="en-US" b="1" spc="-10" dirty="0">
                <a:latin typeface="Calibri"/>
                <a:cs typeface="Calibri"/>
              </a:rPr>
              <a:t> </a:t>
            </a:r>
            <a:r>
              <a:rPr lang="en-US" b="1" spc="-5" dirty="0">
                <a:latin typeface="Calibri"/>
                <a:cs typeface="Calibri"/>
              </a:rPr>
              <a:t>possible</a:t>
            </a:r>
            <a:endParaRPr lang="en-IN" dirty="0"/>
          </a:p>
        </p:txBody>
      </p:sp>
      <p:sp>
        <p:nvSpPr>
          <p:cNvPr id="22" name="Rectangle 21"/>
          <p:cNvSpPr/>
          <p:nvPr/>
        </p:nvSpPr>
        <p:spPr>
          <a:xfrm>
            <a:off x="124684" y="5374192"/>
            <a:ext cx="5010992" cy="369332"/>
          </a:xfrm>
          <a:prstGeom prst="rect">
            <a:avLst/>
          </a:prstGeom>
        </p:spPr>
        <p:txBody>
          <a:bodyPr wrap="square">
            <a:spAutoFit/>
          </a:bodyPr>
          <a:lstStyle/>
          <a:p>
            <a:r>
              <a:rPr lang="en-US" b="1" dirty="0">
                <a:latin typeface="Calibri"/>
                <a:cs typeface="Calibri"/>
              </a:rPr>
              <a:t>CA </a:t>
            </a:r>
            <a:r>
              <a:rPr lang="en-US" b="1" spc="-5" dirty="0">
                <a:latin typeface="Calibri"/>
                <a:cs typeface="Calibri"/>
              </a:rPr>
              <a:t>with Licensed </a:t>
            </a:r>
            <a:r>
              <a:rPr lang="en-US" b="1" dirty="0">
                <a:latin typeface="Calibri"/>
                <a:cs typeface="Calibri"/>
              </a:rPr>
              <a:t>and </a:t>
            </a:r>
            <a:r>
              <a:rPr lang="en-US" b="1" spc="-5" dirty="0">
                <a:latin typeface="Calibri"/>
                <a:cs typeface="Calibri"/>
              </a:rPr>
              <a:t>Unlicensed </a:t>
            </a:r>
            <a:r>
              <a:rPr lang="en-US" b="1" dirty="0">
                <a:latin typeface="Calibri"/>
                <a:cs typeface="Calibri"/>
              </a:rPr>
              <a:t>band </a:t>
            </a:r>
            <a:r>
              <a:rPr lang="en-US" b="1" spc="-10" dirty="0">
                <a:latin typeface="Calibri"/>
                <a:cs typeface="Calibri"/>
              </a:rPr>
              <a:t>Possible </a:t>
            </a:r>
            <a:r>
              <a:rPr lang="en-US" b="1" dirty="0" smtClean="0">
                <a:latin typeface="Calibri"/>
                <a:cs typeface="Calibri"/>
              </a:rPr>
              <a:t> </a:t>
            </a:r>
            <a:endParaRPr lang="en-IN" dirty="0"/>
          </a:p>
        </p:txBody>
      </p:sp>
      <p:sp>
        <p:nvSpPr>
          <p:cNvPr id="23" name="Rectangle 22"/>
          <p:cNvSpPr/>
          <p:nvPr/>
        </p:nvSpPr>
        <p:spPr>
          <a:xfrm>
            <a:off x="79733" y="6066054"/>
            <a:ext cx="4572000" cy="369332"/>
          </a:xfrm>
          <a:prstGeom prst="rect">
            <a:avLst/>
          </a:prstGeom>
        </p:spPr>
        <p:txBody>
          <a:bodyPr>
            <a:spAutoFit/>
          </a:bodyPr>
          <a:lstStyle/>
          <a:p>
            <a:r>
              <a:rPr lang="en-US" b="1" spc="-10" dirty="0" smtClean="0">
                <a:latin typeface="Calibri"/>
                <a:cs typeface="Calibri"/>
              </a:rPr>
              <a:t> </a:t>
            </a:r>
            <a:r>
              <a:rPr lang="en-US" b="1" spc="-395" dirty="0" smtClean="0">
                <a:latin typeface="Calibri"/>
                <a:cs typeface="Calibri"/>
              </a:rPr>
              <a:t> </a:t>
            </a:r>
            <a:r>
              <a:rPr lang="en-US" b="1" dirty="0">
                <a:latin typeface="Calibri"/>
                <a:cs typeface="Calibri"/>
              </a:rPr>
              <a:t>CA</a:t>
            </a:r>
            <a:r>
              <a:rPr lang="en-US" b="1" spc="-10" dirty="0">
                <a:latin typeface="Calibri"/>
                <a:cs typeface="Calibri"/>
              </a:rPr>
              <a:t> </a:t>
            </a:r>
            <a:r>
              <a:rPr lang="en-US" b="1" spc="-5" dirty="0">
                <a:latin typeface="Calibri"/>
                <a:cs typeface="Calibri"/>
              </a:rPr>
              <a:t>with</a:t>
            </a:r>
            <a:r>
              <a:rPr lang="en-US" b="1" spc="5" dirty="0">
                <a:latin typeface="Calibri"/>
                <a:cs typeface="Calibri"/>
              </a:rPr>
              <a:t> </a:t>
            </a:r>
            <a:r>
              <a:rPr lang="en-US" b="1" spc="-5" dirty="0" smtClean="0">
                <a:latin typeface="Calibri"/>
                <a:cs typeface="Calibri"/>
              </a:rPr>
              <a:t>SUL/SDL Possible</a:t>
            </a:r>
            <a:r>
              <a:rPr lang="en-US" b="1" dirty="0" smtClean="0">
                <a:latin typeface="Calibri"/>
                <a:cs typeface="Calibri"/>
              </a:rPr>
              <a:t> </a:t>
            </a:r>
            <a:endParaRPr lang="en-IN" dirty="0"/>
          </a:p>
        </p:txBody>
      </p:sp>
    </p:spTree>
    <p:extLst>
      <p:ext uri="{BB962C8B-B14F-4D97-AF65-F5344CB8AC3E}">
        <p14:creationId xmlns:p14="http://schemas.microsoft.com/office/powerpoint/2010/main" val="9941809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663720" y="352986"/>
            <a:ext cx="8327880" cy="412292"/>
          </a:xfrm>
          <a:prstGeom prst="rect">
            <a:avLst/>
          </a:prstGeom>
        </p:spPr>
        <p:txBody>
          <a:bodyPr vert="horz" wrap="square" lIns="0" tIns="12065" rIns="0" bIns="0" rtlCol="0">
            <a:spAutoFit/>
          </a:bodyPr>
          <a:lstStyle/>
          <a:p>
            <a:pPr marL="12700">
              <a:lnSpc>
                <a:spcPct val="100000"/>
              </a:lnSpc>
              <a:spcBef>
                <a:spcPts val="95"/>
              </a:spcBef>
            </a:pPr>
            <a:r>
              <a:rPr sz="2600" spc="-10" dirty="0">
                <a:solidFill>
                  <a:srgbClr val="FF0000"/>
                </a:solidFill>
              </a:rPr>
              <a:t>Carrier</a:t>
            </a:r>
            <a:r>
              <a:rPr sz="2600" spc="15" dirty="0">
                <a:solidFill>
                  <a:srgbClr val="FF0000"/>
                </a:solidFill>
              </a:rPr>
              <a:t> </a:t>
            </a:r>
            <a:r>
              <a:rPr sz="2600" spc="-15" dirty="0">
                <a:solidFill>
                  <a:srgbClr val="FF0000"/>
                </a:solidFill>
              </a:rPr>
              <a:t>aggregation</a:t>
            </a:r>
            <a:r>
              <a:rPr sz="2600" spc="20" dirty="0">
                <a:solidFill>
                  <a:srgbClr val="FF0000"/>
                </a:solidFill>
              </a:rPr>
              <a:t> </a:t>
            </a:r>
            <a:r>
              <a:rPr sz="2600" spc="-5" dirty="0">
                <a:solidFill>
                  <a:srgbClr val="FF0000"/>
                </a:solidFill>
              </a:rPr>
              <a:t>and</a:t>
            </a:r>
            <a:r>
              <a:rPr sz="2600" spc="10" dirty="0">
                <a:solidFill>
                  <a:srgbClr val="FF0000"/>
                </a:solidFill>
              </a:rPr>
              <a:t> </a:t>
            </a:r>
            <a:r>
              <a:rPr sz="2600" spc="-10" dirty="0">
                <a:solidFill>
                  <a:srgbClr val="FF0000"/>
                </a:solidFill>
              </a:rPr>
              <a:t>supplementary</a:t>
            </a:r>
            <a:r>
              <a:rPr sz="2600" spc="10" dirty="0">
                <a:solidFill>
                  <a:srgbClr val="FF0000"/>
                </a:solidFill>
              </a:rPr>
              <a:t> </a:t>
            </a:r>
            <a:r>
              <a:rPr sz="2600" spc="-10" dirty="0">
                <a:solidFill>
                  <a:srgbClr val="FF0000"/>
                </a:solidFill>
              </a:rPr>
              <a:t>uplink</a:t>
            </a:r>
          </a:p>
        </p:txBody>
      </p:sp>
      <p:sp>
        <p:nvSpPr>
          <p:cNvPr id="4" name="object 4"/>
          <p:cNvSpPr txBox="1"/>
          <p:nvPr/>
        </p:nvSpPr>
        <p:spPr>
          <a:xfrm>
            <a:off x="5032525" y="2366495"/>
            <a:ext cx="3452813" cy="1919756"/>
          </a:xfrm>
          <a:prstGeom prst="rect">
            <a:avLst/>
          </a:prstGeom>
        </p:spPr>
        <p:txBody>
          <a:bodyPr vert="horz" wrap="square" lIns="0" tIns="118110" rIns="0" bIns="0" rtlCol="0">
            <a:spAutoFit/>
          </a:bodyPr>
          <a:lstStyle/>
          <a:p>
            <a:pPr marL="355600" indent="-342900">
              <a:lnSpc>
                <a:spcPct val="100000"/>
              </a:lnSpc>
              <a:spcBef>
                <a:spcPts val="930"/>
              </a:spcBef>
              <a:buFont typeface="Arial MT"/>
              <a:buChar char="•"/>
              <a:tabLst>
                <a:tab pos="354965" algn="l"/>
                <a:tab pos="355600" algn="l"/>
              </a:tabLst>
            </a:pPr>
            <a:r>
              <a:rPr sz="3200" spc="-10" dirty="0">
                <a:solidFill>
                  <a:srgbClr val="244060"/>
                </a:solidFill>
                <a:latin typeface="Calibri"/>
                <a:cs typeface="Calibri"/>
              </a:rPr>
              <a:t>Supplementary</a:t>
            </a:r>
            <a:r>
              <a:rPr sz="3200" spc="15" dirty="0">
                <a:solidFill>
                  <a:srgbClr val="244060"/>
                </a:solidFill>
                <a:latin typeface="Calibri"/>
                <a:cs typeface="Calibri"/>
              </a:rPr>
              <a:t> </a:t>
            </a:r>
            <a:r>
              <a:rPr sz="3200" spc="-10" dirty="0">
                <a:solidFill>
                  <a:srgbClr val="244060"/>
                </a:solidFill>
                <a:latin typeface="Calibri"/>
                <a:cs typeface="Calibri"/>
              </a:rPr>
              <a:t>uplink</a:t>
            </a:r>
            <a:endParaRPr sz="3200">
              <a:latin typeface="Calibri"/>
              <a:cs typeface="Calibri"/>
            </a:endParaRPr>
          </a:p>
          <a:p>
            <a:pPr marL="469900">
              <a:lnSpc>
                <a:spcPct val="100000"/>
              </a:lnSpc>
              <a:spcBef>
                <a:spcPts val="625"/>
              </a:spcBef>
            </a:pPr>
            <a:r>
              <a:rPr sz="2400" dirty="0">
                <a:solidFill>
                  <a:srgbClr val="375F92"/>
                </a:solidFill>
                <a:latin typeface="Arial MT"/>
                <a:cs typeface="Arial MT"/>
              </a:rPr>
              <a:t>–</a:t>
            </a:r>
            <a:r>
              <a:rPr sz="2400" spc="229" dirty="0">
                <a:solidFill>
                  <a:srgbClr val="375F92"/>
                </a:solidFill>
                <a:latin typeface="Arial MT"/>
                <a:cs typeface="Arial MT"/>
              </a:rPr>
              <a:t> </a:t>
            </a:r>
            <a:r>
              <a:rPr sz="2400" dirty="0">
                <a:solidFill>
                  <a:srgbClr val="375F92"/>
                </a:solidFill>
                <a:latin typeface="Calibri"/>
                <a:cs typeface="Calibri"/>
              </a:rPr>
              <a:t>Main</a:t>
            </a:r>
            <a:r>
              <a:rPr sz="2400" spc="-20" dirty="0">
                <a:solidFill>
                  <a:srgbClr val="375F92"/>
                </a:solidFill>
                <a:latin typeface="Calibri"/>
                <a:cs typeface="Calibri"/>
              </a:rPr>
              <a:t> </a:t>
            </a:r>
            <a:r>
              <a:rPr sz="2400" spc="-5" dirty="0">
                <a:solidFill>
                  <a:srgbClr val="375F92"/>
                </a:solidFill>
                <a:latin typeface="Calibri"/>
                <a:cs typeface="Calibri"/>
              </a:rPr>
              <a:t>use </a:t>
            </a:r>
            <a:r>
              <a:rPr sz="2400" spc="-10" dirty="0">
                <a:solidFill>
                  <a:srgbClr val="375F92"/>
                </a:solidFill>
                <a:latin typeface="Calibri"/>
                <a:cs typeface="Calibri"/>
              </a:rPr>
              <a:t>case:</a:t>
            </a:r>
            <a:r>
              <a:rPr sz="2400" spc="-20" dirty="0">
                <a:solidFill>
                  <a:srgbClr val="375F92"/>
                </a:solidFill>
                <a:latin typeface="Calibri"/>
                <a:cs typeface="Calibri"/>
              </a:rPr>
              <a:t> </a:t>
            </a:r>
            <a:r>
              <a:rPr sz="2400" spc="-5" dirty="0">
                <a:solidFill>
                  <a:srgbClr val="375F92"/>
                </a:solidFill>
                <a:latin typeface="Calibri"/>
                <a:cs typeface="Calibri"/>
              </a:rPr>
              <a:t>uplink</a:t>
            </a:r>
            <a:r>
              <a:rPr sz="2400" spc="-10" dirty="0">
                <a:solidFill>
                  <a:srgbClr val="375F92"/>
                </a:solidFill>
                <a:latin typeface="Calibri"/>
                <a:cs typeface="Calibri"/>
              </a:rPr>
              <a:t> </a:t>
            </a:r>
            <a:r>
              <a:rPr sz="2400" spc="-20" dirty="0">
                <a:solidFill>
                  <a:srgbClr val="375F92"/>
                </a:solidFill>
                <a:latin typeface="Calibri"/>
                <a:cs typeface="Calibri"/>
              </a:rPr>
              <a:t>coverage</a:t>
            </a:r>
            <a:endParaRPr sz="2400">
              <a:latin typeface="Calibri"/>
              <a:cs typeface="Calibri"/>
            </a:endParaRPr>
          </a:p>
        </p:txBody>
      </p:sp>
      <p:grpSp>
        <p:nvGrpSpPr>
          <p:cNvPr id="5" name="object 5"/>
          <p:cNvGrpSpPr/>
          <p:nvPr/>
        </p:nvGrpSpPr>
        <p:grpSpPr>
          <a:xfrm>
            <a:off x="536511" y="4370709"/>
            <a:ext cx="3359944" cy="1055370"/>
            <a:chOff x="715348" y="4370709"/>
            <a:chExt cx="4479925" cy="1055370"/>
          </a:xfrm>
        </p:grpSpPr>
        <p:pic>
          <p:nvPicPr>
            <p:cNvPr id="6" name="object 6"/>
            <p:cNvPicPr/>
            <p:nvPr/>
          </p:nvPicPr>
          <p:blipFill>
            <a:blip r:embed="rId2" cstate="print"/>
            <a:stretch>
              <a:fillRect/>
            </a:stretch>
          </p:blipFill>
          <p:spPr>
            <a:xfrm>
              <a:off x="839791" y="4370709"/>
              <a:ext cx="817770" cy="805975"/>
            </a:xfrm>
            <a:prstGeom prst="rect">
              <a:avLst/>
            </a:prstGeom>
          </p:spPr>
        </p:pic>
        <p:sp>
          <p:nvSpPr>
            <p:cNvPr id="7" name="object 7"/>
            <p:cNvSpPr/>
            <p:nvPr/>
          </p:nvSpPr>
          <p:spPr>
            <a:xfrm>
              <a:off x="1118307" y="4554424"/>
              <a:ext cx="273050" cy="438784"/>
            </a:xfrm>
            <a:custGeom>
              <a:avLst/>
              <a:gdLst/>
              <a:ahLst/>
              <a:cxnLst/>
              <a:rect l="l" t="t" r="r" b="b"/>
              <a:pathLst>
                <a:path w="273050" h="438785">
                  <a:moveTo>
                    <a:pt x="204447" y="438559"/>
                  </a:moveTo>
                  <a:lnTo>
                    <a:pt x="68149" y="438559"/>
                  </a:lnTo>
                  <a:lnTo>
                    <a:pt x="68149" y="136112"/>
                  </a:lnTo>
                  <a:lnTo>
                    <a:pt x="0" y="136112"/>
                  </a:lnTo>
                  <a:lnTo>
                    <a:pt x="136298" y="0"/>
                  </a:lnTo>
                  <a:lnTo>
                    <a:pt x="272596" y="136112"/>
                  </a:lnTo>
                  <a:lnTo>
                    <a:pt x="204447" y="136112"/>
                  </a:lnTo>
                  <a:lnTo>
                    <a:pt x="204447" y="438559"/>
                  </a:lnTo>
                  <a:close/>
                </a:path>
              </a:pathLst>
            </a:custGeom>
            <a:solidFill>
              <a:srgbClr val="FF0000"/>
            </a:solidFill>
          </p:spPr>
          <p:txBody>
            <a:bodyPr wrap="square" lIns="0" tIns="0" rIns="0" bIns="0" rtlCol="0"/>
            <a:lstStyle/>
            <a:p>
              <a:endParaRPr/>
            </a:p>
          </p:txBody>
        </p:sp>
        <p:sp>
          <p:nvSpPr>
            <p:cNvPr id="8" name="object 8"/>
            <p:cNvSpPr/>
            <p:nvPr/>
          </p:nvSpPr>
          <p:spPr>
            <a:xfrm>
              <a:off x="1118307" y="4554424"/>
              <a:ext cx="273050" cy="438784"/>
            </a:xfrm>
            <a:custGeom>
              <a:avLst/>
              <a:gdLst/>
              <a:ahLst/>
              <a:cxnLst/>
              <a:rect l="l" t="t" r="r" b="b"/>
              <a:pathLst>
                <a:path w="273050" h="438785">
                  <a:moveTo>
                    <a:pt x="0" y="136112"/>
                  </a:moveTo>
                  <a:lnTo>
                    <a:pt x="136298" y="0"/>
                  </a:lnTo>
                  <a:lnTo>
                    <a:pt x="272596" y="136112"/>
                  </a:lnTo>
                  <a:lnTo>
                    <a:pt x="204447" y="136112"/>
                  </a:lnTo>
                  <a:lnTo>
                    <a:pt x="204447" y="438559"/>
                  </a:lnTo>
                  <a:lnTo>
                    <a:pt x="68149" y="438559"/>
                  </a:lnTo>
                  <a:lnTo>
                    <a:pt x="68149" y="136112"/>
                  </a:lnTo>
                  <a:lnTo>
                    <a:pt x="0" y="136112"/>
                  </a:lnTo>
                  <a:close/>
                </a:path>
              </a:pathLst>
            </a:custGeom>
            <a:ln w="11864">
              <a:solidFill>
                <a:srgbClr val="57575A"/>
              </a:solidFill>
            </a:ln>
          </p:spPr>
          <p:txBody>
            <a:bodyPr wrap="square" lIns="0" tIns="0" rIns="0" bIns="0" rtlCol="0"/>
            <a:lstStyle/>
            <a:p>
              <a:endParaRPr/>
            </a:p>
          </p:txBody>
        </p:sp>
        <p:pic>
          <p:nvPicPr>
            <p:cNvPr id="9" name="object 9"/>
            <p:cNvPicPr/>
            <p:nvPr/>
          </p:nvPicPr>
          <p:blipFill>
            <a:blip r:embed="rId2" cstate="print"/>
            <a:stretch>
              <a:fillRect/>
            </a:stretch>
          </p:blipFill>
          <p:spPr>
            <a:xfrm>
              <a:off x="1550898" y="4370709"/>
              <a:ext cx="817765" cy="805975"/>
            </a:xfrm>
            <a:prstGeom prst="rect">
              <a:avLst/>
            </a:prstGeom>
          </p:spPr>
        </p:pic>
        <p:sp>
          <p:nvSpPr>
            <p:cNvPr id="10" name="object 10"/>
            <p:cNvSpPr/>
            <p:nvPr/>
          </p:nvSpPr>
          <p:spPr>
            <a:xfrm>
              <a:off x="1829412" y="4554411"/>
              <a:ext cx="273050" cy="438784"/>
            </a:xfrm>
            <a:custGeom>
              <a:avLst/>
              <a:gdLst/>
              <a:ahLst/>
              <a:cxnLst/>
              <a:rect l="l" t="t" r="r" b="b"/>
              <a:pathLst>
                <a:path w="273050" h="438785">
                  <a:moveTo>
                    <a:pt x="204447" y="0"/>
                  </a:moveTo>
                  <a:lnTo>
                    <a:pt x="68149" y="0"/>
                  </a:lnTo>
                  <a:lnTo>
                    <a:pt x="68149" y="302446"/>
                  </a:lnTo>
                  <a:lnTo>
                    <a:pt x="0" y="302446"/>
                  </a:lnTo>
                  <a:lnTo>
                    <a:pt x="136298" y="438559"/>
                  </a:lnTo>
                  <a:lnTo>
                    <a:pt x="272596" y="302446"/>
                  </a:lnTo>
                  <a:lnTo>
                    <a:pt x="204447" y="302446"/>
                  </a:lnTo>
                  <a:lnTo>
                    <a:pt x="204447" y="0"/>
                  </a:lnTo>
                  <a:close/>
                </a:path>
              </a:pathLst>
            </a:custGeom>
            <a:solidFill>
              <a:srgbClr val="2E87FF"/>
            </a:solidFill>
          </p:spPr>
          <p:txBody>
            <a:bodyPr wrap="square" lIns="0" tIns="0" rIns="0" bIns="0" rtlCol="0"/>
            <a:lstStyle/>
            <a:p>
              <a:endParaRPr/>
            </a:p>
          </p:txBody>
        </p:sp>
        <p:sp>
          <p:nvSpPr>
            <p:cNvPr id="11" name="object 11"/>
            <p:cNvSpPr/>
            <p:nvPr/>
          </p:nvSpPr>
          <p:spPr>
            <a:xfrm>
              <a:off x="1829412" y="4554411"/>
              <a:ext cx="273050" cy="438784"/>
            </a:xfrm>
            <a:custGeom>
              <a:avLst/>
              <a:gdLst/>
              <a:ahLst/>
              <a:cxnLst/>
              <a:rect l="l" t="t" r="r" b="b"/>
              <a:pathLst>
                <a:path w="273050" h="438785">
                  <a:moveTo>
                    <a:pt x="0" y="302446"/>
                  </a:moveTo>
                  <a:lnTo>
                    <a:pt x="136298" y="438559"/>
                  </a:lnTo>
                  <a:lnTo>
                    <a:pt x="272596" y="302446"/>
                  </a:lnTo>
                  <a:lnTo>
                    <a:pt x="204447" y="302446"/>
                  </a:lnTo>
                  <a:lnTo>
                    <a:pt x="204447" y="0"/>
                  </a:lnTo>
                  <a:lnTo>
                    <a:pt x="68149" y="0"/>
                  </a:lnTo>
                  <a:lnTo>
                    <a:pt x="68149" y="302446"/>
                  </a:lnTo>
                  <a:lnTo>
                    <a:pt x="0" y="302446"/>
                  </a:lnTo>
                  <a:close/>
                </a:path>
              </a:pathLst>
            </a:custGeom>
            <a:ln w="11864">
              <a:solidFill>
                <a:srgbClr val="57575A"/>
              </a:solidFill>
            </a:ln>
          </p:spPr>
          <p:txBody>
            <a:bodyPr wrap="square" lIns="0" tIns="0" rIns="0" bIns="0" rtlCol="0"/>
            <a:lstStyle/>
            <a:p>
              <a:endParaRPr/>
            </a:p>
          </p:txBody>
        </p:sp>
        <p:pic>
          <p:nvPicPr>
            <p:cNvPr id="12" name="object 12"/>
            <p:cNvPicPr/>
            <p:nvPr/>
          </p:nvPicPr>
          <p:blipFill>
            <a:blip r:embed="rId2" cstate="print"/>
            <a:stretch>
              <a:fillRect/>
            </a:stretch>
          </p:blipFill>
          <p:spPr>
            <a:xfrm>
              <a:off x="3530137" y="4370709"/>
              <a:ext cx="817770" cy="805975"/>
            </a:xfrm>
            <a:prstGeom prst="rect">
              <a:avLst/>
            </a:prstGeom>
          </p:spPr>
        </p:pic>
        <p:sp>
          <p:nvSpPr>
            <p:cNvPr id="13" name="object 13"/>
            <p:cNvSpPr/>
            <p:nvPr/>
          </p:nvSpPr>
          <p:spPr>
            <a:xfrm>
              <a:off x="3808654" y="4554424"/>
              <a:ext cx="273050" cy="438784"/>
            </a:xfrm>
            <a:custGeom>
              <a:avLst/>
              <a:gdLst/>
              <a:ahLst/>
              <a:cxnLst/>
              <a:rect l="l" t="t" r="r" b="b"/>
              <a:pathLst>
                <a:path w="273050" h="438785">
                  <a:moveTo>
                    <a:pt x="204447" y="438559"/>
                  </a:moveTo>
                  <a:lnTo>
                    <a:pt x="68149" y="438559"/>
                  </a:lnTo>
                  <a:lnTo>
                    <a:pt x="68149" y="136112"/>
                  </a:lnTo>
                  <a:lnTo>
                    <a:pt x="0" y="136112"/>
                  </a:lnTo>
                  <a:lnTo>
                    <a:pt x="136298" y="0"/>
                  </a:lnTo>
                  <a:lnTo>
                    <a:pt x="272596" y="136112"/>
                  </a:lnTo>
                  <a:lnTo>
                    <a:pt x="204447" y="136112"/>
                  </a:lnTo>
                  <a:lnTo>
                    <a:pt x="204447" y="438559"/>
                  </a:lnTo>
                  <a:close/>
                </a:path>
              </a:pathLst>
            </a:custGeom>
            <a:solidFill>
              <a:srgbClr val="FF0000"/>
            </a:solidFill>
          </p:spPr>
          <p:txBody>
            <a:bodyPr wrap="square" lIns="0" tIns="0" rIns="0" bIns="0" rtlCol="0"/>
            <a:lstStyle/>
            <a:p>
              <a:endParaRPr/>
            </a:p>
          </p:txBody>
        </p:sp>
        <p:sp>
          <p:nvSpPr>
            <p:cNvPr id="14" name="object 14"/>
            <p:cNvSpPr/>
            <p:nvPr/>
          </p:nvSpPr>
          <p:spPr>
            <a:xfrm>
              <a:off x="3808654" y="4554424"/>
              <a:ext cx="273050" cy="438784"/>
            </a:xfrm>
            <a:custGeom>
              <a:avLst/>
              <a:gdLst/>
              <a:ahLst/>
              <a:cxnLst/>
              <a:rect l="l" t="t" r="r" b="b"/>
              <a:pathLst>
                <a:path w="273050" h="438785">
                  <a:moveTo>
                    <a:pt x="0" y="136112"/>
                  </a:moveTo>
                  <a:lnTo>
                    <a:pt x="136298" y="0"/>
                  </a:lnTo>
                  <a:lnTo>
                    <a:pt x="272596" y="136112"/>
                  </a:lnTo>
                  <a:lnTo>
                    <a:pt x="204447" y="136112"/>
                  </a:lnTo>
                  <a:lnTo>
                    <a:pt x="204447" y="438559"/>
                  </a:lnTo>
                  <a:lnTo>
                    <a:pt x="68149" y="438559"/>
                  </a:lnTo>
                  <a:lnTo>
                    <a:pt x="68149" y="136112"/>
                  </a:lnTo>
                  <a:lnTo>
                    <a:pt x="0" y="136112"/>
                  </a:lnTo>
                  <a:close/>
                </a:path>
              </a:pathLst>
            </a:custGeom>
            <a:ln w="11864">
              <a:solidFill>
                <a:srgbClr val="57575A"/>
              </a:solidFill>
            </a:ln>
          </p:spPr>
          <p:txBody>
            <a:bodyPr wrap="square" lIns="0" tIns="0" rIns="0" bIns="0" rtlCol="0"/>
            <a:lstStyle/>
            <a:p>
              <a:endParaRPr/>
            </a:p>
          </p:txBody>
        </p:sp>
        <p:pic>
          <p:nvPicPr>
            <p:cNvPr id="15" name="object 15"/>
            <p:cNvPicPr/>
            <p:nvPr/>
          </p:nvPicPr>
          <p:blipFill>
            <a:blip r:embed="rId2" cstate="print"/>
            <a:stretch>
              <a:fillRect/>
            </a:stretch>
          </p:blipFill>
          <p:spPr>
            <a:xfrm>
              <a:off x="4241242" y="4370709"/>
              <a:ext cx="817770" cy="805975"/>
            </a:xfrm>
            <a:prstGeom prst="rect">
              <a:avLst/>
            </a:prstGeom>
          </p:spPr>
        </p:pic>
        <p:sp>
          <p:nvSpPr>
            <p:cNvPr id="16" name="object 16"/>
            <p:cNvSpPr/>
            <p:nvPr/>
          </p:nvSpPr>
          <p:spPr>
            <a:xfrm>
              <a:off x="4519758" y="4554411"/>
              <a:ext cx="273050" cy="438784"/>
            </a:xfrm>
            <a:custGeom>
              <a:avLst/>
              <a:gdLst/>
              <a:ahLst/>
              <a:cxnLst/>
              <a:rect l="l" t="t" r="r" b="b"/>
              <a:pathLst>
                <a:path w="273050" h="438785">
                  <a:moveTo>
                    <a:pt x="204447" y="0"/>
                  </a:moveTo>
                  <a:lnTo>
                    <a:pt x="68149" y="0"/>
                  </a:lnTo>
                  <a:lnTo>
                    <a:pt x="68149" y="302446"/>
                  </a:lnTo>
                  <a:lnTo>
                    <a:pt x="0" y="302446"/>
                  </a:lnTo>
                  <a:lnTo>
                    <a:pt x="136298" y="438559"/>
                  </a:lnTo>
                  <a:lnTo>
                    <a:pt x="272596" y="302446"/>
                  </a:lnTo>
                  <a:lnTo>
                    <a:pt x="204447" y="302446"/>
                  </a:lnTo>
                  <a:lnTo>
                    <a:pt x="204447" y="0"/>
                  </a:lnTo>
                  <a:close/>
                </a:path>
              </a:pathLst>
            </a:custGeom>
            <a:solidFill>
              <a:srgbClr val="2E87FF"/>
            </a:solidFill>
          </p:spPr>
          <p:txBody>
            <a:bodyPr wrap="square" lIns="0" tIns="0" rIns="0" bIns="0" rtlCol="0"/>
            <a:lstStyle/>
            <a:p>
              <a:endParaRPr/>
            </a:p>
          </p:txBody>
        </p:sp>
        <p:sp>
          <p:nvSpPr>
            <p:cNvPr id="17" name="object 17"/>
            <p:cNvSpPr/>
            <p:nvPr/>
          </p:nvSpPr>
          <p:spPr>
            <a:xfrm>
              <a:off x="4519758" y="4554411"/>
              <a:ext cx="273050" cy="438784"/>
            </a:xfrm>
            <a:custGeom>
              <a:avLst/>
              <a:gdLst/>
              <a:ahLst/>
              <a:cxnLst/>
              <a:rect l="l" t="t" r="r" b="b"/>
              <a:pathLst>
                <a:path w="273050" h="438785">
                  <a:moveTo>
                    <a:pt x="0" y="302446"/>
                  </a:moveTo>
                  <a:lnTo>
                    <a:pt x="136298" y="438559"/>
                  </a:lnTo>
                  <a:lnTo>
                    <a:pt x="272596" y="302446"/>
                  </a:lnTo>
                  <a:lnTo>
                    <a:pt x="204447" y="302446"/>
                  </a:lnTo>
                  <a:lnTo>
                    <a:pt x="204447" y="0"/>
                  </a:lnTo>
                  <a:lnTo>
                    <a:pt x="68149" y="0"/>
                  </a:lnTo>
                  <a:lnTo>
                    <a:pt x="68149" y="302446"/>
                  </a:lnTo>
                  <a:lnTo>
                    <a:pt x="0" y="302446"/>
                  </a:lnTo>
                  <a:close/>
                </a:path>
              </a:pathLst>
            </a:custGeom>
            <a:ln w="11864">
              <a:solidFill>
                <a:srgbClr val="57575A"/>
              </a:solidFill>
            </a:ln>
          </p:spPr>
          <p:txBody>
            <a:bodyPr wrap="square" lIns="0" tIns="0" rIns="0" bIns="0" rtlCol="0"/>
            <a:lstStyle/>
            <a:p>
              <a:endParaRPr/>
            </a:p>
          </p:txBody>
        </p:sp>
        <p:sp>
          <p:nvSpPr>
            <p:cNvPr id="18" name="object 18"/>
            <p:cNvSpPr/>
            <p:nvPr/>
          </p:nvSpPr>
          <p:spPr>
            <a:xfrm>
              <a:off x="715348" y="5135202"/>
              <a:ext cx="4479925" cy="0"/>
            </a:xfrm>
            <a:custGeom>
              <a:avLst/>
              <a:gdLst/>
              <a:ahLst/>
              <a:cxnLst/>
              <a:rect l="l" t="t" r="r" b="b"/>
              <a:pathLst>
                <a:path w="4479925">
                  <a:moveTo>
                    <a:pt x="0" y="0"/>
                  </a:moveTo>
                  <a:lnTo>
                    <a:pt x="4479396" y="1"/>
                  </a:lnTo>
                </a:path>
              </a:pathLst>
            </a:custGeom>
            <a:ln w="35557">
              <a:solidFill>
                <a:srgbClr val="555557"/>
              </a:solidFill>
            </a:ln>
          </p:spPr>
          <p:txBody>
            <a:bodyPr wrap="square" lIns="0" tIns="0" rIns="0" bIns="0" rtlCol="0"/>
            <a:lstStyle/>
            <a:p>
              <a:endParaRPr/>
            </a:p>
          </p:txBody>
        </p:sp>
        <p:sp>
          <p:nvSpPr>
            <p:cNvPr id="19" name="object 19"/>
            <p:cNvSpPr/>
            <p:nvPr/>
          </p:nvSpPr>
          <p:spPr>
            <a:xfrm>
              <a:off x="893118" y="5206318"/>
              <a:ext cx="1434465" cy="213360"/>
            </a:xfrm>
            <a:custGeom>
              <a:avLst/>
              <a:gdLst/>
              <a:ahLst/>
              <a:cxnLst/>
              <a:rect l="l" t="t" r="r" b="b"/>
              <a:pathLst>
                <a:path w="1434464" h="213360">
                  <a:moveTo>
                    <a:pt x="1434066" y="0"/>
                  </a:moveTo>
                  <a:lnTo>
                    <a:pt x="1425350" y="41521"/>
                  </a:lnTo>
                  <a:lnTo>
                    <a:pt x="1401581" y="75428"/>
                  </a:lnTo>
                  <a:lnTo>
                    <a:pt x="1366327" y="98289"/>
                  </a:lnTo>
                  <a:lnTo>
                    <a:pt x="1323155" y="106672"/>
                  </a:lnTo>
                  <a:lnTo>
                    <a:pt x="827944" y="106672"/>
                  </a:lnTo>
                  <a:lnTo>
                    <a:pt x="784772" y="115054"/>
                  </a:lnTo>
                  <a:lnTo>
                    <a:pt x="749518" y="137915"/>
                  </a:lnTo>
                  <a:lnTo>
                    <a:pt x="725749" y="171822"/>
                  </a:lnTo>
                  <a:lnTo>
                    <a:pt x="717033" y="213344"/>
                  </a:lnTo>
                  <a:lnTo>
                    <a:pt x="708317" y="171822"/>
                  </a:lnTo>
                  <a:lnTo>
                    <a:pt x="684548" y="137915"/>
                  </a:lnTo>
                  <a:lnTo>
                    <a:pt x="649293" y="115054"/>
                  </a:lnTo>
                  <a:lnTo>
                    <a:pt x="606122" y="106672"/>
                  </a:lnTo>
                  <a:lnTo>
                    <a:pt x="110911" y="106672"/>
                  </a:lnTo>
                  <a:lnTo>
                    <a:pt x="67739" y="98289"/>
                  </a:lnTo>
                  <a:lnTo>
                    <a:pt x="32485" y="75428"/>
                  </a:lnTo>
                  <a:lnTo>
                    <a:pt x="8715" y="41521"/>
                  </a:lnTo>
                  <a:lnTo>
                    <a:pt x="0" y="0"/>
                  </a:lnTo>
                </a:path>
              </a:pathLst>
            </a:custGeom>
            <a:ln w="11863">
              <a:solidFill>
                <a:srgbClr val="555557"/>
              </a:solidFill>
            </a:ln>
          </p:spPr>
          <p:txBody>
            <a:bodyPr wrap="square" lIns="0" tIns="0" rIns="0" bIns="0" rtlCol="0"/>
            <a:lstStyle/>
            <a:p>
              <a:endParaRPr/>
            </a:p>
          </p:txBody>
        </p:sp>
        <p:sp>
          <p:nvSpPr>
            <p:cNvPr id="20" name="object 20"/>
            <p:cNvSpPr/>
            <p:nvPr/>
          </p:nvSpPr>
          <p:spPr>
            <a:xfrm>
              <a:off x="3583464" y="5206318"/>
              <a:ext cx="1434465" cy="213360"/>
            </a:xfrm>
            <a:custGeom>
              <a:avLst/>
              <a:gdLst/>
              <a:ahLst/>
              <a:cxnLst/>
              <a:rect l="l" t="t" r="r" b="b"/>
              <a:pathLst>
                <a:path w="1434464" h="213360">
                  <a:moveTo>
                    <a:pt x="1434066" y="0"/>
                  </a:moveTo>
                  <a:lnTo>
                    <a:pt x="1425350" y="41521"/>
                  </a:lnTo>
                  <a:lnTo>
                    <a:pt x="1401581" y="75428"/>
                  </a:lnTo>
                  <a:lnTo>
                    <a:pt x="1366327" y="98289"/>
                  </a:lnTo>
                  <a:lnTo>
                    <a:pt x="1323155" y="106672"/>
                  </a:lnTo>
                  <a:lnTo>
                    <a:pt x="827944" y="106672"/>
                  </a:lnTo>
                  <a:lnTo>
                    <a:pt x="784772" y="115054"/>
                  </a:lnTo>
                  <a:lnTo>
                    <a:pt x="749518" y="137915"/>
                  </a:lnTo>
                  <a:lnTo>
                    <a:pt x="725749" y="171822"/>
                  </a:lnTo>
                  <a:lnTo>
                    <a:pt x="717033" y="213344"/>
                  </a:lnTo>
                  <a:lnTo>
                    <a:pt x="708317" y="171822"/>
                  </a:lnTo>
                  <a:lnTo>
                    <a:pt x="684548" y="137915"/>
                  </a:lnTo>
                  <a:lnTo>
                    <a:pt x="649293" y="115054"/>
                  </a:lnTo>
                  <a:lnTo>
                    <a:pt x="606122" y="106672"/>
                  </a:lnTo>
                  <a:lnTo>
                    <a:pt x="110911" y="106672"/>
                  </a:lnTo>
                  <a:lnTo>
                    <a:pt x="67739" y="98289"/>
                  </a:lnTo>
                  <a:lnTo>
                    <a:pt x="32485" y="75428"/>
                  </a:lnTo>
                  <a:lnTo>
                    <a:pt x="8715" y="41521"/>
                  </a:lnTo>
                  <a:lnTo>
                    <a:pt x="0" y="0"/>
                  </a:lnTo>
                </a:path>
              </a:pathLst>
            </a:custGeom>
            <a:ln w="11863">
              <a:solidFill>
                <a:srgbClr val="555557"/>
              </a:solidFill>
            </a:ln>
          </p:spPr>
          <p:txBody>
            <a:bodyPr wrap="square" lIns="0" tIns="0" rIns="0" bIns="0" rtlCol="0"/>
            <a:lstStyle/>
            <a:p>
              <a:endParaRPr/>
            </a:p>
          </p:txBody>
        </p:sp>
      </p:grpSp>
      <p:grpSp>
        <p:nvGrpSpPr>
          <p:cNvPr id="21" name="object 21"/>
          <p:cNvGrpSpPr/>
          <p:nvPr/>
        </p:nvGrpSpPr>
        <p:grpSpPr>
          <a:xfrm>
            <a:off x="5238691" y="4370709"/>
            <a:ext cx="3359944" cy="1055370"/>
            <a:chOff x="6984921" y="4370709"/>
            <a:chExt cx="4479925" cy="1055370"/>
          </a:xfrm>
        </p:grpSpPr>
        <p:pic>
          <p:nvPicPr>
            <p:cNvPr id="22" name="object 22"/>
            <p:cNvPicPr/>
            <p:nvPr/>
          </p:nvPicPr>
          <p:blipFill>
            <a:blip r:embed="rId2" cstate="print"/>
            <a:stretch>
              <a:fillRect/>
            </a:stretch>
          </p:blipFill>
          <p:spPr>
            <a:xfrm>
              <a:off x="7109371" y="4370709"/>
              <a:ext cx="817764" cy="805975"/>
            </a:xfrm>
            <a:prstGeom prst="rect">
              <a:avLst/>
            </a:prstGeom>
          </p:spPr>
        </p:pic>
        <p:sp>
          <p:nvSpPr>
            <p:cNvPr id="23" name="object 23"/>
            <p:cNvSpPr/>
            <p:nvPr/>
          </p:nvSpPr>
          <p:spPr>
            <a:xfrm>
              <a:off x="7387880" y="4554424"/>
              <a:ext cx="273050" cy="438784"/>
            </a:xfrm>
            <a:custGeom>
              <a:avLst/>
              <a:gdLst/>
              <a:ahLst/>
              <a:cxnLst/>
              <a:rect l="l" t="t" r="r" b="b"/>
              <a:pathLst>
                <a:path w="273050" h="438785">
                  <a:moveTo>
                    <a:pt x="204447" y="438559"/>
                  </a:moveTo>
                  <a:lnTo>
                    <a:pt x="68149" y="438559"/>
                  </a:lnTo>
                  <a:lnTo>
                    <a:pt x="68149" y="136112"/>
                  </a:lnTo>
                  <a:lnTo>
                    <a:pt x="0" y="136112"/>
                  </a:lnTo>
                  <a:lnTo>
                    <a:pt x="136298" y="0"/>
                  </a:lnTo>
                  <a:lnTo>
                    <a:pt x="272596" y="136112"/>
                  </a:lnTo>
                  <a:lnTo>
                    <a:pt x="204447" y="136112"/>
                  </a:lnTo>
                  <a:lnTo>
                    <a:pt x="204447" y="438559"/>
                  </a:lnTo>
                  <a:close/>
                </a:path>
              </a:pathLst>
            </a:custGeom>
            <a:solidFill>
              <a:srgbClr val="FF0000"/>
            </a:solidFill>
          </p:spPr>
          <p:txBody>
            <a:bodyPr wrap="square" lIns="0" tIns="0" rIns="0" bIns="0" rtlCol="0"/>
            <a:lstStyle/>
            <a:p>
              <a:endParaRPr/>
            </a:p>
          </p:txBody>
        </p:sp>
        <p:sp>
          <p:nvSpPr>
            <p:cNvPr id="24" name="object 24"/>
            <p:cNvSpPr/>
            <p:nvPr/>
          </p:nvSpPr>
          <p:spPr>
            <a:xfrm>
              <a:off x="7387880" y="4554424"/>
              <a:ext cx="273050" cy="438784"/>
            </a:xfrm>
            <a:custGeom>
              <a:avLst/>
              <a:gdLst/>
              <a:ahLst/>
              <a:cxnLst/>
              <a:rect l="l" t="t" r="r" b="b"/>
              <a:pathLst>
                <a:path w="273050" h="438785">
                  <a:moveTo>
                    <a:pt x="0" y="136112"/>
                  </a:moveTo>
                  <a:lnTo>
                    <a:pt x="136298" y="0"/>
                  </a:lnTo>
                  <a:lnTo>
                    <a:pt x="272596" y="136112"/>
                  </a:lnTo>
                  <a:lnTo>
                    <a:pt x="204447" y="136112"/>
                  </a:lnTo>
                  <a:lnTo>
                    <a:pt x="204447" y="438559"/>
                  </a:lnTo>
                  <a:lnTo>
                    <a:pt x="68149" y="438559"/>
                  </a:lnTo>
                  <a:lnTo>
                    <a:pt x="68149" y="136112"/>
                  </a:lnTo>
                  <a:lnTo>
                    <a:pt x="0" y="136112"/>
                  </a:lnTo>
                  <a:close/>
                </a:path>
              </a:pathLst>
            </a:custGeom>
            <a:ln w="11864">
              <a:solidFill>
                <a:srgbClr val="57575A"/>
              </a:solidFill>
            </a:ln>
          </p:spPr>
          <p:txBody>
            <a:bodyPr wrap="square" lIns="0" tIns="0" rIns="0" bIns="0" rtlCol="0"/>
            <a:lstStyle/>
            <a:p>
              <a:endParaRPr/>
            </a:p>
          </p:txBody>
        </p:sp>
        <p:pic>
          <p:nvPicPr>
            <p:cNvPr id="25" name="object 25"/>
            <p:cNvPicPr/>
            <p:nvPr/>
          </p:nvPicPr>
          <p:blipFill>
            <a:blip r:embed="rId2" cstate="print"/>
            <a:stretch>
              <a:fillRect/>
            </a:stretch>
          </p:blipFill>
          <p:spPr>
            <a:xfrm>
              <a:off x="9799713" y="4370709"/>
              <a:ext cx="817768" cy="805975"/>
            </a:xfrm>
            <a:prstGeom prst="rect">
              <a:avLst/>
            </a:prstGeom>
          </p:spPr>
        </p:pic>
        <p:sp>
          <p:nvSpPr>
            <p:cNvPr id="26" name="object 26"/>
            <p:cNvSpPr/>
            <p:nvPr/>
          </p:nvSpPr>
          <p:spPr>
            <a:xfrm>
              <a:off x="10078227" y="4554424"/>
              <a:ext cx="273050" cy="438784"/>
            </a:xfrm>
            <a:custGeom>
              <a:avLst/>
              <a:gdLst/>
              <a:ahLst/>
              <a:cxnLst/>
              <a:rect l="l" t="t" r="r" b="b"/>
              <a:pathLst>
                <a:path w="273050" h="438785">
                  <a:moveTo>
                    <a:pt x="204447" y="438559"/>
                  </a:moveTo>
                  <a:lnTo>
                    <a:pt x="68149" y="438559"/>
                  </a:lnTo>
                  <a:lnTo>
                    <a:pt x="68149" y="136112"/>
                  </a:lnTo>
                  <a:lnTo>
                    <a:pt x="0" y="136112"/>
                  </a:lnTo>
                  <a:lnTo>
                    <a:pt x="136298" y="0"/>
                  </a:lnTo>
                  <a:lnTo>
                    <a:pt x="272596" y="136112"/>
                  </a:lnTo>
                  <a:lnTo>
                    <a:pt x="204447" y="136112"/>
                  </a:lnTo>
                  <a:lnTo>
                    <a:pt x="204447" y="438559"/>
                  </a:lnTo>
                  <a:close/>
                </a:path>
              </a:pathLst>
            </a:custGeom>
            <a:solidFill>
              <a:srgbClr val="FF0000"/>
            </a:solidFill>
          </p:spPr>
          <p:txBody>
            <a:bodyPr wrap="square" lIns="0" tIns="0" rIns="0" bIns="0" rtlCol="0"/>
            <a:lstStyle/>
            <a:p>
              <a:endParaRPr/>
            </a:p>
          </p:txBody>
        </p:sp>
        <p:sp>
          <p:nvSpPr>
            <p:cNvPr id="27" name="object 27"/>
            <p:cNvSpPr/>
            <p:nvPr/>
          </p:nvSpPr>
          <p:spPr>
            <a:xfrm>
              <a:off x="10078227" y="4554424"/>
              <a:ext cx="273050" cy="438784"/>
            </a:xfrm>
            <a:custGeom>
              <a:avLst/>
              <a:gdLst/>
              <a:ahLst/>
              <a:cxnLst/>
              <a:rect l="l" t="t" r="r" b="b"/>
              <a:pathLst>
                <a:path w="273050" h="438785">
                  <a:moveTo>
                    <a:pt x="0" y="136112"/>
                  </a:moveTo>
                  <a:lnTo>
                    <a:pt x="136298" y="0"/>
                  </a:lnTo>
                  <a:lnTo>
                    <a:pt x="272596" y="136112"/>
                  </a:lnTo>
                  <a:lnTo>
                    <a:pt x="204447" y="136112"/>
                  </a:lnTo>
                  <a:lnTo>
                    <a:pt x="204447" y="438559"/>
                  </a:lnTo>
                  <a:lnTo>
                    <a:pt x="68149" y="438559"/>
                  </a:lnTo>
                  <a:lnTo>
                    <a:pt x="68149" y="136112"/>
                  </a:lnTo>
                  <a:lnTo>
                    <a:pt x="0" y="136112"/>
                  </a:lnTo>
                  <a:close/>
                </a:path>
              </a:pathLst>
            </a:custGeom>
            <a:ln w="11864">
              <a:solidFill>
                <a:srgbClr val="57575A"/>
              </a:solidFill>
            </a:ln>
          </p:spPr>
          <p:txBody>
            <a:bodyPr wrap="square" lIns="0" tIns="0" rIns="0" bIns="0" rtlCol="0"/>
            <a:lstStyle/>
            <a:p>
              <a:endParaRPr/>
            </a:p>
          </p:txBody>
        </p:sp>
        <p:pic>
          <p:nvPicPr>
            <p:cNvPr id="28" name="object 28"/>
            <p:cNvPicPr/>
            <p:nvPr/>
          </p:nvPicPr>
          <p:blipFill>
            <a:blip r:embed="rId2" cstate="print"/>
            <a:stretch>
              <a:fillRect/>
            </a:stretch>
          </p:blipFill>
          <p:spPr>
            <a:xfrm>
              <a:off x="10510816" y="4370709"/>
              <a:ext cx="817770" cy="805975"/>
            </a:xfrm>
            <a:prstGeom prst="rect">
              <a:avLst/>
            </a:prstGeom>
          </p:spPr>
        </p:pic>
        <p:sp>
          <p:nvSpPr>
            <p:cNvPr id="29" name="object 29"/>
            <p:cNvSpPr/>
            <p:nvPr/>
          </p:nvSpPr>
          <p:spPr>
            <a:xfrm>
              <a:off x="10789332" y="4554411"/>
              <a:ext cx="273050" cy="438784"/>
            </a:xfrm>
            <a:custGeom>
              <a:avLst/>
              <a:gdLst/>
              <a:ahLst/>
              <a:cxnLst/>
              <a:rect l="l" t="t" r="r" b="b"/>
              <a:pathLst>
                <a:path w="273050" h="438785">
                  <a:moveTo>
                    <a:pt x="204447" y="0"/>
                  </a:moveTo>
                  <a:lnTo>
                    <a:pt x="68149" y="0"/>
                  </a:lnTo>
                  <a:lnTo>
                    <a:pt x="68149" y="302446"/>
                  </a:lnTo>
                  <a:lnTo>
                    <a:pt x="0" y="302446"/>
                  </a:lnTo>
                  <a:lnTo>
                    <a:pt x="136298" y="438559"/>
                  </a:lnTo>
                  <a:lnTo>
                    <a:pt x="272596" y="302446"/>
                  </a:lnTo>
                  <a:lnTo>
                    <a:pt x="204447" y="302446"/>
                  </a:lnTo>
                  <a:lnTo>
                    <a:pt x="204447" y="0"/>
                  </a:lnTo>
                  <a:close/>
                </a:path>
              </a:pathLst>
            </a:custGeom>
            <a:solidFill>
              <a:srgbClr val="2E87FF"/>
            </a:solidFill>
          </p:spPr>
          <p:txBody>
            <a:bodyPr wrap="square" lIns="0" tIns="0" rIns="0" bIns="0" rtlCol="0"/>
            <a:lstStyle/>
            <a:p>
              <a:endParaRPr/>
            </a:p>
          </p:txBody>
        </p:sp>
        <p:sp>
          <p:nvSpPr>
            <p:cNvPr id="30" name="object 30"/>
            <p:cNvSpPr/>
            <p:nvPr/>
          </p:nvSpPr>
          <p:spPr>
            <a:xfrm>
              <a:off x="10789331" y="4554411"/>
              <a:ext cx="273050" cy="438784"/>
            </a:xfrm>
            <a:custGeom>
              <a:avLst/>
              <a:gdLst/>
              <a:ahLst/>
              <a:cxnLst/>
              <a:rect l="l" t="t" r="r" b="b"/>
              <a:pathLst>
                <a:path w="273050" h="438785">
                  <a:moveTo>
                    <a:pt x="0" y="302446"/>
                  </a:moveTo>
                  <a:lnTo>
                    <a:pt x="136298" y="438559"/>
                  </a:lnTo>
                  <a:lnTo>
                    <a:pt x="272596" y="302446"/>
                  </a:lnTo>
                  <a:lnTo>
                    <a:pt x="204447" y="302446"/>
                  </a:lnTo>
                  <a:lnTo>
                    <a:pt x="204447" y="0"/>
                  </a:lnTo>
                  <a:lnTo>
                    <a:pt x="68149" y="0"/>
                  </a:lnTo>
                  <a:lnTo>
                    <a:pt x="68149" y="302446"/>
                  </a:lnTo>
                  <a:lnTo>
                    <a:pt x="0" y="302446"/>
                  </a:lnTo>
                  <a:close/>
                </a:path>
              </a:pathLst>
            </a:custGeom>
            <a:ln w="11864">
              <a:solidFill>
                <a:srgbClr val="57575A"/>
              </a:solidFill>
            </a:ln>
          </p:spPr>
          <p:txBody>
            <a:bodyPr wrap="square" lIns="0" tIns="0" rIns="0" bIns="0" rtlCol="0"/>
            <a:lstStyle/>
            <a:p>
              <a:endParaRPr/>
            </a:p>
          </p:txBody>
        </p:sp>
        <p:sp>
          <p:nvSpPr>
            <p:cNvPr id="31" name="object 31"/>
            <p:cNvSpPr/>
            <p:nvPr/>
          </p:nvSpPr>
          <p:spPr>
            <a:xfrm>
              <a:off x="6984921" y="5135202"/>
              <a:ext cx="4479925" cy="0"/>
            </a:xfrm>
            <a:custGeom>
              <a:avLst/>
              <a:gdLst/>
              <a:ahLst/>
              <a:cxnLst/>
              <a:rect l="l" t="t" r="r" b="b"/>
              <a:pathLst>
                <a:path w="4479925">
                  <a:moveTo>
                    <a:pt x="0" y="0"/>
                  </a:moveTo>
                  <a:lnTo>
                    <a:pt x="4479396" y="1"/>
                  </a:lnTo>
                </a:path>
              </a:pathLst>
            </a:custGeom>
            <a:ln w="35557">
              <a:solidFill>
                <a:srgbClr val="555557"/>
              </a:solidFill>
            </a:ln>
          </p:spPr>
          <p:txBody>
            <a:bodyPr wrap="square" lIns="0" tIns="0" rIns="0" bIns="0" rtlCol="0"/>
            <a:lstStyle/>
            <a:p>
              <a:endParaRPr/>
            </a:p>
          </p:txBody>
        </p:sp>
        <p:sp>
          <p:nvSpPr>
            <p:cNvPr id="32" name="object 32"/>
            <p:cNvSpPr/>
            <p:nvPr/>
          </p:nvSpPr>
          <p:spPr>
            <a:xfrm>
              <a:off x="7162702" y="5206317"/>
              <a:ext cx="4124960" cy="213360"/>
            </a:xfrm>
            <a:custGeom>
              <a:avLst/>
              <a:gdLst/>
              <a:ahLst/>
              <a:cxnLst/>
              <a:rect l="l" t="t" r="r" b="b"/>
              <a:pathLst>
                <a:path w="4124959" h="213360">
                  <a:moveTo>
                    <a:pt x="4124402" y="0"/>
                  </a:moveTo>
                  <a:lnTo>
                    <a:pt x="4115687" y="41521"/>
                  </a:lnTo>
                  <a:lnTo>
                    <a:pt x="4091918" y="75429"/>
                  </a:lnTo>
                  <a:lnTo>
                    <a:pt x="4056664" y="98290"/>
                  </a:lnTo>
                  <a:lnTo>
                    <a:pt x="4013494" y="106673"/>
                  </a:lnTo>
                  <a:lnTo>
                    <a:pt x="2173110" y="106673"/>
                  </a:lnTo>
                  <a:lnTo>
                    <a:pt x="2129939" y="115055"/>
                  </a:lnTo>
                  <a:lnTo>
                    <a:pt x="2094685" y="137916"/>
                  </a:lnTo>
                  <a:lnTo>
                    <a:pt x="2070917" y="171824"/>
                  </a:lnTo>
                  <a:lnTo>
                    <a:pt x="2062201" y="213346"/>
                  </a:lnTo>
                  <a:lnTo>
                    <a:pt x="2053485" y="171824"/>
                  </a:lnTo>
                  <a:lnTo>
                    <a:pt x="2029717" y="137916"/>
                  </a:lnTo>
                  <a:lnTo>
                    <a:pt x="1994463" y="115055"/>
                  </a:lnTo>
                  <a:lnTo>
                    <a:pt x="1951292" y="106673"/>
                  </a:lnTo>
                  <a:lnTo>
                    <a:pt x="110908" y="106673"/>
                  </a:lnTo>
                  <a:lnTo>
                    <a:pt x="67738" y="98290"/>
                  </a:lnTo>
                  <a:lnTo>
                    <a:pt x="32484" y="75429"/>
                  </a:lnTo>
                  <a:lnTo>
                    <a:pt x="8715" y="41521"/>
                  </a:lnTo>
                  <a:lnTo>
                    <a:pt x="0" y="0"/>
                  </a:lnTo>
                </a:path>
              </a:pathLst>
            </a:custGeom>
            <a:ln w="11863">
              <a:solidFill>
                <a:srgbClr val="555557"/>
              </a:solidFill>
            </a:ln>
          </p:spPr>
          <p:txBody>
            <a:bodyPr wrap="square" lIns="0" tIns="0" rIns="0" bIns="0" rtlCol="0"/>
            <a:lstStyle/>
            <a:p>
              <a:endParaRPr/>
            </a:p>
          </p:txBody>
        </p:sp>
      </p:grpSp>
      <p:sp>
        <p:nvSpPr>
          <p:cNvPr id="33" name="object 33"/>
          <p:cNvSpPr txBox="1"/>
          <p:nvPr/>
        </p:nvSpPr>
        <p:spPr>
          <a:xfrm>
            <a:off x="907832" y="5452504"/>
            <a:ext cx="602933" cy="614271"/>
          </a:xfrm>
          <a:prstGeom prst="rect">
            <a:avLst/>
          </a:prstGeom>
        </p:spPr>
        <p:txBody>
          <a:bodyPr vert="horz" wrap="square" lIns="0" tIns="13970" rIns="0" bIns="0" rtlCol="0">
            <a:spAutoFit/>
          </a:bodyPr>
          <a:lstStyle/>
          <a:p>
            <a:pPr marL="12700">
              <a:lnSpc>
                <a:spcPct val="100000"/>
              </a:lnSpc>
              <a:spcBef>
                <a:spcPts val="110"/>
              </a:spcBef>
            </a:pPr>
            <a:r>
              <a:rPr sz="1950" spc="-15" dirty="0">
                <a:solidFill>
                  <a:srgbClr val="57575A"/>
                </a:solidFill>
                <a:latin typeface="Arial MT"/>
                <a:cs typeface="Arial MT"/>
              </a:rPr>
              <a:t>Cell</a:t>
            </a:r>
            <a:r>
              <a:rPr sz="1950" spc="-20" dirty="0">
                <a:solidFill>
                  <a:srgbClr val="57575A"/>
                </a:solidFill>
                <a:latin typeface="Arial MT"/>
                <a:cs typeface="Arial MT"/>
              </a:rPr>
              <a:t> </a:t>
            </a:r>
            <a:r>
              <a:rPr sz="1950" spc="15" dirty="0">
                <a:solidFill>
                  <a:srgbClr val="57575A"/>
                </a:solidFill>
                <a:latin typeface="Arial MT"/>
                <a:cs typeface="Arial MT"/>
              </a:rPr>
              <a:t>#1</a:t>
            </a:r>
            <a:endParaRPr sz="1950">
              <a:latin typeface="Arial MT"/>
              <a:cs typeface="Arial MT"/>
            </a:endParaRPr>
          </a:p>
        </p:txBody>
      </p:sp>
      <p:sp>
        <p:nvSpPr>
          <p:cNvPr id="34" name="object 34"/>
          <p:cNvSpPr txBox="1"/>
          <p:nvPr/>
        </p:nvSpPr>
        <p:spPr>
          <a:xfrm>
            <a:off x="2922286" y="5452504"/>
            <a:ext cx="602933" cy="614271"/>
          </a:xfrm>
          <a:prstGeom prst="rect">
            <a:avLst/>
          </a:prstGeom>
        </p:spPr>
        <p:txBody>
          <a:bodyPr vert="horz" wrap="square" lIns="0" tIns="13970" rIns="0" bIns="0" rtlCol="0">
            <a:spAutoFit/>
          </a:bodyPr>
          <a:lstStyle/>
          <a:p>
            <a:pPr marL="12700">
              <a:lnSpc>
                <a:spcPct val="100000"/>
              </a:lnSpc>
              <a:spcBef>
                <a:spcPts val="110"/>
              </a:spcBef>
            </a:pPr>
            <a:r>
              <a:rPr sz="1950" spc="-15" dirty="0">
                <a:solidFill>
                  <a:srgbClr val="57575A"/>
                </a:solidFill>
                <a:latin typeface="Arial MT"/>
                <a:cs typeface="Arial MT"/>
              </a:rPr>
              <a:t>Cell</a:t>
            </a:r>
            <a:r>
              <a:rPr sz="1950" spc="-20" dirty="0">
                <a:solidFill>
                  <a:srgbClr val="57575A"/>
                </a:solidFill>
                <a:latin typeface="Arial MT"/>
                <a:cs typeface="Arial MT"/>
              </a:rPr>
              <a:t> </a:t>
            </a:r>
            <a:r>
              <a:rPr sz="1950" spc="15" dirty="0">
                <a:solidFill>
                  <a:srgbClr val="57575A"/>
                </a:solidFill>
                <a:latin typeface="Arial MT"/>
                <a:cs typeface="Arial MT"/>
              </a:rPr>
              <a:t>#2</a:t>
            </a:r>
            <a:endParaRPr sz="1950">
              <a:latin typeface="Arial MT"/>
              <a:cs typeface="Arial MT"/>
            </a:endParaRPr>
          </a:p>
        </p:txBody>
      </p:sp>
      <p:sp>
        <p:nvSpPr>
          <p:cNvPr id="35" name="object 35"/>
          <p:cNvSpPr txBox="1"/>
          <p:nvPr/>
        </p:nvSpPr>
        <p:spPr>
          <a:xfrm>
            <a:off x="6410726" y="5452504"/>
            <a:ext cx="1005840" cy="614271"/>
          </a:xfrm>
          <a:prstGeom prst="rect">
            <a:avLst/>
          </a:prstGeom>
        </p:spPr>
        <p:txBody>
          <a:bodyPr vert="horz" wrap="square" lIns="0" tIns="13970" rIns="0" bIns="0" rtlCol="0">
            <a:spAutoFit/>
          </a:bodyPr>
          <a:lstStyle/>
          <a:p>
            <a:pPr marL="12700">
              <a:lnSpc>
                <a:spcPct val="100000"/>
              </a:lnSpc>
              <a:spcBef>
                <a:spcPts val="110"/>
              </a:spcBef>
            </a:pPr>
            <a:r>
              <a:rPr sz="1950" spc="5" dirty="0">
                <a:solidFill>
                  <a:srgbClr val="57575A"/>
                </a:solidFill>
                <a:latin typeface="Arial MT"/>
                <a:cs typeface="Arial MT"/>
              </a:rPr>
              <a:t>A</a:t>
            </a:r>
            <a:r>
              <a:rPr sz="1950" spc="-105" dirty="0">
                <a:solidFill>
                  <a:srgbClr val="57575A"/>
                </a:solidFill>
                <a:latin typeface="Arial MT"/>
                <a:cs typeface="Arial MT"/>
              </a:rPr>
              <a:t> </a:t>
            </a:r>
            <a:r>
              <a:rPr sz="1950" spc="-20" dirty="0">
                <a:solidFill>
                  <a:srgbClr val="57575A"/>
                </a:solidFill>
                <a:latin typeface="Arial MT"/>
                <a:cs typeface="Arial MT"/>
              </a:rPr>
              <a:t>single</a:t>
            </a:r>
            <a:r>
              <a:rPr sz="1950" spc="110" dirty="0">
                <a:solidFill>
                  <a:srgbClr val="57575A"/>
                </a:solidFill>
                <a:latin typeface="Arial MT"/>
                <a:cs typeface="Arial MT"/>
              </a:rPr>
              <a:t> </a:t>
            </a:r>
            <a:r>
              <a:rPr sz="1950" spc="-15" dirty="0">
                <a:solidFill>
                  <a:srgbClr val="57575A"/>
                </a:solidFill>
                <a:latin typeface="Arial MT"/>
                <a:cs typeface="Arial MT"/>
              </a:rPr>
              <a:t>cell</a:t>
            </a:r>
            <a:endParaRPr sz="1950">
              <a:latin typeface="Arial MT"/>
              <a:cs typeface="Arial MT"/>
            </a:endParaRPr>
          </a:p>
        </p:txBody>
      </p:sp>
      <p:sp>
        <p:nvSpPr>
          <p:cNvPr id="36" name="object 36"/>
          <p:cNvSpPr txBox="1"/>
          <p:nvPr/>
        </p:nvSpPr>
        <p:spPr>
          <a:xfrm>
            <a:off x="525048" y="2293113"/>
            <a:ext cx="3952399" cy="2228174"/>
          </a:xfrm>
          <a:prstGeom prst="rect">
            <a:avLst/>
          </a:prstGeom>
        </p:spPr>
        <p:txBody>
          <a:bodyPr vert="horz" wrap="square" lIns="0" tIns="12065" rIns="0" bIns="0" rtlCol="0">
            <a:spAutoFit/>
          </a:bodyPr>
          <a:lstStyle/>
          <a:p>
            <a:pPr marL="354965" marR="139700" indent="-342900">
              <a:lnSpc>
                <a:spcPct val="100000"/>
              </a:lnSpc>
              <a:spcBef>
                <a:spcPts val="95"/>
              </a:spcBef>
              <a:buFont typeface="Arial MT"/>
              <a:buChar char="•"/>
              <a:tabLst>
                <a:tab pos="354965" algn="l"/>
                <a:tab pos="355600" algn="l"/>
              </a:tabLst>
            </a:pPr>
            <a:r>
              <a:rPr sz="3200" spc="-5" dirty="0">
                <a:solidFill>
                  <a:srgbClr val="244060"/>
                </a:solidFill>
                <a:latin typeface="Calibri"/>
                <a:cs typeface="Calibri"/>
              </a:rPr>
              <a:t>Carrier</a:t>
            </a:r>
            <a:r>
              <a:rPr sz="3200" dirty="0">
                <a:solidFill>
                  <a:srgbClr val="244060"/>
                </a:solidFill>
                <a:latin typeface="Calibri"/>
                <a:cs typeface="Calibri"/>
              </a:rPr>
              <a:t> </a:t>
            </a:r>
            <a:r>
              <a:rPr sz="3200" spc="-15" dirty="0">
                <a:solidFill>
                  <a:srgbClr val="244060"/>
                </a:solidFill>
                <a:latin typeface="Calibri"/>
                <a:cs typeface="Calibri"/>
              </a:rPr>
              <a:t>aggregation</a:t>
            </a:r>
            <a:r>
              <a:rPr sz="3200" spc="30" dirty="0">
                <a:solidFill>
                  <a:srgbClr val="244060"/>
                </a:solidFill>
                <a:latin typeface="Calibri"/>
                <a:cs typeface="Calibri"/>
              </a:rPr>
              <a:t> </a:t>
            </a:r>
            <a:r>
              <a:rPr sz="3200" spc="-5" dirty="0">
                <a:solidFill>
                  <a:srgbClr val="244060"/>
                </a:solidFill>
                <a:latin typeface="Calibri"/>
                <a:cs typeface="Calibri"/>
              </a:rPr>
              <a:t>(up</a:t>
            </a:r>
            <a:r>
              <a:rPr sz="3200" spc="5" dirty="0">
                <a:solidFill>
                  <a:srgbClr val="244060"/>
                </a:solidFill>
                <a:latin typeface="Calibri"/>
                <a:cs typeface="Calibri"/>
              </a:rPr>
              <a:t> </a:t>
            </a:r>
            <a:r>
              <a:rPr sz="3200" spc="-20" dirty="0">
                <a:solidFill>
                  <a:srgbClr val="244060"/>
                </a:solidFill>
                <a:latin typeface="Calibri"/>
                <a:cs typeface="Calibri"/>
              </a:rPr>
              <a:t>to</a:t>
            </a:r>
            <a:r>
              <a:rPr sz="3200" spc="-5" dirty="0">
                <a:solidFill>
                  <a:srgbClr val="244060"/>
                </a:solidFill>
                <a:latin typeface="Calibri"/>
                <a:cs typeface="Calibri"/>
              </a:rPr>
              <a:t> 16 </a:t>
            </a:r>
            <a:r>
              <a:rPr sz="3200" spc="-705" dirty="0">
                <a:solidFill>
                  <a:srgbClr val="244060"/>
                </a:solidFill>
                <a:latin typeface="Calibri"/>
                <a:cs typeface="Calibri"/>
              </a:rPr>
              <a:t> </a:t>
            </a:r>
            <a:r>
              <a:rPr sz="3200" spc="-15" dirty="0">
                <a:solidFill>
                  <a:srgbClr val="244060"/>
                </a:solidFill>
                <a:latin typeface="Calibri"/>
                <a:cs typeface="Calibri"/>
              </a:rPr>
              <a:t>carriers)</a:t>
            </a:r>
            <a:endParaRPr sz="3200">
              <a:latin typeface="Calibri"/>
              <a:cs typeface="Calibri"/>
            </a:endParaRPr>
          </a:p>
          <a:p>
            <a:pPr marL="469265">
              <a:lnSpc>
                <a:spcPct val="100000"/>
              </a:lnSpc>
              <a:spcBef>
                <a:spcPts val="625"/>
              </a:spcBef>
            </a:pPr>
            <a:r>
              <a:rPr sz="2400" dirty="0">
                <a:solidFill>
                  <a:srgbClr val="375F92"/>
                </a:solidFill>
                <a:latin typeface="Arial MT"/>
                <a:cs typeface="Arial MT"/>
              </a:rPr>
              <a:t>–</a:t>
            </a:r>
            <a:r>
              <a:rPr sz="2400" spc="225" dirty="0">
                <a:solidFill>
                  <a:srgbClr val="375F92"/>
                </a:solidFill>
                <a:latin typeface="Arial MT"/>
                <a:cs typeface="Arial MT"/>
              </a:rPr>
              <a:t> </a:t>
            </a:r>
            <a:r>
              <a:rPr sz="2400" dirty="0">
                <a:solidFill>
                  <a:srgbClr val="375F92"/>
                </a:solidFill>
                <a:latin typeface="Calibri"/>
                <a:cs typeface="Calibri"/>
              </a:rPr>
              <a:t>Main</a:t>
            </a:r>
            <a:r>
              <a:rPr sz="2400" spc="-25" dirty="0">
                <a:solidFill>
                  <a:srgbClr val="375F92"/>
                </a:solidFill>
                <a:latin typeface="Calibri"/>
                <a:cs typeface="Calibri"/>
              </a:rPr>
              <a:t> </a:t>
            </a:r>
            <a:r>
              <a:rPr sz="2400" spc="-5" dirty="0">
                <a:solidFill>
                  <a:srgbClr val="375F92"/>
                </a:solidFill>
                <a:latin typeface="Calibri"/>
                <a:cs typeface="Calibri"/>
              </a:rPr>
              <a:t>use</a:t>
            </a:r>
            <a:r>
              <a:rPr sz="2400" spc="-10" dirty="0">
                <a:solidFill>
                  <a:srgbClr val="375F92"/>
                </a:solidFill>
                <a:latin typeface="Calibri"/>
                <a:cs typeface="Calibri"/>
              </a:rPr>
              <a:t> case:</a:t>
            </a:r>
            <a:r>
              <a:rPr sz="2400" spc="-20" dirty="0">
                <a:solidFill>
                  <a:srgbClr val="375F92"/>
                </a:solidFill>
                <a:latin typeface="Calibri"/>
                <a:cs typeface="Calibri"/>
              </a:rPr>
              <a:t> </a:t>
            </a:r>
            <a:r>
              <a:rPr sz="2400" spc="-5" dirty="0">
                <a:solidFill>
                  <a:srgbClr val="375F92"/>
                </a:solidFill>
                <a:latin typeface="Calibri"/>
                <a:cs typeface="Calibri"/>
              </a:rPr>
              <a:t>bandwidth</a:t>
            </a:r>
            <a:r>
              <a:rPr sz="2400" spc="-15" dirty="0">
                <a:solidFill>
                  <a:srgbClr val="375F92"/>
                </a:solidFill>
                <a:latin typeface="Calibri"/>
                <a:cs typeface="Calibri"/>
              </a:rPr>
              <a:t> </a:t>
            </a:r>
            <a:r>
              <a:rPr sz="2400" spc="-10" dirty="0">
                <a:solidFill>
                  <a:srgbClr val="375F92"/>
                </a:solidFill>
                <a:latin typeface="Calibri"/>
                <a:cs typeface="Calibri"/>
              </a:rPr>
              <a:t>extension</a:t>
            </a:r>
            <a:endParaRPr sz="2400">
              <a:latin typeface="Calibri"/>
              <a:cs typeface="Calibri"/>
            </a:endParaRPr>
          </a:p>
          <a:p>
            <a:pPr marL="1179195">
              <a:lnSpc>
                <a:spcPct val="100000"/>
              </a:lnSpc>
              <a:spcBef>
                <a:spcPts val="910"/>
              </a:spcBef>
            </a:pPr>
            <a:r>
              <a:rPr sz="1950" spc="10" dirty="0">
                <a:solidFill>
                  <a:srgbClr val="57575A"/>
                </a:solidFill>
                <a:latin typeface="Arial MT"/>
                <a:cs typeface="Arial MT"/>
              </a:rPr>
              <a:t>Carrier</a:t>
            </a:r>
            <a:r>
              <a:rPr sz="1950" spc="-15" dirty="0">
                <a:solidFill>
                  <a:srgbClr val="57575A"/>
                </a:solidFill>
                <a:latin typeface="Arial MT"/>
                <a:cs typeface="Arial MT"/>
              </a:rPr>
              <a:t> </a:t>
            </a:r>
            <a:r>
              <a:rPr sz="1950" dirty="0">
                <a:solidFill>
                  <a:srgbClr val="57575A"/>
                </a:solidFill>
                <a:latin typeface="Arial MT"/>
                <a:cs typeface="Arial MT"/>
              </a:rPr>
              <a:t>aggregation</a:t>
            </a:r>
            <a:endParaRPr sz="1950">
              <a:latin typeface="Arial MT"/>
              <a:cs typeface="Arial MT"/>
            </a:endParaRPr>
          </a:p>
        </p:txBody>
      </p:sp>
      <p:sp>
        <p:nvSpPr>
          <p:cNvPr id="37" name="object 37"/>
          <p:cNvSpPr txBox="1"/>
          <p:nvPr/>
        </p:nvSpPr>
        <p:spPr>
          <a:xfrm>
            <a:off x="6014432" y="3827592"/>
            <a:ext cx="1804511" cy="614271"/>
          </a:xfrm>
          <a:prstGeom prst="rect">
            <a:avLst/>
          </a:prstGeom>
        </p:spPr>
        <p:txBody>
          <a:bodyPr vert="horz" wrap="square" lIns="0" tIns="13970" rIns="0" bIns="0" rtlCol="0">
            <a:spAutoFit/>
          </a:bodyPr>
          <a:lstStyle/>
          <a:p>
            <a:pPr marL="12700">
              <a:lnSpc>
                <a:spcPct val="100000"/>
              </a:lnSpc>
              <a:spcBef>
                <a:spcPts val="110"/>
              </a:spcBef>
            </a:pPr>
            <a:r>
              <a:rPr sz="1950" spc="-20" dirty="0">
                <a:solidFill>
                  <a:srgbClr val="57575A"/>
                </a:solidFill>
                <a:latin typeface="Arial MT"/>
                <a:cs typeface="Arial MT"/>
              </a:rPr>
              <a:t>Supplementary</a:t>
            </a:r>
            <a:r>
              <a:rPr sz="1950" spc="385" dirty="0">
                <a:solidFill>
                  <a:srgbClr val="57575A"/>
                </a:solidFill>
                <a:latin typeface="Arial MT"/>
                <a:cs typeface="Arial MT"/>
              </a:rPr>
              <a:t> </a:t>
            </a:r>
            <a:r>
              <a:rPr sz="1950" spc="-45" dirty="0">
                <a:solidFill>
                  <a:srgbClr val="57575A"/>
                </a:solidFill>
                <a:latin typeface="Arial MT"/>
                <a:cs typeface="Arial MT"/>
              </a:rPr>
              <a:t>uplink</a:t>
            </a:r>
            <a:endParaRPr sz="1950">
              <a:latin typeface="Arial MT"/>
              <a:cs typeface="Arial MT"/>
            </a:endParaRPr>
          </a:p>
        </p:txBody>
      </p:sp>
    </p:spTree>
    <p:extLst>
      <p:ext uri="{BB962C8B-B14F-4D97-AF65-F5344CB8AC3E}">
        <p14:creationId xmlns:p14="http://schemas.microsoft.com/office/powerpoint/2010/main" val="242154180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62000" y="1066800"/>
            <a:ext cx="7543800" cy="689291"/>
          </a:xfrm>
          <a:prstGeom prst="rect">
            <a:avLst/>
          </a:prstGeom>
        </p:spPr>
        <p:txBody>
          <a:bodyPr vert="horz" wrap="square" lIns="0" tIns="12065" rIns="0" bIns="0" rtlCol="0">
            <a:spAutoFit/>
          </a:bodyPr>
          <a:lstStyle/>
          <a:p>
            <a:pPr marL="12700" algn="ctr">
              <a:lnSpc>
                <a:spcPct val="100000"/>
              </a:lnSpc>
              <a:spcBef>
                <a:spcPts val="95"/>
              </a:spcBef>
            </a:pPr>
            <a:r>
              <a:rPr sz="4400" spc="-10" dirty="0">
                <a:solidFill>
                  <a:srgbClr val="FF0000"/>
                </a:solidFill>
                <a:latin typeface="Calibri"/>
                <a:cs typeface="Calibri"/>
              </a:rPr>
              <a:t>Carrier</a:t>
            </a:r>
            <a:r>
              <a:rPr sz="4400" spc="5" dirty="0">
                <a:solidFill>
                  <a:srgbClr val="FF0000"/>
                </a:solidFill>
                <a:latin typeface="Calibri"/>
                <a:cs typeface="Calibri"/>
              </a:rPr>
              <a:t> </a:t>
            </a:r>
            <a:r>
              <a:rPr sz="4400" spc="-15" dirty="0">
                <a:solidFill>
                  <a:srgbClr val="FF0000"/>
                </a:solidFill>
                <a:latin typeface="Calibri"/>
                <a:cs typeface="Calibri"/>
              </a:rPr>
              <a:t>Aggregation</a:t>
            </a:r>
            <a:r>
              <a:rPr sz="4400" spc="15" dirty="0">
                <a:solidFill>
                  <a:srgbClr val="FF0000"/>
                </a:solidFill>
                <a:latin typeface="Calibri"/>
                <a:cs typeface="Calibri"/>
              </a:rPr>
              <a:t> </a:t>
            </a:r>
            <a:r>
              <a:rPr sz="4400" spc="-5" dirty="0">
                <a:solidFill>
                  <a:srgbClr val="FF0000"/>
                </a:solidFill>
                <a:latin typeface="Calibri"/>
                <a:cs typeface="Calibri"/>
              </a:rPr>
              <a:t>Use</a:t>
            </a:r>
            <a:r>
              <a:rPr sz="4400" spc="-10" dirty="0">
                <a:solidFill>
                  <a:srgbClr val="FF0000"/>
                </a:solidFill>
                <a:latin typeface="Calibri"/>
                <a:cs typeface="Calibri"/>
              </a:rPr>
              <a:t> Cases</a:t>
            </a:r>
            <a:endParaRPr sz="4400" dirty="0">
              <a:solidFill>
                <a:srgbClr val="FF0000"/>
              </a:solidFill>
              <a:latin typeface="Calibri"/>
              <a:cs typeface="Calibri"/>
            </a:endParaRPr>
          </a:p>
        </p:txBody>
      </p:sp>
    </p:spTree>
    <p:extLst>
      <p:ext uri="{BB962C8B-B14F-4D97-AF65-F5344CB8AC3E}">
        <p14:creationId xmlns:p14="http://schemas.microsoft.com/office/powerpoint/2010/main" val="435141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573" y="23622"/>
            <a:ext cx="9127427" cy="1143000"/>
          </a:xfrm>
          <a:prstGeom prst="rect">
            <a:avLst/>
          </a:prstGeom>
        </p:spPr>
      </p:pic>
      <p:sp>
        <p:nvSpPr>
          <p:cNvPr id="3" name="object 3"/>
          <p:cNvSpPr txBox="1">
            <a:spLocks noGrp="1"/>
          </p:cNvSpPr>
          <p:nvPr>
            <p:ph type="title"/>
          </p:nvPr>
        </p:nvSpPr>
        <p:spPr>
          <a:xfrm>
            <a:off x="2497654" y="196954"/>
            <a:ext cx="4165264" cy="520014"/>
          </a:xfrm>
          <a:prstGeom prst="rect">
            <a:avLst/>
          </a:prstGeom>
        </p:spPr>
        <p:txBody>
          <a:bodyPr vert="horz" wrap="square" lIns="0" tIns="12065" rIns="0" bIns="0" rtlCol="0">
            <a:spAutoFit/>
          </a:bodyPr>
          <a:lstStyle/>
          <a:p>
            <a:pPr marL="12700">
              <a:lnSpc>
                <a:spcPct val="100000"/>
              </a:lnSpc>
              <a:spcBef>
                <a:spcPts val="95"/>
              </a:spcBef>
            </a:pPr>
            <a:r>
              <a:rPr spc="-5" dirty="0">
                <a:solidFill>
                  <a:srgbClr val="FF0000"/>
                </a:solidFill>
              </a:rPr>
              <a:t>Dual</a:t>
            </a:r>
            <a:r>
              <a:rPr spc="-70" dirty="0">
                <a:solidFill>
                  <a:srgbClr val="FF0000"/>
                </a:solidFill>
              </a:rPr>
              <a:t> </a:t>
            </a:r>
            <a:r>
              <a:rPr spc="-5" dirty="0">
                <a:solidFill>
                  <a:srgbClr val="FF0000"/>
                </a:solidFill>
              </a:rPr>
              <a:t>Connectivity</a:t>
            </a:r>
          </a:p>
        </p:txBody>
      </p:sp>
      <p:grpSp>
        <p:nvGrpSpPr>
          <p:cNvPr id="4" name="object 4"/>
          <p:cNvGrpSpPr/>
          <p:nvPr/>
        </p:nvGrpSpPr>
        <p:grpSpPr>
          <a:xfrm>
            <a:off x="177165" y="1315211"/>
            <a:ext cx="3160395" cy="5213350"/>
            <a:chOff x="236220" y="1315211"/>
            <a:chExt cx="4213860" cy="5213350"/>
          </a:xfrm>
        </p:grpSpPr>
        <p:pic>
          <p:nvPicPr>
            <p:cNvPr id="5" name="object 5"/>
            <p:cNvPicPr/>
            <p:nvPr/>
          </p:nvPicPr>
          <p:blipFill>
            <a:blip r:embed="rId3" cstate="print"/>
            <a:stretch>
              <a:fillRect/>
            </a:stretch>
          </p:blipFill>
          <p:spPr>
            <a:xfrm>
              <a:off x="236220" y="1315211"/>
              <a:ext cx="4213859" cy="1314449"/>
            </a:xfrm>
            <a:prstGeom prst="rect">
              <a:avLst/>
            </a:prstGeom>
          </p:spPr>
        </p:pic>
        <p:pic>
          <p:nvPicPr>
            <p:cNvPr id="6" name="object 6"/>
            <p:cNvPicPr/>
            <p:nvPr/>
          </p:nvPicPr>
          <p:blipFill>
            <a:blip r:embed="rId4" cstate="print"/>
            <a:stretch>
              <a:fillRect/>
            </a:stretch>
          </p:blipFill>
          <p:spPr>
            <a:xfrm>
              <a:off x="236220" y="2609088"/>
              <a:ext cx="4213859" cy="1330451"/>
            </a:xfrm>
            <a:prstGeom prst="rect">
              <a:avLst/>
            </a:prstGeom>
          </p:spPr>
        </p:pic>
        <p:pic>
          <p:nvPicPr>
            <p:cNvPr id="7" name="object 7"/>
            <p:cNvPicPr/>
            <p:nvPr/>
          </p:nvPicPr>
          <p:blipFill>
            <a:blip r:embed="rId5" cstate="print"/>
            <a:stretch>
              <a:fillRect/>
            </a:stretch>
          </p:blipFill>
          <p:spPr>
            <a:xfrm>
              <a:off x="236220" y="3902964"/>
              <a:ext cx="4213859" cy="1314449"/>
            </a:xfrm>
            <a:prstGeom prst="rect">
              <a:avLst/>
            </a:prstGeom>
          </p:spPr>
        </p:pic>
        <p:pic>
          <p:nvPicPr>
            <p:cNvPr id="8" name="object 8"/>
            <p:cNvPicPr/>
            <p:nvPr/>
          </p:nvPicPr>
          <p:blipFill>
            <a:blip r:embed="rId6" cstate="print"/>
            <a:stretch>
              <a:fillRect/>
            </a:stretch>
          </p:blipFill>
          <p:spPr>
            <a:xfrm>
              <a:off x="236220" y="5196840"/>
              <a:ext cx="4213859" cy="1331213"/>
            </a:xfrm>
            <a:prstGeom prst="rect">
              <a:avLst/>
            </a:prstGeom>
          </p:spPr>
        </p:pic>
      </p:grpSp>
      <p:grpSp>
        <p:nvGrpSpPr>
          <p:cNvPr id="10" name="object 10"/>
          <p:cNvGrpSpPr/>
          <p:nvPr/>
        </p:nvGrpSpPr>
        <p:grpSpPr>
          <a:xfrm>
            <a:off x="3434010" y="1571438"/>
            <a:ext cx="5790724" cy="5017135"/>
            <a:chOff x="4471415" y="1480578"/>
            <a:chExt cx="7720965" cy="5017135"/>
          </a:xfrm>
        </p:grpSpPr>
        <p:pic>
          <p:nvPicPr>
            <p:cNvPr id="11" name="object 11"/>
            <p:cNvPicPr/>
            <p:nvPr/>
          </p:nvPicPr>
          <p:blipFill>
            <a:blip r:embed="rId7" cstate="print"/>
            <a:stretch>
              <a:fillRect/>
            </a:stretch>
          </p:blipFill>
          <p:spPr>
            <a:xfrm>
              <a:off x="4471415" y="1480578"/>
              <a:ext cx="7720584" cy="5016982"/>
            </a:xfrm>
            <a:prstGeom prst="rect">
              <a:avLst/>
            </a:prstGeom>
          </p:spPr>
        </p:pic>
        <p:pic>
          <p:nvPicPr>
            <p:cNvPr id="12" name="object 12"/>
            <p:cNvPicPr/>
            <p:nvPr/>
          </p:nvPicPr>
          <p:blipFill>
            <a:blip r:embed="rId8" cstate="print"/>
            <a:stretch>
              <a:fillRect/>
            </a:stretch>
          </p:blipFill>
          <p:spPr>
            <a:xfrm>
              <a:off x="4667250" y="1676412"/>
              <a:ext cx="7196350" cy="4428540"/>
            </a:xfrm>
            <a:prstGeom prst="rect">
              <a:avLst/>
            </a:prstGeom>
          </p:spPr>
        </p:pic>
      </p:grpSp>
      <p:sp>
        <p:nvSpPr>
          <p:cNvPr id="13" name="Rectangle 12"/>
          <p:cNvSpPr/>
          <p:nvPr/>
        </p:nvSpPr>
        <p:spPr>
          <a:xfrm>
            <a:off x="273616" y="1499625"/>
            <a:ext cx="2833648" cy="707886"/>
          </a:xfrm>
          <a:prstGeom prst="rect">
            <a:avLst/>
          </a:prstGeom>
        </p:spPr>
        <p:txBody>
          <a:bodyPr wrap="square">
            <a:spAutoFit/>
          </a:bodyPr>
          <a:lstStyle/>
          <a:p>
            <a:pPr marL="12700" marR="179070" algn="ctr">
              <a:lnSpc>
                <a:spcPts val="2420"/>
              </a:lnSpc>
              <a:spcBef>
                <a:spcPts val="365"/>
              </a:spcBef>
            </a:pPr>
            <a:r>
              <a:rPr lang="en-US" b="1" spc="-5" dirty="0">
                <a:latin typeface="Calibri"/>
                <a:cs typeface="Calibri"/>
              </a:rPr>
              <a:t>4G </a:t>
            </a:r>
            <a:r>
              <a:rPr lang="en-US" b="1" spc="-55" dirty="0">
                <a:latin typeface="Calibri"/>
                <a:cs typeface="Calibri"/>
              </a:rPr>
              <a:t>LTE </a:t>
            </a:r>
            <a:r>
              <a:rPr lang="en-US" b="1" dirty="0">
                <a:latin typeface="Calibri"/>
                <a:cs typeface="Calibri"/>
              </a:rPr>
              <a:t>on </a:t>
            </a:r>
            <a:r>
              <a:rPr lang="en-US" b="1" spc="-5" dirty="0">
                <a:latin typeface="Calibri"/>
                <a:cs typeface="Calibri"/>
              </a:rPr>
              <a:t>2.1 </a:t>
            </a:r>
            <a:r>
              <a:rPr lang="en-US" b="1" dirty="0" err="1">
                <a:latin typeface="Calibri"/>
                <a:cs typeface="Calibri"/>
              </a:rPr>
              <a:t>Ghz</a:t>
            </a:r>
            <a:r>
              <a:rPr lang="en-US" b="1" dirty="0">
                <a:latin typeface="Calibri"/>
                <a:cs typeface="Calibri"/>
              </a:rPr>
              <a:t> band </a:t>
            </a:r>
            <a:r>
              <a:rPr lang="en-US" b="1" spc="-5" dirty="0">
                <a:latin typeface="Calibri"/>
                <a:cs typeface="Calibri"/>
              </a:rPr>
              <a:t>5G </a:t>
            </a:r>
            <a:r>
              <a:rPr lang="en-US" b="1" dirty="0">
                <a:latin typeface="Calibri"/>
                <a:cs typeface="Calibri"/>
              </a:rPr>
              <a:t>on </a:t>
            </a:r>
            <a:r>
              <a:rPr lang="en-US" b="1" spc="-484" dirty="0">
                <a:latin typeface="Calibri"/>
                <a:cs typeface="Calibri"/>
              </a:rPr>
              <a:t> </a:t>
            </a:r>
            <a:r>
              <a:rPr lang="en-US" b="1" spc="-5" dirty="0">
                <a:latin typeface="Calibri"/>
                <a:cs typeface="Calibri"/>
              </a:rPr>
              <a:t>3.5GHz</a:t>
            </a:r>
            <a:r>
              <a:rPr lang="en-US" b="1" spc="-20" dirty="0">
                <a:latin typeface="Calibri"/>
                <a:cs typeface="Calibri"/>
              </a:rPr>
              <a:t> </a:t>
            </a:r>
            <a:r>
              <a:rPr lang="en-US" b="1" dirty="0">
                <a:latin typeface="Calibri"/>
                <a:cs typeface="Calibri"/>
              </a:rPr>
              <a:t>band</a:t>
            </a:r>
          </a:p>
        </p:txBody>
      </p:sp>
      <p:sp>
        <p:nvSpPr>
          <p:cNvPr id="14" name="Rectangle 13"/>
          <p:cNvSpPr/>
          <p:nvPr/>
        </p:nvSpPr>
        <p:spPr>
          <a:xfrm>
            <a:off x="273616" y="2814074"/>
            <a:ext cx="2833647" cy="1015663"/>
          </a:xfrm>
          <a:prstGeom prst="rect">
            <a:avLst/>
          </a:prstGeom>
        </p:spPr>
        <p:txBody>
          <a:bodyPr wrap="square">
            <a:spAutoFit/>
          </a:bodyPr>
          <a:lstStyle/>
          <a:p>
            <a:pPr marL="12700" marR="165100" algn="ctr">
              <a:lnSpc>
                <a:spcPts val="2420"/>
              </a:lnSpc>
              <a:spcBef>
                <a:spcPts val="1455"/>
              </a:spcBef>
            </a:pPr>
            <a:r>
              <a:rPr lang="en-US" b="1" spc="-10" dirty="0">
                <a:latin typeface="Calibri"/>
                <a:cs typeface="Calibri"/>
              </a:rPr>
              <a:t>There </a:t>
            </a:r>
            <a:r>
              <a:rPr lang="en-US" b="1" spc="-5" dirty="0">
                <a:latin typeface="Calibri"/>
                <a:cs typeface="Calibri"/>
              </a:rPr>
              <a:t>is</a:t>
            </a:r>
            <a:r>
              <a:rPr lang="en-US" b="1" dirty="0">
                <a:latin typeface="Calibri"/>
                <a:cs typeface="Calibri"/>
              </a:rPr>
              <a:t> </a:t>
            </a:r>
            <a:r>
              <a:rPr lang="en-US" b="1" spc="-15" dirty="0">
                <a:latin typeface="Calibri"/>
                <a:cs typeface="Calibri"/>
              </a:rPr>
              <a:t>difference </a:t>
            </a:r>
            <a:r>
              <a:rPr lang="en-US" b="1" spc="-5" dirty="0">
                <a:latin typeface="Calibri"/>
                <a:cs typeface="Calibri"/>
              </a:rPr>
              <a:t>in 4G</a:t>
            </a:r>
            <a:r>
              <a:rPr lang="en-US" b="1" dirty="0">
                <a:latin typeface="Calibri"/>
                <a:cs typeface="Calibri"/>
              </a:rPr>
              <a:t> and </a:t>
            </a:r>
            <a:r>
              <a:rPr lang="en-US" b="1" spc="-484" dirty="0">
                <a:latin typeface="Calibri"/>
                <a:cs typeface="Calibri"/>
              </a:rPr>
              <a:t> </a:t>
            </a:r>
            <a:r>
              <a:rPr lang="en-US" b="1" spc="-15" dirty="0" smtClean="0">
                <a:latin typeface="Calibri"/>
                <a:cs typeface="Calibri"/>
              </a:rPr>
              <a:t>5G coverage</a:t>
            </a:r>
            <a:r>
              <a:rPr lang="en-US" b="1" spc="-15" dirty="0">
                <a:latin typeface="Calibri"/>
                <a:cs typeface="Calibri"/>
              </a:rPr>
              <a:t>, </a:t>
            </a:r>
            <a:r>
              <a:rPr lang="en-US" b="1" dirty="0">
                <a:latin typeface="Calibri"/>
                <a:cs typeface="Calibri"/>
              </a:rPr>
              <a:t>due </a:t>
            </a:r>
            <a:r>
              <a:rPr lang="en-US" b="1" spc="-15" dirty="0">
                <a:latin typeface="Calibri"/>
                <a:cs typeface="Calibri"/>
              </a:rPr>
              <a:t>to </a:t>
            </a:r>
            <a:r>
              <a:rPr lang="en-US" b="1" spc="-5" dirty="0">
                <a:latin typeface="Calibri"/>
                <a:cs typeface="Calibri"/>
              </a:rPr>
              <a:t>frequency </a:t>
            </a:r>
            <a:r>
              <a:rPr lang="en-US" b="1" spc="-484" dirty="0">
                <a:latin typeface="Calibri"/>
                <a:cs typeface="Calibri"/>
              </a:rPr>
              <a:t> </a:t>
            </a:r>
            <a:r>
              <a:rPr lang="en-US" b="1" dirty="0">
                <a:latin typeface="Calibri"/>
                <a:cs typeface="Calibri"/>
              </a:rPr>
              <a:t>used</a:t>
            </a:r>
          </a:p>
        </p:txBody>
      </p:sp>
      <p:sp>
        <p:nvSpPr>
          <p:cNvPr id="15" name="Rectangle 14"/>
          <p:cNvSpPr/>
          <p:nvPr/>
        </p:nvSpPr>
        <p:spPr>
          <a:xfrm>
            <a:off x="333213" y="4113210"/>
            <a:ext cx="2774050" cy="707886"/>
          </a:xfrm>
          <a:prstGeom prst="rect">
            <a:avLst/>
          </a:prstGeom>
        </p:spPr>
        <p:txBody>
          <a:bodyPr wrap="square">
            <a:spAutoFit/>
          </a:bodyPr>
          <a:lstStyle/>
          <a:p>
            <a:pPr marL="12700" marR="5080">
              <a:lnSpc>
                <a:spcPts val="2420"/>
              </a:lnSpc>
              <a:spcBef>
                <a:spcPts val="1450"/>
              </a:spcBef>
            </a:pPr>
            <a:r>
              <a:rPr lang="en-US" b="1" spc="-5" dirty="0">
                <a:latin typeface="Calibri"/>
                <a:cs typeface="Calibri"/>
              </a:rPr>
              <a:t>In </a:t>
            </a:r>
            <a:r>
              <a:rPr lang="en-US" b="1" spc="-10" dirty="0">
                <a:latin typeface="Calibri"/>
                <a:cs typeface="Calibri"/>
              </a:rPr>
              <a:t>area </a:t>
            </a:r>
            <a:r>
              <a:rPr lang="en-US" b="1" spc="5" dirty="0">
                <a:latin typeface="Calibri"/>
                <a:cs typeface="Calibri"/>
              </a:rPr>
              <a:t>A, </a:t>
            </a:r>
            <a:r>
              <a:rPr lang="en-US" b="1" spc="-5" dirty="0">
                <a:latin typeface="Calibri"/>
                <a:cs typeface="Calibri"/>
              </a:rPr>
              <a:t>UE </a:t>
            </a:r>
            <a:r>
              <a:rPr lang="en-US" b="1" spc="-10" dirty="0">
                <a:latin typeface="Calibri"/>
                <a:cs typeface="Calibri"/>
              </a:rPr>
              <a:t>transmit </a:t>
            </a:r>
            <a:r>
              <a:rPr lang="en-US" b="1" spc="-5" dirty="0">
                <a:latin typeface="Calibri"/>
                <a:cs typeface="Calibri"/>
              </a:rPr>
              <a:t>(UL) </a:t>
            </a:r>
            <a:r>
              <a:rPr lang="en-US" b="1" spc="-15" dirty="0">
                <a:latin typeface="Calibri"/>
                <a:cs typeface="Calibri"/>
              </a:rPr>
              <a:t>data </a:t>
            </a:r>
            <a:r>
              <a:rPr lang="en-US" b="1" spc="-484" dirty="0">
                <a:latin typeface="Calibri"/>
                <a:cs typeface="Calibri"/>
              </a:rPr>
              <a:t> </a:t>
            </a:r>
            <a:r>
              <a:rPr lang="en-US" b="1" dirty="0">
                <a:latin typeface="Calibri"/>
                <a:cs typeface="Calibri"/>
              </a:rPr>
              <a:t>on</a:t>
            </a:r>
            <a:r>
              <a:rPr lang="en-US" b="1" spc="-15" dirty="0">
                <a:latin typeface="Calibri"/>
                <a:cs typeface="Calibri"/>
              </a:rPr>
              <a:t> </a:t>
            </a:r>
            <a:r>
              <a:rPr lang="en-US" b="1" spc="-5" dirty="0">
                <a:latin typeface="Calibri"/>
                <a:cs typeface="Calibri"/>
              </a:rPr>
              <a:t>4G</a:t>
            </a:r>
            <a:r>
              <a:rPr lang="en-US" b="1" spc="-10" dirty="0">
                <a:latin typeface="Calibri"/>
                <a:cs typeface="Calibri"/>
              </a:rPr>
              <a:t> </a:t>
            </a:r>
            <a:r>
              <a:rPr lang="en-US" b="1" dirty="0">
                <a:latin typeface="Calibri"/>
                <a:cs typeface="Calibri"/>
              </a:rPr>
              <a:t>and</a:t>
            </a:r>
            <a:r>
              <a:rPr lang="en-US" b="1" spc="-10" dirty="0">
                <a:latin typeface="Calibri"/>
                <a:cs typeface="Calibri"/>
              </a:rPr>
              <a:t> </a:t>
            </a:r>
            <a:r>
              <a:rPr lang="en-US" b="1" spc="-5" dirty="0">
                <a:latin typeface="Calibri"/>
                <a:cs typeface="Calibri"/>
              </a:rPr>
              <a:t>5G</a:t>
            </a:r>
            <a:r>
              <a:rPr lang="en-US" b="1" spc="-10" dirty="0">
                <a:latin typeface="Calibri"/>
                <a:cs typeface="Calibri"/>
              </a:rPr>
              <a:t> </a:t>
            </a:r>
            <a:r>
              <a:rPr lang="en-US" b="1" dirty="0">
                <a:latin typeface="Calibri"/>
                <a:cs typeface="Calibri"/>
              </a:rPr>
              <a:t>both</a:t>
            </a:r>
          </a:p>
        </p:txBody>
      </p:sp>
      <p:sp>
        <p:nvSpPr>
          <p:cNvPr id="16" name="Rectangle 15"/>
          <p:cNvSpPr/>
          <p:nvPr/>
        </p:nvSpPr>
        <p:spPr>
          <a:xfrm>
            <a:off x="442682" y="5211014"/>
            <a:ext cx="2686748" cy="1323439"/>
          </a:xfrm>
          <a:prstGeom prst="rect">
            <a:avLst/>
          </a:prstGeom>
        </p:spPr>
        <p:txBody>
          <a:bodyPr wrap="square">
            <a:spAutoFit/>
          </a:bodyPr>
          <a:lstStyle/>
          <a:p>
            <a:pPr marL="12700" marR="60325" algn="ctr">
              <a:lnSpc>
                <a:spcPts val="2420"/>
              </a:lnSpc>
              <a:spcBef>
                <a:spcPts val="1460"/>
              </a:spcBef>
            </a:pPr>
            <a:r>
              <a:rPr lang="en-US" b="1" spc="-5" dirty="0">
                <a:latin typeface="Calibri"/>
                <a:cs typeface="Calibri"/>
              </a:rPr>
              <a:t>In </a:t>
            </a:r>
            <a:r>
              <a:rPr lang="en-US" b="1" spc="-10" dirty="0">
                <a:latin typeface="Calibri"/>
                <a:cs typeface="Calibri"/>
              </a:rPr>
              <a:t>area </a:t>
            </a:r>
            <a:r>
              <a:rPr lang="en-US" b="1" spc="-15" dirty="0">
                <a:latin typeface="Calibri"/>
                <a:cs typeface="Calibri"/>
              </a:rPr>
              <a:t>B, </a:t>
            </a:r>
            <a:r>
              <a:rPr lang="en-US" b="1" spc="-5" dirty="0">
                <a:latin typeface="Calibri"/>
                <a:cs typeface="Calibri"/>
              </a:rPr>
              <a:t>because </a:t>
            </a:r>
            <a:r>
              <a:rPr lang="en-US" b="1" spc="-10" dirty="0">
                <a:latin typeface="Calibri"/>
                <a:cs typeface="Calibri"/>
              </a:rPr>
              <a:t>there </a:t>
            </a:r>
            <a:r>
              <a:rPr lang="en-US" b="1" spc="-5" dirty="0">
                <a:latin typeface="Calibri"/>
                <a:cs typeface="Calibri"/>
              </a:rPr>
              <a:t>is only </a:t>
            </a:r>
            <a:r>
              <a:rPr lang="en-US" b="1" spc="-484" dirty="0">
                <a:latin typeface="Calibri"/>
                <a:cs typeface="Calibri"/>
              </a:rPr>
              <a:t> </a:t>
            </a:r>
            <a:r>
              <a:rPr lang="en-US" b="1" spc="-5" dirty="0">
                <a:latin typeface="Calibri"/>
                <a:cs typeface="Calibri"/>
              </a:rPr>
              <a:t>4G</a:t>
            </a:r>
            <a:r>
              <a:rPr lang="en-US" b="1" spc="-10" dirty="0">
                <a:latin typeface="Calibri"/>
                <a:cs typeface="Calibri"/>
              </a:rPr>
              <a:t> </a:t>
            </a:r>
            <a:r>
              <a:rPr lang="en-US" b="1" spc="-15" dirty="0">
                <a:latin typeface="Calibri"/>
                <a:cs typeface="Calibri"/>
              </a:rPr>
              <a:t>coverage,</a:t>
            </a:r>
            <a:r>
              <a:rPr lang="en-US" b="1" spc="-10" dirty="0">
                <a:latin typeface="Calibri"/>
                <a:cs typeface="Calibri"/>
              </a:rPr>
              <a:t> </a:t>
            </a:r>
            <a:r>
              <a:rPr lang="en-US" b="1" spc="-5" dirty="0">
                <a:latin typeface="Calibri"/>
                <a:cs typeface="Calibri"/>
              </a:rPr>
              <a:t>UE</a:t>
            </a:r>
            <a:r>
              <a:rPr lang="en-US" b="1" spc="-10" dirty="0">
                <a:latin typeface="Calibri"/>
                <a:cs typeface="Calibri"/>
              </a:rPr>
              <a:t> can</a:t>
            </a:r>
            <a:r>
              <a:rPr lang="en-US" b="1" spc="-5" dirty="0">
                <a:latin typeface="Calibri"/>
                <a:cs typeface="Calibri"/>
              </a:rPr>
              <a:t> only </a:t>
            </a:r>
            <a:r>
              <a:rPr lang="en-US" b="1" dirty="0">
                <a:latin typeface="Calibri"/>
                <a:cs typeface="Calibri"/>
              </a:rPr>
              <a:t> </a:t>
            </a:r>
            <a:r>
              <a:rPr lang="en-US" b="1" spc="-10" dirty="0">
                <a:latin typeface="Calibri"/>
                <a:cs typeface="Calibri"/>
              </a:rPr>
              <a:t>transmit</a:t>
            </a:r>
            <a:r>
              <a:rPr lang="en-US" b="1" spc="-15" dirty="0">
                <a:latin typeface="Calibri"/>
                <a:cs typeface="Calibri"/>
              </a:rPr>
              <a:t> </a:t>
            </a:r>
            <a:r>
              <a:rPr lang="en-US" b="1" spc="-10" dirty="0">
                <a:latin typeface="Calibri"/>
                <a:cs typeface="Calibri"/>
              </a:rPr>
              <a:t>(UP)data</a:t>
            </a:r>
            <a:r>
              <a:rPr lang="en-US" b="1" spc="-5" dirty="0">
                <a:latin typeface="Calibri"/>
                <a:cs typeface="Calibri"/>
              </a:rPr>
              <a:t> via</a:t>
            </a:r>
            <a:r>
              <a:rPr lang="en-US" b="1" spc="-15" dirty="0">
                <a:latin typeface="Calibri"/>
                <a:cs typeface="Calibri"/>
              </a:rPr>
              <a:t> </a:t>
            </a:r>
            <a:r>
              <a:rPr lang="en-US" b="1" spc="-45" dirty="0">
                <a:latin typeface="Calibri"/>
                <a:cs typeface="Calibri"/>
              </a:rPr>
              <a:t>LTE.</a:t>
            </a:r>
            <a:endParaRPr lang="en-US" b="1" dirty="0">
              <a:latin typeface="Calibri"/>
              <a:cs typeface="Calibri"/>
            </a:endParaRPr>
          </a:p>
        </p:txBody>
      </p:sp>
    </p:spTree>
    <p:extLst>
      <p:ext uri="{BB962C8B-B14F-4D97-AF65-F5344CB8AC3E}">
        <p14:creationId xmlns:p14="http://schemas.microsoft.com/office/powerpoint/2010/main" val="38039464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573" y="23622"/>
            <a:ext cx="9127427" cy="1143000"/>
          </a:xfrm>
          <a:prstGeom prst="rect">
            <a:avLst/>
          </a:prstGeom>
        </p:spPr>
      </p:pic>
      <p:sp>
        <p:nvSpPr>
          <p:cNvPr id="3" name="object 3"/>
          <p:cNvSpPr txBox="1">
            <a:spLocks noGrp="1"/>
          </p:cNvSpPr>
          <p:nvPr>
            <p:ph type="title"/>
          </p:nvPr>
        </p:nvSpPr>
        <p:spPr>
          <a:xfrm>
            <a:off x="549946" y="47175"/>
            <a:ext cx="7966234" cy="1027845"/>
          </a:xfrm>
          <a:prstGeom prst="rect">
            <a:avLst/>
          </a:prstGeom>
        </p:spPr>
        <p:txBody>
          <a:bodyPr vert="horz" wrap="square" lIns="0" tIns="12065" rIns="0" bIns="0" rtlCol="0">
            <a:spAutoFit/>
          </a:bodyPr>
          <a:lstStyle/>
          <a:p>
            <a:pPr marL="12700">
              <a:lnSpc>
                <a:spcPct val="100000"/>
              </a:lnSpc>
              <a:spcBef>
                <a:spcPts val="95"/>
              </a:spcBef>
            </a:pPr>
            <a:r>
              <a:rPr spc="-15" dirty="0">
                <a:solidFill>
                  <a:srgbClr val="FF0000"/>
                </a:solidFill>
              </a:rPr>
              <a:t>Inter-Band</a:t>
            </a:r>
            <a:r>
              <a:rPr spc="20" dirty="0">
                <a:solidFill>
                  <a:srgbClr val="FF0000"/>
                </a:solidFill>
              </a:rPr>
              <a:t> </a:t>
            </a:r>
            <a:r>
              <a:rPr spc="-10" dirty="0">
                <a:solidFill>
                  <a:srgbClr val="FF0000"/>
                </a:solidFill>
              </a:rPr>
              <a:t>Carrier</a:t>
            </a:r>
            <a:r>
              <a:rPr spc="30" dirty="0">
                <a:solidFill>
                  <a:srgbClr val="FF0000"/>
                </a:solidFill>
              </a:rPr>
              <a:t> </a:t>
            </a:r>
            <a:r>
              <a:rPr spc="-15" dirty="0">
                <a:solidFill>
                  <a:srgbClr val="FF0000"/>
                </a:solidFill>
              </a:rPr>
              <a:t>Aggregation</a:t>
            </a:r>
            <a:r>
              <a:rPr spc="35" dirty="0">
                <a:solidFill>
                  <a:srgbClr val="FF0000"/>
                </a:solidFill>
              </a:rPr>
              <a:t> </a:t>
            </a:r>
            <a:r>
              <a:rPr spc="-15" dirty="0">
                <a:solidFill>
                  <a:srgbClr val="FF0000"/>
                </a:solidFill>
              </a:rPr>
              <a:t>(Inter-Band</a:t>
            </a:r>
            <a:r>
              <a:rPr spc="35" dirty="0">
                <a:solidFill>
                  <a:srgbClr val="FF0000"/>
                </a:solidFill>
              </a:rPr>
              <a:t> </a:t>
            </a:r>
            <a:r>
              <a:rPr spc="-5" dirty="0">
                <a:solidFill>
                  <a:srgbClr val="FF0000"/>
                </a:solidFill>
              </a:rPr>
              <a:t>CA)</a:t>
            </a:r>
          </a:p>
        </p:txBody>
      </p:sp>
      <p:pic>
        <p:nvPicPr>
          <p:cNvPr id="4" name="object 4"/>
          <p:cNvPicPr/>
          <p:nvPr/>
        </p:nvPicPr>
        <p:blipFill>
          <a:blip r:embed="rId3" cstate="print"/>
          <a:stretch>
            <a:fillRect/>
          </a:stretch>
        </p:blipFill>
        <p:spPr>
          <a:xfrm>
            <a:off x="426910" y="1203198"/>
            <a:ext cx="2519171" cy="1732787"/>
          </a:xfrm>
          <a:prstGeom prst="rect">
            <a:avLst/>
          </a:prstGeom>
        </p:spPr>
      </p:pic>
      <p:sp>
        <p:nvSpPr>
          <p:cNvPr id="5" name="object 5"/>
          <p:cNvSpPr txBox="1"/>
          <p:nvPr/>
        </p:nvSpPr>
        <p:spPr>
          <a:xfrm>
            <a:off x="771857" y="1503949"/>
            <a:ext cx="1829276" cy="1009892"/>
          </a:xfrm>
          <a:prstGeom prst="rect">
            <a:avLst/>
          </a:prstGeom>
        </p:spPr>
        <p:txBody>
          <a:bodyPr vert="horz" wrap="square" lIns="0" tIns="47625" rIns="0" bIns="0" rtlCol="0">
            <a:spAutoFit/>
          </a:bodyPr>
          <a:lstStyle/>
          <a:p>
            <a:pPr marL="12700" marR="5080" algn="ctr">
              <a:lnSpc>
                <a:spcPts val="2530"/>
              </a:lnSpc>
              <a:spcBef>
                <a:spcPts val="375"/>
              </a:spcBef>
            </a:pPr>
            <a:r>
              <a:rPr sz="2300" b="1" spc="-5" dirty="0">
                <a:latin typeface="Calibri"/>
                <a:cs typeface="Calibri"/>
              </a:rPr>
              <a:t>CA</a:t>
            </a:r>
            <a:r>
              <a:rPr sz="2300" b="1" spc="-20" dirty="0">
                <a:latin typeface="Calibri"/>
                <a:cs typeface="Calibri"/>
              </a:rPr>
              <a:t> </a:t>
            </a:r>
            <a:r>
              <a:rPr sz="2300" b="1" spc="-5" dirty="0">
                <a:latin typeface="Calibri"/>
                <a:cs typeface="Calibri"/>
              </a:rPr>
              <a:t>with</a:t>
            </a:r>
            <a:r>
              <a:rPr sz="2300" b="1" spc="-15" dirty="0">
                <a:latin typeface="Calibri"/>
                <a:cs typeface="Calibri"/>
              </a:rPr>
              <a:t> </a:t>
            </a:r>
            <a:r>
              <a:rPr sz="2300" b="1" spc="-5" dirty="0">
                <a:latin typeface="Calibri"/>
                <a:cs typeface="Calibri"/>
              </a:rPr>
              <a:t>2.1</a:t>
            </a:r>
            <a:r>
              <a:rPr sz="2300" b="1" spc="-15" dirty="0">
                <a:latin typeface="Calibri"/>
                <a:cs typeface="Calibri"/>
              </a:rPr>
              <a:t> </a:t>
            </a:r>
            <a:r>
              <a:rPr sz="2300" b="1" spc="-5" dirty="0">
                <a:latin typeface="Calibri"/>
                <a:cs typeface="Calibri"/>
              </a:rPr>
              <a:t>GHz</a:t>
            </a:r>
            <a:r>
              <a:rPr sz="2300" b="1" spc="-20" dirty="0">
                <a:latin typeface="Calibri"/>
                <a:cs typeface="Calibri"/>
              </a:rPr>
              <a:t> </a:t>
            </a:r>
            <a:r>
              <a:rPr sz="2300" b="1" spc="-5" dirty="0">
                <a:latin typeface="Calibri"/>
                <a:cs typeface="Calibri"/>
              </a:rPr>
              <a:t>and </a:t>
            </a:r>
            <a:r>
              <a:rPr sz="2300" b="1" spc="-505" dirty="0">
                <a:latin typeface="Calibri"/>
                <a:cs typeface="Calibri"/>
              </a:rPr>
              <a:t> </a:t>
            </a:r>
            <a:r>
              <a:rPr sz="2300" b="1" spc="-5" dirty="0">
                <a:latin typeface="Calibri"/>
                <a:cs typeface="Calibri"/>
              </a:rPr>
              <a:t>3.5GHz</a:t>
            </a:r>
            <a:endParaRPr sz="2300" b="1" dirty="0">
              <a:latin typeface="Calibri"/>
              <a:cs typeface="Calibri"/>
            </a:endParaRPr>
          </a:p>
        </p:txBody>
      </p:sp>
      <p:grpSp>
        <p:nvGrpSpPr>
          <p:cNvPr id="6" name="object 6"/>
          <p:cNvGrpSpPr/>
          <p:nvPr/>
        </p:nvGrpSpPr>
        <p:grpSpPr>
          <a:xfrm>
            <a:off x="426242" y="3041506"/>
            <a:ext cx="3002758" cy="3446779"/>
            <a:chOff x="569213" y="2918460"/>
            <a:chExt cx="3359785" cy="3446779"/>
          </a:xfrm>
        </p:grpSpPr>
        <p:pic>
          <p:nvPicPr>
            <p:cNvPr id="7" name="object 7"/>
            <p:cNvPicPr/>
            <p:nvPr/>
          </p:nvPicPr>
          <p:blipFill>
            <a:blip r:embed="rId4" cstate="print"/>
            <a:stretch>
              <a:fillRect/>
            </a:stretch>
          </p:blipFill>
          <p:spPr>
            <a:xfrm>
              <a:off x="569213" y="2918460"/>
              <a:ext cx="3359657" cy="1732025"/>
            </a:xfrm>
            <a:prstGeom prst="rect">
              <a:avLst/>
            </a:prstGeom>
          </p:spPr>
        </p:pic>
        <p:pic>
          <p:nvPicPr>
            <p:cNvPr id="8" name="object 8"/>
            <p:cNvPicPr/>
            <p:nvPr/>
          </p:nvPicPr>
          <p:blipFill>
            <a:blip r:embed="rId5" cstate="print"/>
            <a:stretch>
              <a:fillRect/>
            </a:stretch>
          </p:blipFill>
          <p:spPr>
            <a:xfrm>
              <a:off x="569213" y="4632960"/>
              <a:ext cx="3358895" cy="1732025"/>
            </a:xfrm>
            <a:prstGeom prst="rect">
              <a:avLst/>
            </a:prstGeom>
          </p:spPr>
        </p:pic>
      </p:grpSp>
      <p:sp>
        <p:nvSpPr>
          <p:cNvPr id="9" name="object 9"/>
          <p:cNvSpPr txBox="1"/>
          <p:nvPr/>
        </p:nvSpPr>
        <p:spPr>
          <a:xfrm>
            <a:off x="566571" y="4807240"/>
            <a:ext cx="2633829" cy="1528945"/>
          </a:xfrm>
          <a:prstGeom prst="rect">
            <a:avLst/>
          </a:prstGeom>
        </p:spPr>
        <p:txBody>
          <a:bodyPr vert="horz" wrap="square" lIns="0" tIns="41910" rIns="0" bIns="0" rtlCol="0">
            <a:spAutoFit/>
          </a:bodyPr>
          <a:lstStyle/>
          <a:p>
            <a:pPr marL="12700" marR="73025" algn="ctr">
              <a:lnSpc>
                <a:spcPct val="91600"/>
              </a:lnSpc>
              <a:spcBef>
                <a:spcPts val="1845"/>
              </a:spcBef>
            </a:pPr>
            <a:r>
              <a:rPr sz="2100" b="1" spc="-5" dirty="0" smtClean="0">
                <a:latin typeface="Calibri"/>
                <a:cs typeface="Calibri"/>
              </a:rPr>
              <a:t>In </a:t>
            </a:r>
            <a:r>
              <a:rPr sz="2100" b="1" spc="-10" dirty="0">
                <a:latin typeface="Calibri"/>
                <a:cs typeface="Calibri"/>
              </a:rPr>
              <a:t>area </a:t>
            </a:r>
            <a:r>
              <a:rPr sz="2100" b="1" spc="-5" dirty="0">
                <a:latin typeface="Calibri"/>
                <a:cs typeface="Calibri"/>
              </a:rPr>
              <a:t>B: only with the </a:t>
            </a:r>
            <a:r>
              <a:rPr sz="2100" b="1" spc="-505" dirty="0">
                <a:latin typeface="Calibri"/>
                <a:cs typeface="Calibri"/>
              </a:rPr>
              <a:t> </a:t>
            </a:r>
            <a:r>
              <a:rPr sz="2100" b="1" spc="-20" dirty="0">
                <a:latin typeface="Calibri"/>
                <a:cs typeface="Calibri"/>
              </a:rPr>
              <a:t>coverage </a:t>
            </a:r>
            <a:r>
              <a:rPr sz="2100" b="1" spc="-5" dirty="0">
                <a:latin typeface="Calibri"/>
                <a:cs typeface="Calibri"/>
              </a:rPr>
              <a:t>of one </a:t>
            </a:r>
            <a:r>
              <a:rPr sz="2100" b="1" spc="-35" dirty="0">
                <a:latin typeface="Calibri"/>
                <a:cs typeface="Calibri"/>
              </a:rPr>
              <a:t>carrier. </a:t>
            </a:r>
            <a:r>
              <a:rPr sz="2100" b="1" spc="-505" dirty="0">
                <a:latin typeface="Calibri"/>
                <a:cs typeface="Calibri"/>
              </a:rPr>
              <a:t> </a:t>
            </a:r>
            <a:r>
              <a:rPr sz="2100" b="1" spc="-5" dirty="0">
                <a:latin typeface="Calibri"/>
                <a:cs typeface="Calibri"/>
              </a:rPr>
              <a:t>UE uses one carrier </a:t>
            </a:r>
            <a:r>
              <a:rPr sz="2100" b="1" spc="-20" dirty="0">
                <a:latin typeface="Calibri"/>
                <a:cs typeface="Calibri"/>
              </a:rPr>
              <a:t>to </a:t>
            </a:r>
            <a:r>
              <a:rPr sz="2100" b="1" spc="-15" dirty="0">
                <a:latin typeface="Calibri"/>
                <a:cs typeface="Calibri"/>
              </a:rPr>
              <a:t> </a:t>
            </a:r>
            <a:r>
              <a:rPr sz="2100" b="1" spc="-10" dirty="0">
                <a:latin typeface="Calibri"/>
                <a:cs typeface="Calibri"/>
              </a:rPr>
              <a:t>transmit</a:t>
            </a:r>
            <a:r>
              <a:rPr sz="2100" b="1" spc="5" dirty="0">
                <a:latin typeface="Calibri"/>
                <a:cs typeface="Calibri"/>
              </a:rPr>
              <a:t> </a:t>
            </a:r>
            <a:r>
              <a:rPr sz="2100" b="1" spc="-15" dirty="0">
                <a:latin typeface="Calibri"/>
                <a:cs typeface="Calibri"/>
              </a:rPr>
              <a:t>date.</a:t>
            </a:r>
            <a:endParaRPr sz="2100" b="1" dirty="0">
              <a:latin typeface="Calibri"/>
              <a:cs typeface="Calibri"/>
            </a:endParaRPr>
          </a:p>
        </p:txBody>
      </p:sp>
      <p:pic>
        <p:nvPicPr>
          <p:cNvPr id="10" name="object 10"/>
          <p:cNvPicPr/>
          <p:nvPr/>
        </p:nvPicPr>
        <p:blipFill>
          <a:blip r:embed="rId6" cstate="print"/>
          <a:stretch>
            <a:fillRect/>
          </a:stretch>
        </p:blipFill>
        <p:spPr>
          <a:xfrm>
            <a:off x="3762068" y="2209800"/>
            <a:ext cx="5268414" cy="2920307"/>
          </a:xfrm>
          <a:prstGeom prst="rect">
            <a:avLst/>
          </a:prstGeom>
        </p:spPr>
      </p:pic>
      <p:sp>
        <p:nvSpPr>
          <p:cNvPr id="11" name="object 9"/>
          <p:cNvSpPr txBox="1"/>
          <p:nvPr/>
        </p:nvSpPr>
        <p:spPr>
          <a:xfrm>
            <a:off x="566571" y="3173632"/>
            <a:ext cx="2633829" cy="1344727"/>
          </a:xfrm>
          <a:prstGeom prst="rect">
            <a:avLst/>
          </a:prstGeom>
        </p:spPr>
        <p:txBody>
          <a:bodyPr vert="horz" wrap="square" lIns="0" tIns="41910" rIns="0" bIns="0" rtlCol="0">
            <a:spAutoFit/>
          </a:bodyPr>
          <a:lstStyle/>
          <a:p>
            <a:pPr marL="12700" marR="5080" algn="ctr">
              <a:lnSpc>
                <a:spcPct val="91600"/>
              </a:lnSpc>
              <a:spcBef>
                <a:spcPts val="330"/>
              </a:spcBef>
            </a:pPr>
            <a:r>
              <a:rPr sz="2300" b="1" spc="-5" dirty="0">
                <a:latin typeface="Calibri"/>
                <a:cs typeface="Calibri"/>
              </a:rPr>
              <a:t>In </a:t>
            </a:r>
            <a:r>
              <a:rPr sz="2300" b="1" spc="-10" dirty="0">
                <a:latin typeface="Calibri"/>
                <a:cs typeface="Calibri"/>
              </a:rPr>
              <a:t>area </a:t>
            </a:r>
            <a:r>
              <a:rPr sz="2300" b="1" spc="-5" dirty="0">
                <a:latin typeface="Calibri"/>
                <a:cs typeface="Calibri"/>
              </a:rPr>
              <a:t>A: with </a:t>
            </a:r>
            <a:r>
              <a:rPr sz="2300" b="1" spc="-20" dirty="0">
                <a:latin typeface="Calibri"/>
                <a:cs typeface="Calibri"/>
              </a:rPr>
              <a:t>coverage </a:t>
            </a:r>
            <a:r>
              <a:rPr sz="2300" b="1" spc="-505" dirty="0">
                <a:latin typeface="Calibri"/>
                <a:cs typeface="Calibri"/>
              </a:rPr>
              <a:t> </a:t>
            </a:r>
            <a:r>
              <a:rPr sz="2300" b="1" spc="-5" dirty="0">
                <a:latin typeface="Calibri"/>
                <a:cs typeface="Calibri"/>
              </a:rPr>
              <a:t>of</a:t>
            </a:r>
            <a:r>
              <a:rPr sz="2300" b="1" spc="-10" dirty="0">
                <a:latin typeface="Calibri"/>
                <a:cs typeface="Calibri"/>
              </a:rPr>
              <a:t> </a:t>
            </a:r>
            <a:r>
              <a:rPr sz="2300" b="1" spc="-15" dirty="0">
                <a:latin typeface="Calibri"/>
                <a:cs typeface="Calibri"/>
              </a:rPr>
              <a:t>two</a:t>
            </a:r>
            <a:r>
              <a:rPr sz="2300" b="1" dirty="0">
                <a:latin typeface="Calibri"/>
                <a:cs typeface="Calibri"/>
              </a:rPr>
              <a:t> </a:t>
            </a:r>
            <a:r>
              <a:rPr sz="2300" b="1" spc="-10" dirty="0">
                <a:latin typeface="Calibri"/>
                <a:cs typeface="Calibri"/>
              </a:rPr>
              <a:t>carriers. </a:t>
            </a:r>
            <a:r>
              <a:rPr sz="2300" b="1" spc="-5" dirty="0">
                <a:latin typeface="Calibri"/>
                <a:cs typeface="Calibri"/>
              </a:rPr>
              <a:t>UL</a:t>
            </a:r>
            <a:r>
              <a:rPr sz="2300" b="1" spc="-10" dirty="0">
                <a:latin typeface="Calibri"/>
                <a:cs typeface="Calibri"/>
              </a:rPr>
              <a:t> </a:t>
            </a:r>
            <a:r>
              <a:rPr sz="2300" b="1" spc="-5" dirty="0">
                <a:latin typeface="Calibri"/>
                <a:cs typeface="Calibri"/>
              </a:rPr>
              <a:t>CA </a:t>
            </a:r>
            <a:r>
              <a:rPr sz="2300" b="1" dirty="0">
                <a:latin typeface="Calibri"/>
                <a:cs typeface="Calibri"/>
              </a:rPr>
              <a:t> </a:t>
            </a:r>
            <a:r>
              <a:rPr sz="2300" b="1" spc="-10" dirty="0">
                <a:latin typeface="Calibri"/>
                <a:cs typeface="Calibri"/>
              </a:rPr>
              <a:t>can</a:t>
            </a:r>
            <a:r>
              <a:rPr sz="2300" b="1" dirty="0">
                <a:latin typeface="Calibri"/>
                <a:cs typeface="Calibri"/>
              </a:rPr>
              <a:t> </a:t>
            </a:r>
            <a:r>
              <a:rPr sz="2300" b="1" spc="-5" dirty="0">
                <a:latin typeface="Calibri"/>
                <a:cs typeface="Calibri"/>
              </a:rPr>
              <a:t>be</a:t>
            </a:r>
            <a:r>
              <a:rPr sz="2300" b="1" spc="-10" dirty="0">
                <a:latin typeface="Calibri"/>
                <a:cs typeface="Calibri"/>
              </a:rPr>
              <a:t> </a:t>
            </a:r>
            <a:r>
              <a:rPr sz="2300" b="1" spc="-15" dirty="0">
                <a:latin typeface="Calibri"/>
                <a:cs typeface="Calibri"/>
              </a:rPr>
              <a:t>activated</a:t>
            </a:r>
            <a:r>
              <a:rPr sz="2300" b="1" spc="-15" dirty="0" smtClean="0">
                <a:latin typeface="Calibri"/>
                <a:cs typeface="Calibri"/>
              </a:rPr>
              <a:t>;</a:t>
            </a:r>
            <a:endParaRPr sz="2300" b="1" dirty="0">
              <a:latin typeface="Calibri"/>
              <a:cs typeface="Calibri"/>
            </a:endParaRPr>
          </a:p>
        </p:txBody>
      </p:sp>
    </p:spTree>
    <p:extLst>
      <p:ext uri="{BB962C8B-B14F-4D97-AF65-F5344CB8AC3E}">
        <p14:creationId xmlns:p14="http://schemas.microsoft.com/office/powerpoint/2010/main" val="252171414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573" y="23622"/>
            <a:ext cx="9127427" cy="1143000"/>
          </a:xfrm>
          <a:prstGeom prst="rect">
            <a:avLst/>
          </a:prstGeom>
        </p:spPr>
      </p:pic>
      <p:sp>
        <p:nvSpPr>
          <p:cNvPr id="3" name="object 3"/>
          <p:cNvSpPr txBox="1">
            <a:spLocks noGrp="1"/>
          </p:cNvSpPr>
          <p:nvPr>
            <p:ph type="title"/>
          </p:nvPr>
        </p:nvSpPr>
        <p:spPr>
          <a:xfrm>
            <a:off x="1902570" y="119307"/>
            <a:ext cx="5355431" cy="1027845"/>
          </a:xfrm>
          <a:prstGeom prst="rect">
            <a:avLst/>
          </a:prstGeom>
        </p:spPr>
        <p:txBody>
          <a:bodyPr vert="horz" wrap="square" lIns="0" tIns="12065" rIns="0" bIns="0" rtlCol="0">
            <a:spAutoFit/>
          </a:bodyPr>
          <a:lstStyle/>
          <a:p>
            <a:pPr marL="12700">
              <a:lnSpc>
                <a:spcPct val="100000"/>
              </a:lnSpc>
              <a:spcBef>
                <a:spcPts val="95"/>
              </a:spcBef>
            </a:pPr>
            <a:r>
              <a:rPr spc="-5" dirty="0">
                <a:solidFill>
                  <a:srgbClr val="FF0000"/>
                </a:solidFill>
              </a:rPr>
              <a:t>5G</a:t>
            </a:r>
            <a:r>
              <a:rPr spc="-35" dirty="0">
                <a:solidFill>
                  <a:srgbClr val="FF0000"/>
                </a:solidFill>
              </a:rPr>
              <a:t> </a:t>
            </a:r>
            <a:r>
              <a:rPr spc="-10" dirty="0">
                <a:solidFill>
                  <a:srgbClr val="FF0000"/>
                </a:solidFill>
              </a:rPr>
              <a:t>Supplementary</a:t>
            </a:r>
            <a:r>
              <a:rPr spc="-15" dirty="0">
                <a:solidFill>
                  <a:srgbClr val="FF0000"/>
                </a:solidFill>
              </a:rPr>
              <a:t> </a:t>
            </a:r>
            <a:r>
              <a:rPr spc="-5" dirty="0">
                <a:solidFill>
                  <a:srgbClr val="FF0000"/>
                </a:solidFill>
              </a:rPr>
              <a:t>Uplink</a:t>
            </a:r>
            <a:r>
              <a:rPr dirty="0">
                <a:solidFill>
                  <a:srgbClr val="FF0000"/>
                </a:solidFill>
              </a:rPr>
              <a:t> </a:t>
            </a:r>
            <a:r>
              <a:rPr spc="-5" dirty="0">
                <a:solidFill>
                  <a:srgbClr val="FF0000"/>
                </a:solidFill>
              </a:rPr>
              <a:t>(SUL)</a:t>
            </a:r>
          </a:p>
        </p:txBody>
      </p:sp>
      <p:grpSp>
        <p:nvGrpSpPr>
          <p:cNvPr id="4" name="object 4"/>
          <p:cNvGrpSpPr/>
          <p:nvPr/>
        </p:nvGrpSpPr>
        <p:grpSpPr>
          <a:xfrm>
            <a:off x="414338" y="1207008"/>
            <a:ext cx="3899535" cy="5176520"/>
            <a:chOff x="552450" y="1207008"/>
            <a:chExt cx="5199380" cy="5176520"/>
          </a:xfrm>
        </p:grpSpPr>
        <p:pic>
          <p:nvPicPr>
            <p:cNvPr id="5" name="object 5"/>
            <p:cNvPicPr/>
            <p:nvPr/>
          </p:nvPicPr>
          <p:blipFill>
            <a:blip r:embed="rId3" cstate="print"/>
            <a:stretch>
              <a:fillRect/>
            </a:stretch>
          </p:blipFill>
          <p:spPr>
            <a:xfrm>
              <a:off x="552450" y="1207008"/>
              <a:ext cx="5128259" cy="1303781"/>
            </a:xfrm>
            <a:prstGeom prst="rect">
              <a:avLst/>
            </a:prstGeom>
          </p:spPr>
        </p:pic>
        <p:pic>
          <p:nvPicPr>
            <p:cNvPr id="6" name="object 6"/>
            <p:cNvPicPr/>
            <p:nvPr/>
          </p:nvPicPr>
          <p:blipFill>
            <a:blip r:embed="rId4" cstate="print"/>
            <a:stretch>
              <a:fillRect/>
            </a:stretch>
          </p:blipFill>
          <p:spPr>
            <a:xfrm>
              <a:off x="552450" y="2490216"/>
              <a:ext cx="5196077" cy="1325879"/>
            </a:xfrm>
            <a:prstGeom prst="rect">
              <a:avLst/>
            </a:prstGeom>
          </p:spPr>
        </p:pic>
        <p:pic>
          <p:nvPicPr>
            <p:cNvPr id="7" name="object 7"/>
            <p:cNvPicPr/>
            <p:nvPr/>
          </p:nvPicPr>
          <p:blipFill>
            <a:blip r:embed="rId5" cstate="print"/>
            <a:stretch>
              <a:fillRect/>
            </a:stretch>
          </p:blipFill>
          <p:spPr>
            <a:xfrm>
              <a:off x="552450" y="3774186"/>
              <a:ext cx="5128259" cy="1325117"/>
            </a:xfrm>
            <a:prstGeom prst="rect">
              <a:avLst/>
            </a:prstGeom>
          </p:spPr>
        </p:pic>
        <p:pic>
          <p:nvPicPr>
            <p:cNvPr id="8" name="object 8"/>
            <p:cNvPicPr/>
            <p:nvPr/>
          </p:nvPicPr>
          <p:blipFill>
            <a:blip r:embed="rId6" cstate="print"/>
            <a:stretch>
              <a:fillRect/>
            </a:stretch>
          </p:blipFill>
          <p:spPr>
            <a:xfrm>
              <a:off x="552450" y="5057394"/>
              <a:ext cx="5199125" cy="1325879"/>
            </a:xfrm>
            <a:prstGeom prst="rect">
              <a:avLst/>
            </a:prstGeom>
          </p:spPr>
        </p:pic>
      </p:grpSp>
      <p:pic>
        <p:nvPicPr>
          <p:cNvPr id="10" name="object 10"/>
          <p:cNvPicPr/>
          <p:nvPr/>
        </p:nvPicPr>
        <p:blipFill>
          <a:blip r:embed="rId7" cstate="print"/>
          <a:stretch>
            <a:fillRect/>
          </a:stretch>
        </p:blipFill>
        <p:spPr>
          <a:xfrm>
            <a:off x="4400550" y="1719073"/>
            <a:ext cx="4478502" cy="4640961"/>
          </a:xfrm>
          <a:prstGeom prst="rect">
            <a:avLst/>
          </a:prstGeom>
        </p:spPr>
      </p:pic>
      <p:sp>
        <p:nvSpPr>
          <p:cNvPr id="11" name="object 9"/>
          <p:cNvSpPr txBox="1"/>
          <p:nvPr/>
        </p:nvSpPr>
        <p:spPr>
          <a:xfrm>
            <a:off x="733139" y="1543384"/>
            <a:ext cx="3552825" cy="351378"/>
          </a:xfrm>
          <a:prstGeom prst="rect">
            <a:avLst/>
          </a:prstGeom>
        </p:spPr>
        <p:txBody>
          <a:bodyPr vert="horz" wrap="square" lIns="0" tIns="12700" rIns="0" bIns="0" rtlCol="0">
            <a:spAutoFit/>
          </a:bodyPr>
          <a:lstStyle/>
          <a:p>
            <a:pPr marL="12700">
              <a:lnSpc>
                <a:spcPct val="100000"/>
              </a:lnSpc>
              <a:spcBef>
                <a:spcPts val="100"/>
              </a:spcBef>
            </a:pPr>
            <a:r>
              <a:rPr sz="2200" b="1" spc="-5" dirty="0">
                <a:latin typeface="Calibri"/>
                <a:cs typeface="Calibri"/>
              </a:rPr>
              <a:t>Extends</a:t>
            </a:r>
            <a:r>
              <a:rPr sz="2200" b="1" spc="-20" dirty="0">
                <a:latin typeface="Calibri"/>
                <a:cs typeface="Calibri"/>
              </a:rPr>
              <a:t> </a:t>
            </a:r>
            <a:r>
              <a:rPr sz="2200" b="1" dirty="0">
                <a:latin typeface="Calibri"/>
                <a:cs typeface="Calibri"/>
              </a:rPr>
              <a:t>the</a:t>
            </a:r>
            <a:r>
              <a:rPr sz="2200" b="1" spc="-10" dirty="0">
                <a:latin typeface="Calibri"/>
                <a:cs typeface="Calibri"/>
              </a:rPr>
              <a:t> </a:t>
            </a:r>
            <a:r>
              <a:rPr sz="2200" b="1" spc="-5" dirty="0">
                <a:latin typeface="Calibri"/>
                <a:cs typeface="Calibri"/>
              </a:rPr>
              <a:t>uplink</a:t>
            </a:r>
            <a:r>
              <a:rPr sz="2200" b="1" spc="-20" dirty="0">
                <a:latin typeface="Calibri"/>
                <a:cs typeface="Calibri"/>
              </a:rPr>
              <a:t> </a:t>
            </a:r>
            <a:r>
              <a:rPr sz="2200" b="1" dirty="0">
                <a:latin typeface="Calibri"/>
                <a:cs typeface="Calibri"/>
              </a:rPr>
              <a:t>With</a:t>
            </a:r>
            <a:r>
              <a:rPr sz="2200" b="1" spc="-20" dirty="0">
                <a:latin typeface="Calibri"/>
                <a:cs typeface="Calibri"/>
              </a:rPr>
              <a:t> </a:t>
            </a:r>
            <a:r>
              <a:rPr sz="2200" b="1" spc="-5" dirty="0" smtClean="0">
                <a:latin typeface="Calibri"/>
                <a:cs typeface="Calibri"/>
              </a:rPr>
              <a:t>SUL</a:t>
            </a:r>
            <a:endParaRPr sz="2200" b="1" dirty="0">
              <a:latin typeface="Calibri"/>
              <a:cs typeface="Calibri"/>
            </a:endParaRPr>
          </a:p>
        </p:txBody>
      </p:sp>
      <p:sp>
        <p:nvSpPr>
          <p:cNvPr id="12" name="Rectangle 11"/>
          <p:cNvSpPr/>
          <p:nvPr/>
        </p:nvSpPr>
        <p:spPr>
          <a:xfrm>
            <a:off x="611138" y="2514018"/>
            <a:ext cx="3351262" cy="1323439"/>
          </a:xfrm>
          <a:prstGeom prst="rect">
            <a:avLst/>
          </a:prstGeom>
        </p:spPr>
        <p:txBody>
          <a:bodyPr wrap="square">
            <a:spAutoFit/>
          </a:bodyPr>
          <a:lstStyle/>
          <a:p>
            <a:pPr marL="12700" marR="5715" algn="ctr">
              <a:lnSpc>
                <a:spcPts val="2420"/>
              </a:lnSpc>
            </a:pPr>
            <a:r>
              <a:rPr lang="en-US" b="1" dirty="0">
                <a:latin typeface="Calibri"/>
                <a:cs typeface="Calibri"/>
              </a:rPr>
              <a:t>One DL </a:t>
            </a:r>
            <a:r>
              <a:rPr lang="en-US" b="1" spc="-5" dirty="0">
                <a:latin typeface="Calibri"/>
                <a:cs typeface="Calibri"/>
              </a:rPr>
              <a:t>frequency </a:t>
            </a:r>
            <a:r>
              <a:rPr lang="en-US" b="1" dirty="0">
                <a:latin typeface="Calibri"/>
                <a:cs typeface="Calibri"/>
              </a:rPr>
              <a:t>band and </a:t>
            </a:r>
            <a:r>
              <a:rPr lang="en-US" b="1" spc="-10" dirty="0">
                <a:latin typeface="Calibri"/>
                <a:cs typeface="Calibri"/>
              </a:rPr>
              <a:t>two </a:t>
            </a:r>
            <a:r>
              <a:rPr lang="en-US" b="1" spc="-5" dirty="0">
                <a:latin typeface="Calibri"/>
                <a:cs typeface="Calibri"/>
              </a:rPr>
              <a:t>uplink </a:t>
            </a:r>
            <a:r>
              <a:rPr lang="en-US" b="1" dirty="0">
                <a:latin typeface="Calibri"/>
                <a:cs typeface="Calibri"/>
              </a:rPr>
              <a:t> </a:t>
            </a:r>
            <a:r>
              <a:rPr lang="en-US" b="1" spc="-5" dirty="0">
                <a:latin typeface="Calibri"/>
                <a:cs typeface="Calibri"/>
              </a:rPr>
              <a:t>frequency</a:t>
            </a:r>
            <a:r>
              <a:rPr lang="en-US" b="1" spc="-25" dirty="0">
                <a:latin typeface="Calibri"/>
                <a:cs typeface="Calibri"/>
              </a:rPr>
              <a:t> </a:t>
            </a:r>
            <a:r>
              <a:rPr lang="en-US" b="1" dirty="0">
                <a:latin typeface="Calibri"/>
                <a:cs typeface="Calibri"/>
              </a:rPr>
              <a:t>bands</a:t>
            </a:r>
            <a:r>
              <a:rPr lang="en-US" b="1" spc="-20" dirty="0">
                <a:latin typeface="Calibri"/>
                <a:cs typeface="Calibri"/>
              </a:rPr>
              <a:t> </a:t>
            </a:r>
            <a:r>
              <a:rPr lang="en-US" b="1" spc="-5" dirty="0">
                <a:latin typeface="Calibri"/>
                <a:cs typeface="Calibri"/>
              </a:rPr>
              <a:t>(one</a:t>
            </a:r>
            <a:r>
              <a:rPr lang="en-US" b="1" spc="-20" dirty="0">
                <a:latin typeface="Calibri"/>
                <a:cs typeface="Calibri"/>
              </a:rPr>
              <a:t> </a:t>
            </a:r>
            <a:r>
              <a:rPr lang="en-US" b="1" dirty="0">
                <a:latin typeface="Calibri"/>
                <a:cs typeface="Calibri"/>
              </a:rPr>
              <a:t>NR</a:t>
            </a:r>
            <a:r>
              <a:rPr lang="en-US" b="1" spc="-15" dirty="0">
                <a:latin typeface="Calibri"/>
                <a:cs typeface="Calibri"/>
              </a:rPr>
              <a:t> </a:t>
            </a:r>
            <a:r>
              <a:rPr lang="en-US" b="1" spc="-5" dirty="0">
                <a:latin typeface="Calibri"/>
                <a:cs typeface="Calibri"/>
              </a:rPr>
              <a:t>frequency</a:t>
            </a:r>
            <a:r>
              <a:rPr lang="en-US" b="1" spc="-20" dirty="0">
                <a:latin typeface="Calibri"/>
                <a:cs typeface="Calibri"/>
              </a:rPr>
              <a:t> </a:t>
            </a:r>
            <a:r>
              <a:rPr lang="en-US" b="1" dirty="0">
                <a:latin typeface="Calibri"/>
                <a:cs typeface="Calibri"/>
              </a:rPr>
              <a:t>band </a:t>
            </a:r>
            <a:r>
              <a:rPr lang="en-US" b="1" spc="-480" dirty="0">
                <a:latin typeface="Calibri"/>
                <a:cs typeface="Calibri"/>
              </a:rPr>
              <a:t> </a:t>
            </a:r>
            <a:r>
              <a:rPr lang="en-US" b="1" dirty="0">
                <a:latin typeface="Calibri"/>
                <a:cs typeface="Calibri"/>
              </a:rPr>
              <a:t>and</a:t>
            </a:r>
            <a:r>
              <a:rPr lang="en-US" b="1" spc="-15" dirty="0">
                <a:latin typeface="Calibri"/>
                <a:cs typeface="Calibri"/>
              </a:rPr>
              <a:t> </a:t>
            </a:r>
            <a:r>
              <a:rPr lang="en-US" b="1" dirty="0">
                <a:latin typeface="Calibri"/>
                <a:cs typeface="Calibri"/>
              </a:rPr>
              <a:t>one</a:t>
            </a:r>
            <a:r>
              <a:rPr lang="en-US" b="1" spc="-20" dirty="0">
                <a:latin typeface="Calibri"/>
                <a:cs typeface="Calibri"/>
              </a:rPr>
              <a:t> </a:t>
            </a:r>
            <a:r>
              <a:rPr lang="en-US" b="1" spc="-5" dirty="0">
                <a:latin typeface="Calibri"/>
                <a:cs typeface="Calibri"/>
              </a:rPr>
              <a:t>SUL</a:t>
            </a:r>
            <a:r>
              <a:rPr lang="en-US" b="1" spc="-10" dirty="0">
                <a:latin typeface="Calibri"/>
                <a:cs typeface="Calibri"/>
              </a:rPr>
              <a:t> </a:t>
            </a:r>
            <a:r>
              <a:rPr lang="en-US" b="1" spc="-5" dirty="0">
                <a:latin typeface="Calibri"/>
                <a:cs typeface="Calibri"/>
              </a:rPr>
              <a:t>frequency</a:t>
            </a:r>
            <a:r>
              <a:rPr lang="en-US" b="1" spc="-20" dirty="0">
                <a:latin typeface="Calibri"/>
                <a:cs typeface="Calibri"/>
              </a:rPr>
              <a:t> </a:t>
            </a:r>
            <a:r>
              <a:rPr lang="en-US" b="1" dirty="0">
                <a:latin typeface="Calibri"/>
                <a:cs typeface="Calibri"/>
              </a:rPr>
              <a:t>band)</a:t>
            </a:r>
            <a:r>
              <a:rPr lang="en-US" b="1" spc="-10" dirty="0">
                <a:latin typeface="Calibri"/>
                <a:cs typeface="Calibri"/>
              </a:rPr>
              <a:t> </a:t>
            </a:r>
            <a:r>
              <a:rPr lang="en-US" b="1" spc="-15" dirty="0">
                <a:latin typeface="Calibri"/>
                <a:cs typeface="Calibri"/>
              </a:rPr>
              <a:t>are</a:t>
            </a:r>
            <a:r>
              <a:rPr lang="en-US" b="1" spc="-10" dirty="0">
                <a:latin typeface="Calibri"/>
                <a:cs typeface="Calibri"/>
              </a:rPr>
              <a:t> </a:t>
            </a:r>
            <a:r>
              <a:rPr lang="en-US" b="1" dirty="0">
                <a:latin typeface="Calibri"/>
                <a:cs typeface="Calibri"/>
              </a:rPr>
              <a:t>used.</a:t>
            </a:r>
          </a:p>
        </p:txBody>
      </p:sp>
      <p:sp>
        <p:nvSpPr>
          <p:cNvPr id="13" name="Rectangle 12"/>
          <p:cNvSpPr/>
          <p:nvPr/>
        </p:nvSpPr>
        <p:spPr>
          <a:xfrm>
            <a:off x="624993" y="3860714"/>
            <a:ext cx="3337407" cy="1323439"/>
          </a:xfrm>
          <a:prstGeom prst="rect">
            <a:avLst/>
          </a:prstGeom>
        </p:spPr>
        <p:txBody>
          <a:bodyPr wrap="square">
            <a:spAutoFit/>
          </a:bodyPr>
          <a:lstStyle/>
          <a:p>
            <a:pPr marL="12700" marR="137795" algn="ctr">
              <a:lnSpc>
                <a:spcPts val="2420"/>
              </a:lnSpc>
            </a:pPr>
            <a:r>
              <a:rPr lang="en-US" b="1" dirty="0">
                <a:latin typeface="Calibri"/>
                <a:cs typeface="Calibri"/>
              </a:rPr>
              <a:t>When the </a:t>
            </a:r>
            <a:r>
              <a:rPr lang="en-US" b="1" spc="-5" dirty="0">
                <a:latin typeface="Calibri"/>
                <a:cs typeface="Calibri"/>
              </a:rPr>
              <a:t>uplink </a:t>
            </a:r>
            <a:r>
              <a:rPr lang="en-US" b="1" spc="-15" dirty="0">
                <a:latin typeface="Calibri"/>
                <a:cs typeface="Calibri"/>
              </a:rPr>
              <a:t>coverage </a:t>
            </a:r>
            <a:r>
              <a:rPr lang="en-US" b="1" dirty="0">
                <a:latin typeface="Calibri"/>
                <a:cs typeface="Calibri"/>
              </a:rPr>
              <a:t>of the NR </a:t>
            </a:r>
            <a:r>
              <a:rPr lang="en-US" b="1" spc="5" dirty="0">
                <a:latin typeface="Calibri"/>
                <a:cs typeface="Calibri"/>
              </a:rPr>
              <a:t> </a:t>
            </a:r>
            <a:r>
              <a:rPr lang="en-US" b="1" spc="-5" dirty="0">
                <a:latin typeface="Calibri"/>
                <a:cs typeface="Calibri"/>
              </a:rPr>
              <a:t>carrier</a:t>
            </a:r>
            <a:r>
              <a:rPr lang="en-US" b="1" spc="-10" dirty="0">
                <a:latin typeface="Calibri"/>
                <a:cs typeface="Calibri"/>
              </a:rPr>
              <a:t> </a:t>
            </a:r>
            <a:r>
              <a:rPr lang="en-US" b="1" spc="-5" dirty="0">
                <a:latin typeface="Calibri"/>
                <a:cs typeface="Calibri"/>
              </a:rPr>
              <a:t>is</a:t>
            </a:r>
            <a:r>
              <a:rPr lang="en-US" b="1" spc="-10" dirty="0">
                <a:latin typeface="Calibri"/>
                <a:cs typeface="Calibri"/>
              </a:rPr>
              <a:t> </a:t>
            </a:r>
            <a:r>
              <a:rPr lang="en-US" b="1" spc="-5" dirty="0">
                <a:latin typeface="Calibri"/>
                <a:cs typeface="Calibri"/>
              </a:rPr>
              <a:t>good,</a:t>
            </a:r>
            <a:r>
              <a:rPr lang="en-US" b="1" spc="-20" dirty="0">
                <a:latin typeface="Calibri"/>
                <a:cs typeface="Calibri"/>
              </a:rPr>
              <a:t> </a:t>
            </a:r>
            <a:r>
              <a:rPr lang="en-US" b="1" spc="-5" dirty="0">
                <a:latin typeface="Calibri"/>
                <a:cs typeface="Calibri"/>
              </a:rPr>
              <a:t>UE</a:t>
            </a:r>
            <a:r>
              <a:rPr lang="en-US" b="1" spc="-10" dirty="0">
                <a:latin typeface="Calibri"/>
                <a:cs typeface="Calibri"/>
              </a:rPr>
              <a:t> </a:t>
            </a:r>
            <a:r>
              <a:rPr lang="en-US" b="1" dirty="0">
                <a:latin typeface="Calibri"/>
                <a:cs typeface="Calibri"/>
              </a:rPr>
              <a:t>uses</a:t>
            </a:r>
            <a:r>
              <a:rPr lang="en-US" b="1" spc="-20" dirty="0">
                <a:latin typeface="Calibri"/>
                <a:cs typeface="Calibri"/>
              </a:rPr>
              <a:t> </a:t>
            </a:r>
            <a:r>
              <a:rPr lang="en-US" b="1" dirty="0">
                <a:latin typeface="Calibri"/>
                <a:cs typeface="Calibri"/>
              </a:rPr>
              <a:t>the</a:t>
            </a:r>
            <a:r>
              <a:rPr lang="en-US" b="1" spc="-10" dirty="0">
                <a:latin typeface="Calibri"/>
                <a:cs typeface="Calibri"/>
              </a:rPr>
              <a:t> </a:t>
            </a:r>
            <a:r>
              <a:rPr lang="en-US" b="1" dirty="0">
                <a:latin typeface="Calibri"/>
                <a:cs typeface="Calibri"/>
              </a:rPr>
              <a:t>NR</a:t>
            </a:r>
            <a:r>
              <a:rPr lang="en-US" b="1" spc="-10" dirty="0">
                <a:latin typeface="Calibri"/>
                <a:cs typeface="Calibri"/>
              </a:rPr>
              <a:t> </a:t>
            </a:r>
            <a:r>
              <a:rPr lang="en-US" b="1" spc="-5" dirty="0">
                <a:latin typeface="Calibri"/>
                <a:cs typeface="Calibri"/>
              </a:rPr>
              <a:t>carrier</a:t>
            </a:r>
            <a:r>
              <a:rPr lang="en-US" b="1" spc="-15" dirty="0">
                <a:latin typeface="Calibri"/>
                <a:cs typeface="Calibri"/>
              </a:rPr>
              <a:t> to </a:t>
            </a:r>
            <a:r>
              <a:rPr lang="en-US" b="1" spc="-484" dirty="0">
                <a:latin typeface="Calibri"/>
                <a:cs typeface="Calibri"/>
              </a:rPr>
              <a:t> </a:t>
            </a:r>
            <a:r>
              <a:rPr lang="en-US" b="1" dirty="0">
                <a:latin typeface="Calibri"/>
                <a:cs typeface="Calibri"/>
              </a:rPr>
              <a:t>send</a:t>
            </a:r>
            <a:r>
              <a:rPr lang="en-US" b="1" spc="-15" dirty="0">
                <a:latin typeface="Calibri"/>
                <a:cs typeface="Calibri"/>
              </a:rPr>
              <a:t> </a:t>
            </a:r>
            <a:r>
              <a:rPr lang="en-US" b="1" dirty="0">
                <a:latin typeface="Calibri"/>
                <a:cs typeface="Calibri"/>
              </a:rPr>
              <a:t>and</a:t>
            </a:r>
            <a:r>
              <a:rPr lang="en-US" b="1" spc="-5" dirty="0">
                <a:latin typeface="Calibri"/>
                <a:cs typeface="Calibri"/>
              </a:rPr>
              <a:t> </a:t>
            </a:r>
            <a:r>
              <a:rPr lang="en-US" b="1" spc="-10" dirty="0">
                <a:latin typeface="Calibri"/>
                <a:cs typeface="Calibri"/>
              </a:rPr>
              <a:t>receive</a:t>
            </a:r>
            <a:r>
              <a:rPr lang="en-US" b="1" spc="-15" dirty="0">
                <a:latin typeface="Calibri"/>
                <a:cs typeface="Calibri"/>
              </a:rPr>
              <a:t> </a:t>
            </a:r>
            <a:r>
              <a:rPr lang="en-US" b="1" spc="-10" dirty="0">
                <a:latin typeface="Calibri"/>
                <a:cs typeface="Calibri"/>
              </a:rPr>
              <a:t>data.</a:t>
            </a:r>
            <a:endParaRPr lang="en-US" b="1" dirty="0">
              <a:latin typeface="Calibri"/>
              <a:cs typeface="Calibri"/>
            </a:endParaRPr>
          </a:p>
        </p:txBody>
      </p:sp>
      <p:sp>
        <p:nvSpPr>
          <p:cNvPr id="14" name="Rectangle 13"/>
          <p:cNvSpPr/>
          <p:nvPr/>
        </p:nvSpPr>
        <p:spPr>
          <a:xfrm>
            <a:off x="575116" y="4838327"/>
            <a:ext cx="3387284" cy="1600438"/>
          </a:xfrm>
          <a:prstGeom prst="rect">
            <a:avLst/>
          </a:prstGeom>
        </p:spPr>
        <p:txBody>
          <a:bodyPr wrap="square">
            <a:spAutoFit/>
          </a:bodyPr>
          <a:lstStyle/>
          <a:p>
            <a:pPr>
              <a:lnSpc>
                <a:spcPct val="100000"/>
              </a:lnSpc>
              <a:spcBef>
                <a:spcPts val="35"/>
              </a:spcBef>
            </a:pPr>
            <a:endParaRPr lang="en-US" b="1" dirty="0">
              <a:latin typeface="Calibri"/>
              <a:cs typeface="Calibri"/>
            </a:endParaRPr>
          </a:p>
          <a:p>
            <a:pPr marL="12700" marR="5080">
              <a:lnSpc>
                <a:spcPts val="2420"/>
              </a:lnSpc>
              <a:spcBef>
                <a:spcPts val="5"/>
              </a:spcBef>
            </a:pPr>
            <a:r>
              <a:rPr lang="en-US" b="1" dirty="0">
                <a:latin typeface="Calibri"/>
                <a:cs typeface="Calibri"/>
              </a:rPr>
              <a:t>When</a:t>
            </a:r>
            <a:r>
              <a:rPr lang="en-US" b="1" spc="40" dirty="0">
                <a:latin typeface="Calibri"/>
                <a:cs typeface="Calibri"/>
              </a:rPr>
              <a:t> </a:t>
            </a:r>
            <a:r>
              <a:rPr lang="en-US" b="1" dirty="0">
                <a:latin typeface="Calibri"/>
                <a:cs typeface="Calibri"/>
              </a:rPr>
              <a:t>the</a:t>
            </a:r>
            <a:r>
              <a:rPr lang="en-US" b="1" spc="45" dirty="0">
                <a:latin typeface="Calibri"/>
                <a:cs typeface="Calibri"/>
              </a:rPr>
              <a:t> </a:t>
            </a:r>
            <a:r>
              <a:rPr lang="en-US" b="1" spc="-5" dirty="0">
                <a:latin typeface="Calibri"/>
                <a:cs typeface="Calibri"/>
              </a:rPr>
              <a:t>UE</a:t>
            </a:r>
            <a:r>
              <a:rPr lang="en-US" b="1" spc="50" dirty="0">
                <a:latin typeface="Calibri"/>
                <a:cs typeface="Calibri"/>
              </a:rPr>
              <a:t> </a:t>
            </a:r>
            <a:r>
              <a:rPr lang="en-US" b="1" spc="-5" dirty="0">
                <a:latin typeface="Calibri"/>
                <a:cs typeface="Calibri"/>
              </a:rPr>
              <a:t>is</a:t>
            </a:r>
            <a:r>
              <a:rPr lang="en-US" b="1" spc="50" dirty="0">
                <a:latin typeface="Calibri"/>
                <a:cs typeface="Calibri"/>
              </a:rPr>
              <a:t> </a:t>
            </a:r>
            <a:r>
              <a:rPr lang="en-US" b="1" spc="-5" dirty="0">
                <a:latin typeface="Calibri"/>
                <a:cs typeface="Calibri"/>
              </a:rPr>
              <a:t>moving</a:t>
            </a:r>
            <a:r>
              <a:rPr lang="en-US" b="1" spc="45" dirty="0">
                <a:latin typeface="Calibri"/>
                <a:cs typeface="Calibri"/>
              </a:rPr>
              <a:t> </a:t>
            </a:r>
            <a:r>
              <a:rPr lang="en-US" b="1" spc="-10" dirty="0">
                <a:latin typeface="Calibri"/>
                <a:cs typeface="Calibri"/>
              </a:rPr>
              <a:t>beyond</a:t>
            </a:r>
            <a:r>
              <a:rPr lang="en-US" b="1" spc="35" dirty="0">
                <a:latin typeface="Calibri"/>
                <a:cs typeface="Calibri"/>
              </a:rPr>
              <a:t> </a:t>
            </a:r>
            <a:r>
              <a:rPr lang="en-US" b="1" dirty="0">
                <a:latin typeface="Calibri"/>
                <a:cs typeface="Calibri"/>
              </a:rPr>
              <a:t>the </a:t>
            </a:r>
            <a:r>
              <a:rPr lang="en-US" b="1" spc="5" dirty="0">
                <a:latin typeface="Calibri"/>
                <a:cs typeface="Calibri"/>
              </a:rPr>
              <a:t> </a:t>
            </a:r>
            <a:r>
              <a:rPr lang="en-US" b="1" spc="-5" dirty="0">
                <a:latin typeface="Calibri"/>
                <a:cs typeface="Calibri"/>
              </a:rPr>
              <a:t>uplink </a:t>
            </a:r>
            <a:r>
              <a:rPr lang="en-US" b="1" spc="-15" dirty="0">
                <a:latin typeface="Calibri"/>
                <a:cs typeface="Calibri"/>
              </a:rPr>
              <a:t>coverage </a:t>
            </a:r>
            <a:r>
              <a:rPr lang="en-US" b="1" dirty="0">
                <a:latin typeface="Calibri"/>
                <a:cs typeface="Calibri"/>
              </a:rPr>
              <a:t>of the NR </a:t>
            </a:r>
            <a:r>
              <a:rPr lang="en-US" b="1" spc="-30" dirty="0">
                <a:latin typeface="Calibri"/>
                <a:cs typeface="Calibri"/>
              </a:rPr>
              <a:t>carrier, </a:t>
            </a:r>
            <a:r>
              <a:rPr lang="en-US" b="1" spc="-5" dirty="0">
                <a:latin typeface="Calibri"/>
                <a:cs typeface="Calibri"/>
              </a:rPr>
              <a:t>UE </a:t>
            </a:r>
            <a:r>
              <a:rPr lang="en-US" b="1" dirty="0">
                <a:latin typeface="Calibri"/>
                <a:cs typeface="Calibri"/>
              </a:rPr>
              <a:t>uses </a:t>
            </a:r>
            <a:r>
              <a:rPr lang="en-US" b="1" spc="-484" dirty="0">
                <a:latin typeface="Calibri"/>
                <a:cs typeface="Calibri"/>
              </a:rPr>
              <a:t> </a:t>
            </a:r>
            <a:r>
              <a:rPr lang="en-US" b="1" dirty="0">
                <a:latin typeface="Calibri"/>
                <a:cs typeface="Calibri"/>
              </a:rPr>
              <a:t>the</a:t>
            </a:r>
            <a:r>
              <a:rPr lang="en-US" b="1" spc="-10" dirty="0">
                <a:latin typeface="Calibri"/>
                <a:cs typeface="Calibri"/>
              </a:rPr>
              <a:t> </a:t>
            </a:r>
            <a:r>
              <a:rPr lang="en-US" b="1" spc="-5" dirty="0">
                <a:latin typeface="Calibri"/>
                <a:cs typeface="Calibri"/>
              </a:rPr>
              <a:t>SUL carrier</a:t>
            </a:r>
            <a:r>
              <a:rPr lang="en-US" b="1" spc="-15" dirty="0">
                <a:latin typeface="Calibri"/>
                <a:cs typeface="Calibri"/>
              </a:rPr>
              <a:t> </a:t>
            </a:r>
            <a:r>
              <a:rPr lang="en-US" b="1" spc="-20" dirty="0">
                <a:latin typeface="Calibri"/>
                <a:cs typeface="Calibri"/>
              </a:rPr>
              <a:t>for</a:t>
            </a:r>
            <a:r>
              <a:rPr lang="en-US" b="1" dirty="0">
                <a:latin typeface="Calibri"/>
                <a:cs typeface="Calibri"/>
              </a:rPr>
              <a:t> </a:t>
            </a:r>
            <a:r>
              <a:rPr lang="en-US" b="1" spc="-10" dirty="0">
                <a:latin typeface="Calibri"/>
                <a:cs typeface="Calibri"/>
              </a:rPr>
              <a:t>transmitting</a:t>
            </a:r>
            <a:r>
              <a:rPr lang="en-US" b="1" spc="-20" dirty="0">
                <a:latin typeface="Calibri"/>
                <a:cs typeface="Calibri"/>
              </a:rPr>
              <a:t> </a:t>
            </a:r>
            <a:r>
              <a:rPr lang="en-US" b="1" spc="-10" dirty="0">
                <a:latin typeface="Calibri"/>
                <a:cs typeface="Calibri"/>
              </a:rPr>
              <a:t>data</a:t>
            </a:r>
            <a:endParaRPr lang="en-IN" b="1" dirty="0"/>
          </a:p>
        </p:txBody>
      </p:sp>
    </p:spTree>
    <p:extLst>
      <p:ext uri="{BB962C8B-B14F-4D97-AF65-F5344CB8AC3E}">
        <p14:creationId xmlns:p14="http://schemas.microsoft.com/office/powerpoint/2010/main" val="420960112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6800" y="152400"/>
            <a:ext cx="7239000" cy="520014"/>
          </a:xfrm>
          <a:prstGeom prst="rect">
            <a:avLst/>
          </a:prstGeom>
        </p:spPr>
        <p:txBody>
          <a:bodyPr vert="horz" wrap="square" lIns="0" tIns="12065" rIns="0" bIns="0" rtlCol="0">
            <a:spAutoFit/>
          </a:bodyPr>
          <a:lstStyle/>
          <a:p>
            <a:pPr marL="12700">
              <a:lnSpc>
                <a:spcPct val="100000"/>
              </a:lnSpc>
              <a:spcBef>
                <a:spcPts val="95"/>
              </a:spcBef>
            </a:pPr>
            <a:r>
              <a:rPr spc="-5" dirty="0">
                <a:solidFill>
                  <a:srgbClr val="FF0000"/>
                </a:solidFill>
              </a:rPr>
              <a:t>5G</a:t>
            </a:r>
            <a:r>
              <a:rPr spc="-35" dirty="0">
                <a:solidFill>
                  <a:srgbClr val="FF0000"/>
                </a:solidFill>
              </a:rPr>
              <a:t> </a:t>
            </a:r>
            <a:r>
              <a:rPr spc="-10" dirty="0">
                <a:solidFill>
                  <a:srgbClr val="FF0000"/>
                </a:solidFill>
              </a:rPr>
              <a:t>Supplementary</a:t>
            </a:r>
            <a:r>
              <a:rPr spc="-15" dirty="0">
                <a:solidFill>
                  <a:srgbClr val="FF0000"/>
                </a:solidFill>
              </a:rPr>
              <a:t> </a:t>
            </a:r>
            <a:r>
              <a:rPr spc="-5" dirty="0">
                <a:solidFill>
                  <a:srgbClr val="FF0000"/>
                </a:solidFill>
              </a:rPr>
              <a:t>Uplink</a:t>
            </a:r>
            <a:r>
              <a:rPr dirty="0">
                <a:solidFill>
                  <a:srgbClr val="FF0000"/>
                </a:solidFill>
              </a:rPr>
              <a:t> </a:t>
            </a:r>
            <a:r>
              <a:rPr spc="-5" dirty="0">
                <a:solidFill>
                  <a:srgbClr val="FF0000"/>
                </a:solidFill>
              </a:rPr>
              <a:t>(SUL)</a:t>
            </a:r>
          </a:p>
        </p:txBody>
      </p:sp>
      <p:pic>
        <p:nvPicPr>
          <p:cNvPr id="4" name="object 4"/>
          <p:cNvPicPr/>
          <p:nvPr/>
        </p:nvPicPr>
        <p:blipFill>
          <a:blip r:embed="rId2" cstate="print"/>
          <a:stretch>
            <a:fillRect/>
          </a:stretch>
        </p:blipFill>
        <p:spPr>
          <a:xfrm>
            <a:off x="0" y="1905012"/>
            <a:ext cx="8983939" cy="4410746"/>
          </a:xfrm>
          <a:prstGeom prst="rect">
            <a:avLst/>
          </a:prstGeom>
        </p:spPr>
      </p:pic>
    </p:spTree>
    <p:extLst>
      <p:ext uri="{BB962C8B-B14F-4D97-AF65-F5344CB8AC3E}">
        <p14:creationId xmlns:p14="http://schemas.microsoft.com/office/powerpoint/2010/main" val="303605494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573" y="23622"/>
            <a:ext cx="9127427" cy="1143000"/>
          </a:xfrm>
          <a:prstGeom prst="rect">
            <a:avLst/>
          </a:prstGeom>
        </p:spPr>
      </p:pic>
      <p:sp>
        <p:nvSpPr>
          <p:cNvPr id="3" name="object 3"/>
          <p:cNvSpPr txBox="1">
            <a:spLocks noGrp="1"/>
          </p:cNvSpPr>
          <p:nvPr>
            <p:ph type="title"/>
          </p:nvPr>
        </p:nvSpPr>
        <p:spPr>
          <a:xfrm>
            <a:off x="2685710" y="299124"/>
            <a:ext cx="4934290" cy="520014"/>
          </a:xfrm>
          <a:prstGeom prst="rect">
            <a:avLst/>
          </a:prstGeom>
        </p:spPr>
        <p:txBody>
          <a:bodyPr vert="horz" wrap="square" lIns="0" tIns="12065" rIns="0" bIns="0" rtlCol="0">
            <a:spAutoFit/>
          </a:bodyPr>
          <a:lstStyle/>
          <a:p>
            <a:pPr marL="12700">
              <a:lnSpc>
                <a:spcPct val="100000"/>
              </a:lnSpc>
              <a:spcBef>
                <a:spcPts val="95"/>
              </a:spcBef>
            </a:pPr>
            <a:r>
              <a:rPr spc="-5" dirty="0">
                <a:solidFill>
                  <a:srgbClr val="FF0000"/>
                </a:solidFill>
              </a:rPr>
              <a:t>CA</a:t>
            </a:r>
            <a:r>
              <a:rPr spc="-10" dirty="0">
                <a:solidFill>
                  <a:srgbClr val="FF0000"/>
                </a:solidFill>
              </a:rPr>
              <a:t> </a:t>
            </a:r>
            <a:r>
              <a:rPr spc="-5" dirty="0">
                <a:solidFill>
                  <a:srgbClr val="FF0000"/>
                </a:solidFill>
              </a:rPr>
              <a:t>in </a:t>
            </a:r>
            <a:r>
              <a:rPr spc="-10" dirty="0">
                <a:solidFill>
                  <a:srgbClr val="FF0000"/>
                </a:solidFill>
              </a:rPr>
              <a:t>unlicensed</a:t>
            </a:r>
            <a:r>
              <a:rPr spc="10" dirty="0">
                <a:solidFill>
                  <a:srgbClr val="FF0000"/>
                </a:solidFill>
              </a:rPr>
              <a:t> </a:t>
            </a:r>
            <a:r>
              <a:rPr spc="-5" dirty="0">
                <a:solidFill>
                  <a:srgbClr val="FF0000"/>
                </a:solidFill>
              </a:rPr>
              <a:t>Band</a:t>
            </a:r>
          </a:p>
        </p:txBody>
      </p:sp>
      <p:grpSp>
        <p:nvGrpSpPr>
          <p:cNvPr id="4" name="object 4"/>
          <p:cNvGrpSpPr/>
          <p:nvPr/>
        </p:nvGrpSpPr>
        <p:grpSpPr>
          <a:xfrm>
            <a:off x="169164" y="1398269"/>
            <a:ext cx="2662714" cy="5206365"/>
            <a:chOff x="225552" y="1398269"/>
            <a:chExt cx="3550285" cy="5206365"/>
          </a:xfrm>
        </p:grpSpPr>
        <p:pic>
          <p:nvPicPr>
            <p:cNvPr id="5" name="object 5"/>
            <p:cNvPicPr/>
            <p:nvPr/>
          </p:nvPicPr>
          <p:blipFill>
            <a:blip r:embed="rId3" cstate="print"/>
            <a:stretch>
              <a:fillRect/>
            </a:stretch>
          </p:blipFill>
          <p:spPr>
            <a:xfrm>
              <a:off x="225552" y="1398269"/>
              <a:ext cx="3550157" cy="1769363"/>
            </a:xfrm>
            <a:prstGeom prst="rect">
              <a:avLst/>
            </a:prstGeom>
          </p:spPr>
        </p:pic>
        <p:pic>
          <p:nvPicPr>
            <p:cNvPr id="6" name="object 6"/>
            <p:cNvPicPr/>
            <p:nvPr/>
          </p:nvPicPr>
          <p:blipFill>
            <a:blip r:embed="rId4" cstate="print"/>
            <a:stretch>
              <a:fillRect/>
            </a:stretch>
          </p:blipFill>
          <p:spPr>
            <a:xfrm>
              <a:off x="225552" y="3134868"/>
              <a:ext cx="3550157" cy="1732787"/>
            </a:xfrm>
            <a:prstGeom prst="rect">
              <a:avLst/>
            </a:prstGeom>
          </p:spPr>
        </p:pic>
        <p:pic>
          <p:nvPicPr>
            <p:cNvPr id="7" name="object 7"/>
            <p:cNvPicPr/>
            <p:nvPr/>
          </p:nvPicPr>
          <p:blipFill>
            <a:blip r:embed="rId5" cstate="print"/>
            <a:stretch>
              <a:fillRect/>
            </a:stretch>
          </p:blipFill>
          <p:spPr>
            <a:xfrm>
              <a:off x="225552" y="4870704"/>
              <a:ext cx="3550157" cy="1733549"/>
            </a:xfrm>
            <a:prstGeom prst="rect">
              <a:avLst/>
            </a:prstGeom>
          </p:spPr>
        </p:pic>
      </p:grpSp>
      <p:sp>
        <p:nvSpPr>
          <p:cNvPr id="8" name="object 8"/>
          <p:cNvSpPr txBox="1"/>
          <p:nvPr/>
        </p:nvSpPr>
        <p:spPr>
          <a:xfrm>
            <a:off x="359970" y="1388870"/>
            <a:ext cx="2281006" cy="1523750"/>
          </a:xfrm>
          <a:prstGeom prst="rect">
            <a:avLst/>
          </a:prstGeom>
        </p:spPr>
        <p:txBody>
          <a:bodyPr vert="horz" wrap="square" lIns="0" tIns="50800" rIns="0" bIns="0" rtlCol="0">
            <a:spAutoFit/>
          </a:bodyPr>
          <a:lstStyle/>
          <a:p>
            <a:pPr marL="12700" marR="5080" algn="ctr">
              <a:lnSpc>
                <a:spcPct val="91600"/>
              </a:lnSpc>
              <a:spcBef>
                <a:spcPts val="400"/>
              </a:spcBef>
            </a:pPr>
            <a:r>
              <a:rPr sz="2600" dirty="0">
                <a:latin typeface="Calibri"/>
                <a:cs typeface="Calibri"/>
              </a:rPr>
              <a:t>CA of </a:t>
            </a:r>
            <a:r>
              <a:rPr sz="2600" spc="-5" dirty="0">
                <a:latin typeface="Calibri"/>
                <a:cs typeface="Calibri"/>
              </a:rPr>
              <a:t>licensed </a:t>
            </a:r>
            <a:r>
              <a:rPr sz="2600" dirty="0">
                <a:latin typeface="Calibri"/>
                <a:cs typeface="Calibri"/>
              </a:rPr>
              <a:t>and </a:t>
            </a:r>
            <a:r>
              <a:rPr sz="2600" spc="5" dirty="0">
                <a:latin typeface="Calibri"/>
                <a:cs typeface="Calibri"/>
              </a:rPr>
              <a:t> </a:t>
            </a:r>
            <a:r>
              <a:rPr sz="2600" spc="-5" dirty="0">
                <a:latin typeface="Calibri"/>
                <a:cs typeface="Calibri"/>
              </a:rPr>
              <a:t>un-licensed </a:t>
            </a:r>
            <a:r>
              <a:rPr sz="2600" dirty="0">
                <a:latin typeface="Calibri"/>
                <a:cs typeface="Calibri"/>
              </a:rPr>
              <a:t> </a:t>
            </a:r>
            <a:r>
              <a:rPr sz="2600" spc="-5" dirty="0">
                <a:latin typeface="Calibri"/>
                <a:cs typeface="Calibri"/>
              </a:rPr>
              <a:t>spectrums</a:t>
            </a:r>
            <a:r>
              <a:rPr sz="2600" spc="-75" dirty="0">
                <a:latin typeface="Calibri"/>
                <a:cs typeface="Calibri"/>
              </a:rPr>
              <a:t> </a:t>
            </a:r>
            <a:r>
              <a:rPr sz="2600" dirty="0" smtClean="0">
                <a:latin typeface="Calibri"/>
                <a:cs typeface="Calibri"/>
              </a:rPr>
              <a:t>possible</a:t>
            </a:r>
            <a:endParaRPr sz="2600" dirty="0">
              <a:latin typeface="Calibri"/>
              <a:cs typeface="Calibri"/>
            </a:endParaRPr>
          </a:p>
        </p:txBody>
      </p:sp>
      <p:pic>
        <p:nvPicPr>
          <p:cNvPr id="9" name="object 9"/>
          <p:cNvPicPr/>
          <p:nvPr/>
        </p:nvPicPr>
        <p:blipFill>
          <a:blip r:embed="rId6" cstate="print"/>
          <a:stretch>
            <a:fillRect/>
          </a:stretch>
        </p:blipFill>
        <p:spPr>
          <a:xfrm>
            <a:off x="2998661" y="3812286"/>
            <a:ext cx="2259139" cy="2971037"/>
          </a:xfrm>
          <a:prstGeom prst="rect">
            <a:avLst/>
          </a:prstGeom>
        </p:spPr>
      </p:pic>
      <p:grpSp>
        <p:nvGrpSpPr>
          <p:cNvPr id="10" name="object 10"/>
          <p:cNvGrpSpPr/>
          <p:nvPr/>
        </p:nvGrpSpPr>
        <p:grpSpPr>
          <a:xfrm>
            <a:off x="2998661" y="1257301"/>
            <a:ext cx="5574030" cy="5526405"/>
            <a:chOff x="3998214" y="1257300"/>
            <a:chExt cx="7432040" cy="5526405"/>
          </a:xfrm>
        </p:grpSpPr>
        <p:pic>
          <p:nvPicPr>
            <p:cNvPr id="11" name="object 11"/>
            <p:cNvPicPr/>
            <p:nvPr/>
          </p:nvPicPr>
          <p:blipFill>
            <a:blip r:embed="rId7" cstate="print"/>
            <a:stretch>
              <a:fillRect/>
            </a:stretch>
          </p:blipFill>
          <p:spPr>
            <a:xfrm>
              <a:off x="8305800" y="3690366"/>
              <a:ext cx="3124199" cy="3092957"/>
            </a:xfrm>
            <a:prstGeom prst="rect">
              <a:avLst/>
            </a:prstGeom>
          </p:spPr>
        </p:pic>
        <p:pic>
          <p:nvPicPr>
            <p:cNvPr id="12" name="object 12"/>
            <p:cNvPicPr/>
            <p:nvPr/>
          </p:nvPicPr>
          <p:blipFill>
            <a:blip r:embed="rId8" cstate="print"/>
            <a:stretch>
              <a:fillRect/>
            </a:stretch>
          </p:blipFill>
          <p:spPr>
            <a:xfrm>
              <a:off x="3998214" y="1257300"/>
              <a:ext cx="4459985" cy="2424683"/>
            </a:xfrm>
            <a:prstGeom prst="rect">
              <a:avLst/>
            </a:prstGeom>
          </p:spPr>
        </p:pic>
      </p:grpSp>
      <p:sp>
        <p:nvSpPr>
          <p:cNvPr id="13" name="object 8"/>
          <p:cNvSpPr txBox="1"/>
          <p:nvPr/>
        </p:nvSpPr>
        <p:spPr>
          <a:xfrm>
            <a:off x="193091" y="5070507"/>
            <a:ext cx="2638691" cy="1320874"/>
          </a:xfrm>
          <a:prstGeom prst="rect">
            <a:avLst/>
          </a:prstGeom>
        </p:spPr>
        <p:txBody>
          <a:bodyPr vert="horz" wrap="square" lIns="0" tIns="50800" rIns="0" bIns="0" rtlCol="0">
            <a:spAutoFit/>
          </a:bodyPr>
          <a:lstStyle/>
          <a:p>
            <a:pPr marL="12700" marR="910590" algn="ctr">
              <a:lnSpc>
                <a:spcPts val="3290"/>
              </a:lnSpc>
            </a:pPr>
            <a:r>
              <a:rPr sz="2600" dirty="0" smtClean="0">
                <a:latin typeface="Calibri"/>
                <a:cs typeface="Calibri"/>
              </a:rPr>
              <a:t>NR</a:t>
            </a:r>
            <a:r>
              <a:rPr sz="2600" spc="-40" dirty="0" smtClean="0">
                <a:latin typeface="Calibri"/>
                <a:cs typeface="Calibri"/>
              </a:rPr>
              <a:t> </a:t>
            </a:r>
            <a:r>
              <a:rPr sz="2600" dirty="0">
                <a:latin typeface="Calibri"/>
                <a:cs typeface="Calibri"/>
              </a:rPr>
              <a:t>–</a:t>
            </a:r>
            <a:r>
              <a:rPr sz="2600" spc="-40" dirty="0">
                <a:latin typeface="Calibri"/>
                <a:cs typeface="Calibri"/>
              </a:rPr>
              <a:t> </a:t>
            </a:r>
            <a:r>
              <a:rPr sz="2600" dirty="0">
                <a:latin typeface="Calibri"/>
                <a:cs typeface="Calibri"/>
              </a:rPr>
              <a:t>NR</a:t>
            </a:r>
            <a:r>
              <a:rPr sz="2600" spc="-30" dirty="0">
                <a:latin typeface="Calibri"/>
                <a:cs typeface="Calibri"/>
              </a:rPr>
              <a:t> </a:t>
            </a:r>
            <a:r>
              <a:rPr sz="2600" dirty="0">
                <a:latin typeface="Calibri"/>
                <a:cs typeface="Calibri"/>
              </a:rPr>
              <a:t>Dual </a:t>
            </a:r>
            <a:r>
              <a:rPr sz="2600" spc="-665" dirty="0">
                <a:latin typeface="Calibri"/>
                <a:cs typeface="Calibri"/>
              </a:rPr>
              <a:t> </a:t>
            </a:r>
            <a:r>
              <a:rPr sz="2600" spc="-5" dirty="0">
                <a:latin typeface="Calibri"/>
                <a:cs typeface="Calibri"/>
              </a:rPr>
              <a:t>Connectivity</a:t>
            </a:r>
            <a:endParaRPr sz="2600" dirty="0">
              <a:latin typeface="Calibri"/>
              <a:cs typeface="Calibri"/>
            </a:endParaRPr>
          </a:p>
        </p:txBody>
      </p:sp>
      <p:sp>
        <p:nvSpPr>
          <p:cNvPr id="14" name="object 8"/>
          <p:cNvSpPr txBox="1"/>
          <p:nvPr/>
        </p:nvSpPr>
        <p:spPr>
          <a:xfrm>
            <a:off x="476347" y="3464790"/>
            <a:ext cx="2702813" cy="897682"/>
          </a:xfrm>
          <a:prstGeom prst="rect">
            <a:avLst/>
          </a:prstGeom>
        </p:spPr>
        <p:txBody>
          <a:bodyPr vert="horz" wrap="square" lIns="0" tIns="50800" rIns="0" bIns="0" rtlCol="0">
            <a:spAutoFit/>
          </a:bodyPr>
          <a:lstStyle/>
          <a:p>
            <a:pPr marL="12700" marR="859790" algn="ctr">
              <a:lnSpc>
                <a:spcPts val="3290"/>
              </a:lnSpc>
              <a:spcBef>
                <a:spcPts val="1830"/>
              </a:spcBef>
            </a:pPr>
            <a:r>
              <a:rPr sz="2600" dirty="0">
                <a:latin typeface="Calibri"/>
                <a:cs typeface="Calibri"/>
              </a:rPr>
              <a:t>LTE – NR Dual  </a:t>
            </a:r>
            <a:r>
              <a:rPr sz="2600" dirty="0" smtClean="0">
                <a:latin typeface="Calibri"/>
                <a:cs typeface="Calibri"/>
              </a:rPr>
              <a:t>Connectivity</a:t>
            </a:r>
            <a:endParaRPr sz="2600" dirty="0">
              <a:latin typeface="Calibri"/>
              <a:cs typeface="Calibri"/>
            </a:endParaRPr>
          </a:p>
        </p:txBody>
      </p:sp>
    </p:spTree>
    <p:extLst>
      <p:ext uri="{BB962C8B-B14F-4D97-AF65-F5344CB8AC3E}">
        <p14:creationId xmlns:p14="http://schemas.microsoft.com/office/powerpoint/2010/main" val="507954658"/>
      </p:ext>
    </p:extLst>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2554</TotalTime>
  <Words>636</Words>
  <Application>Microsoft Office PowerPoint</Application>
  <PresentationFormat>On-screen Show (4:3)</PresentationFormat>
  <Paragraphs>99</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Arial MT</vt:lpstr>
      <vt:lpstr>Calibri</vt:lpstr>
      <vt:lpstr>Cambria</vt:lpstr>
      <vt:lpstr>NokiaPureHeadline</vt:lpstr>
      <vt:lpstr>Default Design</vt:lpstr>
      <vt:lpstr>5G WIRELESS COMMUNICATION  (UEC 719) </vt:lpstr>
      <vt:lpstr>PowerPoint Presentation</vt:lpstr>
      <vt:lpstr>PowerPoint Presentation</vt:lpstr>
      <vt:lpstr>Carrier Aggregation (CA) Concept</vt:lpstr>
      <vt:lpstr>PowerPoint Presentation</vt:lpstr>
      <vt:lpstr>PowerPoint Presentation</vt:lpstr>
      <vt:lpstr>PowerPoint Presentation</vt:lpstr>
      <vt:lpstr>Carrier Aggregation (CA) Concept</vt:lpstr>
      <vt:lpstr>Carrier Aggregation in LTE Advanced / Pro</vt:lpstr>
      <vt:lpstr>Carrier Aggregation Concept</vt:lpstr>
      <vt:lpstr>Carrier Aggregation (CA) in 5G</vt:lpstr>
      <vt:lpstr>Carrier aggregation and supplementary uplink</vt:lpstr>
      <vt:lpstr>PowerPoint Presentation</vt:lpstr>
      <vt:lpstr>Dual Connectivity</vt:lpstr>
      <vt:lpstr>Inter-Band Carrier Aggregation (Inter-Band CA)</vt:lpstr>
      <vt:lpstr>5G Supplementary Uplink (SUL)</vt:lpstr>
      <vt:lpstr>5G Supplementary Uplink (SUL)</vt:lpstr>
      <vt:lpstr>CA in unlicensed Band</vt:lpstr>
    </vt:vector>
  </TitlesOfParts>
  <Company>jiet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Area of Research</dc:title>
  <dc:creator>hemdutt.joshi</dc:creator>
  <cp:lastModifiedBy>ti</cp:lastModifiedBy>
  <cp:revision>353</cp:revision>
  <dcterms:created xsi:type="dcterms:W3CDTF">2007-08-08T07:13:51Z</dcterms:created>
  <dcterms:modified xsi:type="dcterms:W3CDTF">2025-09-02T11:27:03Z</dcterms:modified>
</cp:coreProperties>
</file>
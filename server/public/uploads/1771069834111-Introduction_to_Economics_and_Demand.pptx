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0" r:id="rId2"/>
    <p:sldId id="279" r:id="rId3"/>
    <p:sldId id="331" r:id="rId4"/>
    <p:sldId id="288" r:id="rId5"/>
    <p:sldId id="278" r:id="rId6"/>
    <p:sldId id="297" r:id="rId7"/>
    <p:sldId id="304" r:id="rId8"/>
    <p:sldId id="267" r:id="rId9"/>
    <p:sldId id="266" r:id="rId10"/>
    <p:sldId id="329" r:id="rId11"/>
    <p:sldId id="258" r:id="rId12"/>
    <p:sldId id="259" r:id="rId13"/>
    <p:sldId id="290" r:id="rId14"/>
    <p:sldId id="291" r:id="rId15"/>
    <p:sldId id="262" r:id="rId16"/>
    <p:sldId id="263" r:id="rId17"/>
    <p:sldId id="292" r:id="rId18"/>
    <p:sldId id="264" r:id="rId19"/>
    <p:sldId id="265" r:id="rId20"/>
    <p:sldId id="293" r:id="rId21"/>
    <p:sldId id="294" r:id="rId22"/>
    <p:sldId id="295" r:id="rId23"/>
    <p:sldId id="296" r:id="rId24"/>
    <p:sldId id="330"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2" d="100"/>
          <a:sy n="62" d="100"/>
        </p:scale>
        <p:origin x="828"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A73D91-7FAE-F349-A305-B0B3E76608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B9D9F57-38FE-A34C-9008-C06366B78C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3725C0B-64AD-7EEC-91B2-4A88B89EF036}"/>
              </a:ext>
            </a:extLst>
          </p:cNvPr>
          <p:cNvSpPr>
            <a:spLocks noGrp="1"/>
          </p:cNvSpPr>
          <p:nvPr>
            <p:ph type="dt" sz="half" idx="10"/>
          </p:nvPr>
        </p:nvSpPr>
        <p:spPr/>
        <p:txBody>
          <a:bodyPr/>
          <a:lstStyle/>
          <a:p>
            <a:fld id="{592D3A03-947D-421D-8CAE-81073114D775}" type="datetimeFigureOut">
              <a:rPr lang="en-IN" smtClean="0"/>
              <a:t>29-07-2024</a:t>
            </a:fld>
            <a:endParaRPr lang="en-IN"/>
          </a:p>
        </p:txBody>
      </p:sp>
      <p:sp>
        <p:nvSpPr>
          <p:cNvPr id="5" name="Footer Placeholder 4">
            <a:extLst>
              <a:ext uri="{FF2B5EF4-FFF2-40B4-BE49-F238E27FC236}">
                <a16:creationId xmlns:a16="http://schemas.microsoft.com/office/drawing/2014/main" id="{796EF4D4-E6B4-F2D2-8284-7555B1D262A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9E36703-9DA0-D4B3-A414-C6B17729AA0C}"/>
              </a:ext>
            </a:extLst>
          </p:cNvPr>
          <p:cNvSpPr>
            <a:spLocks noGrp="1"/>
          </p:cNvSpPr>
          <p:nvPr>
            <p:ph type="sldNum" sz="quarter" idx="12"/>
          </p:nvPr>
        </p:nvSpPr>
        <p:spPr/>
        <p:txBody>
          <a:bodyPr/>
          <a:lstStyle/>
          <a:p>
            <a:fld id="{8A658A90-52F5-4C0C-802E-FD318AAAD2E7}" type="slidenum">
              <a:rPr lang="en-IN" smtClean="0"/>
              <a:t>‹#›</a:t>
            </a:fld>
            <a:endParaRPr lang="en-IN"/>
          </a:p>
        </p:txBody>
      </p:sp>
    </p:spTree>
    <p:extLst>
      <p:ext uri="{BB962C8B-B14F-4D97-AF65-F5344CB8AC3E}">
        <p14:creationId xmlns:p14="http://schemas.microsoft.com/office/powerpoint/2010/main" val="8837284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ACDF9-D5CB-0341-F705-57B2D011BF9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062E918-4996-BEE0-BD34-8512CB2FCE8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32BA3D7-B65F-D222-D4FE-FA840AB84CC2}"/>
              </a:ext>
            </a:extLst>
          </p:cNvPr>
          <p:cNvSpPr>
            <a:spLocks noGrp="1"/>
          </p:cNvSpPr>
          <p:nvPr>
            <p:ph type="dt" sz="half" idx="10"/>
          </p:nvPr>
        </p:nvSpPr>
        <p:spPr/>
        <p:txBody>
          <a:bodyPr/>
          <a:lstStyle/>
          <a:p>
            <a:fld id="{592D3A03-947D-421D-8CAE-81073114D775}" type="datetimeFigureOut">
              <a:rPr lang="en-IN" smtClean="0"/>
              <a:t>29-07-2024</a:t>
            </a:fld>
            <a:endParaRPr lang="en-IN"/>
          </a:p>
        </p:txBody>
      </p:sp>
      <p:sp>
        <p:nvSpPr>
          <p:cNvPr id="5" name="Footer Placeholder 4">
            <a:extLst>
              <a:ext uri="{FF2B5EF4-FFF2-40B4-BE49-F238E27FC236}">
                <a16:creationId xmlns:a16="http://schemas.microsoft.com/office/drawing/2014/main" id="{17C055AD-49DA-0494-1468-BF3A8BEE4F3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88CA841-EC11-203B-2D64-F04AB50943DD}"/>
              </a:ext>
            </a:extLst>
          </p:cNvPr>
          <p:cNvSpPr>
            <a:spLocks noGrp="1"/>
          </p:cNvSpPr>
          <p:nvPr>
            <p:ph type="sldNum" sz="quarter" idx="12"/>
          </p:nvPr>
        </p:nvSpPr>
        <p:spPr/>
        <p:txBody>
          <a:bodyPr/>
          <a:lstStyle/>
          <a:p>
            <a:fld id="{8A658A90-52F5-4C0C-802E-FD318AAAD2E7}" type="slidenum">
              <a:rPr lang="en-IN" smtClean="0"/>
              <a:t>‹#›</a:t>
            </a:fld>
            <a:endParaRPr lang="en-IN"/>
          </a:p>
        </p:txBody>
      </p:sp>
    </p:spTree>
    <p:extLst>
      <p:ext uri="{BB962C8B-B14F-4D97-AF65-F5344CB8AC3E}">
        <p14:creationId xmlns:p14="http://schemas.microsoft.com/office/powerpoint/2010/main" val="24433729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D763C-809E-AC38-3B3A-BC882883C17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A1D4A39-E043-8D67-6B99-993B2B24673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7EC9ABD-315D-5DC4-5705-456C283EFABC}"/>
              </a:ext>
            </a:extLst>
          </p:cNvPr>
          <p:cNvSpPr>
            <a:spLocks noGrp="1"/>
          </p:cNvSpPr>
          <p:nvPr>
            <p:ph type="dt" sz="half" idx="10"/>
          </p:nvPr>
        </p:nvSpPr>
        <p:spPr/>
        <p:txBody>
          <a:bodyPr/>
          <a:lstStyle/>
          <a:p>
            <a:fld id="{592D3A03-947D-421D-8CAE-81073114D775}" type="datetimeFigureOut">
              <a:rPr lang="en-IN" smtClean="0"/>
              <a:t>29-07-2024</a:t>
            </a:fld>
            <a:endParaRPr lang="en-IN"/>
          </a:p>
        </p:txBody>
      </p:sp>
      <p:sp>
        <p:nvSpPr>
          <p:cNvPr id="5" name="Footer Placeholder 4">
            <a:extLst>
              <a:ext uri="{FF2B5EF4-FFF2-40B4-BE49-F238E27FC236}">
                <a16:creationId xmlns:a16="http://schemas.microsoft.com/office/drawing/2014/main" id="{A2006814-2B3A-B4C3-FFC0-62741124C34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75A446C-90EB-0548-E800-8EA29BB136E4}"/>
              </a:ext>
            </a:extLst>
          </p:cNvPr>
          <p:cNvSpPr>
            <a:spLocks noGrp="1"/>
          </p:cNvSpPr>
          <p:nvPr>
            <p:ph type="sldNum" sz="quarter" idx="12"/>
          </p:nvPr>
        </p:nvSpPr>
        <p:spPr/>
        <p:txBody>
          <a:bodyPr/>
          <a:lstStyle/>
          <a:p>
            <a:fld id="{8A658A90-52F5-4C0C-802E-FD318AAAD2E7}" type="slidenum">
              <a:rPr lang="en-IN" smtClean="0"/>
              <a:t>‹#›</a:t>
            </a:fld>
            <a:endParaRPr lang="en-IN"/>
          </a:p>
        </p:txBody>
      </p:sp>
    </p:spTree>
    <p:extLst>
      <p:ext uri="{BB962C8B-B14F-4D97-AF65-F5344CB8AC3E}">
        <p14:creationId xmlns:p14="http://schemas.microsoft.com/office/powerpoint/2010/main" val="6197833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F08F3C-28ED-0834-C944-471121F829C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06940F5-4DBA-291C-BC1F-75B01D0F308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21BEFB6-91A6-1E8C-06B5-50B33C52FA0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1F20570-1E58-03B4-EFFF-49C57693C486}"/>
              </a:ext>
            </a:extLst>
          </p:cNvPr>
          <p:cNvSpPr>
            <a:spLocks noGrp="1"/>
          </p:cNvSpPr>
          <p:nvPr>
            <p:ph type="dt" sz="half" idx="10"/>
          </p:nvPr>
        </p:nvSpPr>
        <p:spPr/>
        <p:txBody>
          <a:bodyPr/>
          <a:lstStyle/>
          <a:p>
            <a:fld id="{592D3A03-947D-421D-8CAE-81073114D775}" type="datetimeFigureOut">
              <a:rPr lang="en-IN" smtClean="0"/>
              <a:t>29-07-2024</a:t>
            </a:fld>
            <a:endParaRPr lang="en-IN"/>
          </a:p>
        </p:txBody>
      </p:sp>
      <p:sp>
        <p:nvSpPr>
          <p:cNvPr id="6" name="Footer Placeholder 5">
            <a:extLst>
              <a:ext uri="{FF2B5EF4-FFF2-40B4-BE49-F238E27FC236}">
                <a16:creationId xmlns:a16="http://schemas.microsoft.com/office/drawing/2014/main" id="{95C9EBCC-77FE-019D-568C-947A8509797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506DFFC-0FB4-4292-B407-E47F7E51051D}"/>
              </a:ext>
            </a:extLst>
          </p:cNvPr>
          <p:cNvSpPr>
            <a:spLocks noGrp="1"/>
          </p:cNvSpPr>
          <p:nvPr>
            <p:ph type="sldNum" sz="quarter" idx="12"/>
          </p:nvPr>
        </p:nvSpPr>
        <p:spPr/>
        <p:txBody>
          <a:bodyPr/>
          <a:lstStyle/>
          <a:p>
            <a:fld id="{8A658A90-52F5-4C0C-802E-FD318AAAD2E7}" type="slidenum">
              <a:rPr lang="en-IN" smtClean="0"/>
              <a:t>‹#›</a:t>
            </a:fld>
            <a:endParaRPr lang="en-IN"/>
          </a:p>
        </p:txBody>
      </p:sp>
    </p:spTree>
    <p:extLst>
      <p:ext uri="{BB962C8B-B14F-4D97-AF65-F5344CB8AC3E}">
        <p14:creationId xmlns:p14="http://schemas.microsoft.com/office/powerpoint/2010/main" val="12362911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5CF5DB-A58D-010B-B6F6-7516642C3A6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191B7DB-5B0B-604D-0ED2-E44C5B44C29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D82F0D1-D21B-D57D-05B3-6902E56AD3D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C55479C-4F15-D97A-B85A-63D484D789A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F75145E-C7A7-EBA1-75FF-3E9790AC2F1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564D713-689F-8F47-47F9-56AEDD7D1C7A}"/>
              </a:ext>
            </a:extLst>
          </p:cNvPr>
          <p:cNvSpPr>
            <a:spLocks noGrp="1"/>
          </p:cNvSpPr>
          <p:nvPr>
            <p:ph type="dt" sz="half" idx="10"/>
          </p:nvPr>
        </p:nvSpPr>
        <p:spPr/>
        <p:txBody>
          <a:bodyPr/>
          <a:lstStyle/>
          <a:p>
            <a:fld id="{592D3A03-947D-421D-8CAE-81073114D775}" type="datetimeFigureOut">
              <a:rPr lang="en-IN" smtClean="0"/>
              <a:t>29-07-2024</a:t>
            </a:fld>
            <a:endParaRPr lang="en-IN"/>
          </a:p>
        </p:txBody>
      </p:sp>
      <p:sp>
        <p:nvSpPr>
          <p:cNvPr id="8" name="Footer Placeholder 7">
            <a:extLst>
              <a:ext uri="{FF2B5EF4-FFF2-40B4-BE49-F238E27FC236}">
                <a16:creationId xmlns:a16="http://schemas.microsoft.com/office/drawing/2014/main" id="{F696D727-A5C6-12A5-5BAB-F4F1F739354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169C185-2B6C-6E15-B11E-15D6D6AA15C4}"/>
              </a:ext>
            </a:extLst>
          </p:cNvPr>
          <p:cNvSpPr>
            <a:spLocks noGrp="1"/>
          </p:cNvSpPr>
          <p:nvPr>
            <p:ph type="sldNum" sz="quarter" idx="12"/>
          </p:nvPr>
        </p:nvSpPr>
        <p:spPr/>
        <p:txBody>
          <a:bodyPr/>
          <a:lstStyle/>
          <a:p>
            <a:fld id="{8A658A90-52F5-4C0C-802E-FD318AAAD2E7}" type="slidenum">
              <a:rPr lang="en-IN" smtClean="0"/>
              <a:t>‹#›</a:t>
            </a:fld>
            <a:endParaRPr lang="en-IN"/>
          </a:p>
        </p:txBody>
      </p:sp>
    </p:spTree>
    <p:extLst>
      <p:ext uri="{BB962C8B-B14F-4D97-AF65-F5344CB8AC3E}">
        <p14:creationId xmlns:p14="http://schemas.microsoft.com/office/powerpoint/2010/main" val="39044031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502A8-442B-84A9-F3B7-673C58FD4F3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4CFDCDB-7143-A910-CD11-88445541A744}"/>
              </a:ext>
            </a:extLst>
          </p:cNvPr>
          <p:cNvSpPr>
            <a:spLocks noGrp="1"/>
          </p:cNvSpPr>
          <p:nvPr>
            <p:ph type="dt" sz="half" idx="10"/>
          </p:nvPr>
        </p:nvSpPr>
        <p:spPr/>
        <p:txBody>
          <a:bodyPr/>
          <a:lstStyle/>
          <a:p>
            <a:fld id="{592D3A03-947D-421D-8CAE-81073114D775}" type="datetimeFigureOut">
              <a:rPr lang="en-IN" smtClean="0"/>
              <a:t>29-07-2024</a:t>
            </a:fld>
            <a:endParaRPr lang="en-IN"/>
          </a:p>
        </p:txBody>
      </p:sp>
      <p:sp>
        <p:nvSpPr>
          <p:cNvPr id="4" name="Footer Placeholder 3">
            <a:extLst>
              <a:ext uri="{FF2B5EF4-FFF2-40B4-BE49-F238E27FC236}">
                <a16:creationId xmlns:a16="http://schemas.microsoft.com/office/drawing/2014/main" id="{D9EEEBF7-A37C-AE44-6D77-77A97538B58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B2644DE-7B9F-9DE9-A441-F6FD1C7DC5E1}"/>
              </a:ext>
            </a:extLst>
          </p:cNvPr>
          <p:cNvSpPr>
            <a:spLocks noGrp="1"/>
          </p:cNvSpPr>
          <p:nvPr>
            <p:ph type="sldNum" sz="quarter" idx="12"/>
          </p:nvPr>
        </p:nvSpPr>
        <p:spPr/>
        <p:txBody>
          <a:bodyPr/>
          <a:lstStyle/>
          <a:p>
            <a:fld id="{8A658A90-52F5-4C0C-802E-FD318AAAD2E7}" type="slidenum">
              <a:rPr lang="en-IN" smtClean="0"/>
              <a:t>‹#›</a:t>
            </a:fld>
            <a:endParaRPr lang="en-IN"/>
          </a:p>
        </p:txBody>
      </p:sp>
    </p:spTree>
    <p:extLst>
      <p:ext uri="{BB962C8B-B14F-4D97-AF65-F5344CB8AC3E}">
        <p14:creationId xmlns:p14="http://schemas.microsoft.com/office/powerpoint/2010/main" val="14552303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664356-315B-CE8E-852E-978832D81763}"/>
              </a:ext>
            </a:extLst>
          </p:cNvPr>
          <p:cNvSpPr>
            <a:spLocks noGrp="1"/>
          </p:cNvSpPr>
          <p:nvPr>
            <p:ph type="dt" sz="half" idx="10"/>
          </p:nvPr>
        </p:nvSpPr>
        <p:spPr/>
        <p:txBody>
          <a:bodyPr/>
          <a:lstStyle/>
          <a:p>
            <a:fld id="{592D3A03-947D-421D-8CAE-81073114D775}" type="datetimeFigureOut">
              <a:rPr lang="en-IN" smtClean="0"/>
              <a:t>29-07-2024</a:t>
            </a:fld>
            <a:endParaRPr lang="en-IN"/>
          </a:p>
        </p:txBody>
      </p:sp>
      <p:sp>
        <p:nvSpPr>
          <p:cNvPr id="3" name="Footer Placeholder 2">
            <a:extLst>
              <a:ext uri="{FF2B5EF4-FFF2-40B4-BE49-F238E27FC236}">
                <a16:creationId xmlns:a16="http://schemas.microsoft.com/office/drawing/2014/main" id="{D3CCAC40-A26E-473F-F71E-B08B4312593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B251235-37CB-6735-CCCD-13CFD9184F72}"/>
              </a:ext>
            </a:extLst>
          </p:cNvPr>
          <p:cNvSpPr>
            <a:spLocks noGrp="1"/>
          </p:cNvSpPr>
          <p:nvPr>
            <p:ph type="sldNum" sz="quarter" idx="12"/>
          </p:nvPr>
        </p:nvSpPr>
        <p:spPr/>
        <p:txBody>
          <a:bodyPr/>
          <a:lstStyle/>
          <a:p>
            <a:fld id="{8A658A90-52F5-4C0C-802E-FD318AAAD2E7}" type="slidenum">
              <a:rPr lang="en-IN" smtClean="0"/>
              <a:t>‹#›</a:t>
            </a:fld>
            <a:endParaRPr lang="en-IN"/>
          </a:p>
        </p:txBody>
      </p:sp>
    </p:spTree>
    <p:extLst>
      <p:ext uri="{BB962C8B-B14F-4D97-AF65-F5344CB8AC3E}">
        <p14:creationId xmlns:p14="http://schemas.microsoft.com/office/powerpoint/2010/main" val="30284096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701BB-B411-6BD0-FB38-5107F5E9E5E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583B33D-8B85-4B98-AED9-F55C1880B4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3F53F40-FA7F-1BE5-8E24-18E2FD70E3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BE5AE22-642D-F981-2285-F730F9279CC4}"/>
              </a:ext>
            </a:extLst>
          </p:cNvPr>
          <p:cNvSpPr>
            <a:spLocks noGrp="1"/>
          </p:cNvSpPr>
          <p:nvPr>
            <p:ph type="dt" sz="half" idx="10"/>
          </p:nvPr>
        </p:nvSpPr>
        <p:spPr/>
        <p:txBody>
          <a:bodyPr/>
          <a:lstStyle/>
          <a:p>
            <a:fld id="{592D3A03-947D-421D-8CAE-81073114D775}" type="datetimeFigureOut">
              <a:rPr lang="en-IN" smtClean="0"/>
              <a:t>29-07-2024</a:t>
            </a:fld>
            <a:endParaRPr lang="en-IN"/>
          </a:p>
        </p:txBody>
      </p:sp>
      <p:sp>
        <p:nvSpPr>
          <p:cNvPr id="6" name="Footer Placeholder 5">
            <a:extLst>
              <a:ext uri="{FF2B5EF4-FFF2-40B4-BE49-F238E27FC236}">
                <a16:creationId xmlns:a16="http://schemas.microsoft.com/office/drawing/2014/main" id="{7F971DF6-7780-B822-C6A2-1DFF16A601B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625EDB5-F1C3-3723-D751-C56ABA849ABA}"/>
              </a:ext>
            </a:extLst>
          </p:cNvPr>
          <p:cNvSpPr>
            <a:spLocks noGrp="1"/>
          </p:cNvSpPr>
          <p:nvPr>
            <p:ph type="sldNum" sz="quarter" idx="12"/>
          </p:nvPr>
        </p:nvSpPr>
        <p:spPr/>
        <p:txBody>
          <a:bodyPr/>
          <a:lstStyle/>
          <a:p>
            <a:fld id="{8A658A90-52F5-4C0C-802E-FD318AAAD2E7}" type="slidenum">
              <a:rPr lang="en-IN" smtClean="0"/>
              <a:t>‹#›</a:t>
            </a:fld>
            <a:endParaRPr lang="en-IN"/>
          </a:p>
        </p:txBody>
      </p:sp>
    </p:spTree>
    <p:extLst>
      <p:ext uri="{BB962C8B-B14F-4D97-AF65-F5344CB8AC3E}">
        <p14:creationId xmlns:p14="http://schemas.microsoft.com/office/powerpoint/2010/main" val="5030919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ED5480-8A51-6CCD-BB1C-272C7316EC7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0BCE352-F1B3-6CED-6358-BA9A9A5312A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D82AEDF-F2C0-123E-45FD-830E931EF5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4423440-D4B0-8FFC-6B68-2612BAAA392D}"/>
              </a:ext>
            </a:extLst>
          </p:cNvPr>
          <p:cNvSpPr>
            <a:spLocks noGrp="1"/>
          </p:cNvSpPr>
          <p:nvPr>
            <p:ph type="dt" sz="half" idx="10"/>
          </p:nvPr>
        </p:nvSpPr>
        <p:spPr/>
        <p:txBody>
          <a:bodyPr/>
          <a:lstStyle/>
          <a:p>
            <a:fld id="{592D3A03-947D-421D-8CAE-81073114D775}" type="datetimeFigureOut">
              <a:rPr lang="en-IN" smtClean="0"/>
              <a:t>29-07-2024</a:t>
            </a:fld>
            <a:endParaRPr lang="en-IN"/>
          </a:p>
        </p:txBody>
      </p:sp>
      <p:sp>
        <p:nvSpPr>
          <p:cNvPr id="6" name="Footer Placeholder 5">
            <a:extLst>
              <a:ext uri="{FF2B5EF4-FFF2-40B4-BE49-F238E27FC236}">
                <a16:creationId xmlns:a16="http://schemas.microsoft.com/office/drawing/2014/main" id="{3CADD537-9A6F-8D1E-8BF2-943189DA295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30C7953-02F1-5B72-0B2E-B5637956FCF8}"/>
              </a:ext>
            </a:extLst>
          </p:cNvPr>
          <p:cNvSpPr>
            <a:spLocks noGrp="1"/>
          </p:cNvSpPr>
          <p:nvPr>
            <p:ph type="sldNum" sz="quarter" idx="12"/>
          </p:nvPr>
        </p:nvSpPr>
        <p:spPr/>
        <p:txBody>
          <a:bodyPr/>
          <a:lstStyle/>
          <a:p>
            <a:fld id="{8A658A90-52F5-4C0C-802E-FD318AAAD2E7}" type="slidenum">
              <a:rPr lang="en-IN" smtClean="0"/>
              <a:t>‹#›</a:t>
            </a:fld>
            <a:endParaRPr lang="en-IN"/>
          </a:p>
        </p:txBody>
      </p:sp>
    </p:spTree>
    <p:extLst>
      <p:ext uri="{BB962C8B-B14F-4D97-AF65-F5344CB8AC3E}">
        <p14:creationId xmlns:p14="http://schemas.microsoft.com/office/powerpoint/2010/main" val="18653626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20394-39E5-0811-F9FC-ABCB60C59E5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0CF5F8E-7CD0-4C4C-6A99-9FCA55AE0FF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4DE7454-4977-CF2F-8838-EF56FD8033DD}"/>
              </a:ext>
            </a:extLst>
          </p:cNvPr>
          <p:cNvSpPr>
            <a:spLocks noGrp="1"/>
          </p:cNvSpPr>
          <p:nvPr>
            <p:ph type="dt" sz="half" idx="10"/>
          </p:nvPr>
        </p:nvSpPr>
        <p:spPr/>
        <p:txBody>
          <a:bodyPr/>
          <a:lstStyle/>
          <a:p>
            <a:fld id="{592D3A03-947D-421D-8CAE-81073114D775}" type="datetimeFigureOut">
              <a:rPr lang="en-IN" smtClean="0"/>
              <a:t>29-07-2024</a:t>
            </a:fld>
            <a:endParaRPr lang="en-IN"/>
          </a:p>
        </p:txBody>
      </p:sp>
      <p:sp>
        <p:nvSpPr>
          <p:cNvPr id="5" name="Footer Placeholder 4">
            <a:extLst>
              <a:ext uri="{FF2B5EF4-FFF2-40B4-BE49-F238E27FC236}">
                <a16:creationId xmlns:a16="http://schemas.microsoft.com/office/drawing/2014/main" id="{E4411D3B-691D-3256-6822-824EDEABFBC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868725E-C983-70BF-2A29-91380246278D}"/>
              </a:ext>
            </a:extLst>
          </p:cNvPr>
          <p:cNvSpPr>
            <a:spLocks noGrp="1"/>
          </p:cNvSpPr>
          <p:nvPr>
            <p:ph type="sldNum" sz="quarter" idx="12"/>
          </p:nvPr>
        </p:nvSpPr>
        <p:spPr/>
        <p:txBody>
          <a:bodyPr/>
          <a:lstStyle/>
          <a:p>
            <a:fld id="{8A658A90-52F5-4C0C-802E-FD318AAAD2E7}" type="slidenum">
              <a:rPr lang="en-IN" smtClean="0"/>
              <a:t>‹#›</a:t>
            </a:fld>
            <a:endParaRPr lang="en-IN"/>
          </a:p>
        </p:txBody>
      </p:sp>
    </p:spTree>
    <p:extLst>
      <p:ext uri="{BB962C8B-B14F-4D97-AF65-F5344CB8AC3E}">
        <p14:creationId xmlns:p14="http://schemas.microsoft.com/office/powerpoint/2010/main" val="16985961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480A709-0BE0-6AC9-5FC3-5FEECC12F3C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D8F1B6A-F9AC-6A19-2983-0528ED58F9B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2F0DB51-16DA-E2D5-C9E4-7CF2DD5E246D}"/>
              </a:ext>
            </a:extLst>
          </p:cNvPr>
          <p:cNvSpPr>
            <a:spLocks noGrp="1"/>
          </p:cNvSpPr>
          <p:nvPr>
            <p:ph type="dt" sz="half" idx="10"/>
          </p:nvPr>
        </p:nvSpPr>
        <p:spPr/>
        <p:txBody>
          <a:bodyPr/>
          <a:lstStyle/>
          <a:p>
            <a:fld id="{592D3A03-947D-421D-8CAE-81073114D775}" type="datetimeFigureOut">
              <a:rPr lang="en-IN" smtClean="0"/>
              <a:t>29-07-2024</a:t>
            </a:fld>
            <a:endParaRPr lang="en-IN"/>
          </a:p>
        </p:txBody>
      </p:sp>
      <p:sp>
        <p:nvSpPr>
          <p:cNvPr id="5" name="Footer Placeholder 4">
            <a:extLst>
              <a:ext uri="{FF2B5EF4-FFF2-40B4-BE49-F238E27FC236}">
                <a16:creationId xmlns:a16="http://schemas.microsoft.com/office/drawing/2014/main" id="{8698D3CA-49F2-64F0-B87B-0DA86F6084D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793B45F-4CD4-FB82-3CCC-990612EC9C79}"/>
              </a:ext>
            </a:extLst>
          </p:cNvPr>
          <p:cNvSpPr>
            <a:spLocks noGrp="1"/>
          </p:cNvSpPr>
          <p:nvPr>
            <p:ph type="sldNum" sz="quarter" idx="12"/>
          </p:nvPr>
        </p:nvSpPr>
        <p:spPr/>
        <p:txBody>
          <a:bodyPr/>
          <a:lstStyle/>
          <a:p>
            <a:fld id="{8A658A90-52F5-4C0C-802E-FD318AAAD2E7}" type="slidenum">
              <a:rPr lang="en-IN" smtClean="0"/>
              <a:t>‹#›</a:t>
            </a:fld>
            <a:endParaRPr lang="en-IN"/>
          </a:p>
        </p:txBody>
      </p:sp>
    </p:spTree>
    <p:extLst>
      <p:ext uri="{BB962C8B-B14F-4D97-AF65-F5344CB8AC3E}">
        <p14:creationId xmlns:p14="http://schemas.microsoft.com/office/powerpoint/2010/main" val="11260392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9F4BEC2-C1EF-7B05-AFD0-82C276A2C37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601959F-91E8-BF64-DC74-90F0306E62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CC14D33-3676-8F9D-ED5A-D7E865C887A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92D3A03-947D-421D-8CAE-81073114D775}" type="datetimeFigureOut">
              <a:rPr lang="en-IN" smtClean="0"/>
              <a:t>29-07-2024</a:t>
            </a:fld>
            <a:endParaRPr lang="en-IN"/>
          </a:p>
        </p:txBody>
      </p:sp>
      <p:sp>
        <p:nvSpPr>
          <p:cNvPr id="5" name="Footer Placeholder 4">
            <a:extLst>
              <a:ext uri="{FF2B5EF4-FFF2-40B4-BE49-F238E27FC236}">
                <a16:creationId xmlns:a16="http://schemas.microsoft.com/office/drawing/2014/main" id="{46AC7CA0-48AC-4745-2600-1E8F641C300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BAA8D8F-F4EF-FDCA-93F4-B6C3DC8CA7F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658A90-52F5-4C0C-802E-FD318AAAD2E7}" type="slidenum">
              <a:rPr lang="en-IN" smtClean="0"/>
              <a:t>‹#›</a:t>
            </a:fld>
            <a:endParaRPr lang="en-IN"/>
          </a:p>
        </p:txBody>
      </p:sp>
    </p:spTree>
    <p:extLst>
      <p:ext uri="{BB962C8B-B14F-4D97-AF65-F5344CB8AC3E}">
        <p14:creationId xmlns:p14="http://schemas.microsoft.com/office/powerpoint/2010/main" val="11587661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Content Placeholder 2">
            <a:extLst>
              <a:ext uri="{FF2B5EF4-FFF2-40B4-BE49-F238E27FC236}">
                <a16:creationId xmlns:a16="http://schemas.microsoft.com/office/drawing/2014/main" id="{2352D07D-E63B-34BA-29DD-F8C1AC0811D4}"/>
              </a:ext>
            </a:extLst>
          </p:cNvPr>
          <p:cNvSpPr>
            <a:spLocks noGrp="1"/>
          </p:cNvSpPr>
          <p:nvPr>
            <p:ph idx="1"/>
          </p:nvPr>
        </p:nvSpPr>
        <p:spPr>
          <a:xfrm>
            <a:off x="1981200" y="1981200"/>
            <a:ext cx="8229600" cy="1905000"/>
          </a:xfrm>
        </p:spPr>
        <p:txBody>
          <a:bodyPr rtlCol="0">
            <a:normAutofit/>
          </a:bodyPr>
          <a:lstStyle/>
          <a:p>
            <a:pPr algn="ctr">
              <a:buNone/>
              <a:defRPr/>
            </a:pPr>
            <a:r>
              <a:rPr lang="en-US" sz="6600" b="1" dirty="0">
                <a:solidFill>
                  <a:schemeClr val="tx1">
                    <a:lumMod val="75000"/>
                    <a:lumOff val="25000"/>
                  </a:schemeClr>
                </a:solidFill>
              </a:rPr>
              <a:t>Introduction to Economics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93D90B3C-1A72-13D2-B60A-15F205ED660E}"/>
              </a:ext>
            </a:extLst>
          </p:cNvPr>
          <p:cNvSpPr>
            <a:spLocks noGrp="1"/>
          </p:cNvSpPr>
          <p:nvPr>
            <p:ph type="title"/>
          </p:nvPr>
        </p:nvSpPr>
        <p:spPr>
          <a:xfrm>
            <a:off x="838200" y="365126"/>
            <a:ext cx="10515600" cy="765032"/>
          </a:xfrm>
        </p:spPr>
        <p:txBody>
          <a:bodyPr/>
          <a:lstStyle/>
          <a:p>
            <a:pPr eaLnBrk="1" hangingPunct="1"/>
            <a:r>
              <a:rPr lang="en-US" altLang="en-US" b="1" dirty="0"/>
              <a:t>Economics</a:t>
            </a:r>
          </a:p>
        </p:txBody>
      </p:sp>
      <p:sp>
        <p:nvSpPr>
          <p:cNvPr id="3" name="Content Placeholder 2">
            <a:extLst>
              <a:ext uri="{FF2B5EF4-FFF2-40B4-BE49-F238E27FC236}">
                <a16:creationId xmlns:a16="http://schemas.microsoft.com/office/drawing/2014/main" id="{688EFA3F-99B5-8B3C-1680-5CCF5C0E5977}"/>
              </a:ext>
            </a:extLst>
          </p:cNvPr>
          <p:cNvSpPr>
            <a:spLocks noGrp="1"/>
          </p:cNvSpPr>
          <p:nvPr>
            <p:ph idx="1"/>
          </p:nvPr>
        </p:nvSpPr>
        <p:spPr>
          <a:xfrm>
            <a:off x="750013" y="1130158"/>
            <a:ext cx="10397448" cy="5346842"/>
          </a:xfrm>
        </p:spPr>
        <p:txBody>
          <a:bodyPr rtlCol="0">
            <a:normAutofit/>
          </a:bodyPr>
          <a:lstStyle/>
          <a:p>
            <a:pPr algn="just">
              <a:lnSpc>
                <a:spcPct val="150000"/>
              </a:lnSpc>
            </a:pPr>
            <a:r>
              <a:rPr lang="en-US" sz="2400" b="0" i="0" dirty="0">
                <a:solidFill>
                  <a:srgbClr val="353C3F"/>
                </a:solidFill>
                <a:effectLst/>
                <a:highlight>
                  <a:srgbClr val="FFFFFF"/>
                </a:highlight>
                <a:cs typeface="Times New Roman" panose="02020603050405020304" pitchFamily="18" charset="0"/>
              </a:rPr>
              <a:t>It’s the study of scarcity, the study of how people use resources and respond to incentives, or the study of decision-making. </a:t>
            </a:r>
          </a:p>
          <a:p>
            <a:pPr algn="just">
              <a:lnSpc>
                <a:spcPct val="150000"/>
              </a:lnSpc>
            </a:pPr>
            <a:r>
              <a:rPr lang="en-US" sz="2400" b="0" i="0" dirty="0">
                <a:solidFill>
                  <a:srgbClr val="353C3F"/>
                </a:solidFill>
                <a:effectLst/>
                <a:highlight>
                  <a:srgbClr val="FFFFFF"/>
                </a:highlight>
                <a:cs typeface="Times New Roman" panose="02020603050405020304" pitchFamily="18" charset="0"/>
              </a:rPr>
              <a:t>It often involves topics like wealth and finance, but it’s not all about money.</a:t>
            </a:r>
          </a:p>
          <a:p>
            <a:pPr algn="just">
              <a:lnSpc>
                <a:spcPct val="150000"/>
              </a:lnSpc>
            </a:pPr>
            <a:r>
              <a:rPr lang="en-US" sz="2400" b="0" i="0" dirty="0">
                <a:solidFill>
                  <a:srgbClr val="353C3F"/>
                </a:solidFill>
                <a:effectLst/>
                <a:highlight>
                  <a:srgbClr val="FFFFFF"/>
                </a:highlight>
                <a:cs typeface="Times New Roman" panose="02020603050405020304" pitchFamily="18" charset="0"/>
              </a:rPr>
              <a:t> Economics is a broad discipline that helps us understand </a:t>
            </a:r>
            <a:r>
              <a:rPr lang="en-US" sz="2400" b="0" i="0" strike="noStrike" dirty="0">
                <a:solidFill>
                  <a:srgbClr val="924046"/>
                </a:solidFill>
                <a:effectLst/>
                <a:highlight>
                  <a:srgbClr val="FFFFFF"/>
                </a:highlight>
                <a:cs typeface="Times New Roman" panose="02020603050405020304" pitchFamily="18" charset="0"/>
              </a:rPr>
              <a:t>historical trends</a:t>
            </a:r>
            <a:r>
              <a:rPr lang="en-US" sz="2400" b="0" i="0" dirty="0">
                <a:solidFill>
                  <a:srgbClr val="353C3F"/>
                </a:solidFill>
                <a:effectLst/>
                <a:highlight>
                  <a:srgbClr val="FFFFFF"/>
                </a:highlight>
                <a:cs typeface="Times New Roman" panose="02020603050405020304" pitchFamily="18" charset="0"/>
              </a:rPr>
              <a:t>, interpret </a:t>
            </a:r>
            <a:r>
              <a:rPr lang="en-US" sz="2400" b="0" i="0" u="none" strike="noStrike" dirty="0">
                <a:solidFill>
                  <a:srgbClr val="924046"/>
                </a:solidFill>
                <a:effectLst/>
                <a:highlight>
                  <a:srgbClr val="FFFFFF"/>
                </a:highlight>
                <a:cs typeface="Times New Roman" panose="02020603050405020304" pitchFamily="18" charset="0"/>
              </a:rPr>
              <a:t>today’s headlines</a:t>
            </a:r>
            <a:r>
              <a:rPr lang="en-US" sz="2400" b="0" i="0" dirty="0">
                <a:solidFill>
                  <a:srgbClr val="353C3F"/>
                </a:solidFill>
                <a:effectLst/>
                <a:highlight>
                  <a:srgbClr val="FFFFFF"/>
                </a:highlight>
                <a:cs typeface="Times New Roman" panose="02020603050405020304" pitchFamily="18" charset="0"/>
              </a:rPr>
              <a:t>, and </a:t>
            </a:r>
            <a:r>
              <a:rPr lang="en-US" sz="2400" b="0" i="0" u="none" strike="noStrike" dirty="0">
                <a:solidFill>
                  <a:srgbClr val="924046"/>
                </a:solidFill>
                <a:effectLst/>
                <a:highlight>
                  <a:srgbClr val="FFFFFF"/>
                </a:highlight>
                <a:cs typeface="Times New Roman" panose="02020603050405020304" pitchFamily="18" charset="0"/>
              </a:rPr>
              <a:t>make predictions</a:t>
            </a:r>
            <a:r>
              <a:rPr lang="en-US" sz="2400" b="0" i="0" dirty="0">
                <a:solidFill>
                  <a:srgbClr val="353C3F"/>
                </a:solidFill>
                <a:effectLst/>
                <a:highlight>
                  <a:srgbClr val="FFFFFF"/>
                </a:highlight>
                <a:cs typeface="Times New Roman" panose="02020603050405020304" pitchFamily="18" charset="0"/>
              </a:rPr>
              <a:t> about the coming years (American Economic Association).</a:t>
            </a:r>
          </a:p>
          <a:p>
            <a:pPr>
              <a:buFont typeface="Arial" charset="0"/>
              <a:buChar char="•"/>
              <a:defRPr/>
            </a:pPr>
            <a:endParaRPr lang="en-US" dirty="0">
              <a:solidFill>
                <a:schemeClr val="tx1">
                  <a:lumMod val="75000"/>
                  <a:lumOff val="25000"/>
                </a:schemeClr>
              </a:solidFill>
            </a:endParaRPr>
          </a:p>
          <a:p>
            <a:pPr>
              <a:buFont typeface="Arial" charset="0"/>
              <a:buChar char="•"/>
              <a:defRPr/>
            </a:pPr>
            <a:endParaRPr lang="en-US" dirty="0">
              <a:solidFill>
                <a:schemeClr val="tx1">
                  <a:lumMod val="75000"/>
                  <a:lumOff val="25000"/>
                </a:schemeClr>
              </a:solidFill>
            </a:endParaRPr>
          </a:p>
          <a:p>
            <a:pPr marL="457200" lvl="1" indent="0">
              <a:buNone/>
              <a:defRPr/>
            </a:pPr>
            <a:endParaRPr lang="en-US" dirty="0">
              <a:solidFill>
                <a:schemeClr val="tx1">
                  <a:lumMod val="75000"/>
                  <a:lumOff val="25000"/>
                </a:schemeClr>
              </a:solidFill>
            </a:endParaRPr>
          </a:p>
          <a:p>
            <a:pPr lvl="1">
              <a:buNone/>
              <a:defRPr/>
            </a:pPr>
            <a:endParaRPr lang="en-US" dirty="0">
              <a:solidFill>
                <a:schemeClr val="tx1">
                  <a:lumMod val="75000"/>
                  <a:lumOff val="25000"/>
                </a:schemeClr>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36F55C1F-3F5D-3D5C-863A-2D81FB0ABA2A}"/>
              </a:ext>
            </a:extLst>
          </p:cNvPr>
          <p:cNvPicPr>
            <a:picLocks noGrp="1" noChangeAspect="1"/>
          </p:cNvPicPr>
          <p:nvPr/>
        </p:nvPicPr>
        <p:blipFill>
          <a:blip r:embed="rId2"/>
          <a:stretch>
            <a:fillRect/>
          </a:stretch>
        </p:blipFill>
        <p:spPr>
          <a:xfrm>
            <a:off x="838201" y="1130158"/>
            <a:ext cx="9970212" cy="5419299"/>
          </a:xfrm>
          <a:prstGeom prst="rect">
            <a:avLst/>
          </a:prstGeom>
          <a:noFill/>
          <a:ln w="9525">
            <a:noFill/>
          </a:ln>
        </p:spPr>
      </p:pic>
      <p:sp>
        <p:nvSpPr>
          <p:cNvPr id="5" name="Title 4">
            <a:extLst>
              <a:ext uri="{FF2B5EF4-FFF2-40B4-BE49-F238E27FC236}">
                <a16:creationId xmlns:a16="http://schemas.microsoft.com/office/drawing/2014/main" id="{48DCE80E-F6B4-E49B-A806-DAF69EB9B436}"/>
              </a:ext>
            </a:extLst>
          </p:cNvPr>
          <p:cNvSpPr>
            <a:spLocks noGrp="1"/>
          </p:cNvSpPr>
          <p:nvPr>
            <p:ph type="title"/>
          </p:nvPr>
        </p:nvSpPr>
        <p:spPr>
          <a:xfrm>
            <a:off x="267128" y="365126"/>
            <a:ext cx="11086672" cy="765032"/>
          </a:xfrm>
        </p:spPr>
        <p:txBody>
          <a:bodyPr>
            <a:normAutofit/>
          </a:bodyPr>
          <a:lstStyle/>
          <a:p>
            <a:r>
              <a:rPr lang="en-IN" sz="3600" b="1" dirty="0">
                <a:latin typeface="Times New Roman" panose="02020603050405020304" pitchFamily="18" charset="0"/>
                <a:cs typeface="Times New Roman" panose="02020603050405020304" pitchFamily="18" charset="0"/>
              </a:rPr>
              <a:t>Basic Economic Problem</a:t>
            </a:r>
          </a:p>
        </p:txBody>
      </p:sp>
      <p:sp>
        <p:nvSpPr>
          <p:cNvPr id="6" name="Content Placeholder 5">
            <a:extLst>
              <a:ext uri="{FF2B5EF4-FFF2-40B4-BE49-F238E27FC236}">
                <a16:creationId xmlns:a16="http://schemas.microsoft.com/office/drawing/2014/main" id="{8007259D-A213-99C2-C6DD-BAD371654A54}"/>
              </a:ext>
            </a:extLst>
          </p:cNvPr>
          <p:cNvSpPr>
            <a:spLocks noGrp="1"/>
          </p:cNvSpPr>
          <p:nvPr>
            <p:ph idx="1"/>
          </p:nvPr>
        </p:nvSpPr>
        <p:spPr>
          <a:xfrm>
            <a:off x="838200" y="1027416"/>
            <a:ext cx="10515600" cy="5149547"/>
          </a:xfrm>
        </p:spPr>
        <p:txBody>
          <a:bodyPr/>
          <a:lstStyle/>
          <a:p>
            <a:r>
              <a:rPr lang="en-IN" dirty="0"/>
              <a:t>.</a:t>
            </a:r>
          </a:p>
        </p:txBody>
      </p:sp>
    </p:spTree>
    <p:extLst>
      <p:ext uri="{BB962C8B-B14F-4D97-AF65-F5344CB8AC3E}">
        <p14:creationId xmlns:p14="http://schemas.microsoft.com/office/powerpoint/2010/main" val="5693369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E873C096-BAC5-3A9A-F2FE-CA3B2ACA68A0}"/>
              </a:ext>
            </a:extLst>
          </p:cNvPr>
          <p:cNvSpPr>
            <a:spLocks noGrp="1"/>
          </p:cNvSpPr>
          <p:nvPr>
            <p:ph type="title" idx="4294967295"/>
          </p:nvPr>
        </p:nvSpPr>
        <p:spPr>
          <a:xfrm>
            <a:off x="0" y="381000"/>
            <a:ext cx="6629400" cy="577850"/>
          </a:xfrm>
        </p:spPr>
        <p:txBody>
          <a:bodyPr/>
          <a:lstStyle/>
          <a:p>
            <a:pPr algn="r" eaLnBrk="1" hangingPunct="1"/>
            <a:endParaRPr lang="en-US" altLang="en-US" sz="2400" dirty="0"/>
          </a:p>
        </p:txBody>
      </p:sp>
      <p:sp>
        <p:nvSpPr>
          <p:cNvPr id="17411" name="Content Placeholder 2">
            <a:extLst>
              <a:ext uri="{FF2B5EF4-FFF2-40B4-BE49-F238E27FC236}">
                <a16:creationId xmlns:a16="http://schemas.microsoft.com/office/drawing/2014/main" id="{AFD3EE3F-0399-C465-2CE9-87D360E899B6}"/>
              </a:ext>
            </a:extLst>
          </p:cNvPr>
          <p:cNvSpPr>
            <a:spLocks noGrp="1"/>
          </p:cNvSpPr>
          <p:nvPr>
            <p:ph idx="4294967295"/>
          </p:nvPr>
        </p:nvSpPr>
        <p:spPr>
          <a:xfrm>
            <a:off x="1682393" y="1207214"/>
            <a:ext cx="9894013" cy="5105400"/>
          </a:xfrm>
        </p:spPr>
        <p:txBody>
          <a:bodyPr/>
          <a:lstStyle/>
          <a:p>
            <a:pPr eaLnBrk="1" hangingPunct="1"/>
            <a:r>
              <a:rPr lang="en-US" altLang="en-US" dirty="0"/>
              <a:t>Traditional view of Economics:</a:t>
            </a:r>
          </a:p>
          <a:p>
            <a:pPr lvl="1" eaLnBrk="1" hangingPunct="1"/>
            <a:r>
              <a:rPr lang="en-US" altLang="en-US" dirty="0"/>
              <a:t>Consumption</a:t>
            </a:r>
          </a:p>
          <a:p>
            <a:pPr lvl="1" eaLnBrk="1" hangingPunct="1"/>
            <a:r>
              <a:rPr lang="en-US" altLang="en-US" dirty="0"/>
              <a:t>Production</a:t>
            </a:r>
          </a:p>
          <a:p>
            <a:pPr lvl="1" eaLnBrk="1" hangingPunct="1"/>
            <a:r>
              <a:rPr lang="en-US" altLang="en-US" dirty="0"/>
              <a:t>Exchange</a:t>
            </a:r>
          </a:p>
          <a:p>
            <a:pPr lvl="1" eaLnBrk="1" hangingPunct="1"/>
            <a:r>
              <a:rPr lang="en-US" altLang="en-US" dirty="0"/>
              <a:t>Distribution</a:t>
            </a:r>
          </a:p>
          <a:p>
            <a:pPr lvl="1" eaLnBrk="1" hangingPunct="1">
              <a:buFont typeface="Arial" panose="020B0604020202020204" pitchFamily="34" charset="0"/>
              <a:buNone/>
            </a:pPr>
            <a:endParaRPr lang="en-US"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21EFC173-0C42-6781-6CDD-A87BB3DD6110}"/>
              </a:ext>
            </a:extLst>
          </p:cNvPr>
          <p:cNvSpPr>
            <a:spLocks noGrp="1"/>
          </p:cNvSpPr>
          <p:nvPr>
            <p:ph type="title"/>
          </p:nvPr>
        </p:nvSpPr>
        <p:spPr/>
        <p:txBody>
          <a:bodyPr/>
          <a:lstStyle/>
          <a:p>
            <a:pPr algn="r" eaLnBrk="1" hangingPunct="1"/>
            <a:r>
              <a:rPr lang="en-US" altLang="en-US" sz="2400"/>
              <a:t>Cont…</a:t>
            </a:r>
          </a:p>
        </p:txBody>
      </p:sp>
      <p:sp>
        <p:nvSpPr>
          <p:cNvPr id="18435" name="Content Placeholder 2">
            <a:extLst>
              <a:ext uri="{FF2B5EF4-FFF2-40B4-BE49-F238E27FC236}">
                <a16:creationId xmlns:a16="http://schemas.microsoft.com/office/drawing/2014/main" id="{F33D201F-C0B8-863A-F838-4305745CC5BA}"/>
              </a:ext>
            </a:extLst>
          </p:cNvPr>
          <p:cNvSpPr>
            <a:spLocks noGrp="1"/>
          </p:cNvSpPr>
          <p:nvPr>
            <p:ph idx="1"/>
          </p:nvPr>
        </p:nvSpPr>
        <p:spPr>
          <a:xfrm>
            <a:off x="1828800" y="1295400"/>
            <a:ext cx="8534400" cy="5029200"/>
          </a:xfrm>
        </p:spPr>
        <p:txBody>
          <a:bodyPr/>
          <a:lstStyle/>
          <a:p>
            <a:pPr eaLnBrk="1" hangingPunct="1"/>
            <a:r>
              <a:rPr lang="en-US" altLang="en-US" dirty="0"/>
              <a:t>Modern view of Economics:</a:t>
            </a:r>
          </a:p>
          <a:p>
            <a:pPr lvl="1" eaLnBrk="1" hangingPunct="1"/>
            <a:r>
              <a:rPr lang="en-US" altLang="en-US" dirty="0"/>
              <a:t>Price theory</a:t>
            </a:r>
          </a:p>
          <a:p>
            <a:pPr lvl="1" eaLnBrk="1" hangingPunct="1"/>
            <a:r>
              <a:rPr lang="en-US" altLang="en-US" dirty="0"/>
              <a:t>Income theory          Microeconomics (related to 						determination of price= f (D,S))</a:t>
            </a:r>
          </a:p>
          <a:p>
            <a:pPr lvl="1" eaLnBrk="1" hangingPunct="1"/>
            <a:endParaRPr lang="en-US" altLang="en-US" dirty="0"/>
          </a:p>
          <a:p>
            <a:pPr lvl="1" eaLnBrk="1" hangingPunct="1"/>
            <a:r>
              <a:rPr lang="en-US" altLang="en-US" dirty="0"/>
              <a:t>Growth theory</a:t>
            </a:r>
          </a:p>
          <a:p>
            <a:pPr lvl="1" eaLnBrk="1" hangingPunct="1"/>
            <a:r>
              <a:rPr lang="en-US" altLang="en-US" dirty="0"/>
              <a:t>Employment theory		Macroeconomics 							(Ecosystem as a whole)</a:t>
            </a:r>
          </a:p>
          <a:p>
            <a:pPr lvl="1" eaLnBrk="1" hangingPunct="1">
              <a:buFont typeface="Arial" panose="020B0604020202020204" pitchFamily="34" charset="0"/>
              <a:buNone/>
            </a:pPr>
            <a:endParaRPr lang="en-US" altLang="en-US" dirty="0"/>
          </a:p>
        </p:txBody>
      </p:sp>
      <p:sp>
        <p:nvSpPr>
          <p:cNvPr id="4" name="Right Brace 3">
            <a:extLst>
              <a:ext uri="{FF2B5EF4-FFF2-40B4-BE49-F238E27FC236}">
                <a16:creationId xmlns:a16="http://schemas.microsoft.com/office/drawing/2014/main" id="{D4A5C177-5EC6-0F89-095A-511D48D669F6}"/>
              </a:ext>
            </a:extLst>
          </p:cNvPr>
          <p:cNvSpPr/>
          <p:nvPr/>
        </p:nvSpPr>
        <p:spPr>
          <a:xfrm>
            <a:off x="4235450" y="1676400"/>
            <a:ext cx="457200" cy="762000"/>
          </a:xfrm>
          <a:prstGeom prst="rightBrace">
            <a:avLst/>
          </a:prstGeom>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US"/>
          </a:p>
        </p:txBody>
      </p:sp>
      <p:sp>
        <p:nvSpPr>
          <p:cNvPr id="5" name="Right Brace 4">
            <a:extLst>
              <a:ext uri="{FF2B5EF4-FFF2-40B4-BE49-F238E27FC236}">
                <a16:creationId xmlns:a16="http://schemas.microsoft.com/office/drawing/2014/main" id="{DAFA0735-0EFB-F7FB-042D-56C80C6A34CF}"/>
              </a:ext>
            </a:extLst>
          </p:cNvPr>
          <p:cNvSpPr/>
          <p:nvPr/>
        </p:nvSpPr>
        <p:spPr>
          <a:xfrm>
            <a:off x="4724400" y="3390900"/>
            <a:ext cx="381000" cy="533400"/>
          </a:xfrm>
          <a:prstGeom prst="rightBrace">
            <a:avLst/>
          </a:prstGeom>
        </p:spPr>
        <p:style>
          <a:lnRef idx="1">
            <a:schemeClr val="accent1"/>
          </a:lnRef>
          <a:fillRef idx="0">
            <a:schemeClr val="accent1"/>
          </a:fillRef>
          <a:effectRef idx="0">
            <a:schemeClr val="accent1"/>
          </a:effectRef>
          <a:fontRef idx="minor">
            <a:schemeClr val="tx1"/>
          </a:fontRef>
        </p:style>
        <p:txBody>
          <a:bodyPr anchor="ctr"/>
          <a:lstStyle/>
          <a:p>
            <a:pPr algn="ctr" eaLnBrk="1" hangingPunct="1">
              <a:defRPr/>
            </a:pP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Market Mechanism</a:t>
            </a:r>
          </a:p>
        </p:txBody>
      </p:sp>
      <p:sp>
        <p:nvSpPr>
          <p:cNvPr id="3" name="Content Placeholder 2"/>
          <p:cNvSpPr>
            <a:spLocks noGrp="1"/>
          </p:cNvSpPr>
          <p:nvPr>
            <p:ph idx="1"/>
          </p:nvPr>
        </p:nvSpPr>
        <p:spPr/>
        <p:txBody>
          <a:bodyPr>
            <a:normAutofit/>
          </a:bodyPr>
          <a:lstStyle/>
          <a:p>
            <a:pPr algn="just">
              <a:lnSpc>
                <a:spcPct val="100000"/>
              </a:lnSpc>
              <a:buNone/>
            </a:pPr>
            <a:r>
              <a:rPr lang="en-US" dirty="0"/>
              <a:t>Fundamental laws of market:</a:t>
            </a:r>
          </a:p>
          <a:p>
            <a:pPr algn="just">
              <a:lnSpc>
                <a:spcPct val="100000"/>
              </a:lnSpc>
              <a:buNone/>
            </a:pPr>
            <a:r>
              <a:rPr lang="en-US" dirty="0"/>
              <a:t>	Law of Demand</a:t>
            </a:r>
          </a:p>
          <a:p>
            <a:pPr algn="just">
              <a:lnSpc>
                <a:spcPct val="100000"/>
              </a:lnSpc>
              <a:buNone/>
            </a:pPr>
            <a:r>
              <a:rPr lang="en-US" dirty="0"/>
              <a:t>	Law of Supply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F012C0C0-3BC3-91CD-7B4C-42994D885C18}"/>
              </a:ext>
            </a:extLst>
          </p:cNvPr>
          <p:cNvSpPr>
            <a:spLocks noGrp="1"/>
          </p:cNvSpPr>
          <p:nvPr>
            <p:ph type="ctrTitle"/>
          </p:nvPr>
        </p:nvSpPr>
        <p:spPr/>
        <p:txBody>
          <a:bodyPr/>
          <a:lstStyle/>
          <a:p>
            <a:pPr eaLnBrk="1" hangingPunct="1"/>
            <a:r>
              <a:rPr lang="en-US" altLang="en-US" sz="7200" b="1" dirty="0"/>
              <a:t>Demand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A5895E89-D4DC-92CB-ABF2-3526446698A1}"/>
              </a:ext>
            </a:extLst>
          </p:cNvPr>
          <p:cNvSpPr>
            <a:spLocks noGrp="1"/>
          </p:cNvSpPr>
          <p:nvPr>
            <p:ph type="title"/>
          </p:nvPr>
        </p:nvSpPr>
        <p:spPr>
          <a:xfrm>
            <a:off x="1137007" y="381000"/>
            <a:ext cx="8845193" cy="685800"/>
          </a:xfrm>
        </p:spPr>
        <p:txBody>
          <a:bodyPr>
            <a:normAutofit fontScale="90000"/>
          </a:bodyPr>
          <a:lstStyle/>
          <a:p>
            <a:pPr eaLnBrk="1" hangingPunct="1"/>
            <a:r>
              <a:rPr lang="en-US" altLang="en-US" b="1" dirty="0"/>
              <a:t>Demand</a:t>
            </a:r>
            <a:r>
              <a:rPr lang="en-US" altLang="en-US" dirty="0"/>
              <a:t> </a:t>
            </a:r>
          </a:p>
        </p:txBody>
      </p:sp>
      <p:sp>
        <p:nvSpPr>
          <p:cNvPr id="3" name="Content Placeholder 2">
            <a:extLst>
              <a:ext uri="{FF2B5EF4-FFF2-40B4-BE49-F238E27FC236}">
                <a16:creationId xmlns:a16="http://schemas.microsoft.com/office/drawing/2014/main" id="{7465C746-4170-B5D8-EA99-CB74BC4B70E8}"/>
              </a:ext>
            </a:extLst>
          </p:cNvPr>
          <p:cNvSpPr>
            <a:spLocks noGrp="1"/>
          </p:cNvSpPr>
          <p:nvPr>
            <p:ph idx="1"/>
          </p:nvPr>
        </p:nvSpPr>
        <p:spPr>
          <a:xfrm>
            <a:off x="698643" y="1417834"/>
            <a:ext cx="10109770" cy="4592548"/>
          </a:xfrm>
        </p:spPr>
        <p:txBody>
          <a:bodyPr rtlCol="0">
            <a:normAutofit lnSpcReduction="10000"/>
          </a:bodyPr>
          <a:lstStyle/>
          <a:p>
            <a:pPr marL="466725" lvl="1" indent="7938" algn="just">
              <a:spcAft>
                <a:spcPct val="100000"/>
              </a:spcAft>
              <a:buNone/>
              <a:defRPr/>
            </a:pPr>
            <a:r>
              <a:rPr lang="en-US" sz="2800" dirty="0"/>
              <a:t>The willingness and ability of buyers to purchase a good or service.</a:t>
            </a:r>
          </a:p>
          <a:p>
            <a:pPr marL="466725" lvl="1" indent="7938" algn="just">
              <a:spcAft>
                <a:spcPct val="100000"/>
              </a:spcAft>
              <a:buNone/>
              <a:defRPr/>
            </a:pPr>
            <a:r>
              <a:rPr lang="en-US" sz="2800" dirty="0"/>
              <a:t>Demand for a particular product or service represents how much people are willing to purchase at various prices. </a:t>
            </a:r>
          </a:p>
          <a:p>
            <a:pPr marL="466725" lvl="1" indent="7938" algn="just">
              <a:spcAft>
                <a:spcPct val="100000"/>
              </a:spcAft>
              <a:buNone/>
              <a:defRPr/>
            </a:pPr>
            <a:r>
              <a:rPr lang="en-US" sz="2800" dirty="0"/>
              <a:t>Thus, demand is a relationship between price and quantity, with all other factors remaining constant.</a:t>
            </a:r>
          </a:p>
          <a:p>
            <a:pPr marL="466725" lvl="1" indent="7938" algn="just">
              <a:spcAft>
                <a:spcPct val="100000"/>
              </a:spcAft>
              <a:buNone/>
              <a:defRPr/>
            </a:pPr>
            <a:r>
              <a:rPr lang="en-US" sz="2800" dirty="0"/>
              <a:t> </a:t>
            </a:r>
          </a:p>
          <a:p>
            <a:pPr marL="466725" lvl="1" indent="7938">
              <a:spcAft>
                <a:spcPct val="100000"/>
              </a:spcAft>
              <a:buNone/>
              <a:defRPr/>
            </a:pPr>
            <a:endParaRPr lang="en-US" sz="3200" dirty="0">
              <a:solidFill>
                <a:schemeClr val="tx1">
                  <a:lumMod val="75000"/>
                  <a:lumOff val="25000"/>
                </a:schemeClr>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0AB15456-33B8-0C2D-B4AE-F1B2D2BFC6D3}"/>
              </a:ext>
            </a:extLst>
          </p:cNvPr>
          <p:cNvSpPr>
            <a:spLocks noGrp="1"/>
          </p:cNvSpPr>
          <p:nvPr>
            <p:ph type="title"/>
          </p:nvPr>
        </p:nvSpPr>
        <p:spPr/>
        <p:txBody>
          <a:bodyPr/>
          <a:lstStyle/>
          <a:p>
            <a:pPr eaLnBrk="1" hangingPunct="1"/>
            <a:r>
              <a:rPr lang="en-US" altLang="en-US" b="1" dirty="0"/>
              <a:t>Law of demand</a:t>
            </a:r>
            <a:endParaRPr lang="en-US" altLang="en-US" dirty="0"/>
          </a:p>
        </p:txBody>
      </p:sp>
      <p:sp>
        <p:nvSpPr>
          <p:cNvPr id="22531" name="Content Placeholder 2">
            <a:extLst>
              <a:ext uri="{FF2B5EF4-FFF2-40B4-BE49-F238E27FC236}">
                <a16:creationId xmlns:a16="http://schemas.microsoft.com/office/drawing/2014/main" id="{6662D8F8-8E3A-EC5A-1866-756CCDC8A822}"/>
              </a:ext>
            </a:extLst>
          </p:cNvPr>
          <p:cNvSpPr>
            <a:spLocks noGrp="1"/>
          </p:cNvSpPr>
          <p:nvPr>
            <p:ph sz="half" idx="1"/>
          </p:nvPr>
        </p:nvSpPr>
        <p:spPr>
          <a:xfrm>
            <a:off x="318499" y="1376736"/>
            <a:ext cx="6462445" cy="5301465"/>
          </a:xfrm>
        </p:spPr>
        <p:txBody>
          <a:bodyPr>
            <a:normAutofit/>
          </a:bodyPr>
          <a:lstStyle/>
          <a:p>
            <a:pPr algn="just" eaLnBrk="1" hangingPunct="1">
              <a:lnSpc>
                <a:spcPct val="150000"/>
              </a:lnSpc>
              <a:spcBef>
                <a:spcPct val="50000"/>
              </a:spcBef>
            </a:pPr>
            <a:r>
              <a:rPr lang="en-US" altLang="en-US" sz="2400" dirty="0"/>
              <a:t>Generally the relationship between price and quantity is negative. This means that the higher is the price level the lower will be the quantity demanded and, conversely, the lower the price the higher will be the quantity demanded, all other factors remaining same.</a:t>
            </a:r>
          </a:p>
          <a:p>
            <a:pPr algn="just" eaLnBrk="1" hangingPunct="1">
              <a:lnSpc>
                <a:spcPct val="150000"/>
              </a:lnSpc>
              <a:spcBef>
                <a:spcPct val="50000"/>
              </a:spcBef>
            </a:pPr>
            <a:r>
              <a:rPr lang="en-US" altLang="en-US" sz="2400" dirty="0"/>
              <a:t>Demand is represented graphically as a downward sloping curve with price on the vertical axis and quantity on the horizontal axis.</a:t>
            </a:r>
          </a:p>
          <a:p>
            <a:pPr algn="just" eaLnBrk="1" hangingPunct="1">
              <a:spcBef>
                <a:spcPct val="50000"/>
              </a:spcBef>
            </a:pPr>
            <a:endParaRPr lang="en-US" altLang="en-US" dirty="0">
              <a:solidFill>
                <a:schemeClr val="tx2"/>
              </a:solidFill>
              <a:latin typeface="Verdana" panose="020B0604030504040204" pitchFamily="34" charset="0"/>
            </a:endParaRPr>
          </a:p>
          <a:p>
            <a:pPr algn="just" eaLnBrk="1" hangingPunct="1">
              <a:spcBef>
                <a:spcPct val="50000"/>
              </a:spcBef>
            </a:pPr>
            <a:endParaRPr lang="en-US" altLang="en-US" dirty="0">
              <a:solidFill>
                <a:schemeClr val="tx2"/>
              </a:solidFill>
            </a:endParaRPr>
          </a:p>
          <a:p>
            <a:pPr algn="just" eaLnBrk="1" hangingPunct="1"/>
            <a:endParaRPr lang="en-US" altLang="en-US" dirty="0">
              <a:solidFill>
                <a:schemeClr val="tx2"/>
              </a:solidFill>
            </a:endParaRPr>
          </a:p>
        </p:txBody>
      </p:sp>
      <p:pic>
        <p:nvPicPr>
          <p:cNvPr id="4" name="Content Placeholder 3">
            <a:extLst>
              <a:ext uri="{FF2B5EF4-FFF2-40B4-BE49-F238E27FC236}">
                <a16:creationId xmlns:a16="http://schemas.microsoft.com/office/drawing/2014/main" id="{A3EAC10B-8ED5-22B0-3631-3EB0E7E9EA4E}"/>
              </a:ext>
            </a:extLst>
          </p:cNvPr>
          <p:cNvPicPr>
            <a:picLocks noGrp="1" noChangeAspect="1"/>
          </p:cNvPicPr>
          <p:nvPr>
            <p:ph sz="half" idx="2"/>
          </p:nvPr>
        </p:nvPicPr>
        <p:blipFill rotWithShape="1">
          <a:blip r:embed="rId2"/>
          <a:srcRect l="14734"/>
          <a:stretch/>
        </p:blipFill>
        <p:spPr>
          <a:xfrm>
            <a:off x="7300645" y="1690688"/>
            <a:ext cx="4572267" cy="4134759"/>
          </a:xfr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id="{D75988D6-5C1D-5914-AC46-07C4EDC42DEB}"/>
              </a:ext>
            </a:extLst>
          </p:cNvPr>
          <p:cNvSpPr>
            <a:spLocks noGrp="1"/>
          </p:cNvSpPr>
          <p:nvPr>
            <p:ph type="title"/>
          </p:nvPr>
        </p:nvSpPr>
        <p:spPr>
          <a:xfrm>
            <a:off x="1212351" y="274638"/>
            <a:ext cx="8998449" cy="792162"/>
          </a:xfrm>
        </p:spPr>
        <p:txBody>
          <a:bodyPr/>
          <a:lstStyle/>
          <a:p>
            <a:r>
              <a:rPr lang="en-US" altLang="en-US" b="1" dirty="0"/>
              <a:t>Demand Function</a:t>
            </a:r>
          </a:p>
        </p:txBody>
      </p:sp>
      <p:sp>
        <p:nvSpPr>
          <p:cNvPr id="24579" name="Content Placeholder 2">
            <a:extLst>
              <a:ext uri="{FF2B5EF4-FFF2-40B4-BE49-F238E27FC236}">
                <a16:creationId xmlns:a16="http://schemas.microsoft.com/office/drawing/2014/main" id="{D8BB6008-4791-3406-EB6B-29DBFD1649EB}"/>
              </a:ext>
            </a:extLst>
          </p:cNvPr>
          <p:cNvSpPr>
            <a:spLocks noGrp="1"/>
          </p:cNvSpPr>
          <p:nvPr>
            <p:ph idx="1"/>
          </p:nvPr>
        </p:nvSpPr>
        <p:spPr>
          <a:xfrm>
            <a:off x="1366463" y="1143001"/>
            <a:ext cx="9575515" cy="4983163"/>
          </a:xfrm>
        </p:spPr>
        <p:txBody>
          <a:bodyPr/>
          <a:lstStyle/>
          <a:p>
            <a:pPr>
              <a:buFont typeface="Wingdings 3" panose="05040102010807070707" pitchFamily="18" charset="2"/>
              <a:buNone/>
            </a:pPr>
            <a:r>
              <a:rPr lang="en-US" altLang="en-US" dirty="0"/>
              <a:t>	Demand function shows relation between P &amp; </a:t>
            </a:r>
            <a:r>
              <a:rPr lang="en-US" altLang="en-US" dirty="0" err="1"/>
              <a:t>Qd</a:t>
            </a:r>
            <a:r>
              <a:rPr lang="en-US" altLang="en-US" dirty="0"/>
              <a:t> when all other variables are held constant </a:t>
            </a:r>
          </a:p>
          <a:p>
            <a:pPr>
              <a:buFont typeface="Wingdings 3" panose="05040102010807070707" pitchFamily="18" charset="2"/>
              <a:buNone/>
            </a:pPr>
            <a:endParaRPr lang="en-US" altLang="en-US" dirty="0"/>
          </a:p>
        </p:txBody>
      </p:sp>
      <p:sp>
        <p:nvSpPr>
          <p:cNvPr id="24580" name="Rectangle 2">
            <a:extLst>
              <a:ext uri="{FF2B5EF4-FFF2-40B4-BE49-F238E27FC236}">
                <a16:creationId xmlns:a16="http://schemas.microsoft.com/office/drawing/2014/main" id="{9517F902-5667-DC28-470D-290AA6A364D2}"/>
              </a:ext>
            </a:extLst>
          </p:cNvPr>
          <p:cNvSpPr>
            <a:spLocks noChangeArrowheads="1"/>
          </p:cNvSpPr>
          <p:nvPr/>
        </p:nvSpPr>
        <p:spPr bwMode="auto">
          <a:xfrm>
            <a:off x="1524001" y="439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altLang="en-US"/>
          </a:p>
        </p:txBody>
      </p:sp>
      <p:sp>
        <p:nvSpPr>
          <p:cNvPr id="24581" name="Rectangle 3">
            <a:extLst>
              <a:ext uri="{FF2B5EF4-FFF2-40B4-BE49-F238E27FC236}">
                <a16:creationId xmlns:a16="http://schemas.microsoft.com/office/drawing/2014/main" id="{1C741066-18F9-D52E-9FCF-7E2F6D2176CD}"/>
              </a:ext>
            </a:extLst>
          </p:cNvPr>
          <p:cNvSpPr>
            <a:spLocks noChangeArrowheads="1"/>
          </p:cNvSpPr>
          <p:nvPr/>
        </p:nvSpPr>
        <p:spPr bwMode="auto">
          <a:xfrm>
            <a:off x="1524001" y="71068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cs typeface="Arial" panose="020B0604020202020204" pitchFamily="34" charset="0"/>
            </a:endParaRPr>
          </a:p>
        </p:txBody>
      </p:sp>
      <p:sp>
        <p:nvSpPr>
          <p:cNvPr id="24582" name="Rectangle 5">
            <a:extLst>
              <a:ext uri="{FF2B5EF4-FFF2-40B4-BE49-F238E27FC236}">
                <a16:creationId xmlns:a16="http://schemas.microsoft.com/office/drawing/2014/main" id="{E6149733-9838-2894-F2A2-DA9A2C497149}"/>
              </a:ext>
            </a:extLst>
          </p:cNvPr>
          <p:cNvSpPr>
            <a:spLocks noChangeArrowheads="1"/>
          </p:cNvSpPr>
          <p:nvPr/>
        </p:nvSpPr>
        <p:spPr bwMode="auto">
          <a:xfrm>
            <a:off x="1524001" y="4393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altLang="en-US"/>
          </a:p>
        </p:txBody>
      </p:sp>
      <p:pic>
        <p:nvPicPr>
          <p:cNvPr id="24583" name="Picture 4">
            <a:extLst>
              <a:ext uri="{FF2B5EF4-FFF2-40B4-BE49-F238E27FC236}">
                <a16:creationId xmlns:a16="http://schemas.microsoft.com/office/drawing/2014/main" id="{A5FAA50F-94AE-FED1-5ED3-4DE560FF4AFE}"/>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390472" y="2574517"/>
            <a:ext cx="3200400" cy="67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4" name="Rectangle 6">
            <a:extLst>
              <a:ext uri="{FF2B5EF4-FFF2-40B4-BE49-F238E27FC236}">
                <a16:creationId xmlns:a16="http://schemas.microsoft.com/office/drawing/2014/main" id="{B49B462F-5D40-C8DD-287B-E5692C342E50}"/>
              </a:ext>
            </a:extLst>
          </p:cNvPr>
          <p:cNvSpPr>
            <a:spLocks noChangeArrowheads="1"/>
          </p:cNvSpPr>
          <p:nvPr/>
        </p:nvSpPr>
        <p:spPr bwMode="auto">
          <a:xfrm>
            <a:off x="1524001" y="710684"/>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cs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a:extLst>
              <a:ext uri="{FF2B5EF4-FFF2-40B4-BE49-F238E27FC236}">
                <a16:creationId xmlns:a16="http://schemas.microsoft.com/office/drawing/2014/main" id="{96A1C9E8-41BA-DF90-C9E0-85DADC53E526}"/>
              </a:ext>
            </a:extLst>
          </p:cNvPr>
          <p:cNvSpPr>
            <a:spLocks noGrp="1"/>
          </p:cNvSpPr>
          <p:nvPr>
            <p:ph type="title"/>
          </p:nvPr>
        </p:nvSpPr>
        <p:spPr/>
        <p:txBody>
          <a:bodyPr/>
          <a:lstStyle/>
          <a:p>
            <a:pPr eaLnBrk="1" hangingPunct="1"/>
            <a:r>
              <a:rPr lang="en-US" altLang="en-US" b="1"/>
              <a:t>Demand Schedule</a:t>
            </a:r>
          </a:p>
        </p:txBody>
      </p:sp>
      <p:graphicFrame>
        <p:nvGraphicFramePr>
          <p:cNvPr id="25603" name="Object 2">
            <a:extLst>
              <a:ext uri="{FF2B5EF4-FFF2-40B4-BE49-F238E27FC236}">
                <a16:creationId xmlns:a16="http://schemas.microsoft.com/office/drawing/2014/main" id="{2C3398C2-03D5-3F61-5156-BE8CE6F79759}"/>
              </a:ext>
            </a:extLst>
          </p:cNvPr>
          <p:cNvGraphicFramePr>
            <a:graphicFrameLocks noGrp="1" noChangeAspect="1"/>
          </p:cNvGraphicFramePr>
          <p:nvPr>
            <p:ph idx="1"/>
            <p:extLst>
              <p:ext uri="{D42A27DB-BD31-4B8C-83A1-F6EECF244321}">
                <p14:modId xmlns:p14="http://schemas.microsoft.com/office/powerpoint/2010/main" val="2533977085"/>
              </p:ext>
            </p:extLst>
          </p:nvPr>
        </p:nvGraphicFramePr>
        <p:xfrm>
          <a:off x="2520950" y="2251075"/>
          <a:ext cx="7526338" cy="2354263"/>
        </p:xfrm>
        <a:graphic>
          <a:graphicData uri="http://schemas.openxmlformats.org/presentationml/2006/ole">
            <mc:AlternateContent xmlns:mc="http://schemas.openxmlformats.org/markup-compatibility/2006">
              <mc:Choice xmlns:v="urn:schemas-microsoft-com:vml" Requires="v">
                <p:oleObj name="Worksheet" r:id="rId2" imgW="4222614" imgH="1320756" progId="Excel.Sheet.8">
                  <p:embed/>
                </p:oleObj>
              </mc:Choice>
              <mc:Fallback>
                <p:oleObj name="Worksheet" r:id="rId2" imgW="4222614" imgH="1320756" progId="Excel.Sheet.8">
                  <p:embed/>
                  <p:pic>
                    <p:nvPicPr>
                      <p:cNvPr id="25603" name="Object 2">
                        <a:extLst>
                          <a:ext uri="{FF2B5EF4-FFF2-40B4-BE49-F238E27FC236}">
                            <a16:creationId xmlns:a16="http://schemas.microsoft.com/office/drawing/2014/main" id="{2C3398C2-03D5-3F61-5156-BE8CE6F79759}"/>
                          </a:ext>
                        </a:extLst>
                      </p:cNvPr>
                      <p:cNvPicPr>
                        <a:picLocks noGrp="1" noChangeAspect="1" noChangeArrowheads="1"/>
                      </p:cNvPicPr>
                      <p:nvPr/>
                    </p:nvPicPr>
                    <p:blipFill>
                      <a:blip r:embed="rId3"/>
                      <a:srcRect/>
                      <a:stretch>
                        <a:fillRect/>
                      </a:stretch>
                    </p:blipFill>
                    <p:spPr bwMode="auto">
                      <a:xfrm>
                        <a:off x="2520950" y="2251075"/>
                        <a:ext cx="7526338" cy="2354263"/>
                      </a:xfrm>
                      <a:prstGeom prst="rect">
                        <a:avLst/>
                      </a:prstGeom>
                      <a:solidFill>
                        <a:srgbClr val="FFFF99"/>
                      </a:solidFill>
                      <a:ln w="76200" cmpd="tri">
                        <a:solidFill>
                          <a:schemeClr val="hlink"/>
                        </a:solidFill>
                        <a:miter lim="800000"/>
                        <a:headEnd/>
                        <a:tailEnd/>
                      </a:ln>
                      <a:effectLst>
                        <a:outerShdw dist="35921" dir="2700000" algn="ctr" rotWithShape="0">
                          <a:schemeClr val="bg2"/>
                        </a:outerShdw>
                      </a:effectLst>
                    </p:spPr>
                  </p:pic>
                </p:oleObj>
              </mc:Fallback>
            </mc:AlternateContent>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37">
            <a:extLst>
              <a:ext uri="{FF2B5EF4-FFF2-40B4-BE49-F238E27FC236}">
                <a16:creationId xmlns:a16="http://schemas.microsoft.com/office/drawing/2014/main" id="{7B314598-C550-3EF5-0E1B-52741DE41B9C}"/>
              </a:ext>
            </a:extLst>
          </p:cNvPr>
          <p:cNvSpPr>
            <a:spLocks noGrp="1"/>
          </p:cNvSpPr>
          <p:nvPr>
            <p:ph type="title"/>
          </p:nvPr>
        </p:nvSpPr>
        <p:spPr/>
        <p:txBody>
          <a:bodyPr/>
          <a:lstStyle/>
          <a:p>
            <a:pPr eaLnBrk="1" hangingPunct="1"/>
            <a:r>
              <a:rPr lang="en-US" altLang="en-US" b="1"/>
              <a:t>Demand Curve</a:t>
            </a:r>
          </a:p>
        </p:txBody>
      </p:sp>
      <p:sp>
        <p:nvSpPr>
          <p:cNvPr id="26627" name="Slide Number Placeholder 4">
            <a:extLst>
              <a:ext uri="{FF2B5EF4-FFF2-40B4-BE49-F238E27FC236}">
                <a16:creationId xmlns:a16="http://schemas.microsoft.com/office/drawing/2014/main" id="{7487E381-36A8-4246-BA74-15FBF68AB22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a:spcBef>
                <a:spcPct val="0"/>
              </a:spcBef>
              <a:buClrTx/>
              <a:buSzTx/>
              <a:buFontTx/>
              <a:buNone/>
            </a:pPr>
            <a:fld id="{7759A5BE-9620-4803-A97B-67697B50E098}" type="slidenum">
              <a:rPr lang="en-US" altLang="en-US">
                <a:solidFill>
                  <a:schemeClr val="tx2"/>
                </a:solidFill>
                <a:latin typeface="Arial" panose="020B0604020202020204" pitchFamily="34" charset="0"/>
              </a:rPr>
              <a:pPr>
                <a:spcBef>
                  <a:spcPct val="0"/>
                </a:spcBef>
                <a:buClrTx/>
                <a:buSzTx/>
                <a:buFontTx/>
                <a:buNone/>
              </a:pPr>
              <a:t>12</a:t>
            </a:fld>
            <a:endParaRPr lang="en-US" altLang="en-US">
              <a:solidFill>
                <a:schemeClr val="tx2"/>
              </a:solidFill>
              <a:latin typeface="Arial" panose="020B0604020202020204" pitchFamily="34" charset="0"/>
            </a:endParaRPr>
          </a:p>
        </p:txBody>
      </p:sp>
      <p:sp>
        <p:nvSpPr>
          <p:cNvPr id="7" name="Line 5">
            <a:extLst>
              <a:ext uri="{FF2B5EF4-FFF2-40B4-BE49-F238E27FC236}">
                <a16:creationId xmlns:a16="http://schemas.microsoft.com/office/drawing/2014/main" id="{F07A8F38-D204-716C-5ADB-1D70ADAC0B12}"/>
              </a:ext>
            </a:extLst>
          </p:cNvPr>
          <p:cNvSpPr>
            <a:spLocks noChangeShapeType="1"/>
          </p:cNvSpPr>
          <p:nvPr/>
        </p:nvSpPr>
        <p:spPr bwMode="auto">
          <a:xfrm>
            <a:off x="3505200" y="5486400"/>
            <a:ext cx="5562600" cy="0"/>
          </a:xfrm>
          <a:prstGeom prst="line">
            <a:avLst/>
          </a:prstGeom>
          <a:noFill/>
          <a:ln w="38100">
            <a:solidFill>
              <a:schemeClr val="tx2">
                <a:lumMod val="50000"/>
              </a:schemeClr>
            </a:solidFill>
            <a:round/>
            <a:headEnd/>
            <a:tailEnd/>
          </a:ln>
          <a:effectLst/>
        </p:spPr>
        <p:txBody>
          <a:bodyPr wrap="none" anchor="ctr"/>
          <a:lstStyle/>
          <a:p>
            <a:pPr>
              <a:defRPr/>
            </a:pPr>
            <a:endParaRPr lang="en-US">
              <a:solidFill>
                <a:schemeClr val="tx2"/>
              </a:solidFill>
            </a:endParaRPr>
          </a:p>
        </p:txBody>
      </p:sp>
      <p:sp>
        <p:nvSpPr>
          <p:cNvPr id="26629" name="Line 6">
            <a:extLst>
              <a:ext uri="{FF2B5EF4-FFF2-40B4-BE49-F238E27FC236}">
                <a16:creationId xmlns:a16="http://schemas.microsoft.com/office/drawing/2014/main" id="{FA83A4ED-70EA-B4BA-6D48-52F89FF9C0DE}"/>
              </a:ext>
            </a:extLst>
          </p:cNvPr>
          <p:cNvSpPr>
            <a:spLocks noChangeShapeType="1"/>
          </p:cNvSpPr>
          <p:nvPr/>
        </p:nvSpPr>
        <p:spPr bwMode="auto">
          <a:xfrm>
            <a:off x="3505200" y="2209800"/>
            <a:ext cx="4267200" cy="3276600"/>
          </a:xfrm>
          <a:prstGeom prst="line">
            <a:avLst/>
          </a:prstGeom>
          <a:noFill/>
          <a:ln w="57150">
            <a:solidFill>
              <a:srgbClr val="0000CC"/>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9" name="Text Box 7">
            <a:extLst>
              <a:ext uri="{FF2B5EF4-FFF2-40B4-BE49-F238E27FC236}">
                <a16:creationId xmlns:a16="http://schemas.microsoft.com/office/drawing/2014/main" id="{5C196683-DE0F-B658-06B0-9189AA766001}"/>
              </a:ext>
            </a:extLst>
          </p:cNvPr>
          <p:cNvSpPr txBox="1">
            <a:spLocks noChangeArrowheads="1"/>
          </p:cNvSpPr>
          <p:nvPr/>
        </p:nvSpPr>
        <p:spPr bwMode="auto">
          <a:xfrm>
            <a:off x="8153400" y="5638801"/>
            <a:ext cx="1524000" cy="466725"/>
          </a:xfrm>
          <a:prstGeom prst="rect">
            <a:avLst/>
          </a:prstGeom>
          <a:solidFill>
            <a:schemeClr val="hlink"/>
          </a:solidFill>
          <a:ln w="9525">
            <a:solidFill>
              <a:schemeClr val="bg2"/>
            </a:solidFill>
            <a:miter lim="800000"/>
            <a:headEnd/>
            <a:tailEnd/>
          </a:ln>
          <a:effectLst/>
        </p:spPr>
        <p:txBody>
          <a:bodyPr>
            <a:spAutoFit/>
          </a:bodyPr>
          <a:lstStyle/>
          <a:p>
            <a:pPr>
              <a:spcBef>
                <a:spcPct val="50000"/>
              </a:spcBef>
              <a:defRPr/>
            </a:pPr>
            <a:r>
              <a:rPr lang="en-US" sz="2400">
                <a:solidFill>
                  <a:schemeClr val="tx2"/>
                </a:solidFill>
                <a:effectLst>
                  <a:outerShdw blurRad="38100" dist="38100" dir="2700000" algn="tl">
                    <a:srgbClr val="FFFFFF"/>
                  </a:outerShdw>
                </a:effectLst>
              </a:rPr>
              <a:t>Quantity</a:t>
            </a:r>
          </a:p>
        </p:txBody>
      </p:sp>
      <p:sp>
        <p:nvSpPr>
          <p:cNvPr id="10" name="Text Box 8">
            <a:extLst>
              <a:ext uri="{FF2B5EF4-FFF2-40B4-BE49-F238E27FC236}">
                <a16:creationId xmlns:a16="http://schemas.microsoft.com/office/drawing/2014/main" id="{59E3F7FD-F267-FEF3-EA55-73F3D3175407}"/>
              </a:ext>
            </a:extLst>
          </p:cNvPr>
          <p:cNvSpPr txBox="1">
            <a:spLocks noChangeArrowheads="1"/>
          </p:cNvSpPr>
          <p:nvPr/>
        </p:nvSpPr>
        <p:spPr bwMode="auto">
          <a:xfrm rot="16245232">
            <a:off x="1981200" y="2175302"/>
            <a:ext cx="1524000" cy="830997"/>
          </a:xfrm>
          <a:prstGeom prst="rect">
            <a:avLst/>
          </a:prstGeom>
          <a:solidFill>
            <a:schemeClr val="hlink"/>
          </a:solidFill>
          <a:ln w="9525">
            <a:noFill/>
            <a:miter lim="800000"/>
            <a:headEnd/>
            <a:tailEnd/>
          </a:ln>
          <a:effectLst/>
        </p:spPr>
        <p:txBody>
          <a:bodyPr>
            <a:spAutoFit/>
          </a:bodyPr>
          <a:lstStyle/>
          <a:p>
            <a:pPr>
              <a:spcBef>
                <a:spcPct val="50000"/>
              </a:spcBef>
              <a:defRPr/>
            </a:pPr>
            <a:r>
              <a:rPr lang="en-US" sz="2400" dirty="0">
                <a:solidFill>
                  <a:schemeClr val="tx2"/>
                </a:solidFill>
                <a:effectLst>
                  <a:outerShdw blurRad="38100" dist="38100" dir="2700000" algn="tl">
                    <a:srgbClr val="FFFFFF"/>
                  </a:outerShdw>
                </a:effectLst>
              </a:rPr>
              <a:t>Price (in INR)</a:t>
            </a:r>
          </a:p>
        </p:txBody>
      </p:sp>
      <p:sp>
        <p:nvSpPr>
          <p:cNvPr id="11" name="Text Box 9">
            <a:extLst>
              <a:ext uri="{FF2B5EF4-FFF2-40B4-BE49-F238E27FC236}">
                <a16:creationId xmlns:a16="http://schemas.microsoft.com/office/drawing/2014/main" id="{958C7768-9A62-0FA7-9CA0-6BAFBE03CE6F}"/>
              </a:ext>
            </a:extLst>
          </p:cNvPr>
          <p:cNvSpPr txBox="1">
            <a:spLocks noChangeArrowheads="1"/>
          </p:cNvSpPr>
          <p:nvPr/>
        </p:nvSpPr>
        <p:spPr bwMode="auto">
          <a:xfrm>
            <a:off x="3124200" y="1981200"/>
            <a:ext cx="304800" cy="457200"/>
          </a:xfrm>
          <a:prstGeom prst="rect">
            <a:avLst/>
          </a:prstGeom>
          <a:noFill/>
          <a:ln w="9525">
            <a:noFill/>
            <a:miter lim="800000"/>
            <a:headEnd/>
            <a:tailEnd/>
          </a:ln>
          <a:effectLst/>
        </p:spPr>
        <p:txBody>
          <a:bodyPr>
            <a:spAutoFit/>
          </a:bodyPr>
          <a:lstStyle/>
          <a:p>
            <a:pPr>
              <a:spcBef>
                <a:spcPct val="50000"/>
              </a:spcBef>
              <a:defRPr/>
            </a:pPr>
            <a:r>
              <a:rPr lang="en-US" sz="2400">
                <a:solidFill>
                  <a:schemeClr val="tx2"/>
                </a:solidFill>
                <a:effectLst>
                  <a:outerShdw blurRad="38100" dist="38100" dir="2700000" algn="tl">
                    <a:srgbClr val="FFFFFF"/>
                  </a:outerShdw>
                </a:effectLst>
              </a:rPr>
              <a:t>5</a:t>
            </a:r>
          </a:p>
        </p:txBody>
      </p:sp>
      <p:sp>
        <p:nvSpPr>
          <p:cNvPr id="12" name="Text Box 10">
            <a:extLst>
              <a:ext uri="{FF2B5EF4-FFF2-40B4-BE49-F238E27FC236}">
                <a16:creationId xmlns:a16="http://schemas.microsoft.com/office/drawing/2014/main" id="{65901252-F65E-C38D-663D-16583AA32034}"/>
              </a:ext>
            </a:extLst>
          </p:cNvPr>
          <p:cNvSpPr txBox="1">
            <a:spLocks noChangeArrowheads="1"/>
          </p:cNvSpPr>
          <p:nvPr/>
        </p:nvSpPr>
        <p:spPr bwMode="auto">
          <a:xfrm>
            <a:off x="3124200" y="2667000"/>
            <a:ext cx="304800" cy="457200"/>
          </a:xfrm>
          <a:prstGeom prst="rect">
            <a:avLst/>
          </a:prstGeom>
          <a:noFill/>
          <a:ln w="9525">
            <a:noFill/>
            <a:miter lim="800000"/>
            <a:headEnd/>
            <a:tailEnd/>
          </a:ln>
          <a:effectLst/>
        </p:spPr>
        <p:txBody>
          <a:bodyPr>
            <a:spAutoFit/>
          </a:bodyPr>
          <a:lstStyle/>
          <a:p>
            <a:pPr>
              <a:spcBef>
                <a:spcPct val="50000"/>
              </a:spcBef>
              <a:defRPr/>
            </a:pPr>
            <a:r>
              <a:rPr lang="en-US" sz="2400">
                <a:solidFill>
                  <a:schemeClr val="tx2"/>
                </a:solidFill>
                <a:effectLst>
                  <a:outerShdw blurRad="38100" dist="38100" dir="2700000" algn="tl">
                    <a:srgbClr val="FFFFFF"/>
                  </a:outerShdw>
                </a:effectLst>
              </a:rPr>
              <a:t>4</a:t>
            </a:r>
          </a:p>
        </p:txBody>
      </p:sp>
      <p:sp>
        <p:nvSpPr>
          <p:cNvPr id="13" name="Text Box 11">
            <a:extLst>
              <a:ext uri="{FF2B5EF4-FFF2-40B4-BE49-F238E27FC236}">
                <a16:creationId xmlns:a16="http://schemas.microsoft.com/office/drawing/2014/main" id="{8D3F41C8-DFB0-4236-B93B-995DF3C0A8CD}"/>
              </a:ext>
            </a:extLst>
          </p:cNvPr>
          <p:cNvSpPr txBox="1">
            <a:spLocks noChangeArrowheads="1"/>
          </p:cNvSpPr>
          <p:nvPr/>
        </p:nvSpPr>
        <p:spPr bwMode="auto">
          <a:xfrm>
            <a:off x="3124200" y="3352800"/>
            <a:ext cx="304800" cy="457200"/>
          </a:xfrm>
          <a:prstGeom prst="rect">
            <a:avLst/>
          </a:prstGeom>
          <a:noFill/>
          <a:ln w="9525">
            <a:noFill/>
            <a:miter lim="800000"/>
            <a:headEnd/>
            <a:tailEnd/>
          </a:ln>
          <a:effectLst/>
        </p:spPr>
        <p:txBody>
          <a:bodyPr>
            <a:spAutoFit/>
          </a:bodyPr>
          <a:lstStyle/>
          <a:p>
            <a:pPr>
              <a:spcBef>
                <a:spcPct val="50000"/>
              </a:spcBef>
              <a:defRPr/>
            </a:pPr>
            <a:r>
              <a:rPr lang="en-US" sz="2400">
                <a:solidFill>
                  <a:schemeClr val="tx2"/>
                </a:solidFill>
                <a:effectLst>
                  <a:outerShdw blurRad="38100" dist="38100" dir="2700000" algn="tl">
                    <a:srgbClr val="FFFFFF"/>
                  </a:outerShdw>
                </a:effectLst>
              </a:rPr>
              <a:t>3</a:t>
            </a:r>
          </a:p>
        </p:txBody>
      </p:sp>
      <p:sp>
        <p:nvSpPr>
          <p:cNvPr id="14" name="Text Box 12">
            <a:extLst>
              <a:ext uri="{FF2B5EF4-FFF2-40B4-BE49-F238E27FC236}">
                <a16:creationId xmlns:a16="http://schemas.microsoft.com/office/drawing/2014/main" id="{D0C77259-7F7F-A0D0-B891-E99398650C54}"/>
              </a:ext>
            </a:extLst>
          </p:cNvPr>
          <p:cNvSpPr txBox="1">
            <a:spLocks noChangeArrowheads="1"/>
          </p:cNvSpPr>
          <p:nvPr/>
        </p:nvSpPr>
        <p:spPr bwMode="auto">
          <a:xfrm>
            <a:off x="3124200" y="3962400"/>
            <a:ext cx="304800" cy="457200"/>
          </a:xfrm>
          <a:prstGeom prst="rect">
            <a:avLst/>
          </a:prstGeom>
          <a:noFill/>
          <a:ln w="9525">
            <a:noFill/>
            <a:miter lim="800000"/>
            <a:headEnd/>
            <a:tailEnd/>
          </a:ln>
          <a:effectLst/>
        </p:spPr>
        <p:txBody>
          <a:bodyPr>
            <a:spAutoFit/>
          </a:bodyPr>
          <a:lstStyle/>
          <a:p>
            <a:pPr>
              <a:spcBef>
                <a:spcPct val="50000"/>
              </a:spcBef>
              <a:defRPr/>
            </a:pPr>
            <a:r>
              <a:rPr lang="en-US" sz="2400">
                <a:solidFill>
                  <a:schemeClr val="tx2"/>
                </a:solidFill>
                <a:effectLst>
                  <a:outerShdw blurRad="38100" dist="38100" dir="2700000" algn="tl">
                    <a:srgbClr val="FFFFFF"/>
                  </a:outerShdw>
                </a:effectLst>
              </a:rPr>
              <a:t>2</a:t>
            </a:r>
          </a:p>
        </p:txBody>
      </p:sp>
      <p:sp>
        <p:nvSpPr>
          <p:cNvPr id="15" name="Text Box 13">
            <a:extLst>
              <a:ext uri="{FF2B5EF4-FFF2-40B4-BE49-F238E27FC236}">
                <a16:creationId xmlns:a16="http://schemas.microsoft.com/office/drawing/2014/main" id="{FB48065F-8010-F4DA-BE1B-B78811E958E8}"/>
              </a:ext>
            </a:extLst>
          </p:cNvPr>
          <p:cNvSpPr txBox="1">
            <a:spLocks noChangeArrowheads="1"/>
          </p:cNvSpPr>
          <p:nvPr/>
        </p:nvSpPr>
        <p:spPr bwMode="auto">
          <a:xfrm>
            <a:off x="3124200" y="4572000"/>
            <a:ext cx="304800" cy="457200"/>
          </a:xfrm>
          <a:prstGeom prst="rect">
            <a:avLst/>
          </a:prstGeom>
          <a:noFill/>
          <a:ln w="9525">
            <a:noFill/>
            <a:miter lim="800000"/>
            <a:headEnd/>
            <a:tailEnd/>
          </a:ln>
          <a:effectLst/>
        </p:spPr>
        <p:txBody>
          <a:bodyPr>
            <a:spAutoFit/>
          </a:bodyPr>
          <a:lstStyle/>
          <a:p>
            <a:pPr>
              <a:spcBef>
                <a:spcPct val="50000"/>
              </a:spcBef>
              <a:defRPr/>
            </a:pPr>
            <a:r>
              <a:rPr lang="en-US" sz="2400">
                <a:solidFill>
                  <a:schemeClr val="tx2"/>
                </a:solidFill>
                <a:effectLst>
                  <a:outerShdw blurRad="38100" dist="38100" dir="2700000" algn="tl">
                    <a:srgbClr val="FFFFFF"/>
                  </a:outerShdw>
                </a:effectLst>
              </a:rPr>
              <a:t>1</a:t>
            </a:r>
          </a:p>
        </p:txBody>
      </p:sp>
      <p:sp>
        <p:nvSpPr>
          <p:cNvPr id="16" name="Text Box 14">
            <a:extLst>
              <a:ext uri="{FF2B5EF4-FFF2-40B4-BE49-F238E27FC236}">
                <a16:creationId xmlns:a16="http://schemas.microsoft.com/office/drawing/2014/main" id="{4EFF1AB7-D6B9-6F92-A72B-500FF8FC6D02}"/>
              </a:ext>
            </a:extLst>
          </p:cNvPr>
          <p:cNvSpPr txBox="1">
            <a:spLocks noChangeArrowheads="1"/>
          </p:cNvSpPr>
          <p:nvPr/>
        </p:nvSpPr>
        <p:spPr bwMode="auto">
          <a:xfrm>
            <a:off x="3124200" y="5257800"/>
            <a:ext cx="304800" cy="457200"/>
          </a:xfrm>
          <a:prstGeom prst="rect">
            <a:avLst/>
          </a:prstGeom>
          <a:noFill/>
          <a:ln w="9525">
            <a:noFill/>
            <a:miter lim="800000"/>
            <a:headEnd/>
            <a:tailEnd/>
          </a:ln>
          <a:effectLst/>
        </p:spPr>
        <p:txBody>
          <a:bodyPr>
            <a:spAutoFit/>
          </a:bodyPr>
          <a:lstStyle/>
          <a:p>
            <a:pPr>
              <a:spcBef>
                <a:spcPct val="50000"/>
              </a:spcBef>
              <a:defRPr/>
            </a:pPr>
            <a:r>
              <a:rPr lang="en-US" sz="2400">
                <a:solidFill>
                  <a:schemeClr val="tx2"/>
                </a:solidFill>
                <a:effectLst>
                  <a:outerShdw blurRad="38100" dist="38100" dir="2700000" algn="tl">
                    <a:srgbClr val="FFFFFF"/>
                  </a:outerShdw>
                </a:effectLst>
              </a:rPr>
              <a:t>0</a:t>
            </a:r>
          </a:p>
        </p:txBody>
      </p:sp>
      <p:sp>
        <p:nvSpPr>
          <p:cNvPr id="26638" name="Line 15">
            <a:extLst>
              <a:ext uri="{FF2B5EF4-FFF2-40B4-BE49-F238E27FC236}">
                <a16:creationId xmlns:a16="http://schemas.microsoft.com/office/drawing/2014/main" id="{0B8A5A51-7751-DF69-79FE-986E0FA3015A}"/>
              </a:ext>
            </a:extLst>
          </p:cNvPr>
          <p:cNvSpPr>
            <a:spLocks noChangeShapeType="1"/>
          </p:cNvSpPr>
          <p:nvPr/>
        </p:nvSpPr>
        <p:spPr bwMode="auto">
          <a:xfrm>
            <a:off x="3505200" y="2895600"/>
            <a:ext cx="838200" cy="0"/>
          </a:xfrm>
          <a:prstGeom prst="line">
            <a:avLst/>
          </a:prstGeom>
          <a:noFill/>
          <a:ln w="9525">
            <a:solidFill>
              <a:schemeClr val="tx2"/>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26639" name="Line 16">
            <a:extLst>
              <a:ext uri="{FF2B5EF4-FFF2-40B4-BE49-F238E27FC236}">
                <a16:creationId xmlns:a16="http://schemas.microsoft.com/office/drawing/2014/main" id="{65763BB8-9355-9D02-9EDA-BB651595D50C}"/>
              </a:ext>
            </a:extLst>
          </p:cNvPr>
          <p:cNvSpPr>
            <a:spLocks noChangeShapeType="1"/>
          </p:cNvSpPr>
          <p:nvPr/>
        </p:nvSpPr>
        <p:spPr bwMode="auto">
          <a:xfrm flipH="1">
            <a:off x="4343400" y="2895600"/>
            <a:ext cx="46038" cy="2590800"/>
          </a:xfrm>
          <a:prstGeom prst="line">
            <a:avLst/>
          </a:prstGeom>
          <a:noFill/>
          <a:ln w="9525">
            <a:solidFill>
              <a:schemeClr val="tx2"/>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19" name="Line 17">
            <a:extLst>
              <a:ext uri="{FF2B5EF4-FFF2-40B4-BE49-F238E27FC236}">
                <a16:creationId xmlns:a16="http://schemas.microsoft.com/office/drawing/2014/main" id="{F8FCD9AA-6A47-948F-6A8E-F789F3488D08}"/>
              </a:ext>
            </a:extLst>
          </p:cNvPr>
          <p:cNvSpPr>
            <a:spLocks noChangeShapeType="1"/>
          </p:cNvSpPr>
          <p:nvPr/>
        </p:nvSpPr>
        <p:spPr bwMode="auto">
          <a:xfrm>
            <a:off x="3505200" y="3581400"/>
            <a:ext cx="1752600" cy="0"/>
          </a:xfrm>
          <a:prstGeom prst="line">
            <a:avLst/>
          </a:prstGeom>
          <a:noFill/>
          <a:ln w="9525">
            <a:solidFill>
              <a:schemeClr val="accent1">
                <a:lumMod val="50000"/>
              </a:schemeClr>
            </a:solidFill>
            <a:prstDash val="dash"/>
            <a:round/>
            <a:headEnd/>
            <a:tailEnd/>
          </a:ln>
          <a:effectLst/>
        </p:spPr>
        <p:txBody>
          <a:bodyPr wrap="none" anchor="ctr"/>
          <a:lstStyle/>
          <a:p>
            <a:pPr>
              <a:defRPr/>
            </a:pPr>
            <a:endParaRPr lang="en-US">
              <a:solidFill>
                <a:schemeClr val="tx2"/>
              </a:solidFill>
            </a:endParaRPr>
          </a:p>
        </p:txBody>
      </p:sp>
      <p:sp>
        <p:nvSpPr>
          <p:cNvPr id="26641" name="Line 18">
            <a:extLst>
              <a:ext uri="{FF2B5EF4-FFF2-40B4-BE49-F238E27FC236}">
                <a16:creationId xmlns:a16="http://schemas.microsoft.com/office/drawing/2014/main" id="{BE3954F0-742B-60E1-E6DF-659FA65C0227}"/>
              </a:ext>
            </a:extLst>
          </p:cNvPr>
          <p:cNvSpPr>
            <a:spLocks noChangeShapeType="1"/>
          </p:cNvSpPr>
          <p:nvPr/>
        </p:nvSpPr>
        <p:spPr bwMode="auto">
          <a:xfrm>
            <a:off x="5257800" y="3581400"/>
            <a:ext cx="0" cy="1905000"/>
          </a:xfrm>
          <a:prstGeom prst="line">
            <a:avLst/>
          </a:prstGeom>
          <a:noFill/>
          <a:ln w="9525">
            <a:solidFill>
              <a:schemeClr val="tx2"/>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26642" name="Line 19">
            <a:extLst>
              <a:ext uri="{FF2B5EF4-FFF2-40B4-BE49-F238E27FC236}">
                <a16:creationId xmlns:a16="http://schemas.microsoft.com/office/drawing/2014/main" id="{54EB797B-1189-1A44-4293-98CD30746F99}"/>
              </a:ext>
            </a:extLst>
          </p:cNvPr>
          <p:cNvSpPr>
            <a:spLocks noChangeShapeType="1"/>
          </p:cNvSpPr>
          <p:nvPr/>
        </p:nvSpPr>
        <p:spPr bwMode="auto">
          <a:xfrm>
            <a:off x="3505200" y="4191000"/>
            <a:ext cx="2590800" cy="0"/>
          </a:xfrm>
          <a:prstGeom prst="line">
            <a:avLst/>
          </a:prstGeom>
          <a:noFill/>
          <a:ln w="9525">
            <a:solidFill>
              <a:schemeClr val="tx2"/>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26643" name="Line 20">
            <a:extLst>
              <a:ext uri="{FF2B5EF4-FFF2-40B4-BE49-F238E27FC236}">
                <a16:creationId xmlns:a16="http://schemas.microsoft.com/office/drawing/2014/main" id="{4F9D917D-F46B-710A-9FD2-32B04FF8A67C}"/>
              </a:ext>
            </a:extLst>
          </p:cNvPr>
          <p:cNvSpPr>
            <a:spLocks noChangeShapeType="1"/>
          </p:cNvSpPr>
          <p:nvPr/>
        </p:nvSpPr>
        <p:spPr bwMode="auto">
          <a:xfrm>
            <a:off x="6096000" y="4191000"/>
            <a:ext cx="0" cy="1295400"/>
          </a:xfrm>
          <a:prstGeom prst="line">
            <a:avLst/>
          </a:prstGeom>
          <a:noFill/>
          <a:ln w="9525">
            <a:solidFill>
              <a:schemeClr val="tx2"/>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26644" name="Line 21">
            <a:extLst>
              <a:ext uri="{FF2B5EF4-FFF2-40B4-BE49-F238E27FC236}">
                <a16:creationId xmlns:a16="http://schemas.microsoft.com/office/drawing/2014/main" id="{80FFBC5B-6DFE-1336-837A-4B9E36FB255A}"/>
              </a:ext>
            </a:extLst>
          </p:cNvPr>
          <p:cNvSpPr>
            <a:spLocks noChangeShapeType="1"/>
          </p:cNvSpPr>
          <p:nvPr/>
        </p:nvSpPr>
        <p:spPr bwMode="auto">
          <a:xfrm>
            <a:off x="3505200" y="4800600"/>
            <a:ext cx="3352800" cy="0"/>
          </a:xfrm>
          <a:prstGeom prst="line">
            <a:avLst/>
          </a:prstGeom>
          <a:noFill/>
          <a:ln w="9525">
            <a:solidFill>
              <a:schemeClr val="tx2"/>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26645" name="Line 22">
            <a:extLst>
              <a:ext uri="{FF2B5EF4-FFF2-40B4-BE49-F238E27FC236}">
                <a16:creationId xmlns:a16="http://schemas.microsoft.com/office/drawing/2014/main" id="{29B9CA63-F603-C755-B575-4FEFA8AE3A97}"/>
              </a:ext>
            </a:extLst>
          </p:cNvPr>
          <p:cNvSpPr>
            <a:spLocks noChangeShapeType="1"/>
          </p:cNvSpPr>
          <p:nvPr/>
        </p:nvSpPr>
        <p:spPr bwMode="auto">
          <a:xfrm>
            <a:off x="6858000" y="4800600"/>
            <a:ext cx="0" cy="6858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25" name="Text Box 23">
            <a:extLst>
              <a:ext uri="{FF2B5EF4-FFF2-40B4-BE49-F238E27FC236}">
                <a16:creationId xmlns:a16="http://schemas.microsoft.com/office/drawing/2014/main" id="{61EF4686-CF7D-9A1B-8714-C7351AD6349E}"/>
              </a:ext>
            </a:extLst>
          </p:cNvPr>
          <p:cNvSpPr txBox="1">
            <a:spLocks noChangeArrowheads="1"/>
          </p:cNvSpPr>
          <p:nvPr/>
        </p:nvSpPr>
        <p:spPr bwMode="auto">
          <a:xfrm>
            <a:off x="3581400" y="1828800"/>
            <a:ext cx="304800" cy="457200"/>
          </a:xfrm>
          <a:prstGeom prst="rect">
            <a:avLst/>
          </a:prstGeom>
          <a:noFill/>
          <a:ln w="9525">
            <a:noFill/>
            <a:miter lim="800000"/>
            <a:headEnd/>
            <a:tailEnd/>
          </a:ln>
          <a:effectLst/>
        </p:spPr>
        <p:txBody>
          <a:bodyPr>
            <a:spAutoFit/>
          </a:bodyPr>
          <a:lstStyle/>
          <a:p>
            <a:pPr>
              <a:spcBef>
                <a:spcPct val="50000"/>
              </a:spcBef>
              <a:defRPr/>
            </a:pPr>
            <a:r>
              <a:rPr lang="en-US" sz="2400">
                <a:solidFill>
                  <a:schemeClr val="tx2"/>
                </a:solidFill>
                <a:effectLst>
                  <a:outerShdw blurRad="38100" dist="38100" dir="2700000" algn="tl">
                    <a:srgbClr val="FFFFFF"/>
                  </a:outerShdw>
                </a:effectLst>
              </a:rPr>
              <a:t>A</a:t>
            </a:r>
          </a:p>
        </p:txBody>
      </p:sp>
      <p:sp>
        <p:nvSpPr>
          <p:cNvPr id="26" name="Text Box 24">
            <a:extLst>
              <a:ext uri="{FF2B5EF4-FFF2-40B4-BE49-F238E27FC236}">
                <a16:creationId xmlns:a16="http://schemas.microsoft.com/office/drawing/2014/main" id="{3E3128D2-EBB1-4DE5-FF0C-B615DC69FEC8}"/>
              </a:ext>
            </a:extLst>
          </p:cNvPr>
          <p:cNvSpPr txBox="1">
            <a:spLocks noChangeArrowheads="1"/>
          </p:cNvSpPr>
          <p:nvPr/>
        </p:nvSpPr>
        <p:spPr bwMode="auto">
          <a:xfrm>
            <a:off x="4343400" y="2438400"/>
            <a:ext cx="381000" cy="457200"/>
          </a:xfrm>
          <a:prstGeom prst="rect">
            <a:avLst/>
          </a:prstGeom>
          <a:noFill/>
          <a:ln w="9525">
            <a:noFill/>
            <a:miter lim="800000"/>
            <a:headEnd/>
            <a:tailEnd/>
          </a:ln>
          <a:effectLst/>
        </p:spPr>
        <p:txBody>
          <a:bodyPr>
            <a:spAutoFit/>
          </a:bodyPr>
          <a:lstStyle/>
          <a:p>
            <a:pPr>
              <a:spcBef>
                <a:spcPct val="50000"/>
              </a:spcBef>
              <a:defRPr/>
            </a:pPr>
            <a:r>
              <a:rPr lang="en-US" sz="2400">
                <a:solidFill>
                  <a:schemeClr val="tx2"/>
                </a:solidFill>
                <a:effectLst>
                  <a:outerShdw blurRad="38100" dist="38100" dir="2700000" algn="tl">
                    <a:srgbClr val="FFFFFF"/>
                  </a:outerShdw>
                </a:effectLst>
              </a:rPr>
              <a:t>B</a:t>
            </a:r>
          </a:p>
        </p:txBody>
      </p:sp>
      <p:sp>
        <p:nvSpPr>
          <p:cNvPr id="27" name="Text Box 25">
            <a:extLst>
              <a:ext uri="{FF2B5EF4-FFF2-40B4-BE49-F238E27FC236}">
                <a16:creationId xmlns:a16="http://schemas.microsoft.com/office/drawing/2014/main" id="{EA9798F3-4FFA-8655-B94C-809F1D9821F1}"/>
              </a:ext>
            </a:extLst>
          </p:cNvPr>
          <p:cNvSpPr txBox="1">
            <a:spLocks noChangeArrowheads="1"/>
          </p:cNvSpPr>
          <p:nvPr/>
        </p:nvSpPr>
        <p:spPr bwMode="auto">
          <a:xfrm>
            <a:off x="5257800" y="3200400"/>
            <a:ext cx="381000" cy="457200"/>
          </a:xfrm>
          <a:prstGeom prst="rect">
            <a:avLst/>
          </a:prstGeom>
          <a:noFill/>
          <a:ln w="9525">
            <a:noFill/>
            <a:miter lim="800000"/>
            <a:headEnd/>
            <a:tailEnd/>
          </a:ln>
          <a:effectLst/>
        </p:spPr>
        <p:txBody>
          <a:bodyPr>
            <a:spAutoFit/>
          </a:bodyPr>
          <a:lstStyle/>
          <a:p>
            <a:pPr>
              <a:spcBef>
                <a:spcPct val="50000"/>
              </a:spcBef>
              <a:defRPr/>
            </a:pPr>
            <a:r>
              <a:rPr lang="en-US" sz="2400">
                <a:solidFill>
                  <a:schemeClr val="tx2"/>
                </a:solidFill>
                <a:effectLst>
                  <a:outerShdw blurRad="38100" dist="38100" dir="2700000" algn="tl">
                    <a:srgbClr val="FFFFFF"/>
                  </a:outerShdw>
                </a:effectLst>
              </a:rPr>
              <a:t>C</a:t>
            </a:r>
          </a:p>
        </p:txBody>
      </p:sp>
      <p:sp>
        <p:nvSpPr>
          <p:cNvPr id="28" name="Text Box 26">
            <a:extLst>
              <a:ext uri="{FF2B5EF4-FFF2-40B4-BE49-F238E27FC236}">
                <a16:creationId xmlns:a16="http://schemas.microsoft.com/office/drawing/2014/main" id="{5D943FBD-5B82-A1A7-28A1-F2883E07B535}"/>
              </a:ext>
            </a:extLst>
          </p:cNvPr>
          <p:cNvSpPr txBox="1">
            <a:spLocks noChangeArrowheads="1"/>
          </p:cNvSpPr>
          <p:nvPr/>
        </p:nvSpPr>
        <p:spPr bwMode="auto">
          <a:xfrm>
            <a:off x="6019800" y="3810000"/>
            <a:ext cx="457200" cy="457200"/>
          </a:xfrm>
          <a:prstGeom prst="rect">
            <a:avLst/>
          </a:prstGeom>
          <a:noFill/>
          <a:ln w="9525">
            <a:noFill/>
            <a:miter lim="800000"/>
            <a:headEnd/>
            <a:tailEnd/>
          </a:ln>
          <a:effectLst/>
        </p:spPr>
        <p:txBody>
          <a:bodyPr>
            <a:spAutoFit/>
          </a:bodyPr>
          <a:lstStyle/>
          <a:p>
            <a:pPr>
              <a:spcBef>
                <a:spcPct val="50000"/>
              </a:spcBef>
              <a:defRPr/>
            </a:pPr>
            <a:r>
              <a:rPr lang="en-US" sz="2400">
                <a:solidFill>
                  <a:schemeClr val="tx2"/>
                </a:solidFill>
                <a:effectLst>
                  <a:outerShdw blurRad="38100" dist="38100" dir="2700000" algn="tl">
                    <a:srgbClr val="FFFFFF"/>
                  </a:outerShdw>
                </a:effectLst>
              </a:rPr>
              <a:t>E</a:t>
            </a:r>
          </a:p>
        </p:txBody>
      </p:sp>
      <p:sp>
        <p:nvSpPr>
          <p:cNvPr id="29" name="Text Box 27">
            <a:extLst>
              <a:ext uri="{FF2B5EF4-FFF2-40B4-BE49-F238E27FC236}">
                <a16:creationId xmlns:a16="http://schemas.microsoft.com/office/drawing/2014/main" id="{001B2CFC-D977-C0A5-C4D2-EEC266DE0C71}"/>
              </a:ext>
            </a:extLst>
          </p:cNvPr>
          <p:cNvSpPr txBox="1">
            <a:spLocks noChangeArrowheads="1"/>
          </p:cNvSpPr>
          <p:nvPr/>
        </p:nvSpPr>
        <p:spPr bwMode="auto">
          <a:xfrm>
            <a:off x="6858000" y="4419600"/>
            <a:ext cx="457200" cy="457200"/>
          </a:xfrm>
          <a:prstGeom prst="rect">
            <a:avLst/>
          </a:prstGeom>
          <a:noFill/>
          <a:ln w="9525">
            <a:noFill/>
            <a:miter lim="800000"/>
            <a:headEnd/>
            <a:tailEnd/>
          </a:ln>
          <a:effectLst/>
        </p:spPr>
        <p:txBody>
          <a:bodyPr>
            <a:spAutoFit/>
          </a:bodyPr>
          <a:lstStyle/>
          <a:p>
            <a:pPr>
              <a:spcBef>
                <a:spcPct val="50000"/>
              </a:spcBef>
              <a:defRPr/>
            </a:pPr>
            <a:r>
              <a:rPr lang="en-US" sz="2400">
                <a:solidFill>
                  <a:schemeClr val="tx2"/>
                </a:solidFill>
                <a:effectLst>
                  <a:outerShdw blurRad="38100" dist="38100" dir="2700000" algn="tl">
                    <a:srgbClr val="FFFFFF"/>
                  </a:outerShdw>
                </a:effectLst>
              </a:rPr>
              <a:t>F</a:t>
            </a:r>
          </a:p>
        </p:txBody>
      </p:sp>
      <p:sp>
        <p:nvSpPr>
          <p:cNvPr id="30" name="Text Box 28">
            <a:extLst>
              <a:ext uri="{FF2B5EF4-FFF2-40B4-BE49-F238E27FC236}">
                <a16:creationId xmlns:a16="http://schemas.microsoft.com/office/drawing/2014/main" id="{6FAC107F-FA1C-0C1E-58F6-29819CA23D40}"/>
              </a:ext>
            </a:extLst>
          </p:cNvPr>
          <p:cNvSpPr txBox="1">
            <a:spLocks noChangeArrowheads="1"/>
          </p:cNvSpPr>
          <p:nvPr/>
        </p:nvSpPr>
        <p:spPr bwMode="auto">
          <a:xfrm>
            <a:off x="7696200" y="5029200"/>
            <a:ext cx="457200" cy="457200"/>
          </a:xfrm>
          <a:prstGeom prst="rect">
            <a:avLst/>
          </a:prstGeom>
          <a:noFill/>
          <a:ln w="9525">
            <a:noFill/>
            <a:miter lim="800000"/>
            <a:headEnd/>
            <a:tailEnd/>
          </a:ln>
          <a:effectLst/>
        </p:spPr>
        <p:txBody>
          <a:bodyPr>
            <a:spAutoFit/>
          </a:bodyPr>
          <a:lstStyle/>
          <a:p>
            <a:pPr>
              <a:spcBef>
                <a:spcPct val="50000"/>
              </a:spcBef>
              <a:defRPr/>
            </a:pPr>
            <a:r>
              <a:rPr lang="en-US" sz="2400">
                <a:solidFill>
                  <a:schemeClr val="tx2"/>
                </a:solidFill>
                <a:effectLst>
                  <a:outerShdw blurRad="38100" dist="38100" dir="2700000" algn="tl">
                    <a:srgbClr val="FFFFFF"/>
                  </a:outerShdw>
                </a:effectLst>
              </a:rPr>
              <a:t>G</a:t>
            </a:r>
          </a:p>
        </p:txBody>
      </p:sp>
      <p:sp>
        <p:nvSpPr>
          <p:cNvPr id="31" name="Text Box 29">
            <a:extLst>
              <a:ext uri="{FF2B5EF4-FFF2-40B4-BE49-F238E27FC236}">
                <a16:creationId xmlns:a16="http://schemas.microsoft.com/office/drawing/2014/main" id="{BB79F16B-5D6B-C89C-C924-B0A336CB35D5}"/>
              </a:ext>
            </a:extLst>
          </p:cNvPr>
          <p:cNvSpPr txBox="1">
            <a:spLocks noChangeArrowheads="1"/>
          </p:cNvSpPr>
          <p:nvPr/>
        </p:nvSpPr>
        <p:spPr bwMode="auto">
          <a:xfrm>
            <a:off x="4191000" y="5486400"/>
            <a:ext cx="304800" cy="457200"/>
          </a:xfrm>
          <a:prstGeom prst="rect">
            <a:avLst/>
          </a:prstGeom>
          <a:noFill/>
          <a:ln w="9525">
            <a:noFill/>
            <a:miter lim="800000"/>
            <a:headEnd/>
            <a:tailEnd/>
          </a:ln>
          <a:effectLst/>
        </p:spPr>
        <p:txBody>
          <a:bodyPr>
            <a:spAutoFit/>
          </a:bodyPr>
          <a:lstStyle/>
          <a:p>
            <a:pPr>
              <a:spcBef>
                <a:spcPct val="50000"/>
              </a:spcBef>
              <a:defRPr/>
            </a:pPr>
            <a:r>
              <a:rPr lang="en-US" sz="2400" dirty="0">
                <a:solidFill>
                  <a:schemeClr val="tx2"/>
                </a:solidFill>
                <a:effectLst>
                  <a:outerShdw blurRad="38100" dist="38100" dir="2700000" algn="tl">
                    <a:srgbClr val="FFFFFF"/>
                  </a:outerShdw>
                </a:effectLst>
              </a:rPr>
              <a:t>1</a:t>
            </a:r>
          </a:p>
        </p:txBody>
      </p:sp>
      <p:sp>
        <p:nvSpPr>
          <p:cNvPr id="32" name="Text Box 30">
            <a:extLst>
              <a:ext uri="{FF2B5EF4-FFF2-40B4-BE49-F238E27FC236}">
                <a16:creationId xmlns:a16="http://schemas.microsoft.com/office/drawing/2014/main" id="{4E27B6D6-DFBB-C1A1-54F3-1165D963614C}"/>
              </a:ext>
            </a:extLst>
          </p:cNvPr>
          <p:cNvSpPr txBox="1">
            <a:spLocks noChangeArrowheads="1"/>
          </p:cNvSpPr>
          <p:nvPr/>
        </p:nvSpPr>
        <p:spPr bwMode="auto">
          <a:xfrm>
            <a:off x="5105400" y="5486400"/>
            <a:ext cx="304800" cy="457200"/>
          </a:xfrm>
          <a:prstGeom prst="rect">
            <a:avLst/>
          </a:prstGeom>
          <a:noFill/>
          <a:ln w="9525">
            <a:noFill/>
            <a:miter lim="800000"/>
            <a:headEnd/>
            <a:tailEnd/>
          </a:ln>
          <a:effectLst/>
        </p:spPr>
        <p:txBody>
          <a:bodyPr>
            <a:spAutoFit/>
          </a:bodyPr>
          <a:lstStyle/>
          <a:p>
            <a:pPr>
              <a:spcBef>
                <a:spcPct val="50000"/>
              </a:spcBef>
              <a:defRPr/>
            </a:pPr>
            <a:r>
              <a:rPr lang="en-US" sz="2400">
                <a:solidFill>
                  <a:schemeClr val="tx2"/>
                </a:solidFill>
                <a:effectLst>
                  <a:outerShdw blurRad="38100" dist="38100" dir="2700000" algn="tl">
                    <a:srgbClr val="FFFFFF"/>
                  </a:outerShdw>
                </a:effectLst>
              </a:rPr>
              <a:t>2</a:t>
            </a:r>
          </a:p>
        </p:txBody>
      </p:sp>
      <p:sp>
        <p:nvSpPr>
          <p:cNvPr id="33" name="Text Box 31">
            <a:extLst>
              <a:ext uri="{FF2B5EF4-FFF2-40B4-BE49-F238E27FC236}">
                <a16:creationId xmlns:a16="http://schemas.microsoft.com/office/drawing/2014/main" id="{029247C1-521F-AF83-3CA7-5C305DB0AE2A}"/>
              </a:ext>
            </a:extLst>
          </p:cNvPr>
          <p:cNvSpPr txBox="1">
            <a:spLocks noChangeArrowheads="1"/>
          </p:cNvSpPr>
          <p:nvPr/>
        </p:nvSpPr>
        <p:spPr bwMode="auto">
          <a:xfrm>
            <a:off x="5943600" y="5486400"/>
            <a:ext cx="304800" cy="457200"/>
          </a:xfrm>
          <a:prstGeom prst="rect">
            <a:avLst/>
          </a:prstGeom>
          <a:noFill/>
          <a:ln w="9525">
            <a:noFill/>
            <a:miter lim="800000"/>
            <a:headEnd/>
            <a:tailEnd/>
          </a:ln>
          <a:effectLst/>
        </p:spPr>
        <p:txBody>
          <a:bodyPr>
            <a:spAutoFit/>
          </a:bodyPr>
          <a:lstStyle/>
          <a:p>
            <a:pPr>
              <a:spcBef>
                <a:spcPct val="50000"/>
              </a:spcBef>
              <a:defRPr/>
            </a:pPr>
            <a:r>
              <a:rPr lang="en-US" sz="2400">
                <a:solidFill>
                  <a:schemeClr val="tx2"/>
                </a:solidFill>
                <a:effectLst>
                  <a:outerShdw blurRad="38100" dist="38100" dir="2700000" algn="tl">
                    <a:srgbClr val="FFFFFF"/>
                  </a:outerShdw>
                </a:effectLst>
              </a:rPr>
              <a:t>3</a:t>
            </a:r>
          </a:p>
        </p:txBody>
      </p:sp>
      <p:sp>
        <p:nvSpPr>
          <p:cNvPr id="34" name="Text Box 32">
            <a:extLst>
              <a:ext uri="{FF2B5EF4-FFF2-40B4-BE49-F238E27FC236}">
                <a16:creationId xmlns:a16="http://schemas.microsoft.com/office/drawing/2014/main" id="{CD268471-A3FF-A352-F7B1-DAC9B056B586}"/>
              </a:ext>
            </a:extLst>
          </p:cNvPr>
          <p:cNvSpPr txBox="1">
            <a:spLocks noChangeArrowheads="1"/>
          </p:cNvSpPr>
          <p:nvPr/>
        </p:nvSpPr>
        <p:spPr bwMode="auto">
          <a:xfrm>
            <a:off x="6705600" y="5486400"/>
            <a:ext cx="304800" cy="457200"/>
          </a:xfrm>
          <a:prstGeom prst="rect">
            <a:avLst/>
          </a:prstGeom>
          <a:noFill/>
          <a:ln w="9525">
            <a:noFill/>
            <a:miter lim="800000"/>
            <a:headEnd/>
            <a:tailEnd/>
          </a:ln>
          <a:effectLst/>
        </p:spPr>
        <p:txBody>
          <a:bodyPr>
            <a:spAutoFit/>
          </a:bodyPr>
          <a:lstStyle/>
          <a:p>
            <a:pPr>
              <a:spcBef>
                <a:spcPct val="50000"/>
              </a:spcBef>
              <a:defRPr/>
            </a:pPr>
            <a:r>
              <a:rPr lang="en-US" sz="2400">
                <a:solidFill>
                  <a:schemeClr val="tx2"/>
                </a:solidFill>
                <a:effectLst>
                  <a:outerShdw blurRad="38100" dist="38100" dir="2700000" algn="tl">
                    <a:srgbClr val="FFFFFF"/>
                  </a:outerShdw>
                </a:effectLst>
              </a:rPr>
              <a:t>4</a:t>
            </a:r>
          </a:p>
        </p:txBody>
      </p:sp>
      <p:sp>
        <p:nvSpPr>
          <p:cNvPr id="35" name="Text Box 33">
            <a:extLst>
              <a:ext uri="{FF2B5EF4-FFF2-40B4-BE49-F238E27FC236}">
                <a16:creationId xmlns:a16="http://schemas.microsoft.com/office/drawing/2014/main" id="{448F6C99-73C4-DE82-F354-7C1EB58807E1}"/>
              </a:ext>
            </a:extLst>
          </p:cNvPr>
          <p:cNvSpPr txBox="1">
            <a:spLocks noChangeArrowheads="1"/>
          </p:cNvSpPr>
          <p:nvPr/>
        </p:nvSpPr>
        <p:spPr bwMode="auto">
          <a:xfrm>
            <a:off x="7543800" y="5486400"/>
            <a:ext cx="304800" cy="457200"/>
          </a:xfrm>
          <a:prstGeom prst="rect">
            <a:avLst/>
          </a:prstGeom>
          <a:noFill/>
          <a:ln w="9525">
            <a:noFill/>
            <a:miter lim="800000"/>
            <a:headEnd/>
            <a:tailEnd/>
          </a:ln>
          <a:effectLst/>
        </p:spPr>
        <p:txBody>
          <a:bodyPr>
            <a:spAutoFit/>
          </a:bodyPr>
          <a:lstStyle/>
          <a:p>
            <a:pPr>
              <a:spcBef>
                <a:spcPct val="50000"/>
              </a:spcBef>
              <a:defRPr/>
            </a:pPr>
            <a:r>
              <a:rPr lang="en-US" sz="2400">
                <a:solidFill>
                  <a:schemeClr val="tx2"/>
                </a:solidFill>
                <a:effectLst>
                  <a:outerShdw blurRad="38100" dist="38100" dir="2700000" algn="tl">
                    <a:srgbClr val="FFFFFF"/>
                  </a:outerShdw>
                </a:effectLst>
              </a:rPr>
              <a:t>5</a:t>
            </a:r>
          </a:p>
        </p:txBody>
      </p:sp>
      <p:sp>
        <p:nvSpPr>
          <p:cNvPr id="36" name="Text Box 34">
            <a:extLst>
              <a:ext uri="{FF2B5EF4-FFF2-40B4-BE49-F238E27FC236}">
                <a16:creationId xmlns:a16="http://schemas.microsoft.com/office/drawing/2014/main" id="{500C477A-0D81-5486-6141-00D9879F3774}"/>
              </a:ext>
            </a:extLst>
          </p:cNvPr>
          <p:cNvSpPr txBox="1">
            <a:spLocks noChangeArrowheads="1"/>
          </p:cNvSpPr>
          <p:nvPr/>
        </p:nvSpPr>
        <p:spPr bwMode="auto">
          <a:xfrm>
            <a:off x="7391400" y="4343400"/>
            <a:ext cx="2514600" cy="528638"/>
          </a:xfrm>
          <a:prstGeom prst="rect">
            <a:avLst/>
          </a:prstGeom>
          <a:solidFill>
            <a:srgbClr val="FFFFFF"/>
          </a:solidFill>
          <a:ln w="9525">
            <a:solidFill>
              <a:schemeClr val="bg2"/>
            </a:solidFill>
            <a:miter lim="800000"/>
            <a:headEnd/>
            <a:tailEnd/>
          </a:ln>
          <a:effectLst/>
        </p:spPr>
        <p:txBody>
          <a:bodyPr>
            <a:spAutoFit/>
          </a:bodyPr>
          <a:lstStyle/>
          <a:p>
            <a:pPr>
              <a:spcBef>
                <a:spcPct val="50000"/>
              </a:spcBef>
              <a:defRPr/>
            </a:pPr>
            <a:r>
              <a:rPr lang="en-US" sz="2800" i="1">
                <a:solidFill>
                  <a:schemeClr val="tx2"/>
                </a:solidFill>
                <a:effectLst>
                  <a:outerShdw blurRad="38100" dist="38100" dir="2700000" algn="tl">
                    <a:srgbClr val="C0C0C0"/>
                  </a:outerShdw>
                </a:effectLst>
              </a:rPr>
              <a:t>Demand</a:t>
            </a:r>
          </a:p>
        </p:txBody>
      </p:sp>
      <p:sp>
        <p:nvSpPr>
          <p:cNvPr id="6" name="Line 4">
            <a:extLst>
              <a:ext uri="{FF2B5EF4-FFF2-40B4-BE49-F238E27FC236}">
                <a16:creationId xmlns:a16="http://schemas.microsoft.com/office/drawing/2014/main" id="{FDDB4821-6217-3336-0DFB-187D87D83E05}"/>
              </a:ext>
            </a:extLst>
          </p:cNvPr>
          <p:cNvSpPr>
            <a:spLocks noChangeShapeType="1"/>
          </p:cNvSpPr>
          <p:nvPr/>
        </p:nvSpPr>
        <p:spPr bwMode="auto">
          <a:xfrm>
            <a:off x="3505200" y="1752600"/>
            <a:ext cx="0" cy="3733800"/>
          </a:xfrm>
          <a:prstGeom prst="line">
            <a:avLst/>
          </a:prstGeom>
          <a:noFill/>
          <a:ln w="38100">
            <a:solidFill>
              <a:schemeClr val="tx2">
                <a:lumMod val="75000"/>
              </a:schemeClr>
            </a:solidFill>
            <a:round/>
            <a:headEnd/>
            <a:tailEnd/>
          </a:ln>
          <a:effectLst/>
        </p:spPr>
        <p:txBody>
          <a:bodyPr wrap="none" anchor="ctr"/>
          <a:lstStyle/>
          <a:p>
            <a:pPr>
              <a:defRPr/>
            </a:pPr>
            <a:endParaRPr lang="en-US">
              <a:ln>
                <a:solidFill>
                  <a:srgbClr val="0070C0"/>
                </a:solidFill>
              </a:ln>
              <a:solidFill>
                <a:schemeClr val="tx2"/>
              </a:solidFill>
            </a:endParaRPr>
          </a:p>
        </p:txBody>
      </p:sp>
      <p:sp>
        <p:nvSpPr>
          <p:cNvPr id="39" name="Rectangle 38">
            <a:extLst>
              <a:ext uri="{FF2B5EF4-FFF2-40B4-BE49-F238E27FC236}">
                <a16:creationId xmlns:a16="http://schemas.microsoft.com/office/drawing/2014/main" id="{5395FFE6-8279-CD2B-46CF-BB4BA41D9AED}"/>
              </a:ext>
            </a:extLst>
          </p:cNvPr>
          <p:cNvSpPr/>
          <p:nvPr/>
        </p:nvSpPr>
        <p:spPr>
          <a:xfrm>
            <a:off x="5410200" y="1752600"/>
            <a:ext cx="4800600" cy="1016000"/>
          </a:xfrm>
          <a:prstGeom prst="rect">
            <a:avLst/>
          </a:prstGeom>
        </p:spPr>
        <p:txBody>
          <a:bodyPr>
            <a:spAutoFit/>
          </a:bodyPr>
          <a:lstStyle/>
          <a:p>
            <a:pPr algn="just">
              <a:defRPr/>
            </a:pPr>
            <a:r>
              <a:rPr lang="en-US" sz="2000" dirty="0">
                <a:effectLst>
                  <a:outerShdw blurRad="38100" dist="38100" dir="2700000" algn="tl">
                    <a:srgbClr val="C0C0C0"/>
                  </a:outerShdw>
                </a:effectLst>
                <a:latin typeface="Arial" charset="0"/>
              </a:rPr>
              <a:t>The demand curve slopes downward</a:t>
            </a:r>
          </a:p>
          <a:p>
            <a:pPr algn="just">
              <a:defRPr/>
            </a:pPr>
            <a:r>
              <a:rPr lang="en-US" sz="2000" dirty="0">
                <a:effectLst>
                  <a:outerShdw blurRad="38100" dist="38100" dir="2700000" algn="tl">
                    <a:srgbClr val="C0C0C0"/>
                  </a:outerShdw>
                </a:effectLst>
                <a:latin typeface="Arial" charset="0"/>
              </a:rPr>
              <a:t>because price and quantity demanded</a:t>
            </a:r>
          </a:p>
          <a:p>
            <a:pPr algn="just">
              <a:defRPr/>
            </a:pPr>
            <a:r>
              <a:rPr lang="en-US" sz="2000" dirty="0">
                <a:effectLst>
                  <a:outerShdw blurRad="38100" dist="38100" dir="2700000" algn="tl">
                    <a:srgbClr val="C0C0C0"/>
                  </a:outerShdw>
                </a:effectLst>
                <a:latin typeface="Arial" charset="0"/>
              </a:rPr>
              <a:t>are inversely related.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a:extLst>
              <a:ext uri="{FF2B5EF4-FFF2-40B4-BE49-F238E27FC236}">
                <a16:creationId xmlns:a16="http://schemas.microsoft.com/office/drawing/2014/main" id="{0072EF21-BCE4-F3BE-C205-427257620A25}"/>
              </a:ext>
            </a:extLst>
          </p:cNvPr>
          <p:cNvSpPr>
            <a:spLocks noGrp="1"/>
          </p:cNvSpPr>
          <p:nvPr>
            <p:ph type="title"/>
          </p:nvPr>
        </p:nvSpPr>
        <p:spPr/>
        <p:txBody>
          <a:bodyPr/>
          <a:lstStyle/>
          <a:p>
            <a:pPr eaLnBrk="1" hangingPunct="1"/>
            <a:r>
              <a:rPr lang="en-US" altLang="en-US"/>
              <a:t>Exceptions to law of Demand</a:t>
            </a:r>
          </a:p>
        </p:txBody>
      </p:sp>
      <p:sp>
        <p:nvSpPr>
          <p:cNvPr id="27651" name="Content Placeholder 2">
            <a:extLst>
              <a:ext uri="{FF2B5EF4-FFF2-40B4-BE49-F238E27FC236}">
                <a16:creationId xmlns:a16="http://schemas.microsoft.com/office/drawing/2014/main" id="{857833F6-2071-C328-1F74-B3AB0EEE79C1}"/>
              </a:ext>
            </a:extLst>
          </p:cNvPr>
          <p:cNvSpPr>
            <a:spLocks noGrp="1"/>
          </p:cNvSpPr>
          <p:nvPr>
            <p:ph idx="1"/>
          </p:nvPr>
        </p:nvSpPr>
        <p:spPr>
          <a:xfrm>
            <a:off x="1273996" y="1582220"/>
            <a:ext cx="8936804" cy="4543944"/>
          </a:xfrm>
        </p:spPr>
        <p:txBody>
          <a:bodyPr/>
          <a:lstStyle/>
          <a:p>
            <a:pPr eaLnBrk="1" hangingPunct="1"/>
            <a:r>
              <a:rPr lang="en-GB" altLang="en-US" dirty="0"/>
              <a:t>Luxuries</a:t>
            </a:r>
          </a:p>
          <a:p>
            <a:pPr eaLnBrk="1" hangingPunct="1"/>
            <a:r>
              <a:rPr lang="en-GB" altLang="en-US" dirty="0" err="1"/>
              <a:t>Giffen</a:t>
            </a:r>
            <a:r>
              <a:rPr lang="en-GB" altLang="en-US" dirty="0"/>
              <a:t> goods/ Inferior goods</a:t>
            </a:r>
          </a:p>
          <a:p>
            <a:pPr eaLnBrk="1" hangingPunct="1"/>
            <a:r>
              <a:rPr lang="en-GB" altLang="en-US" dirty="0"/>
              <a:t>Multiple uses of product</a:t>
            </a:r>
          </a:p>
          <a:p>
            <a:pPr eaLnBrk="1" hangingPunct="1"/>
            <a:r>
              <a:rPr lang="en-GB" altLang="en-US" dirty="0"/>
              <a:t>Ignorance</a:t>
            </a:r>
          </a:p>
          <a:p>
            <a:pPr eaLnBrk="1" hangingPunct="1"/>
            <a:endParaRPr lang="en-GB" altLang="en-US" dirty="0">
              <a:solidFill>
                <a:schemeClr val="accent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a:extLst>
              <a:ext uri="{FF2B5EF4-FFF2-40B4-BE49-F238E27FC236}">
                <a16:creationId xmlns:a16="http://schemas.microsoft.com/office/drawing/2014/main" id="{E6C26481-1DAD-ED37-7975-3027DB673758}"/>
              </a:ext>
            </a:extLst>
          </p:cNvPr>
          <p:cNvSpPr>
            <a:spLocks noGrp="1"/>
          </p:cNvSpPr>
          <p:nvPr>
            <p:ph type="title"/>
          </p:nvPr>
        </p:nvSpPr>
        <p:spPr/>
        <p:txBody>
          <a:bodyPr/>
          <a:lstStyle/>
          <a:p>
            <a:pPr eaLnBrk="1" hangingPunct="1"/>
            <a:r>
              <a:rPr lang="en-GB" altLang="en-US" b="1" dirty="0"/>
              <a:t>Determinants of Demand</a:t>
            </a:r>
            <a:endParaRPr lang="en-US" altLang="en-US" b="1" dirty="0"/>
          </a:p>
        </p:txBody>
      </p:sp>
      <p:sp>
        <p:nvSpPr>
          <p:cNvPr id="28675" name="Content Placeholder 2">
            <a:extLst>
              <a:ext uri="{FF2B5EF4-FFF2-40B4-BE49-F238E27FC236}">
                <a16:creationId xmlns:a16="http://schemas.microsoft.com/office/drawing/2014/main" id="{A9DF421D-BEAC-7456-23BA-9B9F41C43A37}"/>
              </a:ext>
            </a:extLst>
          </p:cNvPr>
          <p:cNvSpPr>
            <a:spLocks noGrp="1"/>
          </p:cNvSpPr>
          <p:nvPr>
            <p:ph idx="1"/>
          </p:nvPr>
        </p:nvSpPr>
        <p:spPr>
          <a:xfrm>
            <a:off x="838200" y="1448657"/>
            <a:ext cx="9220200" cy="5044218"/>
          </a:xfrm>
        </p:spPr>
        <p:txBody>
          <a:bodyPr>
            <a:normAutofit lnSpcReduction="10000"/>
          </a:bodyPr>
          <a:lstStyle/>
          <a:p>
            <a:pPr eaLnBrk="1" hangingPunct="1">
              <a:lnSpc>
                <a:spcPct val="150000"/>
              </a:lnSpc>
            </a:pPr>
            <a:r>
              <a:rPr lang="en-GB" altLang="en-US" dirty="0"/>
              <a:t>Price of the Commodity</a:t>
            </a:r>
          </a:p>
          <a:p>
            <a:pPr eaLnBrk="1" hangingPunct="1">
              <a:lnSpc>
                <a:spcPct val="150000"/>
              </a:lnSpc>
            </a:pPr>
            <a:r>
              <a:rPr lang="en-GB" altLang="en-US" dirty="0"/>
              <a:t>Income of Individual</a:t>
            </a:r>
          </a:p>
          <a:p>
            <a:pPr eaLnBrk="1" hangingPunct="1">
              <a:lnSpc>
                <a:spcPct val="150000"/>
              </a:lnSpc>
            </a:pPr>
            <a:r>
              <a:rPr lang="en-GB" altLang="en-US" dirty="0"/>
              <a:t>Price of related good</a:t>
            </a:r>
          </a:p>
          <a:p>
            <a:pPr eaLnBrk="1" hangingPunct="1">
              <a:lnSpc>
                <a:spcPct val="150000"/>
              </a:lnSpc>
            </a:pPr>
            <a:r>
              <a:rPr lang="en-GB" altLang="en-US" dirty="0"/>
              <a:t>Advertisement expenditure</a:t>
            </a:r>
          </a:p>
          <a:p>
            <a:pPr eaLnBrk="1" hangingPunct="1">
              <a:lnSpc>
                <a:spcPct val="150000"/>
              </a:lnSpc>
            </a:pPr>
            <a:r>
              <a:rPr lang="en-GB" altLang="en-US" dirty="0"/>
              <a:t>Taste and Preference of individuals</a:t>
            </a:r>
          </a:p>
          <a:p>
            <a:pPr eaLnBrk="1" hangingPunct="1">
              <a:lnSpc>
                <a:spcPct val="150000"/>
              </a:lnSpc>
            </a:pPr>
            <a:r>
              <a:rPr lang="en-GB" altLang="en-US" dirty="0"/>
              <a:t>Future expected Price</a:t>
            </a:r>
          </a:p>
          <a:p>
            <a:pPr eaLnBrk="1" hangingPunct="1">
              <a:lnSpc>
                <a:spcPct val="150000"/>
              </a:lnSpc>
            </a:pPr>
            <a:r>
              <a:rPr lang="en-GB" altLang="en-US" dirty="0"/>
              <a:t>Target Population</a:t>
            </a:r>
          </a:p>
          <a:p>
            <a:pPr eaLnBrk="1" hangingPunct="1">
              <a:lnSpc>
                <a:spcPct val="90000"/>
              </a:lnSpc>
            </a:pPr>
            <a:endParaRPr lang="en-GB" altLang="en-US" sz="2400" dirty="0"/>
          </a:p>
          <a:p>
            <a:pPr eaLnBrk="1" hangingPunct="1">
              <a:lnSpc>
                <a:spcPct val="90000"/>
              </a:lnSpc>
            </a:pPr>
            <a:endParaRPr lang="en-GB" altLang="en-US" sz="2400" dirty="0"/>
          </a:p>
          <a:p>
            <a:pPr eaLnBrk="1" hangingPunct="1">
              <a:lnSpc>
                <a:spcPct val="90000"/>
              </a:lnSpc>
            </a:pPr>
            <a:endParaRPr lang="en-GB" altLang="en-US" sz="2400" dirty="0"/>
          </a:p>
          <a:p>
            <a:pPr eaLnBrk="1" hangingPunct="1">
              <a:lnSpc>
                <a:spcPct val="90000"/>
              </a:lnSpc>
            </a:pPr>
            <a:endParaRPr lang="en-GB" altLang="en-US" sz="2400" dirty="0"/>
          </a:p>
          <a:p>
            <a:pPr eaLnBrk="1" hangingPunct="1"/>
            <a:endParaRPr lang="en-US"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CBDB5B06-9EBC-1557-A9E1-086E3484D830}"/>
              </a:ext>
            </a:extLst>
          </p:cNvPr>
          <p:cNvSpPr>
            <a:spLocks noGrp="1" noChangeArrowheads="1"/>
          </p:cNvSpPr>
          <p:nvPr>
            <p:ph type="title"/>
          </p:nvPr>
        </p:nvSpPr>
        <p:spPr/>
        <p:txBody>
          <a:bodyPr/>
          <a:lstStyle/>
          <a:p>
            <a:pPr eaLnBrk="1" hangingPunct="1"/>
            <a:r>
              <a:rPr lang="en-US" altLang="en-US"/>
              <a:t>Elasticity of Demand</a:t>
            </a:r>
          </a:p>
        </p:txBody>
      </p:sp>
      <p:sp>
        <p:nvSpPr>
          <p:cNvPr id="6147" name="Rectangle 3">
            <a:extLst>
              <a:ext uri="{FF2B5EF4-FFF2-40B4-BE49-F238E27FC236}">
                <a16:creationId xmlns:a16="http://schemas.microsoft.com/office/drawing/2014/main" id="{44AA9627-6DD6-2789-51C5-6E72A44CDFD2}"/>
              </a:ext>
            </a:extLst>
          </p:cNvPr>
          <p:cNvSpPr>
            <a:spLocks noGrp="1" noChangeArrowheads="1"/>
          </p:cNvSpPr>
          <p:nvPr>
            <p:ph type="body" idx="1"/>
          </p:nvPr>
        </p:nvSpPr>
        <p:spPr/>
        <p:txBody>
          <a:bodyPr/>
          <a:lstStyle/>
          <a:p>
            <a:pPr eaLnBrk="1" hangingPunct="1"/>
            <a:r>
              <a:rPr lang="en-US" altLang="en-US">
                <a:solidFill>
                  <a:srgbClr val="FF0000"/>
                </a:solidFill>
              </a:rPr>
              <a:t>The degree to which changes in price cause changes in demand</a:t>
            </a:r>
          </a:p>
          <a:p>
            <a:pPr eaLnBrk="1" hangingPunct="1">
              <a:buFontTx/>
              <a:buNone/>
            </a:pPr>
            <a:r>
              <a:rPr lang="en-US" altLang="en-US"/>
              <a:t>				or</a:t>
            </a:r>
          </a:p>
          <a:p>
            <a:pPr eaLnBrk="1" hangingPunct="1"/>
            <a:r>
              <a:rPr lang="en-US" altLang="en-US"/>
              <a:t>If we change the price, will demand change a lot or a little?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92877F4C-0D57-8889-FF31-945CA73B3F7E}"/>
              </a:ext>
            </a:extLst>
          </p:cNvPr>
          <p:cNvSpPr>
            <a:spLocks noGrp="1" noChangeArrowheads="1"/>
          </p:cNvSpPr>
          <p:nvPr>
            <p:ph type="title"/>
          </p:nvPr>
        </p:nvSpPr>
        <p:spPr/>
        <p:txBody>
          <a:bodyPr/>
          <a:lstStyle/>
          <a:p>
            <a:pPr eaLnBrk="1" hangingPunct="1"/>
            <a:r>
              <a:rPr lang="en-US" altLang="en-US"/>
              <a:t>Elastic Demand</a:t>
            </a:r>
          </a:p>
        </p:txBody>
      </p:sp>
      <p:sp>
        <p:nvSpPr>
          <p:cNvPr id="7171" name="Rectangle 3">
            <a:extLst>
              <a:ext uri="{FF2B5EF4-FFF2-40B4-BE49-F238E27FC236}">
                <a16:creationId xmlns:a16="http://schemas.microsoft.com/office/drawing/2014/main" id="{B8A915F3-DEAF-C812-61B8-25353C228193}"/>
              </a:ext>
            </a:extLst>
          </p:cNvPr>
          <p:cNvSpPr>
            <a:spLocks noGrp="1" noChangeArrowheads="1"/>
          </p:cNvSpPr>
          <p:nvPr>
            <p:ph type="body" idx="1"/>
          </p:nvPr>
        </p:nvSpPr>
        <p:spPr>
          <a:xfrm>
            <a:off x="1905000" y="1524001"/>
            <a:ext cx="8229600" cy="4525963"/>
          </a:xfrm>
        </p:spPr>
        <p:txBody>
          <a:bodyPr/>
          <a:lstStyle/>
          <a:p>
            <a:pPr eaLnBrk="1" hangingPunct="1"/>
            <a:r>
              <a:rPr lang="en-US" altLang="en-US" dirty="0"/>
              <a:t>If Demand for a good is very sensitive to changes in price, the demand is </a:t>
            </a:r>
            <a:r>
              <a:rPr lang="en-US" altLang="en-US" u="sng" dirty="0"/>
              <a:t>ELASTIC</a:t>
            </a:r>
          </a:p>
          <a:p>
            <a:pPr algn="ctr" eaLnBrk="1" hangingPunct="1">
              <a:buFontTx/>
              <a:buNone/>
            </a:pPr>
            <a:r>
              <a:rPr lang="en-US" altLang="en-US" dirty="0"/>
              <a:t>Or</a:t>
            </a:r>
          </a:p>
          <a:p>
            <a:pPr eaLnBrk="1" hangingPunct="1"/>
            <a:r>
              <a:rPr lang="en-US" altLang="en-US" dirty="0"/>
              <a:t>If prices changes a little bit, demand will change a lot!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3">
            <a:extLst>
              <a:ext uri="{FF2B5EF4-FFF2-40B4-BE49-F238E27FC236}">
                <a16:creationId xmlns:a16="http://schemas.microsoft.com/office/drawing/2014/main" id="{83A5D9EF-3617-78CF-598E-F60861E4AD67}"/>
              </a:ext>
            </a:extLst>
          </p:cNvPr>
          <p:cNvSpPr>
            <a:spLocks noGrp="1"/>
          </p:cNvSpPr>
          <p:nvPr>
            <p:ph type="title"/>
          </p:nvPr>
        </p:nvSpPr>
        <p:spPr>
          <a:xfrm>
            <a:off x="1677987" y="120650"/>
            <a:ext cx="8959921" cy="1403350"/>
          </a:xfrm>
        </p:spPr>
        <p:txBody>
          <a:bodyPr>
            <a:normAutofit/>
          </a:bodyPr>
          <a:lstStyle/>
          <a:p>
            <a:pPr eaLnBrk="1" hangingPunct="1"/>
            <a:r>
              <a:rPr lang="en-US" altLang="en-US" sz="3600" b="1" dirty="0"/>
              <a:t>Shifting Demand versus Movements along a Demand Curve</a:t>
            </a:r>
            <a:r>
              <a:rPr lang="en-US" altLang="en-US" sz="3600" b="1" dirty="0">
                <a:solidFill>
                  <a:schemeClr val="bg1"/>
                </a:solidFill>
              </a:rPr>
              <a:t> </a:t>
            </a:r>
            <a:endParaRPr lang="en-US" altLang="en-US" sz="3600" b="1" dirty="0"/>
          </a:p>
        </p:txBody>
      </p:sp>
      <p:sp>
        <p:nvSpPr>
          <p:cNvPr id="7" name="Content Placeholder 6">
            <a:extLst>
              <a:ext uri="{FF2B5EF4-FFF2-40B4-BE49-F238E27FC236}">
                <a16:creationId xmlns:a16="http://schemas.microsoft.com/office/drawing/2014/main" id="{7AF97A72-FABB-65CB-0CEB-5EED120C99A5}"/>
              </a:ext>
            </a:extLst>
          </p:cNvPr>
          <p:cNvSpPr>
            <a:spLocks noGrp="1"/>
          </p:cNvSpPr>
          <p:nvPr>
            <p:ph idx="1"/>
          </p:nvPr>
        </p:nvSpPr>
        <p:spPr>
          <a:xfrm>
            <a:off x="1479479" y="1935164"/>
            <a:ext cx="8959921" cy="2675604"/>
          </a:xfrm>
        </p:spPr>
        <p:txBody>
          <a:bodyPr wrap="square" rtlCol="0">
            <a:spAutoFit/>
          </a:bodyPr>
          <a:lstStyle/>
          <a:p>
            <a:pPr marL="274320" indent="-274320" algn="just">
              <a:lnSpc>
                <a:spcPct val="150000"/>
              </a:lnSpc>
              <a:buClr>
                <a:schemeClr val="accent3"/>
              </a:buClr>
              <a:buFont typeface="Wingdings 2"/>
              <a:buChar char=""/>
              <a:defRPr/>
            </a:pPr>
            <a:r>
              <a:rPr lang="en-US" dirty="0"/>
              <a:t>A change in the price of a good causes a change in the quantity demanded, </a:t>
            </a:r>
          </a:p>
          <a:p>
            <a:pPr marL="274320" indent="-274320" algn="just">
              <a:lnSpc>
                <a:spcPct val="150000"/>
              </a:lnSpc>
              <a:buClr>
                <a:schemeClr val="accent3"/>
              </a:buClr>
              <a:buNone/>
              <a:defRPr/>
            </a:pPr>
            <a:r>
              <a:rPr lang="en-US" dirty="0"/>
              <a:t>           but does not shift demand</a:t>
            </a:r>
          </a:p>
          <a:p>
            <a:pPr marL="274320" indent="-274320">
              <a:buClr>
                <a:schemeClr val="accent3"/>
              </a:buClr>
              <a:buFont typeface="Wingdings 2"/>
              <a:buChar char=""/>
              <a:defRPr/>
            </a:pPr>
            <a:endParaRPr lang="en-US" dirty="0">
              <a:solidFill>
                <a:schemeClr val="tx1">
                  <a:lumMod val="75000"/>
                  <a:lumOff val="25000"/>
                </a:schemeClr>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0A51CE8E-3593-AD75-E594-9EF17290BB7F}"/>
              </a:ext>
            </a:extLst>
          </p:cNvPr>
          <p:cNvSpPr>
            <a:spLocks noGrp="1" noChangeArrowheads="1"/>
          </p:cNvSpPr>
          <p:nvPr>
            <p:ph type="title"/>
          </p:nvPr>
        </p:nvSpPr>
        <p:spPr/>
        <p:txBody>
          <a:bodyPr/>
          <a:lstStyle/>
          <a:p>
            <a:pPr eaLnBrk="1" hangingPunct="1"/>
            <a:r>
              <a:rPr lang="en-US" altLang="en-US"/>
              <a:t>Inelastic Demand</a:t>
            </a:r>
          </a:p>
        </p:txBody>
      </p:sp>
      <p:sp>
        <p:nvSpPr>
          <p:cNvPr id="10243" name="Rectangle 3">
            <a:extLst>
              <a:ext uri="{FF2B5EF4-FFF2-40B4-BE49-F238E27FC236}">
                <a16:creationId xmlns:a16="http://schemas.microsoft.com/office/drawing/2014/main" id="{FA9138DB-FCA0-DF57-9319-B7AB690EBE5C}"/>
              </a:ext>
            </a:extLst>
          </p:cNvPr>
          <p:cNvSpPr>
            <a:spLocks noGrp="1" noChangeArrowheads="1"/>
          </p:cNvSpPr>
          <p:nvPr>
            <p:ph type="body" idx="1"/>
          </p:nvPr>
        </p:nvSpPr>
        <p:spPr/>
        <p:txBody>
          <a:bodyPr/>
          <a:lstStyle/>
          <a:p>
            <a:pPr eaLnBrk="1" hangingPunct="1"/>
            <a:r>
              <a:rPr lang="en-US" altLang="en-US" dirty="0"/>
              <a:t>Demand for a good that consumers will continue to buy despite a price increase is INELASTIC</a:t>
            </a:r>
          </a:p>
          <a:p>
            <a:pPr algn="ctr" eaLnBrk="1" hangingPunct="1">
              <a:buFontTx/>
              <a:buNone/>
            </a:pPr>
            <a:r>
              <a:rPr lang="en-US" altLang="en-US" dirty="0"/>
              <a:t>OR</a:t>
            </a:r>
          </a:p>
          <a:p>
            <a:pPr eaLnBrk="1" hangingPunct="1"/>
            <a:r>
              <a:rPr lang="en-US" altLang="en-US" dirty="0"/>
              <a:t>Even if price changes a lot, demand changes very little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39E6E0CC-A731-AA80-37F1-07C6634EDD95}"/>
              </a:ext>
            </a:extLst>
          </p:cNvPr>
          <p:cNvSpPr>
            <a:spLocks noGrp="1" noChangeArrowheads="1"/>
          </p:cNvSpPr>
          <p:nvPr>
            <p:ph type="title"/>
          </p:nvPr>
        </p:nvSpPr>
        <p:spPr/>
        <p:txBody>
          <a:bodyPr/>
          <a:lstStyle/>
          <a:p>
            <a:pPr eaLnBrk="1" hangingPunct="1"/>
            <a:r>
              <a:rPr lang="en-US" altLang="en-US"/>
              <a:t>Example of Inelastic Demand</a:t>
            </a:r>
          </a:p>
        </p:txBody>
      </p:sp>
      <p:sp>
        <p:nvSpPr>
          <p:cNvPr id="11267" name="Rectangle 3">
            <a:extLst>
              <a:ext uri="{FF2B5EF4-FFF2-40B4-BE49-F238E27FC236}">
                <a16:creationId xmlns:a16="http://schemas.microsoft.com/office/drawing/2014/main" id="{0A4F6820-4D18-7089-C150-B7E1EE99BFAA}"/>
              </a:ext>
            </a:extLst>
          </p:cNvPr>
          <p:cNvSpPr>
            <a:spLocks noGrp="1" noChangeArrowheads="1"/>
          </p:cNvSpPr>
          <p:nvPr>
            <p:ph type="body" idx="1"/>
          </p:nvPr>
        </p:nvSpPr>
        <p:spPr/>
        <p:txBody>
          <a:bodyPr/>
          <a:lstStyle/>
          <a:p>
            <a:pPr eaLnBrk="1" hangingPunct="1"/>
            <a:r>
              <a:rPr lang="en-US" altLang="en-US"/>
              <a:t>The price of soap goes up a lot, the demand stays almost the same.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3">
            <a:extLst>
              <a:ext uri="{FF2B5EF4-FFF2-40B4-BE49-F238E27FC236}">
                <a16:creationId xmlns:a16="http://schemas.microsoft.com/office/drawing/2014/main" id="{D0F33F1B-1D08-EF6F-E6F2-5CD183F9F402}"/>
              </a:ext>
            </a:extLst>
          </p:cNvPr>
          <p:cNvSpPr>
            <a:spLocks noGrp="1"/>
          </p:cNvSpPr>
          <p:nvPr>
            <p:ph type="title"/>
          </p:nvPr>
        </p:nvSpPr>
        <p:spPr>
          <a:xfrm>
            <a:off x="1160980" y="120650"/>
            <a:ext cx="9801543" cy="838200"/>
          </a:xfrm>
        </p:spPr>
        <p:txBody>
          <a:bodyPr>
            <a:noAutofit/>
          </a:bodyPr>
          <a:lstStyle/>
          <a:p>
            <a:pPr eaLnBrk="1" hangingPunct="1"/>
            <a:r>
              <a:rPr lang="en-US" altLang="en-US" sz="3600" b="1" dirty="0"/>
              <a:t>Changes in Demand vs. Changes in Quantity Demanded</a:t>
            </a:r>
          </a:p>
        </p:txBody>
      </p:sp>
      <p:sp>
        <p:nvSpPr>
          <p:cNvPr id="30723" name="Line 4">
            <a:extLst>
              <a:ext uri="{FF2B5EF4-FFF2-40B4-BE49-F238E27FC236}">
                <a16:creationId xmlns:a16="http://schemas.microsoft.com/office/drawing/2014/main" id="{70191840-5AB1-A3D6-F0B5-EFA359116FFE}"/>
              </a:ext>
            </a:extLst>
          </p:cNvPr>
          <p:cNvSpPr>
            <a:spLocks noChangeShapeType="1"/>
          </p:cNvSpPr>
          <p:nvPr/>
        </p:nvSpPr>
        <p:spPr bwMode="auto">
          <a:xfrm>
            <a:off x="3505200" y="2286000"/>
            <a:ext cx="0" cy="373380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30724" name="Line 5">
            <a:extLst>
              <a:ext uri="{FF2B5EF4-FFF2-40B4-BE49-F238E27FC236}">
                <a16:creationId xmlns:a16="http://schemas.microsoft.com/office/drawing/2014/main" id="{246EB69F-FB03-37CD-550A-22AA77C38A7B}"/>
              </a:ext>
            </a:extLst>
          </p:cNvPr>
          <p:cNvSpPr>
            <a:spLocks noChangeShapeType="1"/>
          </p:cNvSpPr>
          <p:nvPr/>
        </p:nvSpPr>
        <p:spPr bwMode="auto">
          <a:xfrm>
            <a:off x="3581400" y="6019800"/>
            <a:ext cx="5562600" cy="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30725" name="Line 10">
            <a:extLst>
              <a:ext uri="{FF2B5EF4-FFF2-40B4-BE49-F238E27FC236}">
                <a16:creationId xmlns:a16="http://schemas.microsoft.com/office/drawing/2014/main" id="{26E44B28-4284-B28A-DCB6-B7B34A81BA14}"/>
              </a:ext>
            </a:extLst>
          </p:cNvPr>
          <p:cNvSpPr>
            <a:spLocks noChangeShapeType="1"/>
          </p:cNvSpPr>
          <p:nvPr/>
        </p:nvSpPr>
        <p:spPr bwMode="auto">
          <a:xfrm>
            <a:off x="3505200" y="2438400"/>
            <a:ext cx="5181600" cy="3581400"/>
          </a:xfrm>
          <a:prstGeom prst="line">
            <a:avLst/>
          </a:prstGeom>
          <a:noFill/>
          <a:ln w="57150">
            <a:solidFill>
              <a:srgbClr val="C00000"/>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14342" name="AutoShape 29">
            <a:extLst>
              <a:ext uri="{FF2B5EF4-FFF2-40B4-BE49-F238E27FC236}">
                <a16:creationId xmlns:a16="http://schemas.microsoft.com/office/drawing/2014/main" id="{93C6F710-F206-C6F8-3997-19A682E3C182}"/>
              </a:ext>
            </a:extLst>
          </p:cNvPr>
          <p:cNvSpPr>
            <a:spLocks noChangeArrowheads="1"/>
          </p:cNvSpPr>
          <p:nvPr/>
        </p:nvSpPr>
        <p:spPr bwMode="auto">
          <a:xfrm rot="2175439">
            <a:off x="4395789" y="3346450"/>
            <a:ext cx="3462337" cy="279400"/>
          </a:xfrm>
          <a:prstGeom prst="leftRightArrow">
            <a:avLst>
              <a:gd name="adj1" fmla="val 50000"/>
              <a:gd name="adj2" fmla="val 286566"/>
            </a:avLst>
          </a:prstGeom>
          <a:solidFill>
            <a:srgbClr val="CC3300"/>
          </a:solidFill>
          <a:ln w="9525">
            <a:solidFill>
              <a:schemeClr val="tx1"/>
            </a:solidFill>
            <a:miter lim="800000"/>
            <a:headEnd/>
            <a:tailEnd/>
          </a:ln>
        </p:spPr>
        <p:txBody>
          <a:bodyPr wrap="none" anchor="ctr"/>
          <a:lstStyle>
            <a:lvl1pPr>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endParaRPr lang="en-US" altLang="en-US">
              <a:solidFill>
                <a:schemeClr val="tx1"/>
              </a:solidFill>
              <a:latin typeface="Constantia" panose="02030602050306030303" pitchFamily="18" charset="0"/>
            </a:endParaRPr>
          </a:p>
        </p:txBody>
      </p:sp>
      <p:sp>
        <p:nvSpPr>
          <p:cNvPr id="10" name="Rectangle 9">
            <a:extLst>
              <a:ext uri="{FF2B5EF4-FFF2-40B4-BE49-F238E27FC236}">
                <a16:creationId xmlns:a16="http://schemas.microsoft.com/office/drawing/2014/main" id="{4B28C012-7932-EE4F-3F9F-5FDD569084A9}"/>
              </a:ext>
            </a:extLst>
          </p:cNvPr>
          <p:cNvSpPr/>
          <p:nvPr/>
        </p:nvSpPr>
        <p:spPr>
          <a:xfrm>
            <a:off x="5700713" y="1195389"/>
            <a:ext cx="3048000" cy="2308225"/>
          </a:xfrm>
          <a:prstGeom prst="rect">
            <a:avLst/>
          </a:prstGeom>
        </p:spPr>
        <p:txBody>
          <a:bodyPr>
            <a:spAutoFit/>
          </a:bodyPr>
          <a:lstStyle/>
          <a:p>
            <a:pPr algn="just">
              <a:spcBef>
                <a:spcPct val="50000"/>
              </a:spcBef>
              <a:defRPr/>
            </a:pPr>
            <a:r>
              <a:rPr lang="en-US" sz="2400" b="1" dirty="0">
                <a:solidFill>
                  <a:schemeClr val="tx2"/>
                </a:solidFill>
                <a:effectLst>
                  <a:outerShdw blurRad="38100" dist="38100" dir="2700000" algn="tl">
                    <a:srgbClr val="C0C0C0"/>
                  </a:outerShdw>
                </a:effectLst>
              </a:rPr>
              <a:t>A price change would change the quantity demanded which involves  movement along the demand curve.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nodeType="clickEffect">
                                  <p:stCondLst>
                                    <p:cond delay="0"/>
                                  </p:stCondLst>
                                  <p:childTnLst>
                                    <p:set>
                                      <p:cBhvr>
                                        <p:cTn id="6" dur="1" fill="hold">
                                          <p:stCondLst>
                                            <p:cond delay="0"/>
                                          </p:stCondLst>
                                        </p:cTn>
                                        <p:tgtEl>
                                          <p:spTgt spid="14342"/>
                                        </p:tgtEl>
                                        <p:attrNameLst>
                                          <p:attrName>style.visibility</p:attrName>
                                        </p:attrNameLst>
                                      </p:cBhvr>
                                      <p:to>
                                        <p:strVal val="visible"/>
                                      </p:to>
                                    </p:set>
                                    <p:anim calcmode="lin" valueType="num">
                                      <p:cBhvr>
                                        <p:cTn id="7" dur="500" fill="hold"/>
                                        <p:tgtEl>
                                          <p:spTgt spid="14342"/>
                                        </p:tgtEl>
                                        <p:attrNameLst>
                                          <p:attrName>ppt_w</p:attrName>
                                        </p:attrNameLst>
                                      </p:cBhvr>
                                      <p:tavLst>
                                        <p:tav tm="0">
                                          <p:val>
                                            <p:fltVal val="0"/>
                                          </p:val>
                                        </p:tav>
                                        <p:tav tm="100000">
                                          <p:val>
                                            <p:strVal val="#ppt_w"/>
                                          </p:val>
                                        </p:tav>
                                      </p:tavLst>
                                    </p:anim>
                                    <p:anim calcmode="lin" valueType="num">
                                      <p:cBhvr>
                                        <p:cTn id="8" dur="500" fill="hold"/>
                                        <p:tgtEl>
                                          <p:spTgt spid="1434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2" grpId="0" animBg="1"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Line 4">
            <a:extLst>
              <a:ext uri="{FF2B5EF4-FFF2-40B4-BE49-F238E27FC236}">
                <a16:creationId xmlns:a16="http://schemas.microsoft.com/office/drawing/2014/main" id="{5852CEEE-18BE-F6D8-C096-D193B973171E}"/>
              </a:ext>
            </a:extLst>
          </p:cNvPr>
          <p:cNvSpPr>
            <a:spLocks noChangeShapeType="1"/>
          </p:cNvSpPr>
          <p:nvPr/>
        </p:nvSpPr>
        <p:spPr bwMode="auto">
          <a:xfrm>
            <a:off x="3505200" y="1752600"/>
            <a:ext cx="0" cy="373380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31747" name="Line 5">
            <a:extLst>
              <a:ext uri="{FF2B5EF4-FFF2-40B4-BE49-F238E27FC236}">
                <a16:creationId xmlns:a16="http://schemas.microsoft.com/office/drawing/2014/main" id="{1E53B80E-5D74-9410-C6B5-B8167B1D5117}"/>
              </a:ext>
            </a:extLst>
          </p:cNvPr>
          <p:cNvSpPr>
            <a:spLocks noChangeShapeType="1"/>
          </p:cNvSpPr>
          <p:nvPr/>
        </p:nvSpPr>
        <p:spPr bwMode="auto">
          <a:xfrm>
            <a:off x="3505200" y="5486400"/>
            <a:ext cx="5562600" cy="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7" name="Line 6">
            <a:extLst>
              <a:ext uri="{FF2B5EF4-FFF2-40B4-BE49-F238E27FC236}">
                <a16:creationId xmlns:a16="http://schemas.microsoft.com/office/drawing/2014/main" id="{E2044CC3-C43B-9988-E4E2-9B4B5D78382C}"/>
              </a:ext>
            </a:extLst>
          </p:cNvPr>
          <p:cNvSpPr>
            <a:spLocks noChangeShapeType="1"/>
          </p:cNvSpPr>
          <p:nvPr/>
        </p:nvSpPr>
        <p:spPr bwMode="auto">
          <a:xfrm>
            <a:off x="3505200" y="3200400"/>
            <a:ext cx="2971800" cy="2286000"/>
          </a:xfrm>
          <a:prstGeom prst="line">
            <a:avLst/>
          </a:prstGeom>
          <a:noFill/>
          <a:ln w="5715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8" name="Text Box 7">
            <a:extLst>
              <a:ext uri="{FF2B5EF4-FFF2-40B4-BE49-F238E27FC236}">
                <a16:creationId xmlns:a16="http://schemas.microsoft.com/office/drawing/2014/main" id="{6E6E7AF9-3376-8E8D-C09E-5182CCCB88F9}"/>
              </a:ext>
            </a:extLst>
          </p:cNvPr>
          <p:cNvSpPr txBox="1">
            <a:spLocks noChangeArrowheads="1"/>
          </p:cNvSpPr>
          <p:nvPr/>
        </p:nvSpPr>
        <p:spPr bwMode="auto">
          <a:xfrm>
            <a:off x="8153400" y="5486400"/>
            <a:ext cx="1524000" cy="457200"/>
          </a:xfrm>
          <a:prstGeom prst="rect">
            <a:avLst/>
          </a:prstGeom>
          <a:noFill/>
          <a:ln w="9525">
            <a:solidFill>
              <a:schemeClr val="tx2"/>
            </a:solidFill>
            <a:miter lim="800000"/>
            <a:headEnd/>
            <a:tailEnd/>
          </a:ln>
          <a:effectLst/>
        </p:spPr>
        <p:txBody>
          <a:bodyPr>
            <a:spAutoFit/>
          </a:bodyPr>
          <a:lstStyle/>
          <a:p>
            <a:pPr>
              <a:spcBef>
                <a:spcPct val="50000"/>
              </a:spcBef>
              <a:defRPr/>
            </a:pPr>
            <a:r>
              <a:rPr lang="en-US" sz="2400">
                <a:solidFill>
                  <a:schemeClr val="tx2"/>
                </a:solidFill>
                <a:effectLst>
                  <a:outerShdw blurRad="38100" dist="38100" dir="2700000" algn="tl">
                    <a:srgbClr val="FFFFFF"/>
                  </a:outerShdw>
                </a:effectLst>
              </a:rPr>
              <a:t>Quantity</a:t>
            </a:r>
          </a:p>
        </p:txBody>
      </p:sp>
      <p:sp>
        <p:nvSpPr>
          <p:cNvPr id="31750" name="Line 10">
            <a:extLst>
              <a:ext uri="{FF2B5EF4-FFF2-40B4-BE49-F238E27FC236}">
                <a16:creationId xmlns:a16="http://schemas.microsoft.com/office/drawing/2014/main" id="{B4645D73-9494-37C4-6F50-ED4CC54395CB}"/>
              </a:ext>
            </a:extLst>
          </p:cNvPr>
          <p:cNvSpPr>
            <a:spLocks noChangeShapeType="1"/>
          </p:cNvSpPr>
          <p:nvPr/>
        </p:nvSpPr>
        <p:spPr bwMode="auto">
          <a:xfrm>
            <a:off x="3581400" y="1752600"/>
            <a:ext cx="4876800" cy="3733800"/>
          </a:xfrm>
          <a:prstGeom prst="line">
            <a:avLst/>
          </a:prstGeom>
          <a:noFill/>
          <a:ln w="5715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31751" name="AutoShape 11">
            <a:extLst>
              <a:ext uri="{FF2B5EF4-FFF2-40B4-BE49-F238E27FC236}">
                <a16:creationId xmlns:a16="http://schemas.microsoft.com/office/drawing/2014/main" id="{31CF61D3-00B2-138D-3484-16E72182D81D}"/>
              </a:ext>
            </a:extLst>
          </p:cNvPr>
          <p:cNvSpPr>
            <a:spLocks noChangeArrowheads="1"/>
          </p:cNvSpPr>
          <p:nvPr/>
        </p:nvSpPr>
        <p:spPr bwMode="auto">
          <a:xfrm rot="2175439">
            <a:off x="4192588" y="2967038"/>
            <a:ext cx="3276600" cy="228600"/>
          </a:xfrm>
          <a:prstGeom prst="leftRightArrow">
            <a:avLst>
              <a:gd name="adj1" fmla="val 50000"/>
              <a:gd name="adj2" fmla="val 286667"/>
            </a:avLst>
          </a:prstGeom>
          <a:solidFill>
            <a:srgbClr val="CC3300"/>
          </a:solidFill>
          <a:ln w="9525">
            <a:solidFill>
              <a:schemeClr val="tx2"/>
            </a:solidFill>
            <a:miter lim="800000"/>
            <a:headEnd/>
            <a:tailEnd/>
          </a:ln>
        </p:spPr>
        <p:txBody>
          <a:bodyPr wrap="none" anchor="ctr"/>
          <a:lstStyle>
            <a:lvl1pPr>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endParaRPr lang="en-US" altLang="en-US">
              <a:solidFill>
                <a:schemeClr val="tx2"/>
              </a:solidFill>
              <a:latin typeface="Constantia" panose="02030602050306030303" pitchFamily="18" charset="0"/>
            </a:endParaRPr>
          </a:p>
        </p:txBody>
      </p:sp>
      <p:sp>
        <p:nvSpPr>
          <p:cNvPr id="15" name="AutoShape 13">
            <a:extLst>
              <a:ext uri="{FF2B5EF4-FFF2-40B4-BE49-F238E27FC236}">
                <a16:creationId xmlns:a16="http://schemas.microsoft.com/office/drawing/2014/main" id="{8D4AEEDC-3373-458F-E601-581A9ECCE794}"/>
              </a:ext>
            </a:extLst>
          </p:cNvPr>
          <p:cNvSpPr>
            <a:spLocks noChangeArrowheads="1"/>
          </p:cNvSpPr>
          <p:nvPr/>
        </p:nvSpPr>
        <p:spPr bwMode="auto">
          <a:xfrm>
            <a:off x="3810000" y="3048000"/>
            <a:ext cx="1371600" cy="228600"/>
          </a:xfrm>
          <a:prstGeom prst="leftArrow">
            <a:avLst>
              <a:gd name="adj1" fmla="val 50000"/>
              <a:gd name="adj2" fmla="val 150000"/>
            </a:avLst>
          </a:prstGeom>
          <a:solidFill>
            <a:srgbClr val="CC3300"/>
          </a:solidFill>
          <a:ln w="9525">
            <a:solidFill>
              <a:schemeClr val="tx2"/>
            </a:solidFill>
            <a:miter lim="800000"/>
            <a:headEnd/>
            <a:tailEnd/>
          </a:ln>
        </p:spPr>
        <p:txBody>
          <a:bodyPr wrap="none" anchor="ctr"/>
          <a:lstStyle>
            <a:lvl1pPr>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endParaRPr lang="en-US" altLang="en-US">
              <a:solidFill>
                <a:schemeClr val="tx2"/>
              </a:solidFill>
              <a:latin typeface="Constantia" panose="02030602050306030303" pitchFamily="18" charset="0"/>
            </a:endParaRPr>
          </a:p>
        </p:txBody>
      </p:sp>
      <p:sp>
        <p:nvSpPr>
          <p:cNvPr id="16" name="AutoShape 14">
            <a:extLst>
              <a:ext uri="{FF2B5EF4-FFF2-40B4-BE49-F238E27FC236}">
                <a16:creationId xmlns:a16="http://schemas.microsoft.com/office/drawing/2014/main" id="{E0B50AE9-F56F-FAFC-1984-D10115C62EB3}"/>
              </a:ext>
            </a:extLst>
          </p:cNvPr>
          <p:cNvSpPr>
            <a:spLocks noChangeArrowheads="1"/>
          </p:cNvSpPr>
          <p:nvPr/>
        </p:nvSpPr>
        <p:spPr bwMode="auto">
          <a:xfrm rot="10807745">
            <a:off x="5638800" y="4572000"/>
            <a:ext cx="1371600" cy="228600"/>
          </a:xfrm>
          <a:prstGeom prst="leftArrow">
            <a:avLst>
              <a:gd name="adj1" fmla="val 50000"/>
              <a:gd name="adj2" fmla="val 150000"/>
            </a:avLst>
          </a:prstGeom>
          <a:solidFill>
            <a:srgbClr val="CC3300"/>
          </a:solidFill>
          <a:ln w="9525">
            <a:solidFill>
              <a:schemeClr val="tx2"/>
            </a:solidFill>
            <a:miter lim="800000"/>
            <a:headEnd/>
            <a:tailEnd/>
          </a:ln>
        </p:spPr>
        <p:txBody>
          <a:bodyPr wrap="none" anchor="ctr"/>
          <a:lstStyle>
            <a:lvl1pPr>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endParaRPr lang="en-US" altLang="en-US">
              <a:solidFill>
                <a:schemeClr val="tx2"/>
              </a:solidFill>
              <a:latin typeface="Constantia" panose="02030602050306030303" pitchFamily="18" charset="0"/>
            </a:endParaRPr>
          </a:p>
        </p:txBody>
      </p:sp>
      <p:sp>
        <p:nvSpPr>
          <p:cNvPr id="25610" name="Title 18">
            <a:extLst>
              <a:ext uri="{FF2B5EF4-FFF2-40B4-BE49-F238E27FC236}">
                <a16:creationId xmlns:a16="http://schemas.microsoft.com/office/drawing/2014/main" id="{4560E968-4340-0058-8FDF-1A5FB1EE4D3A}"/>
              </a:ext>
            </a:extLst>
          </p:cNvPr>
          <p:cNvSpPr>
            <a:spLocks noGrp="1"/>
          </p:cNvSpPr>
          <p:nvPr>
            <p:ph type="title"/>
          </p:nvPr>
        </p:nvSpPr>
        <p:spPr>
          <a:xfrm>
            <a:off x="1099335" y="381000"/>
            <a:ext cx="8938425" cy="838200"/>
          </a:xfrm>
        </p:spPr>
        <p:txBody>
          <a:bodyPr rtlCol="0">
            <a:normAutofit fontScale="90000"/>
          </a:bodyPr>
          <a:lstStyle/>
          <a:p>
            <a:pPr>
              <a:defRPr/>
            </a:pPr>
            <a:br>
              <a:rPr lang="en-US" b="1" dirty="0"/>
            </a:br>
            <a:r>
              <a:rPr lang="en-US" b="1" dirty="0"/>
              <a:t>Changes in Demand vs. Changes in Quantity Demanded</a:t>
            </a:r>
            <a:br>
              <a:rPr lang="en-US" sz="2400" b="1" dirty="0"/>
            </a:br>
            <a:endParaRPr lang="en-US" sz="2400" dirty="0"/>
          </a:p>
        </p:txBody>
      </p:sp>
      <p:sp>
        <p:nvSpPr>
          <p:cNvPr id="19" name="Rectangle 18">
            <a:extLst>
              <a:ext uri="{FF2B5EF4-FFF2-40B4-BE49-F238E27FC236}">
                <a16:creationId xmlns:a16="http://schemas.microsoft.com/office/drawing/2014/main" id="{F1C70FE9-F18B-E955-1AD4-50D97D3FF767}"/>
              </a:ext>
            </a:extLst>
          </p:cNvPr>
          <p:cNvSpPr/>
          <p:nvPr/>
        </p:nvSpPr>
        <p:spPr>
          <a:xfrm>
            <a:off x="6172201" y="1905000"/>
            <a:ext cx="3865563" cy="369888"/>
          </a:xfrm>
          <a:prstGeom prst="rect">
            <a:avLst/>
          </a:prstGeom>
        </p:spPr>
        <p:txBody>
          <a:bodyPr wrap="none">
            <a:spAutoFit/>
          </a:bodyPr>
          <a:lstStyle/>
          <a:p>
            <a:pPr>
              <a:spcBef>
                <a:spcPct val="50000"/>
              </a:spcBef>
              <a:defRPr/>
            </a:pPr>
            <a:r>
              <a:rPr lang="en-US" dirty="0">
                <a:solidFill>
                  <a:schemeClr val="tx2"/>
                </a:solidFill>
                <a:effectLst>
                  <a:outerShdw blurRad="38100" dist="38100" dir="2700000" algn="tl">
                    <a:srgbClr val="C0C0C0"/>
                  </a:outerShdw>
                </a:effectLst>
                <a:latin typeface="Arial" charset="0"/>
              </a:rPr>
              <a:t>Movement along the demand curve.</a:t>
            </a:r>
          </a:p>
        </p:txBody>
      </p:sp>
      <p:sp>
        <p:nvSpPr>
          <p:cNvPr id="20" name="Rectangle 19">
            <a:extLst>
              <a:ext uri="{FF2B5EF4-FFF2-40B4-BE49-F238E27FC236}">
                <a16:creationId xmlns:a16="http://schemas.microsoft.com/office/drawing/2014/main" id="{1062CC8F-5D67-C276-2020-B504B8644982}"/>
              </a:ext>
            </a:extLst>
          </p:cNvPr>
          <p:cNvSpPr/>
          <p:nvPr/>
        </p:nvSpPr>
        <p:spPr>
          <a:xfrm rot="16200000">
            <a:off x="2375694" y="2877344"/>
            <a:ext cx="1219200" cy="369888"/>
          </a:xfrm>
          <a:prstGeom prst="rect">
            <a:avLst/>
          </a:prstGeom>
        </p:spPr>
        <p:txBody>
          <a:bodyPr wrap="none">
            <a:spAutoFit/>
          </a:bodyPr>
          <a:lstStyle/>
          <a:p>
            <a:pPr>
              <a:spcBef>
                <a:spcPct val="50000"/>
              </a:spcBef>
              <a:defRPr/>
            </a:pPr>
            <a:r>
              <a:rPr lang="en-US" dirty="0">
                <a:solidFill>
                  <a:schemeClr val="tx2"/>
                </a:solidFill>
                <a:effectLst>
                  <a:outerShdw blurRad="38100" dist="38100" dir="2700000" algn="tl">
                    <a:srgbClr val="C0C0C0"/>
                  </a:outerShdw>
                </a:effectLst>
                <a:latin typeface="Arial" charset="0"/>
              </a:rPr>
              <a:t>Price ($’s)</a:t>
            </a:r>
          </a:p>
        </p:txBody>
      </p:sp>
      <p:sp>
        <p:nvSpPr>
          <p:cNvPr id="21" name="Rectangle 20">
            <a:extLst>
              <a:ext uri="{FF2B5EF4-FFF2-40B4-BE49-F238E27FC236}">
                <a16:creationId xmlns:a16="http://schemas.microsoft.com/office/drawing/2014/main" id="{4EAC9A2E-D9EA-90AD-33E8-3FB7C5A4B15A}"/>
              </a:ext>
            </a:extLst>
          </p:cNvPr>
          <p:cNvSpPr/>
          <p:nvPr/>
        </p:nvSpPr>
        <p:spPr>
          <a:xfrm>
            <a:off x="8305801" y="4343400"/>
            <a:ext cx="1057275" cy="369888"/>
          </a:xfrm>
          <a:prstGeom prst="rect">
            <a:avLst/>
          </a:prstGeom>
        </p:spPr>
        <p:txBody>
          <a:bodyPr wrap="none">
            <a:spAutoFit/>
          </a:bodyPr>
          <a:lstStyle/>
          <a:p>
            <a:pPr>
              <a:spcBef>
                <a:spcPct val="50000"/>
              </a:spcBef>
              <a:defRPr/>
            </a:pPr>
            <a:r>
              <a:rPr lang="en-US" i="1" dirty="0">
                <a:solidFill>
                  <a:schemeClr val="tx2"/>
                </a:solidFill>
                <a:effectLst>
                  <a:outerShdw blurRad="38100" dist="38100" dir="2700000" algn="tl">
                    <a:srgbClr val="C0C0C0"/>
                  </a:outerShdw>
                </a:effectLst>
                <a:latin typeface="Arial" charset="0"/>
              </a:rPr>
              <a:t>Demand</a:t>
            </a:r>
          </a:p>
        </p:txBody>
      </p:sp>
      <p:sp>
        <p:nvSpPr>
          <p:cNvPr id="31758" name="Rectangle 21">
            <a:extLst>
              <a:ext uri="{FF2B5EF4-FFF2-40B4-BE49-F238E27FC236}">
                <a16:creationId xmlns:a16="http://schemas.microsoft.com/office/drawing/2014/main" id="{C2C2237A-987D-0C58-E70D-14211AB958A0}"/>
              </a:ext>
            </a:extLst>
          </p:cNvPr>
          <p:cNvSpPr>
            <a:spLocks noChangeArrowheads="1"/>
          </p:cNvSpPr>
          <p:nvPr/>
        </p:nvSpPr>
        <p:spPr bwMode="auto">
          <a:xfrm>
            <a:off x="5486400" y="4114800"/>
            <a:ext cx="10033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a:spcBef>
                <a:spcPct val="50000"/>
              </a:spcBef>
              <a:buClrTx/>
              <a:buSzTx/>
              <a:buFontTx/>
              <a:buNone/>
            </a:pPr>
            <a:r>
              <a:rPr lang="en-US" altLang="en-US" i="1">
                <a:solidFill>
                  <a:schemeClr val="tx2"/>
                </a:solidFill>
                <a:latin typeface="Constantia" panose="02030602050306030303" pitchFamily="18" charset="0"/>
              </a:rPr>
              <a:t>Increase</a:t>
            </a:r>
          </a:p>
        </p:txBody>
      </p:sp>
      <p:sp>
        <p:nvSpPr>
          <p:cNvPr id="23" name="Rectangle 22">
            <a:extLst>
              <a:ext uri="{FF2B5EF4-FFF2-40B4-BE49-F238E27FC236}">
                <a16:creationId xmlns:a16="http://schemas.microsoft.com/office/drawing/2014/main" id="{C9DBDB38-8284-B4FC-A2FA-2F26CCDB4A40}"/>
              </a:ext>
            </a:extLst>
          </p:cNvPr>
          <p:cNvSpPr/>
          <p:nvPr/>
        </p:nvSpPr>
        <p:spPr>
          <a:xfrm>
            <a:off x="4648201" y="3505200"/>
            <a:ext cx="1171575" cy="369888"/>
          </a:xfrm>
          <a:prstGeom prst="rect">
            <a:avLst/>
          </a:prstGeom>
        </p:spPr>
        <p:txBody>
          <a:bodyPr wrap="none">
            <a:spAutoFit/>
          </a:bodyPr>
          <a:lstStyle/>
          <a:p>
            <a:pPr>
              <a:spcBef>
                <a:spcPct val="50000"/>
              </a:spcBef>
              <a:defRPr/>
            </a:pPr>
            <a:r>
              <a:rPr lang="en-US" i="1" dirty="0">
                <a:solidFill>
                  <a:schemeClr val="tx2"/>
                </a:solidFill>
                <a:effectLst>
                  <a:outerShdw blurRad="38100" dist="38100" dir="2700000" algn="tl">
                    <a:srgbClr val="FFFFFF"/>
                  </a:outerShdw>
                </a:effectLst>
                <a:latin typeface="Arial" charset="0"/>
              </a:rPr>
              <a:t>Decrease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2"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ppt_x</p:attrName>
                                        </p:attrNameLst>
                                      </p:cBhvr>
                                      <p:tavLst>
                                        <p:tav tm="0">
                                          <p:val>
                                            <p:strVal val="#ppt_x+#ppt_w/2"/>
                                          </p:val>
                                        </p:tav>
                                        <p:tav tm="100000">
                                          <p:val>
                                            <p:strVal val="#ppt_x"/>
                                          </p:val>
                                        </p:tav>
                                      </p:tavLst>
                                    </p:anim>
                                    <p:anim calcmode="lin" valueType="num">
                                      <p:cBhvr>
                                        <p:cTn id="8" dur="500" fill="hold"/>
                                        <p:tgtEl>
                                          <p:spTgt spid="15"/>
                                        </p:tgtEl>
                                        <p:attrNameLst>
                                          <p:attrName>ppt_y</p:attrName>
                                        </p:attrNameLst>
                                      </p:cBhvr>
                                      <p:tavLst>
                                        <p:tav tm="0">
                                          <p:val>
                                            <p:strVal val="#ppt_y"/>
                                          </p:val>
                                        </p:tav>
                                        <p:tav tm="100000">
                                          <p:val>
                                            <p:strVal val="#ppt_y"/>
                                          </p:val>
                                        </p:tav>
                                      </p:tavLst>
                                    </p:anim>
                                    <p:anim calcmode="lin" valueType="num">
                                      <p:cBhvr>
                                        <p:cTn id="9" dur="500" fill="hold"/>
                                        <p:tgtEl>
                                          <p:spTgt spid="15"/>
                                        </p:tgtEl>
                                        <p:attrNameLst>
                                          <p:attrName>ppt_w</p:attrName>
                                        </p:attrNameLst>
                                      </p:cBhvr>
                                      <p:tavLst>
                                        <p:tav tm="0">
                                          <p:val>
                                            <p:fltVal val="0"/>
                                          </p:val>
                                        </p:tav>
                                        <p:tav tm="100000">
                                          <p:val>
                                            <p:strVal val="#ppt_w"/>
                                          </p:val>
                                        </p:tav>
                                      </p:tavLst>
                                    </p:anim>
                                    <p:anim calcmode="lin" valueType="num">
                                      <p:cBhvr>
                                        <p:cTn id="10" dur="500" fill="hold"/>
                                        <p:tgtEl>
                                          <p:spTgt spid="15"/>
                                        </p:tgtEl>
                                        <p:attrNameLst>
                                          <p:attrName>ppt_h</p:attrName>
                                        </p:attrNameLst>
                                      </p:cBhvr>
                                      <p:tavLst>
                                        <p:tav tm="0">
                                          <p:val>
                                            <p:strVal val="#ppt_h"/>
                                          </p:val>
                                        </p:tav>
                                        <p:tav tm="100000">
                                          <p:val>
                                            <p:strVal val="#ppt_h"/>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18" presetClass="entr" presetSubtype="12"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strips(downLeft)">
                                      <p:cBhvr>
                                        <p:cTn id="15" dur="500"/>
                                        <p:tgtEl>
                                          <p:spTgt spid="7"/>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7" presetClass="entr" presetSubtype="8" fill="hold" nodeType="clickEffect">
                                  <p:stCondLst>
                                    <p:cond delay="0"/>
                                  </p:stCondLst>
                                  <p:childTnLst>
                                    <p:set>
                                      <p:cBhvr>
                                        <p:cTn id="19" dur="1" fill="hold">
                                          <p:stCondLst>
                                            <p:cond delay="0"/>
                                          </p:stCondLst>
                                        </p:cTn>
                                        <p:tgtEl>
                                          <p:spTgt spid="16"/>
                                        </p:tgtEl>
                                        <p:attrNameLst>
                                          <p:attrName>style.visibility</p:attrName>
                                        </p:attrNameLst>
                                      </p:cBhvr>
                                      <p:to>
                                        <p:strVal val="visible"/>
                                      </p:to>
                                    </p:set>
                                    <p:anim calcmode="lin" valueType="num">
                                      <p:cBhvr>
                                        <p:cTn id="20" dur="500" fill="hold"/>
                                        <p:tgtEl>
                                          <p:spTgt spid="16"/>
                                        </p:tgtEl>
                                        <p:attrNameLst>
                                          <p:attrName>ppt_x</p:attrName>
                                        </p:attrNameLst>
                                      </p:cBhvr>
                                      <p:tavLst>
                                        <p:tav tm="0">
                                          <p:val>
                                            <p:strVal val="#ppt_x-#ppt_w/2"/>
                                          </p:val>
                                        </p:tav>
                                        <p:tav tm="100000">
                                          <p:val>
                                            <p:strVal val="#ppt_x"/>
                                          </p:val>
                                        </p:tav>
                                      </p:tavLst>
                                    </p:anim>
                                    <p:anim calcmode="lin" valueType="num">
                                      <p:cBhvr>
                                        <p:cTn id="21" dur="500" fill="hold"/>
                                        <p:tgtEl>
                                          <p:spTgt spid="16"/>
                                        </p:tgtEl>
                                        <p:attrNameLst>
                                          <p:attrName>ppt_y</p:attrName>
                                        </p:attrNameLst>
                                      </p:cBhvr>
                                      <p:tavLst>
                                        <p:tav tm="0">
                                          <p:val>
                                            <p:strVal val="#ppt_y"/>
                                          </p:val>
                                        </p:tav>
                                        <p:tav tm="100000">
                                          <p:val>
                                            <p:strVal val="#ppt_y"/>
                                          </p:val>
                                        </p:tav>
                                      </p:tavLst>
                                    </p:anim>
                                    <p:anim calcmode="lin" valueType="num">
                                      <p:cBhvr>
                                        <p:cTn id="22" dur="500" fill="hold"/>
                                        <p:tgtEl>
                                          <p:spTgt spid="16"/>
                                        </p:tgtEl>
                                        <p:attrNameLst>
                                          <p:attrName>ppt_w</p:attrName>
                                        </p:attrNameLst>
                                      </p:cBhvr>
                                      <p:tavLst>
                                        <p:tav tm="0">
                                          <p:val>
                                            <p:fltVal val="0"/>
                                          </p:val>
                                        </p:tav>
                                        <p:tav tm="100000">
                                          <p:val>
                                            <p:strVal val="#ppt_w"/>
                                          </p:val>
                                        </p:tav>
                                      </p:tavLst>
                                    </p:anim>
                                    <p:anim calcmode="lin" valueType="num">
                                      <p:cBhvr>
                                        <p:cTn id="23" dur="500" fill="hold"/>
                                        <p:tgtEl>
                                          <p:spTgt spid="1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a:extLst>
              <a:ext uri="{FF2B5EF4-FFF2-40B4-BE49-F238E27FC236}">
                <a16:creationId xmlns:a16="http://schemas.microsoft.com/office/drawing/2014/main" id="{2D0D7012-0A6B-C4A1-6CCF-B69F1C03C6CE}"/>
              </a:ext>
            </a:extLst>
          </p:cNvPr>
          <p:cNvSpPr>
            <a:spLocks noGrp="1"/>
          </p:cNvSpPr>
          <p:nvPr>
            <p:ph type="title"/>
          </p:nvPr>
        </p:nvSpPr>
        <p:spPr/>
        <p:txBody>
          <a:bodyPr/>
          <a:lstStyle/>
          <a:p>
            <a:pPr eaLnBrk="1" hangingPunct="1"/>
            <a:r>
              <a:rPr lang="en-US" altLang="en-US" b="1" dirty="0"/>
              <a:t>Factors causing Shift in Demand</a:t>
            </a:r>
          </a:p>
        </p:txBody>
      </p:sp>
      <p:sp>
        <p:nvSpPr>
          <p:cNvPr id="3" name="Content Placeholder 2">
            <a:extLst>
              <a:ext uri="{FF2B5EF4-FFF2-40B4-BE49-F238E27FC236}">
                <a16:creationId xmlns:a16="http://schemas.microsoft.com/office/drawing/2014/main" id="{C2CB302A-E3B3-5439-9D1D-235654A36505}"/>
              </a:ext>
            </a:extLst>
          </p:cNvPr>
          <p:cNvSpPr>
            <a:spLocks noGrp="1"/>
          </p:cNvSpPr>
          <p:nvPr>
            <p:ph idx="1"/>
          </p:nvPr>
        </p:nvSpPr>
        <p:spPr>
          <a:xfrm>
            <a:off x="838200" y="1582220"/>
            <a:ext cx="10515600" cy="4594743"/>
          </a:xfrm>
        </p:spPr>
        <p:txBody>
          <a:bodyPr rtlCol="0">
            <a:normAutofit/>
          </a:bodyPr>
          <a:lstStyle/>
          <a:p>
            <a:pPr>
              <a:lnSpc>
                <a:spcPct val="150000"/>
              </a:lnSpc>
              <a:buClr>
                <a:srgbClr val="336600"/>
              </a:buClr>
              <a:defRPr/>
            </a:pPr>
            <a:r>
              <a:rPr lang="en-US" dirty="0"/>
              <a:t>Tastes and Preferences</a:t>
            </a:r>
          </a:p>
          <a:p>
            <a:pPr>
              <a:lnSpc>
                <a:spcPct val="150000"/>
              </a:lnSpc>
              <a:buClr>
                <a:srgbClr val="336600"/>
              </a:buClr>
              <a:defRPr/>
            </a:pPr>
            <a:r>
              <a:rPr lang="en-US" dirty="0"/>
              <a:t> Substitutes and Complements</a:t>
            </a:r>
          </a:p>
          <a:p>
            <a:pPr>
              <a:lnSpc>
                <a:spcPct val="150000"/>
              </a:lnSpc>
              <a:buClr>
                <a:srgbClr val="336600"/>
              </a:buClr>
              <a:defRPr/>
            </a:pPr>
            <a:r>
              <a:rPr lang="en-US" dirty="0"/>
              <a:t> Income</a:t>
            </a:r>
          </a:p>
          <a:p>
            <a:pPr>
              <a:lnSpc>
                <a:spcPct val="150000"/>
              </a:lnSpc>
              <a:buClr>
                <a:srgbClr val="336600"/>
              </a:buClr>
              <a:defRPr/>
            </a:pPr>
            <a:r>
              <a:rPr lang="en-US" dirty="0"/>
              <a:t>Population	</a:t>
            </a:r>
          </a:p>
          <a:p>
            <a:pPr>
              <a:lnSpc>
                <a:spcPct val="150000"/>
              </a:lnSpc>
              <a:buClr>
                <a:srgbClr val="336600"/>
              </a:buClr>
              <a:defRPr/>
            </a:pPr>
            <a:r>
              <a:rPr lang="en-US" dirty="0"/>
              <a:t> Price Expectations</a:t>
            </a:r>
          </a:p>
          <a:p>
            <a:pPr marL="274320" indent="-274320">
              <a:buClr>
                <a:schemeClr val="accent3"/>
              </a:buClr>
              <a:buFont typeface="Wingdings 2"/>
              <a:buChar char=""/>
              <a:defRPr/>
            </a:pPr>
            <a:endParaRPr lang="en-US" dirty="0">
              <a:solidFill>
                <a:schemeClr val="tx1">
                  <a:lumMod val="75000"/>
                  <a:lumOff val="25000"/>
                </a:schemeClr>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4">
            <a:extLst>
              <a:ext uri="{FF2B5EF4-FFF2-40B4-BE49-F238E27FC236}">
                <a16:creationId xmlns:a16="http://schemas.microsoft.com/office/drawing/2014/main" id="{FB94DAC3-1D0F-237A-C155-F7D9A325E5C5}"/>
              </a:ext>
            </a:extLst>
          </p:cNvPr>
          <p:cNvSpPr txBox="1">
            <a:spLocks noChangeArrowheads="1"/>
          </p:cNvSpPr>
          <p:nvPr/>
        </p:nvSpPr>
        <p:spPr>
          <a:xfrm>
            <a:off x="585631" y="958850"/>
            <a:ext cx="5510370" cy="5441950"/>
          </a:xfrm>
          <a:prstGeom prst="rect">
            <a:avLst/>
          </a:prstGeom>
          <a:ln w="57150" cmpd="thinThick">
            <a:solidFill>
              <a:schemeClr val="tx1"/>
            </a:solidFill>
          </a:ln>
          <a:effectLst>
            <a:prstShdw prst="shdw13" dist="53882" dir="13500000">
              <a:schemeClr val="bg2"/>
            </a:prstShdw>
          </a:effectLst>
        </p:spPr>
        <p:txBody>
          <a:bodyPr/>
          <a:lstStyle/>
          <a:p>
            <a:pPr marL="274320" indent="-274320">
              <a:lnSpc>
                <a:spcPct val="150000"/>
              </a:lnSpc>
              <a:spcBef>
                <a:spcPct val="20000"/>
              </a:spcBef>
              <a:buClr>
                <a:schemeClr val="accent3"/>
              </a:buClr>
              <a:buSzPct val="95000"/>
              <a:defRPr/>
            </a:pPr>
            <a:r>
              <a:rPr lang="en-US" sz="2600" dirty="0"/>
              <a:t>Demand Shifts LEFT</a:t>
            </a:r>
          </a:p>
          <a:p>
            <a:pPr marL="274320" indent="-274320">
              <a:lnSpc>
                <a:spcPct val="150000"/>
              </a:lnSpc>
              <a:spcBef>
                <a:spcPct val="20000"/>
              </a:spcBef>
              <a:buClr>
                <a:schemeClr val="accent3"/>
              </a:buClr>
              <a:buSzPct val="95000"/>
              <a:defRPr/>
            </a:pPr>
            <a:r>
              <a:rPr lang="en-US" sz="2600" dirty="0"/>
              <a:t>	When:</a:t>
            </a:r>
          </a:p>
          <a:p>
            <a:pPr marL="274320" indent="-274320">
              <a:lnSpc>
                <a:spcPct val="150000"/>
              </a:lnSpc>
              <a:spcBef>
                <a:spcPct val="20000"/>
              </a:spcBef>
              <a:buClr>
                <a:schemeClr val="accent3"/>
              </a:buClr>
              <a:buSzPct val="95000"/>
              <a:buFont typeface="Wingdings" pitchFamily="2" charset="2"/>
              <a:buChar char="v"/>
              <a:defRPr/>
            </a:pPr>
            <a:r>
              <a:rPr lang="en-US" sz="2400" i="1" dirty="0"/>
              <a:t>Prices of substitutes decrease</a:t>
            </a:r>
          </a:p>
          <a:p>
            <a:pPr marL="274320" indent="-274320">
              <a:lnSpc>
                <a:spcPct val="150000"/>
              </a:lnSpc>
              <a:spcBef>
                <a:spcPct val="20000"/>
              </a:spcBef>
              <a:buClr>
                <a:schemeClr val="accent3"/>
              </a:buClr>
              <a:buSzPct val="95000"/>
              <a:buFont typeface="Wingdings" pitchFamily="2" charset="2"/>
              <a:buChar char="v"/>
              <a:defRPr/>
            </a:pPr>
            <a:r>
              <a:rPr lang="en-US" sz="2400" i="1" dirty="0"/>
              <a:t>Prices of complements increase</a:t>
            </a:r>
          </a:p>
          <a:p>
            <a:pPr marL="274320" indent="-274320">
              <a:lnSpc>
                <a:spcPct val="150000"/>
              </a:lnSpc>
              <a:spcBef>
                <a:spcPct val="20000"/>
              </a:spcBef>
              <a:buClr>
                <a:schemeClr val="accent3"/>
              </a:buClr>
              <a:buSzPct val="95000"/>
              <a:buFont typeface="Wingdings" pitchFamily="2" charset="2"/>
              <a:buChar char="v"/>
              <a:defRPr/>
            </a:pPr>
            <a:r>
              <a:rPr lang="en-US" sz="2400" i="1" dirty="0"/>
              <a:t>Normal good-income decreases</a:t>
            </a:r>
          </a:p>
          <a:p>
            <a:pPr marL="274320" indent="-274320">
              <a:lnSpc>
                <a:spcPct val="150000"/>
              </a:lnSpc>
              <a:spcBef>
                <a:spcPct val="20000"/>
              </a:spcBef>
              <a:buClr>
                <a:schemeClr val="accent3"/>
              </a:buClr>
              <a:buSzPct val="95000"/>
              <a:buFont typeface="Wingdings" pitchFamily="2" charset="2"/>
              <a:buChar char="v"/>
              <a:defRPr/>
            </a:pPr>
            <a:r>
              <a:rPr lang="en-US" sz="2400" i="1" dirty="0"/>
              <a:t>Inferior good-income increases</a:t>
            </a:r>
          </a:p>
          <a:p>
            <a:pPr marL="274320" indent="-274320">
              <a:lnSpc>
                <a:spcPct val="150000"/>
              </a:lnSpc>
              <a:spcBef>
                <a:spcPct val="20000"/>
              </a:spcBef>
              <a:buClr>
                <a:schemeClr val="accent3"/>
              </a:buClr>
              <a:buSzPct val="95000"/>
              <a:buFont typeface="Wingdings" pitchFamily="2" charset="2"/>
              <a:buChar char="v"/>
              <a:defRPr/>
            </a:pPr>
            <a:r>
              <a:rPr lang="en-US" sz="2400" i="1" dirty="0"/>
              <a:t>Population decreases</a:t>
            </a:r>
          </a:p>
          <a:p>
            <a:pPr marL="274320" indent="-274320">
              <a:lnSpc>
                <a:spcPct val="150000"/>
              </a:lnSpc>
              <a:spcBef>
                <a:spcPct val="20000"/>
              </a:spcBef>
              <a:buClr>
                <a:schemeClr val="accent3"/>
              </a:buClr>
              <a:buSzPct val="95000"/>
              <a:buFont typeface="Wingdings" pitchFamily="2" charset="2"/>
              <a:buChar char="v"/>
              <a:defRPr/>
            </a:pPr>
            <a:r>
              <a:rPr lang="en-US" sz="2400" i="1" dirty="0"/>
              <a:t>Tastes &amp; preferences turn against the product</a:t>
            </a:r>
            <a:endParaRPr lang="en-US" sz="2600" dirty="0"/>
          </a:p>
        </p:txBody>
      </p:sp>
      <p:sp>
        <p:nvSpPr>
          <p:cNvPr id="15" name="Title 14">
            <a:extLst>
              <a:ext uri="{FF2B5EF4-FFF2-40B4-BE49-F238E27FC236}">
                <a16:creationId xmlns:a16="http://schemas.microsoft.com/office/drawing/2014/main" id="{69C820B2-54AA-2087-1811-C4CFFE946758}"/>
              </a:ext>
            </a:extLst>
          </p:cNvPr>
          <p:cNvSpPr>
            <a:spLocks noGrp="1"/>
          </p:cNvSpPr>
          <p:nvPr>
            <p:ph type="title"/>
          </p:nvPr>
        </p:nvSpPr>
        <p:spPr>
          <a:xfrm>
            <a:off x="1677988" y="228600"/>
            <a:ext cx="6629400" cy="730250"/>
          </a:xfrm>
        </p:spPr>
        <p:txBody>
          <a:bodyPr rtlCol="0">
            <a:normAutofit fontScale="90000"/>
          </a:bodyPr>
          <a:lstStyle/>
          <a:p>
            <a:pPr>
              <a:defRPr/>
            </a:pPr>
            <a:r>
              <a:rPr lang="en-US" b="1" dirty="0"/>
              <a:t>Changes in Demand - Decrease</a:t>
            </a:r>
            <a:br>
              <a:rPr lang="en-US" b="1" dirty="0"/>
            </a:br>
            <a:endParaRPr lang="en-US" dirty="0"/>
          </a:p>
        </p:txBody>
      </p:sp>
      <p:sp>
        <p:nvSpPr>
          <p:cNvPr id="33796" name="Slide Number Placeholder 5">
            <a:extLst>
              <a:ext uri="{FF2B5EF4-FFF2-40B4-BE49-F238E27FC236}">
                <a16:creationId xmlns:a16="http://schemas.microsoft.com/office/drawing/2014/main" id="{9CA1B413-3AAE-1082-0E24-99A7F30B400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a:spcBef>
                <a:spcPct val="0"/>
              </a:spcBef>
              <a:buClrTx/>
              <a:buSzTx/>
              <a:buFontTx/>
              <a:buNone/>
            </a:pPr>
            <a:fld id="{B0C3B916-B00D-4B43-8DD6-8FA9987D9931}" type="slidenum">
              <a:rPr lang="en-US" altLang="en-US">
                <a:solidFill>
                  <a:schemeClr val="tx2"/>
                </a:solidFill>
                <a:latin typeface="Arial" panose="020B0604020202020204" pitchFamily="34" charset="0"/>
              </a:rPr>
              <a:pPr>
                <a:spcBef>
                  <a:spcPct val="0"/>
                </a:spcBef>
                <a:buClrTx/>
                <a:buSzTx/>
                <a:buFontTx/>
                <a:buNone/>
              </a:pPr>
              <a:t>23</a:t>
            </a:fld>
            <a:endParaRPr lang="en-US" altLang="en-US">
              <a:solidFill>
                <a:schemeClr val="tx2"/>
              </a:solidFill>
              <a:latin typeface="Arial" panose="020B0604020202020204" pitchFamily="34" charset="0"/>
            </a:endParaRPr>
          </a:p>
        </p:txBody>
      </p:sp>
      <p:sp>
        <p:nvSpPr>
          <p:cNvPr id="20" name="Text Box 37">
            <a:extLst>
              <a:ext uri="{FF2B5EF4-FFF2-40B4-BE49-F238E27FC236}">
                <a16:creationId xmlns:a16="http://schemas.microsoft.com/office/drawing/2014/main" id="{0EE25DB7-8050-52B2-A8D0-4419BA7257E9}"/>
              </a:ext>
            </a:extLst>
          </p:cNvPr>
          <p:cNvSpPr txBox="1">
            <a:spLocks noChangeArrowheads="1"/>
          </p:cNvSpPr>
          <p:nvPr/>
        </p:nvSpPr>
        <p:spPr bwMode="auto">
          <a:xfrm>
            <a:off x="9906000" y="3733801"/>
            <a:ext cx="533400" cy="366713"/>
          </a:xfrm>
          <a:prstGeom prst="rect">
            <a:avLst/>
          </a:prstGeom>
          <a:noFill/>
          <a:ln w="9525">
            <a:noFill/>
            <a:miter lim="800000"/>
            <a:headEnd/>
            <a:tailEnd/>
          </a:ln>
          <a:effectLst/>
        </p:spPr>
        <p:txBody>
          <a:bodyPr>
            <a:spAutoFit/>
          </a:bodyPr>
          <a:lstStyle/>
          <a:p>
            <a:pPr>
              <a:defRPr/>
            </a:pPr>
            <a:r>
              <a:rPr lang="en-US">
                <a:solidFill>
                  <a:schemeClr val="tx2"/>
                </a:solidFill>
                <a:effectLst>
                  <a:outerShdw blurRad="38100" dist="38100" dir="2700000" algn="tl">
                    <a:srgbClr val="000000"/>
                  </a:outerShdw>
                </a:effectLst>
              </a:rPr>
              <a:t>D1</a:t>
            </a:r>
          </a:p>
        </p:txBody>
      </p:sp>
      <p:sp>
        <p:nvSpPr>
          <p:cNvPr id="33798" name="Line 26">
            <a:extLst>
              <a:ext uri="{FF2B5EF4-FFF2-40B4-BE49-F238E27FC236}">
                <a16:creationId xmlns:a16="http://schemas.microsoft.com/office/drawing/2014/main" id="{C69D5C79-F3D0-712E-64C8-DECB0ACC4AD9}"/>
              </a:ext>
            </a:extLst>
          </p:cNvPr>
          <p:cNvSpPr>
            <a:spLocks noChangeShapeType="1"/>
          </p:cNvSpPr>
          <p:nvPr/>
        </p:nvSpPr>
        <p:spPr bwMode="auto">
          <a:xfrm>
            <a:off x="6705600" y="1371600"/>
            <a:ext cx="0" cy="3429000"/>
          </a:xfrm>
          <a:prstGeom prst="line">
            <a:avLst/>
          </a:prstGeom>
          <a:noFill/>
          <a:ln w="5715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33799" name="Line 31">
            <a:extLst>
              <a:ext uri="{FF2B5EF4-FFF2-40B4-BE49-F238E27FC236}">
                <a16:creationId xmlns:a16="http://schemas.microsoft.com/office/drawing/2014/main" id="{F9B71F96-8F3F-DAB9-D6EA-11973A7516A8}"/>
              </a:ext>
            </a:extLst>
          </p:cNvPr>
          <p:cNvSpPr>
            <a:spLocks noChangeShapeType="1"/>
          </p:cNvSpPr>
          <p:nvPr/>
        </p:nvSpPr>
        <p:spPr bwMode="auto">
          <a:xfrm>
            <a:off x="7239000" y="1447800"/>
            <a:ext cx="2743200" cy="2667000"/>
          </a:xfrm>
          <a:prstGeom prst="line">
            <a:avLst/>
          </a:prstGeom>
          <a:noFill/>
          <a:ln w="5715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33800" name="Line 34">
            <a:extLst>
              <a:ext uri="{FF2B5EF4-FFF2-40B4-BE49-F238E27FC236}">
                <a16:creationId xmlns:a16="http://schemas.microsoft.com/office/drawing/2014/main" id="{58E5CD4A-40AC-3462-1144-B96A65E12139}"/>
              </a:ext>
            </a:extLst>
          </p:cNvPr>
          <p:cNvSpPr>
            <a:spLocks noChangeShapeType="1"/>
          </p:cNvSpPr>
          <p:nvPr/>
        </p:nvSpPr>
        <p:spPr bwMode="auto">
          <a:xfrm>
            <a:off x="6705600" y="4800600"/>
            <a:ext cx="3276600" cy="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4" name="Text Box 35">
            <a:extLst>
              <a:ext uri="{FF2B5EF4-FFF2-40B4-BE49-F238E27FC236}">
                <a16:creationId xmlns:a16="http://schemas.microsoft.com/office/drawing/2014/main" id="{3FBC9577-ACAC-54F9-1A52-B39FABFD2C7F}"/>
              </a:ext>
            </a:extLst>
          </p:cNvPr>
          <p:cNvSpPr txBox="1">
            <a:spLocks noChangeArrowheads="1"/>
          </p:cNvSpPr>
          <p:nvPr/>
        </p:nvSpPr>
        <p:spPr bwMode="auto">
          <a:xfrm rot="16200000">
            <a:off x="6094819" y="1697802"/>
            <a:ext cx="704039" cy="400110"/>
          </a:xfrm>
          <a:prstGeom prst="rect">
            <a:avLst/>
          </a:prstGeom>
          <a:noFill/>
          <a:ln w="9525">
            <a:noFill/>
            <a:miter lim="800000"/>
            <a:headEnd/>
            <a:tailEnd/>
          </a:ln>
          <a:effectLst/>
        </p:spPr>
        <p:txBody>
          <a:bodyPr wrap="none">
            <a:spAutoFit/>
          </a:bodyPr>
          <a:lstStyle/>
          <a:p>
            <a:pPr>
              <a:defRPr/>
            </a:pPr>
            <a:r>
              <a:rPr lang="en-US" sz="2000">
                <a:solidFill>
                  <a:schemeClr val="tx2"/>
                </a:solidFill>
                <a:effectLst>
                  <a:outerShdw blurRad="38100" dist="38100" dir="2700000" algn="tl">
                    <a:srgbClr val="FFFFFF"/>
                  </a:outerShdw>
                </a:effectLst>
              </a:rPr>
              <a:t>Price</a:t>
            </a:r>
          </a:p>
        </p:txBody>
      </p:sp>
      <p:sp>
        <p:nvSpPr>
          <p:cNvPr id="25" name="Text Box 36">
            <a:extLst>
              <a:ext uri="{FF2B5EF4-FFF2-40B4-BE49-F238E27FC236}">
                <a16:creationId xmlns:a16="http://schemas.microsoft.com/office/drawing/2014/main" id="{3246FC9C-F2DB-2E9D-84F4-6085BBFA385A}"/>
              </a:ext>
            </a:extLst>
          </p:cNvPr>
          <p:cNvSpPr txBox="1">
            <a:spLocks noChangeArrowheads="1"/>
          </p:cNvSpPr>
          <p:nvPr/>
        </p:nvSpPr>
        <p:spPr bwMode="auto">
          <a:xfrm>
            <a:off x="9067800" y="4800600"/>
            <a:ext cx="1096006" cy="400110"/>
          </a:xfrm>
          <a:prstGeom prst="rect">
            <a:avLst/>
          </a:prstGeom>
          <a:noFill/>
          <a:ln w="9525">
            <a:noFill/>
            <a:miter lim="800000"/>
            <a:headEnd/>
            <a:tailEnd/>
          </a:ln>
          <a:effectLst/>
        </p:spPr>
        <p:txBody>
          <a:bodyPr wrap="none">
            <a:spAutoFit/>
          </a:bodyPr>
          <a:lstStyle/>
          <a:p>
            <a:pPr>
              <a:defRPr/>
            </a:pPr>
            <a:r>
              <a:rPr lang="en-US" sz="2000">
                <a:solidFill>
                  <a:schemeClr val="tx2"/>
                </a:solidFill>
                <a:effectLst>
                  <a:outerShdw blurRad="38100" dist="38100" dir="2700000" algn="tl">
                    <a:srgbClr val="FFFFFF"/>
                  </a:outerShdw>
                </a:effectLst>
              </a:rPr>
              <a:t>Quantity</a:t>
            </a:r>
          </a:p>
        </p:txBody>
      </p:sp>
      <p:grpSp>
        <p:nvGrpSpPr>
          <p:cNvPr id="2" name="Group 45">
            <a:extLst>
              <a:ext uri="{FF2B5EF4-FFF2-40B4-BE49-F238E27FC236}">
                <a16:creationId xmlns:a16="http://schemas.microsoft.com/office/drawing/2014/main" id="{F05699A6-FE02-7FD7-EED5-0B710A22E39D}"/>
              </a:ext>
            </a:extLst>
          </p:cNvPr>
          <p:cNvGrpSpPr>
            <a:grpSpLocks/>
          </p:cNvGrpSpPr>
          <p:nvPr/>
        </p:nvGrpSpPr>
        <p:grpSpPr bwMode="auto">
          <a:xfrm>
            <a:off x="6705600" y="2057400"/>
            <a:ext cx="2819400" cy="2743200"/>
            <a:chOff x="3264" y="1296"/>
            <a:chExt cx="1776" cy="1728"/>
          </a:xfrm>
        </p:grpSpPr>
        <p:sp>
          <p:nvSpPr>
            <p:cNvPr id="33804" name="Line 42">
              <a:extLst>
                <a:ext uri="{FF2B5EF4-FFF2-40B4-BE49-F238E27FC236}">
                  <a16:creationId xmlns:a16="http://schemas.microsoft.com/office/drawing/2014/main" id="{2CB2358D-5F70-AB07-AED0-4D3A299588A6}"/>
                </a:ext>
              </a:extLst>
            </p:cNvPr>
            <p:cNvSpPr>
              <a:spLocks noChangeShapeType="1"/>
            </p:cNvSpPr>
            <p:nvPr/>
          </p:nvSpPr>
          <p:spPr bwMode="auto">
            <a:xfrm>
              <a:off x="3264" y="1296"/>
              <a:ext cx="1680" cy="1728"/>
            </a:xfrm>
            <a:prstGeom prst="line">
              <a:avLst/>
            </a:prstGeom>
            <a:noFill/>
            <a:ln w="57150">
              <a:solidFill>
                <a:srgbClr val="0099CC"/>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8" name="Text Box 43">
              <a:extLst>
                <a:ext uri="{FF2B5EF4-FFF2-40B4-BE49-F238E27FC236}">
                  <a16:creationId xmlns:a16="http://schemas.microsoft.com/office/drawing/2014/main" id="{7B9533DE-0D82-6EBF-704C-A1D17E529644}"/>
                </a:ext>
              </a:extLst>
            </p:cNvPr>
            <p:cNvSpPr txBox="1">
              <a:spLocks noChangeArrowheads="1"/>
            </p:cNvSpPr>
            <p:nvPr/>
          </p:nvSpPr>
          <p:spPr bwMode="auto">
            <a:xfrm>
              <a:off x="4704" y="2640"/>
              <a:ext cx="336" cy="231"/>
            </a:xfrm>
            <a:prstGeom prst="rect">
              <a:avLst/>
            </a:prstGeom>
            <a:noFill/>
            <a:ln w="9525">
              <a:noFill/>
              <a:miter lim="800000"/>
              <a:headEnd/>
              <a:tailEnd/>
            </a:ln>
            <a:effectLst/>
          </p:spPr>
          <p:txBody>
            <a:bodyPr>
              <a:spAutoFit/>
            </a:bodyPr>
            <a:lstStyle/>
            <a:p>
              <a:pPr>
                <a:defRPr/>
              </a:pPr>
              <a:r>
                <a:rPr lang="en-US">
                  <a:solidFill>
                    <a:schemeClr val="tx2"/>
                  </a:solidFill>
                  <a:effectLst>
                    <a:outerShdw blurRad="38100" dist="38100" dir="2700000" algn="tl">
                      <a:srgbClr val="000000"/>
                    </a:outerShdw>
                  </a:effectLst>
                </a:rPr>
                <a:t>D2</a:t>
              </a:r>
            </a:p>
          </p:txBody>
        </p:sp>
        <p:sp>
          <p:nvSpPr>
            <p:cNvPr id="33806" name="AutoShape 44">
              <a:extLst>
                <a:ext uri="{FF2B5EF4-FFF2-40B4-BE49-F238E27FC236}">
                  <a16:creationId xmlns:a16="http://schemas.microsoft.com/office/drawing/2014/main" id="{793A4C7F-2365-EE1D-C5D6-6582916657F8}"/>
                </a:ext>
              </a:extLst>
            </p:cNvPr>
            <p:cNvSpPr>
              <a:spLocks noChangeArrowheads="1"/>
            </p:cNvSpPr>
            <p:nvPr/>
          </p:nvSpPr>
          <p:spPr bwMode="auto">
            <a:xfrm>
              <a:off x="4032" y="1920"/>
              <a:ext cx="624" cy="144"/>
            </a:xfrm>
            <a:prstGeom prst="leftArrow">
              <a:avLst>
                <a:gd name="adj1" fmla="val 50000"/>
                <a:gd name="adj2" fmla="val 108333"/>
              </a:avLst>
            </a:prstGeom>
            <a:solidFill>
              <a:srgbClr val="CC3300"/>
            </a:solidFill>
            <a:ln w="9525">
              <a:solidFill>
                <a:srgbClr val="000080"/>
              </a:solidFill>
              <a:miter lim="800000"/>
              <a:headEnd/>
              <a:tailEnd/>
            </a:ln>
          </p:spPr>
          <p:txBody>
            <a:bodyPr wrap="none" anchor="ctr"/>
            <a:lstStyle>
              <a:lvl1pPr>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0"/>
                </a:spcBef>
                <a:buClrTx/>
                <a:buSzTx/>
                <a:buFontTx/>
                <a:buNone/>
              </a:pPr>
              <a:endParaRPr lang="en-US" altLang="en-US">
                <a:solidFill>
                  <a:schemeClr val="tx2"/>
                </a:solidFill>
                <a:latin typeface="Constantia" panose="02030602050306030303"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 calcmode="lin" valueType="num">
                                      <p:cBhvr additive="base">
                                        <p:cTn id="7" dur="500" fill="hold"/>
                                        <p:tgtEl>
                                          <p:spTgt spid="18">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18">
                                            <p:txEl>
                                              <p:pRg st="1" end="1"/>
                                            </p:txEl>
                                          </p:spTgt>
                                        </p:tgtEl>
                                        <p:attrNameLst>
                                          <p:attrName>style.visibility</p:attrName>
                                        </p:attrNameLst>
                                      </p:cBhvr>
                                      <p:to>
                                        <p:strVal val="visible"/>
                                      </p:to>
                                    </p:set>
                                    <p:anim calcmode="lin" valueType="num">
                                      <p:cBhvr additive="base">
                                        <p:cTn id="13" dur="500" fill="hold"/>
                                        <p:tgtEl>
                                          <p:spTgt spid="18">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18">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18">
                                            <p:txEl>
                                              <p:pRg st="2" end="2"/>
                                            </p:txEl>
                                          </p:spTgt>
                                        </p:tgtEl>
                                        <p:attrNameLst>
                                          <p:attrName>style.visibility</p:attrName>
                                        </p:attrNameLst>
                                      </p:cBhvr>
                                      <p:to>
                                        <p:strVal val="visible"/>
                                      </p:to>
                                    </p:set>
                                    <p:anim calcmode="lin" valueType="num">
                                      <p:cBhvr additive="base">
                                        <p:cTn id="19" dur="500" fill="hold"/>
                                        <p:tgtEl>
                                          <p:spTgt spid="18">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18">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18">
                                            <p:txEl>
                                              <p:pRg st="3" end="3"/>
                                            </p:txEl>
                                          </p:spTgt>
                                        </p:tgtEl>
                                        <p:attrNameLst>
                                          <p:attrName>style.visibility</p:attrName>
                                        </p:attrNameLst>
                                      </p:cBhvr>
                                      <p:to>
                                        <p:strVal val="visible"/>
                                      </p:to>
                                    </p:set>
                                    <p:anim calcmode="lin" valueType="num">
                                      <p:cBhvr additive="base">
                                        <p:cTn id="25" dur="500" fill="hold"/>
                                        <p:tgtEl>
                                          <p:spTgt spid="18">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18">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18">
                                            <p:txEl>
                                              <p:pRg st="4" end="4"/>
                                            </p:txEl>
                                          </p:spTgt>
                                        </p:tgtEl>
                                        <p:attrNameLst>
                                          <p:attrName>style.visibility</p:attrName>
                                        </p:attrNameLst>
                                      </p:cBhvr>
                                      <p:to>
                                        <p:strVal val="visible"/>
                                      </p:to>
                                    </p:set>
                                    <p:anim calcmode="lin" valueType="num">
                                      <p:cBhvr additive="base">
                                        <p:cTn id="31" dur="500" fill="hold"/>
                                        <p:tgtEl>
                                          <p:spTgt spid="18">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18">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18">
                                            <p:txEl>
                                              <p:pRg st="5" end="5"/>
                                            </p:txEl>
                                          </p:spTgt>
                                        </p:tgtEl>
                                        <p:attrNameLst>
                                          <p:attrName>style.visibility</p:attrName>
                                        </p:attrNameLst>
                                      </p:cBhvr>
                                      <p:to>
                                        <p:strVal val="visible"/>
                                      </p:to>
                                    </p:set>
                                    <p:anim calcmode="lin" valueType="num">
                                      <p:cBhvr additive="base">
                                        <p:cTn id="37" dur="500" fill="hold"/>
                                        <p:tgtEl>
                                          <p:spTgt spid="18">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18">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nodeType="clickEffect">
                                  <p:stCondLst>
                                    <p:cond delay="0"/>
                                  </p:stCondLst>
                                  <p:childTnLst>
                                    <p:set>
                                      <p:cBhvr>
                                        <p:cTn id="42" dur="1" fill="hold">
                                          <p:stCondLst>
                                            <p:cond delay="0"/>
                                          </p:stCondLst>
                                        </p:cTn>
                                        <p:tgtEl>
                                          <p:spTgt spid="18">
                                            <p:txEl>
                                              <p:pRg st="6" end="6"/>
                                            </p:txEl>
                                          </p:spTgt>
                                        </p:tgtEl>
                                        <p:attrNameLst>
                                          <p:attrName>style.visibility</p:attrName>
                                        </p:attrNameLst>
                                      </p:cBhvr>
                                      <p:to>
                                        <p:strVal val="visible"/>
                                      </p:to>
                                    </p:set>
                                    <p:anim calcmode="lin" valueType="num">
                                      <p:cBhvr additive="base">
                                        <p:cTn id="43" dur="500" fill="hold"/>
                                        <p:tgtEl>
                                          <p:spTgt spid="18">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18">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nodeType="clickEffect">
                                  <p:stCondLst>
                                    <p:cond delay="0"/>
                                  </p:stCondLst>
                                  <p:childTnLst>
                                    <p:set>
                                      <p:cBhvr>
                                        <p:cTn id="48" dur="1" fill="hold">
                                          <p:stCondLst>
                                            <p:cond delay="0"/>
                                          </p:stCondLst>
                                        </p:cTn>
                                        <p:tgtEl>
                                          <p:spTgt spid="18">
                                            <p:txEl>
                                              <p:pRg st="7" end="7"/>
                                            </p:txEl>
                                          </p:spTgt>
                                        </p:tgtEl>
                                        <p:attrNameLst>
                                          <p:attrName>style.visibility</p:attrName>
                                        </p:attrNameLst>
                                      </p:cBhvr>
                                      <p:to>
                                        <p:strVal val="visible"/>
                                      </p:to>
                                    </p:set>
                                    <p:anim calcmode="lin" valueType="num">
                                      <p:cBhvr additive="base">
                                        <p:cTn id="49" dur="500" fill="hold"/>
                                        <p:tgtEl>
                                          <p:spTgt spid="18">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18">
                                            <p:txEl>
                                              <p:pRg st="7" end="7"/>
                                            </p:txEl>
                                          </p:spTgt>
                                        </p:tgtEl>
                                        <p:attrNameLst>
                                          <p:attrName>ppt_y</p:attrName>
                                        </p:attrNameLst>
                                      </p:cBhvr>
                                      <p:tavLst>
                                        <p:tav tm="0">
                                          <p:val>
                                            <p:strVal val="#ppt_y"/>
                                          </p:val>
                                        </p:tav>
                                        <p:tav tm="100000">
                                          <p:val>
                                            <p:strVal val="#ppt_y"/>
                                          </p:val>
                                        </p:tav>
                                      </p:tavLst>
                                    </p:anim>
                                  </p:childTnLst>
                                </p:cTn>
                              </p:par>
                            </p:childTnLst>
                          </p:cTn>
                        </p:par>
                        <p:par>
                          <p:cTn id="51" fill="hold" nodeType="afterGroup">
                            <p:stCondLst>
                              <p:cond delay="500"/>
                            </p:stCondLst>
                            <p:childTnLst>
                              <p:par>
                                <p:cTn id="52" presetID="12" presetClass="entr" presetSubtype="2" fill="hold" nodeType="afterEffect">
                                  <p:stCondLst>
                                    <p:cond delay="0"/>
                                  </p:stCondLst>
                                  <p:childTnLst>
                                    <p:set>
                                      <p:cBhvr>
                                        <p:cTn id="53" dur="1" fill="hold">
                                          <p:stCondLst>
                                            <p:cond delay="0"/>
                                          </p:stCondLst>
                                        </p:cTn>
                                        <p:tgtEl>
                                          <p:spTgt spid="2"/>
                                        </p:tgtEl>
                                        <p:attrNameLst>
                                          <p:attrName>style.visibility</p:attrName>
                                        </p:attrNameLst>
                                      </p:cBhvr>
                                      <p:to>
                                        <p:strVal val="visible"/>
                                      </p:to>
                                    </p:set>
                                    <p:animEffect transition="in" filter="slide(fromRight)">
                                      <p:cBhvr>
                                        <p:cTn id="5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a:extLst>
              <a:ext uri="{FF2B5EF4-FFF2-40B4-BE49-F238E27FC236}">
                <a16:creationId xmlns:a16="http://schemas.microsoft.com/office/drawing/2014/main" id="{0EF518F0-E716-5147-2ADC-49F73445359F}"/>
              </a:ext>
            </a:extLst>
          </p:cNvPr>
          <p:cNvSpPr>
            <a:spLocks noGrp="1"/>
          </p:cNvSpPr>
          <p:nvPr>
            <p:ph type="title"/>
          </p:nvPr>
        </p:nvSpPr>
        <p:spPr>
          <a:xfrm>
            <a:off x="1905000" y="304800"/>
            <a:ext cx="7848600" cy="533400"/>
          </a:xfrm>
        </p:spPr>
        <p:txBody>
          <a:bodyPr>
            <a:normAutofit fontScale="90000"/>
          </a:bodyPr>
          <a:lstStyle/>
          <a:p>
            <a:br>
              <a:rPr lang="en-US" altLang="en-US" b="1" dirty="0"/>
            </a:br>
            <a:br>
              <a:rPr lang="en-US" altLang="en-US" b="1" dirty="0"/>
            </a:br>
            <a:r>
              <a:rPr lang="en-US" altLang="en-US" b="1" dirty="0"/>
              <a:t>Changes in Demand – Increase</a:t>
            </a:r>
            <a:br>
              <a:rPr lang="en-US" altLang="en-US" b="1" dirty="0"/>
            </a:br>
            <a:br>
              <a:rPr lang="en-US" altLang="en-US" b="1" dirty="0"/>
            </a:br>
            <a:endParaRPr lang="en-IN" altLang="en-US" dirty="0"/>
          </a:p>
        </p:txBody>
      </p:sp>
      <p:sp>
        <p:nvSpPr>
          <p:cNvPr id="3" name="Rectangle 4">
            <a:extLst>
              <a:ext uri="{FF2B5EF4-FFF2-40B4-BE49-F238E27FC236}">
                <a16:creationId xmlns:a16="http://schemas.microsoft.com/office/drawing/2014/main" id="{B892E37D-52BC-14EB-6BAD-27EB21E2F6DD}"/>
              </a:ext>
            </a:extLst>
          </p:cNvPr>
          <p:cNvSpPr txBox="1">
            <a:spLocks noChangeArrowheads="1"/>
          </p:cNvSpPr>
          <p:nvPr/>
        </p:nvSpPr>
        <p:spPr>
          <a:xfrm>
            <a:off x="647272" y="838200"/>
            <a:ext cx="5753528" cy="5562600"/>
          </a:xfrm>
          <a:prstGeom prst="rect">
            <a:avLst/>
          </a:prstGeom>
          <a:ln w="57150" cmpd="thinThick">
            <a:solidFill>
              <a:schemeClr val="tx1"/>
            </a:solidFill>
          </a:ln>
          <a:effectLst>
            <a:prstShdw prst="shdw13" dist="53882" dir="13500000">
              <a:schemeClr val="bg2"/>
            </a:prstShdw>
          </a:effectLst>
        </p:spPr>
        <p:txBody>
          <a:bodyPr/>
          <a:lstStyle/>
          <a:p>
            <a:pPr marL="274320" indent="-274320">
              <a:lnSpc>
                <a:spcPct val="150000"/>
              </a:lnSpc>
              <a:spcBef>
                <a:spcPct val="20000"/>
              </a:spcBef>
              <a:buClr>
                <a:schemeClr val="accent3"/>
              </a:buClr>
              <a:buSzPct val="95000"/>
              <a:defRPr/>
            </a:pPr>
            <a:r>
              <a:rPr lang="en-US" sz="2600" dirty="0"/>
              <a:t>Demand Shifts RIGHT</a:t>
            </a:r>
          </a:p>
          <a:p>
            <a:pPr marL="274320" indent="-274320">
              <a:lnSpc>
                <a:spcPct val="150000"/>
              </a:lnSpc>
              <a:spcBef>
                <a:spcPct val="20000"/>
              </a:spcBef>
              <a:buClr>
                <a:schemeClr val="accent3"/>
              </a:buClr>
              <a:buSzPct val="95000"/>
              <a:defRPr/>
            </a:pPr>
            <a:r>
              <a:rPr lang="en-US" sz="2600" dirty="0"/>
              <a:t>When:</a:t>
            </a:r>
          </a:p>
          <a:p>
            <a:pPr marL="274320" indent="-274320">
              <a:lnSpc>
                <a:spcPct val="150000"/>
              </a:lnSpc>
              <a:spcBef>
                <a:spcPct val="20000"/>
              </a:spcBef>
              <a:buClr>
                <a:schemeClr val="accent3"/>
              </a:buClr>
              <a:buSzPct val="95000"/>
              <a:buFont typeface="Wingdings" pitchFamily="2" charset="2"/>
              <a:buChar char="v"/>
              <a:defRPr/>
            </a:pPr>
            <a:r>
              <a:rPr lang="en-US" sz="2400" i="1" dirty="0"/>
              <a:t>Prices of substitutes increase</a:t>
            </a:r>
          </a:p>
          <a:p>
            <a:pPr marL="274320" indent="-274320">
              <a:lnSpc>
                <a:spcPct val="150000"/>
              </a:lnSpc>
              <a:spcBef>
                <a:spcPct val="20000"/>
              </a:spcBef>
              <a:buClr>
                <a:schemeClr val="accent3"/>
              </a:buClr>
              <a:buSzPct val="95000"/>
              <a:buFont typeface="Wingdings" pitchFamily="2" charset="2"/>
              <a:buChar char="v"/>
              <a:defRPr/>
            </a:pPr>
            <a:r>
              <a:rPr lang="en-US" sz="2400" i="1" dirty="0"/>
              <a:t>Prices of complements decrease</a:t>
            </a:r>
          </a:p>
          <a:p>
            <a:pPr marL="274320" indent="-274320">
              <a:lnSpc>
                <a:spcPct val="150000"/>
              </a:lnSpc>
              <a:spcBef>
                <a:spcPct val="20000"/>
              </a:spcBef>
              <a:buClr>
                <a:schemeClr val="accent3"/>
              </a:buClr>
              <a:buSzPct val="95000"/>
              <a:buFont typeface="Wingdings" pitchFamily="2" charset="2"/>
              <a:buChar char="v"/>
              <a:defRPr/>
            </a:pPr>
            <a:r>
              <a:rPr lang="en-US" sz="2400" i="1" dirty="0"/>
              <a:t>Normal good-income increases</a:t>
            </a:r>
          </a:p>
          <a:p>
            <a:pPr marL="274320" indent="-274320">
              <a:lnSpc>
                <a:spcPct val="150000"/>
              </a:lnSpc>
              <a:spcBef>
                <a:spcPct val="20000"/>
              </a:spcBef>
              <a:buClr>
                <a:schemeClr val="accent3"/>
              </a:buClr>
              <a:buSzPct val="95000"/>
              <a:buFont typeface="Wingdings" pitchFamily="2" charset="2"/>
              <a:buChar char="v"/>
              <a:defRPr/>
            </a:pPr>
            <a:r>
              <a:rPr lang="en-US" sz="2400" i="1" dirty="0"/>
              <a:t>Inferior good-income decreases</a:t>
            </a:r>
          </a:p>
          <a:p>
            <a:pPr marL="274320" indent="-274320">
              <a:lnSpc>
                <a:spcPct val="150000"/>
              </a:lnSpc>
              <a:spcBef>
                <a:spcPct val="20000"/>
              </a:spcBef>
              <a:buClr>
                <a:schemeClr val="accent3"/>
              </a:buClr>
              <a:buSzPct val="95000"/>
              <a:buFont typeface="Wingdings" pitchFamily="2" charset="2"/>
              <a:buChar char="v"/>
              <a:defRPr/>
            </a:pPr>
            <a:r>
              <a:rPr lang="en-US" sz="2400" i="1" dirty="0"/>
              <a:t>Population increases</a:t>
            </a:r>
          </a:p>
          <a:p>
            <a:pPr marL="274320" indent="-274320">
              <a:lnSpc>
                <a:spcPct val="150000"/>
              </a:lnSpc>
              <a:spcBef>
                <a:spcPct val="20000"/>
              </a:spcBef>
              <a:buClr>
                <a:schemeClr val="accent3"/>
              </a:buClr>
              <a:buSzPct val="95000"/>
              <a:buFont typeface="Wingdings" pitchFamily="2" charset="2"/>
              <a:buChar char="v"/>
              <a:defRPr/>
            </a:pPr>
            <a:r>
              <a:rPr lang="en-US" sz="2400" i="1" dirty="0"/>
              <a:t>Tastes &amp; preferences turn in favor of the product</a:t>
            </a:r>
            <a:endParaRPr lang="en-US" sz="2600" dirty="0"/>
          </a:p>
        </p:txBody>
      </p:sp>
      <p:pic>
        <p:nvPicPr>
          <p:cNvPr id="34820" name="Content Placeholder 4" descr="shift_in_demand.gif">
            <a:extLst>
              <a:ext uri="{FF2B5EF4-FFF2-40B4-BE49-F238E27FC236}">
                <a16:creationId xmlns:a16="http://schemas.microsoft.com/office/drawing/2014/main" id="{A788F2BF-7477-D9DF-98D6-EAF0779326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81801" y="1447799"/>
            <a:ext cx="4591691" cy="4202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utoUpdateAnimBg="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1357</TotalTime>
  <Words>676</Words>
  <Application>Microsoft Office PowerPoint</Application>
  <PresentationFormat>Widescreen</PresentationFormat>
  <Paragraphs>134</Paragraphs>
  <Slides>24</Slides>
  <Notes>0</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24</vt:i4>
      </vt:variant>
    </vt:vector>
  </HeadingPairs>
  <TitlesOfParts>
    <vt:vector size="35" baseType="lpstr">
      <vt:lpstr>Arial</vt:lpstr>
      <vt:lpstr>Calibri</vt:lpstr>
      <vt:lpstr>Calibri Light</vt:lpstr>
      <vt:lpstr>Constantia</vt:lpstr>
      <vt:lpstr>Times New Roman</vt:lpstr>
      <vt:lpstr>Verdana</vt:lpstr>
      <vt:lpstr>Wingdings</vt:lpstr>
      <vt:lpstr>Wingdings 2</vt:lpstr>
      <vt:lpstr>Wingdings 3</vt:lpstr>
      <vt:lpstr>Office Theme</vt:lpstr>
      <vt:lpstr>Worksheet</vt:lpstr>
      <vt:lpstr>PowerPoint Presentation</vt:lpstr>
      <vt:lpstr>Economics</vt:lpstr>
      <vt:lpstr>Basic Economic Problem</vt:lpstr>
      <vt:lpstr>PowerPoint Presentation</vt:lpstr>
      <vt:lpstr>Cont…</vt:lpstr>
      <vt:lpstr>Market Mechanism</vt:lpstr>
      <vt:lpstr>Demand </vt:lpstr>
      <vt:lpstr>Demand </vt:lpstr>
      <vt:lpstr>Law of demand</vt:lpstr>
      <vt:lpstr>Demand Function</vt:lpstr>
      <vt:lpstr>Demand Schedule</vt:lpstr>
      <vt:lpstr>Demand Curve</vt:lpstr>
      <vt:lpstr>Exceptions to law of Demand</vt:lpstr>
      <vt:lpstr>Determinants of Demand</vt:lpstr>
      <vt:lpstr>Elasticity of Demand</vt:lpstr>
      <vt:lpstr>Elastic Demand</vt:lpstr>
      <vt:lpstr>Shifting Demand versus Movements along a Demand Curve </vt:lpstr>
      <vt:lpstr>Inelastic Demand</vt:lpstr>
      <vt:lpstr>Example of Inelastic Demand</vt:lpstr>
      <vt:lpstr>Changes in Demand vs. Changes in Quantity Demanded</vt:lpstr>
      <vt:lpstr> Changes in Demand vs. Changes in Quantity Demanded </vt:lpstr>
      <vt:lpstr>Factors causing Shift in Demand</vt:lpstr>
      <vt:lpstr>Changes in Demand - Decrease </vt:lpstr>
      <vt:lpstr>  Changes in Demand – Increase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Shilpi Tyagi</dc:creator>
  <cp:lastModifiedBy>Shilpi Tyagi</cp:lastModifiedBy>
  <cp:revision>5</cp:revision>
  <dcterms:created xsi:type="dcterms:W3CDTF">2024-07-24T12:07:29Z</dcterms:created>
  <dcterms:modified xsi:type="dcterms:W3CDTF">2024-07-29T07:21:07Z</dcterms:modified>
</cp:coreProperties>
</file>
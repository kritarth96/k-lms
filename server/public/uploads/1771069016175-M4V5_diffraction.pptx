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80" r:id="rId4"/>
    <p:sldId id="286" r:id="rId5"/>
    <p:sldId id="288" r:id="rId6"/>
    <p:sldId id="287" r:id="rId7"/>
    <p:sldId id="289" r:id="rId8"/>
    <p:sldId id="290" r:id="rId9"/>
    <p:sldId id="291" r:id="rId10"/>
    <p:sldId id="293" r:id="rId11"/>
    <p:sldId id="292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267" r:id="rId23"/>
  </p:sldIdLst>
  <p:sldSz cx="9144000" cy="6858000" type="screen4x3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301" autoAdjust="0"/>
    <p:restoredTop sz="94660"/>
  </p:normalViewPr>
  <p:slideViewPr>
    <p:cSldViewPr>
      <p:cViewPr>
        <p:scale>
          <a:sx n="75" d="100"/>
          <a:sy n="75" d="100"/>
        </p:scale>
        <p:origin x="-1560" y="-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C512F-57E2-4347-8AB9-97726AFAFBD4}" type="datetimeFigureOut">
              <a:rPr lang="en-US" smtClean="0"/>
              <a:pPr/>
              <a:t>10/2/2020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76728-E605-4C9D-BB71-97F5CA16A8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E5AC8-DF32-4530-BE70-4DF10E957B0F}" type="datetime1">
              <a:rPr lang="en-US" smtClean="0"/>
              <a:pPr/>
              <a:t>10/2/2020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DC05-DC1C-4BC7-83D0-F2C687841CD6}" type="datetime1">
              <a:rPr lang="en-US" smtClean="0"/>
              <a:pPr/>
              <a:t>10/2/2020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4021-6D00-490C-8F05-8D1CB4FDB300}" type="datetime1">
              <a:rPr lang="en-US" smtClean="0"/>
              <a:pPr/>
              <a:t>10/2/2020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B5E5-83F0-489B-A5B1-2EA4EABA0270}" type="datetime1">
              <a:rPr lang="en-US" smtClean="0"/>
              <a:pPr/>
              <a:t>10/2/2020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58A4-F9DF-4793-AEFB-9444EF4A4B9E}" type="datetime1">
              <a:rPr lang="en-US" smtClean="0"/>
              <a:pPr/>
              <a:t>10/2/2020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DFC1B-246B-4E89-B316-110A873EC268}" type="datetime1">
              <a:rPr lang="en-US" smtClean="0"/>
              <a:pPr/>
              <a:t>10/2/2020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D7A26-3A9D-42B8-9383-DEFFCAB98889}" type="datetime1">
              <a:rPr lang="en-US" smtClean="0"/>
              <a:pPr/>
              <a:t>10/2/2020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9A30-FFAB-4DBF-94A6-2E145F2FCA2A}" type="datetime1">
              <a:rPr lang="en-US" smtClean="0"/>
              <a:pPr/>
              <a:t>10/2/2020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C8A4-2A60-4EF9-9287-209AD1D300D3}" type="datetime1">
              <a:rPr lang="en-US" smtClean="0"/>
              <a:pPr/>
              <a:t>10/2/2020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6E30-7210-464E-8302-9DD7751FDC36}" type="datetime1">
              <a:rPr lang="en-US" smtClean="0"/>
              <a:pPr/>
              <a:t>10/2/2020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0983-422B-47AA-A7F1-7ABBD3BE51B8}" type="datetime1">
              <a:rPr lang="en-US" smtClean="0"/>
              <a:pPr/>
              <a:t>10/2/2020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72A2C-A8D6-4D99-8E80-99D45247B09F}" type="datetime1">
              <a:rPr lang="en-US" smtClean="0"/>
              <a:pPr/>
              <a:t>10/2/2020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397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and Mobile Communication</a:t>
            </a:r>
            <a:br>
              <a:rPr lang="en-US" dirty="0" smtClean="0"/>
            </a:br>
            <a:r>
              <a:rPr lang="en-US" dirty="0" smtClean="0"/>
              <a:t>(UEC 804) </a:t>
            </a:r>
            <a:endParaRPr lang="en-US" dirty="0"/>
          </a:p>
        </p:txBody>
      </p:sp>
      <p:grpSp>
        <p:nvGrpSpPr>
          <p:cNvPr id="3" name="Group 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6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3" cy="5538266"/>
              <a:chOff x="211286" y="1131023"/>
              <a:chExt cx="13623320" cy="6982618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0" name="Half Frame 9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1143000" y="4743271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Reference Text book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“Wireless communication_ principles and practices” (Second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 smtClean="0">
                <a:solidFill>
                  <a:srgbClr val="C00000"/>
                </a:solidFill>
              </a:rPr>
              <a:t>dition )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Author: Theodore s Rapport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Publisher: Prentice Hall (2002)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38400" y="2286000"/>
            <a:ext cx="5562600" cy="1447800"/>
          </a:xfrm>
        </p:spPr>
        <p:txBody>
          <a:bodyPr/>
          <a:lstStyle/>
          <a:p>
            <a:pPr>
              <a:buNone/>
            </a:pPr>
            <a:r>
              <a:rPr lang="en-US" sz="6600" dirty="0" smtClean="0">
                <a:solidFill>
                  <a:srgbClr val="C00000"/>
                </a:solidFill>
              </a:rPr>
              <a:t>MODULE -IV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0" y="0"/>
            <a:ext cx="9144000" cy="6716475"/>
            <a:chOff x="0" y="65325"/>
            <a:chExt cx="9144000" cy="67164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533400"/>
              <a:ext cx="9144000" cy="6248400"/>
              <a:chOff x="-323094" y="938877"/>
              <a:chExt cx="14645896" cy="7877953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-323094" y="1394102"/>
                <a:ext cx="14645896" cy="7422728"/>
                <a:chOff x="-323094" y="1394102"/>
                <a:chExt cx="14645896" cy="7422728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878294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333071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31962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50" y="830721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57200" y="990600"/>
            <a:ext cx="73052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covered  till now in this module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38200" y="1828800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85750">
              <a:buFont typeface="Arial" pitchFamily="34" charset="0"/>
              <a:buChar char="•"/>
            </a:pPr>
            <a:r>
              <a:rPr lang="en-US" sz="2000" dirty="0" smtClean="0"/>
              <a:t>Propagation Basics</a:t>
            </a:r>
            <a:endParaRPr lang="en-US" sz="20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63775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 be covered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in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this video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38200" y="2209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 Antenna Basics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838200" y="2971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Two Ray Model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838200" y="260246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 Reflection 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38200" y="4114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Diffraction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Diffraction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4800" y="1066800"/>
            <a:ext cx="8229600" cy="369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/>
              <a:t> Diffraction occurs when the signal hits the sharp edge surfaces .</a:t>
            </a:r>
          </a:p>
          <a:p>
            <a:pPr marL="284163" indent="-284163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/>
              <a:t>Diffraction allows radio signals to propagate around the curved surface of the earth, beyond the horizon, and to propagate behind obstructions. </a:t>
            </a:r>
          </a:p>
          <a:p>
            <a:pPr marL="284163" indent="-284163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 smtClean="0"/>
              <a:t> Although the received field strength decreases rapidly as a receiver moves deeper into the obstructed (shadowed) region, the diffraction field still exists and often has sufficient strength to produce a useful signal.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Huygens Principle  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0" y="990600"/>
            <a:ext cx="2981325" cy="3480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457200" y="1143000"/>
            <a:ext cx="4038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 In seventeenth century Dutch mathematician and scientist, Huygens proposed that  every point on the wave front of a wave was a source of spherical wave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The resultant wave is determined by adding all the waves from the point sources.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Huygens Principle  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8600" y="1305342"/>
            <a:ext cx="84582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6875" indent="-3968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The phenomenon of diffraction explained by </a:t>
            </a:r>
            <a:r>
              <a:rPr lang="en-US" sz="2000" dirty="0" err="1" smtClean="0"/>
              <a:t>Huygen's</a:t>
            </a:r>
            <a:r>
              <a:rPr lang="en-US" sz="2000" dirty="0" smtClean="0"/>
              <a:t> principle, states that all points on a wave-front can be considered as point sources for the production of secondary wavelets, and that these wavelets combine to produce a new wave-front in the direction of propagation.</a:t>
            </a:r>
          </a:p>
          <a:p>
            <a:pPr marL="396875" indent="-3968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Diffraction is caused by the propagation of secondary wavelets into a shadowed region.</a:t>
            </a:r>
          </a:p>
          <a:p>
            <a:pPr marL="396875" indent="-3968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The field strength of a diffracted wave in the shadowed region is the vector sum of the electric field components of all the secondary wavelets in the space around the obstacle.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Huygens Principle  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550" y="1263650"/>
            <a:ext cx="8724900" cy="433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Knife Edge Diffraction 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75" y="947738"/>
            <a:ext cx="5429250" cy="496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Excess path length and Phase difference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" y="3815477"/>
            <a:ext cx="8077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3460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Consider a transmitter and receiver separated in free space as shown in Figure above. Let an obstructing screen of effective height ‘</a:t>
            </a:r>
            <a:r>
              <a:rPr lang="en-US" i="1" dirty="0" smtClean="0"/>
              <a:t>h’ with infinite width be </a:t>
            </a:r>
            <a:r>
              <a:rPr lang="en-US" dirty="0" smtClean="0"/>
              <a:t>placed between them at a distance </a:t>
            </a:r>
            <a:r>
              <a:rPr lang="en-US" i="1" dirty="0" smtClean="0"/>
              <a:t>d</a:t>
            </a:r>
            <a:r>
              <a:rPr lang="en-US" i="1" baseline="-25000" dirty="0" smtClean="0"/>
              <a:t>1</a:t>
            </a:r>
            <a:r>
              <a:rPr lang="en-US" i="1" dirty="0" smtClean="0"/>
              <a:t> from the transmitter and d</a:t>
            </a:r>
            <a:r>
              <a:rPr lang="en-US" i="1" baseline="-25000" dirty="0" smtClean="0"/>
              <a:t>2</a:t>
            </a:r>
            <a:r>
              <a:rPr lang="en-US" i="1" dirty="0" smtClean="0"/>
              <a:t> from the receiver. </a:t>
            </a:r>
          </a:p>
          <a:p>
            <a:pPr marL="346075" indent="-3460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Assuming </a:t>
            </a:r>
            <a:r>
              <a:rPr lang="en-US" i="1" dirty="0" smtClean="0"/>
              <a:t> h « d</a:t>
            </a:r>
            <a:r>
              <a:rPr lang="en-US" i="1" baseline="-25000" dirty="0" smtClean="0"/>
              <a:t>1</a:t>
            </a:r>
            <a:r>
              <a:rPr lang="en-US" i="1" dirty="0" smtClean="0"/>
              <a:t>, d</a:t>
            </a:r>
            <a:r>
              <a:rPr lang="en-US" i="1" baseline="-25000" dirty="0" smtClean="0"/>
              <a:t>2</a:t>
            </a:r>
            <a:r>
              <a:rPr lang="en-US" i="1" dirty="0" smtClean="0"/>
              <a:t> and h » A., then the difference between the direct path and the diffracted path, called </a:t>
            </a:r>
            <a:r>
              <a:rPr lang="en-US" dirty="0" smtClean="0"/>
              <a:t>the </a:t>
            </a:r>
            <a:r>
              <a:rPr lang="en-US" b="1" i="1" dirty="0" smtClean="0"/>
              <a:t>excess path length (A).</a:t>
            </a:r>
            <a:endParaRPr lang="en-US" i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556793"/>
            <a:ext cx="5453063" cy="3253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24" name="Picture 3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5181600"/>
            <a:ext cx="5591175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Calculating excess path</a:t>
            </a:r>
            <a:endParaRPr lang="en-US" sz="3200" b="1" dirty="0" smtClean="0">
              <a:solidFill>
                <a:schemeClr val="bg1"/>
              </a:solidFill>
            </a:endParaRP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" y="457200"/>
            <a:ext cx="2306918" cy="907640"/>
          </a:xfrm>
          <a:prstGeom prst="rect">
            <a:avLst/>
          </a:prstGeom>
          <a:noFill/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43200" y="463960"/>
            <a:ext cx="1996269" cy="907640"/>
          </a:xfrm>
          <a:prstGeom prst="rect">
            <a:avLst/>
          </a:prstGeom>
          <a:noFill/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" y="1219200"/>
            <a:ext cx="2333931" cy="907640"/>
          </a:xfrm>
          <a:prstGeom prst="rect">
            <a:avLst/>
          </a:prstGeom>
          <a:noFill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" y="2348360"/>
            <a:ext cx="4565214" cy="699640"/>
          </a:xfrm>
          <a:prstGeom prst="rect">
            <a:avLst/>
          </a:prstGeom>
          <a:noFill/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" y="3581400"/>
            <a:ext cx="4965006" cy="1037303"/>
          </a:xfrm>
          <a:prstGeom prst="rect">
            <a:avLst/>
          </a:prstGeom>
          <a:noFill/>
        </p:spPr>
      </p:pic>
      <p:pic>
        <p:nvPicPr>
          <p:cNvPr id="12289" name="Picture 1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495800"/>
            <a:ext cx="5005527" cy="1037303"/>
          </a:xfrm>
          <a:prstGeom prst="rect">
            <a:avLst/>
          </a:prstGeom>
          <a:noFill/>
        </p:spPr>
      </p:pic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0" y="1524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0" y="2057401"/>
            <a:ext cx="304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89978" y="1981198"/>
            <a:ext cx="981939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Since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-4495800" y="3118247"/>
            <a:ext cx="13092518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then using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taylor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series approximation, we have 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0" y="36115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0" y="42211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590800" y="1447800"/>
            <a:ext cx="4296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=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2465938" y="697466"/>
            <a:ext cx="4296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alibri" pitchFamily="34" charset="0"/>
                <a:ea typeface="Times New Roman" pitchFamily="18" charset="0"/>
                <a:cs typeface="Times New Roman" pitchFamily="18" charset="0"/>
              </a:rPr>
              <a:t>=</a:t>
            </a:r>
            <a:endParaRPr lang="en-US" dirty="0"/>
          </a:p>
        </p:txBody>
      </p:sp>
      <p:pic>
        <p:nvPicPr>
          <p:cNvPr id="12319" name="Picture 31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71800" y="1371600"/>
            <a:ext cx="1752600" cy="791497"/>
          </a:xfrm>
          <a:prstGeom prst="rect">
            <a:avLst/>
          </a:prstGeom>
          <a:noFill/>
        </p:spPr>
      </p:pic>
      <p:sp>
        <p:nvSpPr>
          <p:cNvPr id="12321" name="Rectangle 3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323" name="Rectangle 35"/>
          <p:cNvSpPr>
            <a:spLocks noChangeArrowheads="1"/>
          </p:cNvSpPr>
          <p:nvPr/>
        </p:nvSpPr>
        <p:spPr bwMode="auto">
          <a:xfrm>
            <a:off x="0" y="1524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2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1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0" grpId="0" build="allAtOnce"/>
      <p:bldP spid="12301" grpId="0" build="allAtOnce"/>
      <p:bldP spid="43" grpId="0"/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762000"/>
            <a:ext cx="5405056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Calculating excess path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31" name="Picture 3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3657600"/>
            <a:ext cx="5591175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Calculating excess path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692696"/>
            <a:ext cx="8229600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Diffraction Geometry</a:t>
            </a:r>
            <a:endParaRPr lang="en-US" sz="3200" b="1" dirty="0">
              <a:solidFill>
                <a:schemeClr val="bg1"/>
              </a:solidFill>
            </a:endParaRPr>
          </a:p>
        </p:txBody>
      </p:sp>
      <p:grpSp>
        <p:nvGrpSpPr>
          <p:cNvPr id="15" name="Group 1040"/>
          <p:cNvGrpSpPr>
            <a:grpSpLocks/>
          </p:cNvGrpSpPr>
          <p:nvPr/>
        </p:nvGrpSpPr>
        <p:grpSpPr bwMode="auto">
          <a:xfrm>
            <a:off x="228600" y="1142629"/>
            <a:ext cx="8534400" cy="4572398"/>
            <a:chOff x="0" y="704"/>
            <a:chExt cx="5760" cy="3030"/>
          </a:xfrm>
        </p:grpSpPr>
        <p:pic>
          <p:nvPicPr>
            <p:cNvPr id="16" name="Picture 1036" descr="F4_10c"/>
            <p:cNvPicPr>
              <a:picLocks noChangeAspect="1" noChangeArrowheads="1"/>
            </p:cNvPicPr>
            <p:nvPr/>
          </p:nvPicPr>
          <p:blipFill>
            <a:blip r:embed="rId2">
              <a:lum bright="-20000" contrast="40000"/>
            </a:blip>
            <a:srcRect/>
            <a:stretch>
              <a:fillRect/>
            </a:stretch>
          </p:blipFill>
          <p:spPr bwMode="auto">
            <a:xfrm>
              <a:off x="1272" y="2688"/>
              <a:ext cx="3987" cy="10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8" name="Group 1039"/>
            <p:cNvGrpSpPr>
              <a:grpSpLocks/>
            </p:cNvGrpSpPr>
            <p:nvPr/>
          </p:nvGrpSpPr>
          <p:grpSpPr bwMode="auto">
            <a:xfrm>
              <a:off x="0" y="704"/>
              <a:ext cx="5760" cy="1835"/>
              <a:chOff x="0" y="704"/>
              <a:chExt cx="5760" cy="1835"/>
            </a:xfrm>
          </p:grpSpPr>
          <p:pic>
            <p:nvPicPr>
              <p:cNvPr id="19" name="Picture 1037" descr="F4_10b"/>
              <p:cNvPicPr>
                <a:picLocks noChangeAspect="1" noChangeArrowheads="1"/>
              </p:cNvPicPr>
              <p:nvPr/>
            </p:nvPicPr>
            <p:blipFill>
              <a:blip r:embed="rId3">
                <a:lum bright="-20000" contrast="40000"/>
              </a:blip>
              <a:srcRect/>
              <a:stretch>
                <a:fillRect/>
              </a:stretch>
            </p:blipFill>
            <p:spPr bwMode="auto">
              <a:xfrm>
                <a:off x="2928" y="755"/>
                <a:ext cx="2832" cy="17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" name="Picture 1038" descr="F4_10a"/>
              <p:cNvPicPr>
                <a:picLocks noChangeAspect="1" noChangeArrowheads="1"/>
              </p:cNvPicPr>
              <p:nvPr/>
            </p:nvPicPr>
            <p:blipFill>
              <a:blip r:embed="rId4">
                <a:lum bright="-20000" contrast="40000"/>
              </a:blip>
              <a:srcRect/>
              <a:stretch>
                <a:fillRect/>
              </a:stretch>
            </p:blipFill>
            <p:spPr bwMode="auto">
              <a:xfrm>
                <a:off x="0" y="704"/>
                <a:ext cx="2928" cy="18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Diffraction Geometry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33400"/>
            <a:ext cx="7172881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036" descr="F4_10c"/>
          <p:cNvPicPr>
            <a:picLocks noChangeAspect="1" noChangeArrowheads="1"/>
          </p:cNvPicPr>
          <p:nvPr/>
        </p:nvPicPr>
        <p:blipFill>
          <a:blip r:embed="rId3">
            <a:lum bright="-20000" contrast="40000"/>
          </a:blip>
          <a:srcRect/>
          <a:stretch>
            <a:fillRect/>
          </a:stretch>
        </p:blipFill>
        <p:spPr bwMode="auto">
          <a:xfrm>
            <a:off x="4038600" y="4669968"/>
            <a:ext cx="4800600" cy="180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Fresnel </a:t>
            </a:r>
            <a:r>
              <a:rPr lang="en-US" sz="3200" dirty="0" err="1" smtClean="0">
                <a:solidFill>
                  <a:schemeClr val="bg1"/>
                </a:solidFill>
              </a:rPr>
              <a:t>Kirchoff</a:t>
            </a:r>
            <a:r>
              <a:rPr lang="en-US" sz="3200" dirty="0" smtClean="0">
                <a:solidFill>
                  <a:schemeClr val="bg1"/>
                </a:solidFill>
              </a:rPr>
              <a:t> diffraction parameter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0" y="838200"/>
            <a:ext cx="6858000" cy="2506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Box 17"/>
          <p:cNvSpPr txBox="1"/>
          <p:nvPr/>
        </p:nvSpPr>
        <p:spPr>
          <a:xfrm>
            <a:off x="228600" y="3429000"/>
            <a:ext cx="8458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6875" indent="-3968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It characterize the phase difference between two propagating waves. </a:t>
            </a:r>
          </a:p>
          <a:p>
            <a:pPr marL="396875" indent="-3968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The phase difference between a direct line-of-sight path and diffracted path is a function of height and position of the obstruction, as well as the transmitter and receiver location.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Fresnel zones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3400" y="3352800"/>
            <a:ext cx="83820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3460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Fresnel zones represent successive regions where secondary waves have a path length from the transmitter to receiver which are  n</a:t>
            </a:r>
            <a:r>
              <a:rPr lang="el-GR" i="1" dirty="0" smtClean="0"/>
              <a:t>λ</a:t>
            </a:r>
            <a:r>
              <a:rPr lang="en-US" i="1" dirty="0" smtClean="0"/>
              <a:t>/2</a:t>
            </a:r>
            <a:r>
              <a:rPr lang="en-US" dirty="0" smtClean="0"/>
              <a:t> greater than the total path length of a line-of-sight path.</a:t>
            </a:r>
          </a:p>
          <a:p>
            <a:pPr marL="346075" indent="-3460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 Figure demonstrates a transparent plane located between a transmitter and receiver. The concentric circles on the plane represent the loci of the origins of secondary wavelets which propagate to the receiver such that the </a:t>
            </a:r>
            <a:r>
              <a:rPr lang="en-US" b="1" i="1" dirty="0" smtClean="0"/>
              <a:t>total path length increases by  </a:t>
            </a:r>
            <a:r>
              <a:rPr lang="el-GR" b="1" i="1" dirty="0" smtClean="0"/>
              <a:t>λ</a:t>
            </a:r>
            <a:r>
              <a:rPr lang="en-US" b="1" i="1" dirty="0" smtClean="0"/>
              <a:t>/2   for successive circles</a:t>
            </a:r>
            <a:r>
              <a:rPr lang="en-US" dirty="0" smtClean="0"/>
              <a:t>. These circles are called </a:t>
            </a:r>
            <a:r>
              <a:rPr lang="en-US" b="1" dirty="0" smtClean="0"/>
              <a:t>Fresnel zones</a:t>
            </a:r>
            <a:r>
              <a:rPr lang="en-US" dirty="0" smtClean="0"/>
              <a:t>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2450" y="533400"/>
            <a:ext cx="7677150" cy="283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04800" y="838200"/>
            <a:ext cx="8001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3460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The successive Fresnel zones have the effect of alternately providing constructive and destructive interference to the total received signal. </a:t>
            </a:r>
          </a:p>
          <a:p>
            <a:pPr marL="346075" indent="-3460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The radius of the </a:t>
            </a:r>
            <a:r>
              <a:rPr lang="en-US" i="1" dirty="0" smtClean="0"/>
              <a:t>nth Fresnel zone circle is denoted by </a:t>
            </a:r>
            <a:r>
              <a:rPr lang="en-US" i="1" dirty="0" err="1" smtClean="0"/>
              <a:t>r</a:t>
            </a:r>
            <a:r>
              <a:rPr lang="en-US" i="1" baseline="-25000" dirty="0" err="1" smtClean="0"/>
              <a:t>n</a:t>
            </a:r>
            <a:r>
              <a:rPr lang="en-US" i="1" dirty="0" smtClean="0"/>
              <a:t> can be expressed </a:t>
            </a:r>
            <a:r>
              <a:rPr lang="en-US" dirty="0" smtClean="0"/>
              <a:t>in terms of </a:t>
            </a:r>
            <a:r>
              <a:rPr lang="en-US" i="1" dirty="0" smtClean="0"/>
              <a:t>n, λ, d</a:t>
            </a:r>
            <a:r>
              <a:rPr lang="en-US" i="1" baseline="-25000" dirty="0" smtClean="0"/>
              <a:t>1</a:t>
            </a:r>
            <a:r>
              <a:rPr lang="en-US" i="1" dirty="0" smtClean="0"/>
              <a:t>and d</a:t>
            </a:r>
            <a:r>
              <a:rPr lang="en-US" i="1" baseline="-25000" dirty="0" smtClean="0"/>
              <a:t>2 </a:t>
            </a:r>
            <a:r>
              <a:rPr lang="en-US" i="1" dirty="0" smtClean="0"/>
              <a:t>by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9144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Fresnel zones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2590800"/>
            <a:ext cx="2281238" cy="1085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0" y="1"/>
            <a:ext cx="8915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Fresnel zones for different knife-edge diffraction scenarios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838200"/>
            <a:ext cx="4914900" cy="562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0" y="1"/>
            <a:ext cx="8915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Knife-edge diffraction geometry.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8600" y="838200"/>
            <a:ext cx="52014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When the receiver </a:t>
            </a:r>
            <a:r>
              <a:rPr lang="en-US" i="1" dirty="0" smtClean="0"/>
              <a:t>R is located in the shadow </a:t>
            </a:r>
            <a:r>
              <a:rPr lang="en-US" dirty="0" smtClean="0"/>
              <a:t>region.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490501"/>
            <a:ext cx="5324475" cy="4376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0" y="1"/>
            <a:ext cx="8915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</a:rPr>
              <a:t>Knife-edge diffraction geometry.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8600" y="838200"/>
            <a:ext cx="8153400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 diffraction gain due to the presence of a knife edge, as compared to the free space E-field, is given by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1676400"/>
            <a:ext cx="2209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2590800"/>
            <a:ext cx="6581775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81000" y="1"/>
            <a:ext cx="8915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A graphical representation of gain as a function of </a:t>
            </a:r>
            <a:r>
              <a:rPr lang="en-US" sz="2800" i="1" dirty="0" smtClean="0">
                <a:solidFill>
                  <a:schemeClr val="bg1"/>
                </a:solidFill>
              </a:rPr>
              <a:t>v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8600" y="838200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914400"/>
            <a:ext cx="6629400" cy="5014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6" name="image96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5892" y="1482242"/>
            <a:ext cx="6991913" cy="392856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5639&quot;&gt;&lt;/object&gt;&lt;object type=&quot;2&quot; unique_id=&quot;15640&quot;&gt;&lt;object type=&quot;3&quot; unique_id=&quot;15641&quot;&gt;&lt;property id=&quot;20148&quot; value=&quot;5&quot;/&gt;&lt;property id=&quot;20300&quot; value=&quot;Slide 1 - &amp;quot;Wireless and Mobile Communication (UEC 804) &amp;quot;&quot;/&gt;&lt;property id=&quot;20307&quot; value=&quot;257&quot;/&gt;&lt;/object&gt;&lt;object type=&quot;3&quot; unique_id=&quot;15642&quot;&gt;&lt;property id=&quot;20148&quot; value=&quot;5&quot;/&gt;&lt;property id=&quot;20300&quot; value=&quot;Slide 2&quot;/&gt;&lt;property id=&quot;20307&quot; value=&quot;258&quot;/&gt;&lt;/object&gt;&lt;object type=&quot;3&quot; unique_id=&quot;15783&quot;&gt;&lt;property id=&quot;20148&quot; value=&quot;5&quot;/&gt;&lt;property id=&quot;20300&quot; value=&quot;Slide 22&quot;/&gt;&lt;property id=&quot;20307&quot; value=&quot;267&quot;/&gt;&lt;/object&gt;&lt;object type=&quot;3&quot; unique_id=&quot;18610&quot;&gt;&lt;property id=&quot;20148&quot; value=&quot;5&quot;/&gt;&lt;property id=&quot;20300&quot; value=&quot;Slide 3&quot;/&gt;&lt;property id=&quot;20307&quot; value=&quot;280&quot;/&gt;&lt;/object&gt;&lt;object type=&quot;3&quot; unique_id=&quot;19771&quot;&gt;&lt;property id=&quot;20148&quot; value=&quot;5&quot;/&gt;&lt;property id=&quot;20300&quot; value=&quot;Slide 4&quot;/&gt;&lt;property id=&quot;20307&quot; value=&quot;286&quot;/&gt;&lt;/object&gt;&lt;object type=&quot;3&quot; unique_id=&quot;20678&quot;&gt;&lt;property id=&quot;20148&quot; value=&quot;5&quot;/&gt;&lt;property id=&quot;20300&quot; value=&quot;Slide 6&quot;/&gt;&lt;property id=&quot;20307&quot; value=&quot;287&quot;/&gt;&lt;/object&gt;&lt;object type=&quot;3&quot; unique_id=&quot;20679&quot;&gt;&lt;property id=&quot;20148&quot; value=&quot;5&quot;/&gt;&lt;property id=&quot;20300&quot; value=&quot;Slide 5&quot;/&gt;&lt;property id=&quot;20307&quot; value=&quot;288&quot;/&gt;&lt;/object&gt;&lt;object type=&quot;3&quot; unique_id=&quot;20680&quot;&gt;&lt;property id=&quot;20148&quot; value=&quot;5&quot;/&gt;&lt;property id=&quot;20300&quot; value=&quot;Slide 7&quot;/&gt;&lt;property id=&quot;20307&quot; value=&quot;289&quot;/&gt;&lt;/object&gt;&lt;object type=&quot;3&quot; unique_id=&quot;20681&quot;&gt;&lt;property id=&quot;20148&quot; value=&quot;5&quot;/&gt;&lt;property id=&quot;20300&quot; value=&quot;Slide 8&quot;/&gt;&lt;property id=&quot;20307&quot; value=&quot;290&quot;/&gt;&lt;/object&gt;&lt;object type=&quot;3&quot; unique_id=&quot;20682&quot;&gt;&lt;property id=&quot;20148&quot; value=&quot;5&quot;/&gt;&lt;property id=&quot;20300&quot; value=&quot;Slide 9&quot;/&gt;&lt;property id=&quot;20307&quot; value=&quot;291&quot;/&gt;&lt;/object&gt;&lt;object type=&quot;3&quot; unique_id=&quot;20683&quot;&gt;&lt;property id=&quot;20148&quot; value=&quot;5&quot;/&gt;&lt;property id=&quot;20300&quot; value=&quot;Slide 11&quot;/&gt;&lt;property id=&quot;20307&quot; value=&quot;292&quot;/&gt;&lt;/object&gt;&lt;object type=&quot;3&quot; unique_id=&quot;20684&quot;&gt;&lt;property id=&quot;20148&quot; value=&quot;5&quot;/&gt;&lt;property id=&quot;20300&quot; value=&quot;Slide 10&quot;/&gt;&lt;property id=&quot;20307&quot; value=&quot;293&quot;/&gt;&lt;/object&gt;&lt;object type=&quot;3&quot; unique_id=&quot;20685&quot;&gt;&lt;property id=&quot;20148&quot; value=&quot;5&quot;/&gt;&lt;property id=&quot;20300&quot; value=&quot;Slide 12&quot;/&gt;&lt;property id=&quot;20307&quot; value=&quot;294&quot;/&gt;&lt;/object&gt;&lt;object type=&quot;3&quot; unique_id=&quot;20686&quot;&gt;&lt;property id=&quot;20148&quot; value=&quot;5&quot;/&gt;&lt;property id=&quot;20300&quot; value=&quot;Slide 13&quot;/&gt;&lt;property id=&quot;20307&quot; value=&quot;295&quot;/&gt;&lt;/object&gt;&lt;object type=&quot;3&quot; unique_id=&quot;20687&quot;&gt;&lt;property id=&quot;20148&quot; value=&quot;5&quot;/&gt;&lt;property id=&quot;20300&quot; value=&quot;Slide 14&quot;/&gt;&lt;property id=&quot;20307&quot; value=&quot;296&quot;/&gt;&lt;/object&gt;&lt;object type=&quot;3&quot; unique_id=&quot;20688&quot;&gt;&lt;property id=&quot;20148&quot; value=&quot;5&quot;/&gt;&lt;property id=&quot;20300&quot; value=&quot;Slide 15&quot;/&gt;&lt;property id=&quot;20307&quot; value=&quot;297&quot;/&gt;&lt;/object&gt;&lt;object type=&quot;3&quot; unique_id=&quot;20689&quot;&gt;&lt;property id=&quot;20148&quot; value=&quot;5&quot;/&gt;&lt;property id=&quot;20300&quot; value=&quot;Slide 16&quot;/&gt;&lt;property id=&quot;20307&quot; value=&quot;298&quot;/&gt;&lt;/object&gt;&lt;object type=&quot;3&quot; unique_id=&quot;20690&quot;&gt;&lt;property id=&quot;20148&quot; value=&quot;5&quot;/&gt;&lt;property id=&quot;20300&quot; value=&quot;Slide 17&quot;/&gt;&lt;property id=&quot;20307&quot; value=&quot;299&quot;/&gt;&lt;/object&gt;&lt;object type=&quot;3&quot; unique_id=&quot;20691&quot;&gt;&lt;property id=&quot;20148&quot; value=&quot;5&quot;/&gt;&lt;property id=&quot;20300&quot; value=&quot;Slide 18&quot;/&gt;&lt;property id=&quot;20307&quot; value=&quot;300&quot;/&gt;&lt;/object&gt;&lt;object type=&quot;3&quot; unique_id=&quot;20816&quot;&gt;&lt;property id=&quot;20148&quot; value=&quot;5&quot;/&gt;&lt;property id=&quot;20300&quot; value=&quot;Slide 19&quot;/&gt;&lt;property id=&quot;20307&quot; value=&quot;301&quot;/&gt;&lt;/object&gt;&lt;object type=&quot;3&quot; unique_id=&quot;20817&quot;&gt;&lt;property id=&quot;20148&quot; value=&quot;5&quot;/&gt;&lt;property id=&quot;20300&quot; value=&quot;Slide 20&quot;/&gt;&lt;property id=&quot;20307&quot; value=&quot;302&quot;/&gt;&lt;/object&gt;&lt;object type=&quot;3&quot; unique_id=&quot;20818&quot;&gt;&lt;property id=&quot;20148&quot; value=&quot;5&quot;/&gt;&lt;property id=&quot;20300&quot; value=&quot;Slide 21&quot;/&gt;&lt;property id=&quot;20307&quot; value=&quot;30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12877</TotalTime>
  <Words>648</Words>
  <Application>Microsoft Office PowerPoint</Application>
  <PresentationFormat>On-screen Show (4:3)</PresentationFormat>
  <Paragraphs>78</Paragraphs>
  <Slides>22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Wireless and Mobile Communication (UEC 804)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and Mobile Communication (UEC 804)</dc:title>
  <dc:creator>Surbhi Sharma</dc:creator>
  <cp:lastModifiedBy>Surbhi Sharma</cp:lastModifiedBy>
  <cp:revision>88</cp:revision>
  <dcterms:created xsi:type="dcterms:W3CDTF">2020-06-07T16:43:59Z</dcterms:created>
  <dcterms:modified xsi:type="dcterms:W3CDTF">2020-10-03T05:53:36Z</dcterms:modified>
</cp:coreProperties>
</file>
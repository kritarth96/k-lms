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8" r:id="rId2"/>
    <p:sldId id="359" r:id="rId3"/>
    <p:sldId id="368" r:id="rId4"/>
    <p:sldId id="369" r:id="rId5"/>
    <p:sldId id="378" r:id="rId6"/>
    <p:sldId id="384" r:id="rId7"/>
    <p:sldId id="379" r:id="rId8"/>
    <p:sldId id="385" r:id="rId9"/>
    <p:sldId id="380" r:id="rId10"/>
    <p:sldId id="381" r:id="rId11"/>
    <p:sldId id="382" r:id="rId12"/>
    <p:sldId id="3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6" d="100"/>
          <a:sy n="46" d="100"/>
        </p:scale>
        <p:origin x="87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741032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3805007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809961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7231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234749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46612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039898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1805637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1972239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1132783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77264D-E19C-4FAD-88B5-41E81D072FC5}"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FEB974-35ED-4DA0-8C4C-57DD0BC0B49B}" type="slidenum">
              <a:rPr lang="en-US" smtClean="0"/>
              <a:t>‹#›</a:t>
            </a:fld>
            <a:endParaRPr lang="en-US" dirty="0"/>
          </a:p>
        </p:txBody>
      </p:sp>
    </p:spTree>
    <p:extLst>
      <p:ext uri="{BB962C8B-B14F-4D97-AF65-F5344CB8AC3E}">
        <p14:creationId xmlns:p14="http://schemas.microsoft.com/office/powerpoint/2010/main" val="2553245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7264D-E19C-4FAD-88B5-41E81D072FC5}" type="datetimeFigureOut">
              <a:rPr lang="en-US" smtClean="0"/>
              <a:t>11/19/2024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FEB974-35ED-4DA0-8C4C-57DD0BC0B49B}" type="slidenum">
              <a:rPr lang="en-US" smtClean="0"/>
              <a:t>‹#›</a:t>
            </a:fld>
            <a:endParaRPr lang="en-US" dirty="0"/>
          </a:p>
        </p:txBody>
      </p:sp>
    </p:spTree>
    <p:extLst>
      <p:ext uri="{BB962C8B-B14F-4D97-AF65-F5344CB8AC3E}">
        <p14:creationId xmlns:p14="http://schemas.microsoft.com/office/powerpoint/2010/main" val="3464120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412091"/>
            <a:ext cx="7772400" cy="1102519"/>
          </a:xfrm>
        </p:spPr>
        <p:txBody>
          <a:bodyPr>
            <a:normAutofit fontScale="90000"/>
          </a:bodyPr>
          <a:lstStyle/>
          <a:p>
            <a:pPr algn="ctr"/>
            <a:r>
              <a:rPr lang="en-US" b="1" dirty="0">
                <a:solidFill>
                  <a:srgbClr val="00B0F0"/>
                </a:solidFill>
              </a:rPr>
              <a:t>5G WIRELESS </a:t>
            </a:r>
            <a:r>
              <a:rPr lang="en-US" b="1" dirty="0" smtClean="0">
                <a:solidFill>
                  <a:srgbClr val="00B0F0"/>
                </a:solidFill>
              </a:rPr>
              <a:t>COMMUNICATION </a:t>
            </a:r>
            <a:br>
              <a:rPr lang="en-US" b="1" dirty="0" smtClean="0">
                <a:solidFill>
                  <a:srgbClr val="00B0F0"/>
                </a:solidFill>
              </a:rPr>
            </a:br>
            <a:r>
              <a:rPr lang="en-US" b="1" dirty="0" smtClean="0">
                <a:solidFill>
                  <a:srgbClr val="00B0F0"/>
                </a:solidFill>
              </a:rPr>
              <a:t>(UEC 719) </a:t>
            </a:r>
            <a:endParaRPr lang="en-US" b="1" dirty="0">
              <a:solidFill>
                <a:srgbClr val="00B0F0"/>
              </a:solidFill>
            </a:endParaRPr>
          </a:p>
        </p:txBody>
      </p:sp>
      <p:sp>
        <p:nvSpPr>
          <p:cNvPr id="15" name="Slide Number Placeholder 14"/>
          <p:cNvSpPr>
            <a:spLocks noGrp="1"/>
          </p:cNvSpPr>
          <p:nvPr>
            <p:ph type="sldNum" sz="quarter" idx="4294967295"/>
          </p:nvPr>
        </p:nvSpPr>
        <p:spPr>
          <a:xfrm>
            <a:off x="8077200" y="5624522"/>
            <a:ext cx="2133600" cy="207749"/>
          </a:xfrm>
          <a:prstGeom prst="rect">
            <a:avLst/>
          </a:prstGeom>
        </p:spPr>
        <p:txBody>
          <a:bodyPr/>
          <a:lstStyle/>
          <a:p>
            <a:fld id="{4846ABB7-46DB-4F16-AB8B-BFEDDDD52D19}" type="slidenum">
              <a:rPr lang="en-US" smtClean="0"/>
              <a:pPr/>
              <a:t>1</a:t>
            </a:fld>
            <a:endParaRPr lang="en-US"/>
          </a:p>
        </p:txBody>
      </p:sp>
      <p:sp>
        <p:nvSpPr>
          <p:cNvPr id="3" name="TextBox 2"/>
          <p:cNvSpPr txBox="1"/>
          <p:nvPr/>
        </p:nvSpPr>
        <p:spPr>
          <a:xfrm>
            <a:off x="4463885" y="2935003"/>
            <a:ext cx="3058594" cy="1846659"/>
          </a:xfrm>
          <a:prstGeom prst="rect">
            <a:avLst/>
          </a:prstGeom>
          <a:noFill/>
        </p:spPr>
        <p:txBody>
          <a:bodyPr wrap="none" rtlCol="0">
            <a:spAutoFit/>
          </a:bodyPr>
          <a:lstStyle/>
          <a:p>
            <a:pPr algn="ctr"/>
            <a:r>
              <a:rPr lang="en-US" sz="3000" dirty="0">
                <a:solidFill>
                  <a:srgbClr val="FF0000"/>
                </a:solidFill>
                <a:latin typeface="+mj-lt"/>
                <a:ea typeface="+mj-ea"/>
                <a:cs typeface="+mj-cs"/>
              </a:rPr>
              <a:t>Course Instructor  </a:t>
            </a:r>
          </a:p>
          <a:p>
            <a:pPr algn="ctr"/>
            <a:r>
              <a:rPr lang="en-US" sz="2100" dirty="0">
                <a:latin typeface="+mj-lt"/>
                <a:ea typeface="+mj-ea"/>
                <a:cs typeface="+mj-cs"/>
              </a:rPr>
              <a:t>Dr. Hem </a:t>
            </a:r>
            <a:r>
              <a:rPr lang="en-US" sz="2100" dirty="0" err="1">
                <a:latin typeface="+mj-lt"/>
                <a:ea typeface="+mj-ea"/>
                <a:cs typeface="+mj-cs"/>
              </a:rPr>
              <a:t>Dutt</a:t>
            </a:r>
            <a:r>
              <a:rPr lang="en-US" sz="2100" dirty="0">
                <a:latin typeface="+mj-lt"/>
                <a:ea typeface="+mj-ea"/>
                <a:cs typeface="+mj-cs"/>
              </a:rPr>
              <a:t> Joshi</a:t>
            </a:r>
          </a:p>
          <a:p>
            <a:pPr algn="ctr"/>
            <a:r>
              <a:rPr lang="en-US" sz="2100" dirty="0">
                <a:latin typeface="+mj-lt"/>
                <a:ea typeface="+mj-ea"/>
                <a:cs typeface="+mj-cs"/>
              </a:rPr>
              <a:t>Dr. </a:t>
            </a:r>
            <a:r>
              <a:rPr lang="en-US" sz="2100" dirty="0" err="1">
                <a:latin typeface="+mj-lt"/>
                <a:ea typeface="+mj-ea"/>
                <a:cs typeface="+mj-cs"/>
              </a:rPr>
              <a:t>Surbhi</a:t>
            </a:r>
            <a:r>
              <a:rPr lang="en-US" sz="2100" dirty="0">
                <a:latin typeface="+mj-lt"/>
                <a:ea typeface="+mj-ea"/>
                <a:cs typeface="+mj-cs"/>
              </a:rPr>
              <a:t> Sharma</a:t>
            </a:r>
          </a:p>
          <a:p>
            <a:pPr algn="ctr"/>
            <a:r>
              <a:rPr lang="en-US" sz="2100" dirty="0">
                <a:latin typeface="+mj-lt"/>
                <a:ea typeface="+mj-ea"/>
                <a:cs typeface="+mj-cs"/>
              </a:rPr>
              <a:t>Associate Professor, </a:t>
            </a:r>
          </a:p>
          <a:p>
            <a:pPr algn="ctr"/>
            <a:r>
              <a:rPr lang="en-US" sz="2100" dirty="0">
                <a:latin typeface="+mj-lt"/>
                <a:ea typeface="+mj-ea"/>
                <a:cs typeface="+mj-cs"/>
              </a:rPr>
              <a:t>TIET, Patiala</a:t>
            </a:r>
            <a:endParaRPr lang="en-IN" sz="2100" dirty="0">
              <a:latin typeface="+mj-lt"/>
              <a:ea typeface="+mj-ea"/>
              <a:cs typeface="+mj-cs"/>
            </a:endParaRPr>
          </a:p>
        </p:txBody>
      </p:sp>
    </p:spTree>
    <p:extLst>
      <p:ext uri="{BB962C8B-B14F-4D97-AF65-F5344CB8AC3E}">
        <p14:creationId xmlns:p14="http://schemas.microsoft.com/office/powerpoint/2010/main" val="12014209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238500" y="1737285"/>
            <a:ext cx="5562600" cy="1748873"/>
          </a:xfrm>
        </p:spPr>
        <p:txBody>
          <a:bodyPr>
            <a:normAutofit fontScale="47500" lnSpcReduction="20000"/>
          </a:bodyPr>
          <a:lstStyle/>
          <a:p>
            <a:pPr algn="ctr">
              <a:buNone/>
            </a:pPr>
            <a:r>
              <a:rPr lang="en-US" sz="6000" dirty="0">
                <a:solidFill>
                  <a:srgbClr val="00B0F0"/>
                </a:solidFill>
              </a:rPr>
              <a:t>Lecture: </a:t>
            </a:r>
          </a:p>
          <a:p>
            <a:pPr algn="ctr">
              <a:buNone/>
            </a:pPr>
            <a:endParaRPr lang="en-US" sz="4950" dirty="0">
              <a:solidFill>
                <a:srgbClr val="C00000"/>
              </a:solidFill>
            </a:endParaRPr>
          </a:p>
          <a:p>
            <a:pPr algn="ctr">
              <a:buNone/>
            </a:pPr>
            <a:r>
              <a:rPr lang="en-US" sz="6000" dirty="0" smtClean="0">
                <a:solidFill>
                  <a:srgbClr val="C00000"/>
                </a:solidFill>
              </a:rPr>
              <a:t>Capacity Limits of MIMO Systems</a:t>
            </a:r>
            <a:endParaRPr lang="en-US" sz="1725" dirty="0">
              <a:solidFill>
                <a:srgbClr val="C00000"/>
              </a:solidFill>
            </a:endParaRPr>
          </a:p>
        </p:txBody>
      </p:sp>
      <p:sp>
        <p:nvSpPr>
          <p:cNvPr id="15" name="Slide Number Placeholder 14"/>
          <p:cNvSpPr>
            <a:spLocks noGrp="1"/>
          </p:cNvSpPr>
          <p:nvPr>
            <p:ph type="sldNum" sz="quarter" idx="4294967295"/>
          </p:nvPr>
        </p:nvSpPr>
        <p:spPr>
          <a:xfrm>
            <a:off x="8077200" y="5624522"/>
            <a:ext cx="2133600" cy="207749"/>
          </a:xfrm>
          <a:prstGeom prst="rect">
            <a:avLst/>
          </a:prstGeom>
        </p:spPr>
        <p:txBody>
          <a:bodyPr/>
          <a:lstStyle/>
          <a:p>
            <a:fld id="{4846ABB7-46DB-4F16-AB8B-BFEDDDD52D19}" type="slidenum">
              <a:rPr lang="en-US" smtClean="0"/>
              <a:pPr/>
              <a:t>2</a:t>
            </a:fld>
            <a:endParaRPr lang="en-US"/>
          </a:p>
        </p:txBody>
      </p:sp>
    </p:spTree>
    <p:extLst>
      <p:ext uri="{BB962C8B-B14F-4D97-AF65-F5344CB8AC3E}">
        <p14:creationId xmlns:p14="http://schemas.microsoft.com/office/powerpoint/2010/main" val="22027424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8229600" cy="706090"/>
          </a:xfrm>
        </p:spPr>
        <p:txBody>
          <a:bodyPr>
            <a:normAutofit/>
          </a:bodyPr>
          <a:lstStyle/>
          <a:p>
            <a:r>
              <a:rPr lang="en-CA" sz="4000" b="1" dirty="0"/>
              <a:t>Capacity Limit</a:t>
            </a:r>
            <a:endParaRPr lang="en-US" sz="4000" b="1" dirty="0">
              <a:solidFill>
                <a:srgbClr val="0070C0"/>
              </a:solidFill>
            </a:endParaRPr>
          </a:p>
        </p:txBody>
      </p:sp>
      <p:sp>
        <p:nvSpPr>
          <p:cNvPr id="4" name="Slide Number Placeholder 3"/>
          <p:cNvSpPr>
            <a:spLocks noGrp="1"/>
          </p:cNvSpPr>
          <p:nvPr>
            <p:ph type="sldNum" sz="quarter" idx="12"/>
          </p:nvPr>
        </p:nvSpPr>
        <p:spPr/>
        <p:txBody>
          <a:bodyPr/>
          <a:lstStyle/>
          <a:p>
            <a:fld id="{449E5AA5-A551-4C90-805E-1548D2A85B11}" type="slidenum">
              <a:rPr lang="en-IN" smtClean="0"/>
              <a:pPr/>
              <a:t>3</a:t>
            </a:fld>
            <a:endParaRPr lang="en-IN"/>
          </a:p>
        </p:txBody>
      </p:sp>
      <p:sp>
        <p:nvSpPr>
          <p:cNvPr id="9" name="Content Placeholder 8"/>
          <p:cNvSpPr>
            <a:spLocks noGrp="1"/>
          </p:cNvSpPr>
          <p:nvPr>
            <p:ph idx="1"/>
          </p:nvPr>
        </p:nvSpPr>
        <p:spPr>
          <a:xfrm>
            <a:off x="152400" y="980728"/>
            <a:ext cx="11734800" cy="5616624"/>
          </a:xfrm>
        </p:spPr>
        <p:txBody>
          <a:bodyPr>
            <a:normAutofit/>
          </a:bodyPr>
          <a:lstStyle/>
          <a:p>
            <a:pPr algn="just">
              <a:lnSpc>
                <a:spcPct val="150000"/>
              </a:lnSpc>
            </a:pPr>
            <a:r>
              <a:rPr lang="en-CA" sz="2400" dirty="0"/>
              <a:t>Shannon capacity limits of </a:t>
            </a:r>
            <a:r>
              <a:rPr lang="en-CA" sz="2400" dirty="0" smtClean="0"/>
              <a:t>single-and </a:t>
            </a:r>
            <a:r>
              <a:rPr lang="en-CA" sz="2400" dirty="0"/>
              <a:t>multi-user MIMO systems limits dictate the maximum data rates that can be transmitted over the MIMO channel to one or more users (not in outage) with asymptotically small error probability, assuming no constraints on the delay or the complexity of the encoder and decoder.</a:t>
            </a:r>
          </a:p>
          <a:p>
            <a:pPr>
              <a:lnSpc>
                <a:spcPct val="150000"/>
              </a:lnSpc>
            </a:pPr>
            <a:r>
              <a:rPr lang="en-CA" sz="2400" dirty="0"/>
              <a:t>MIMO Shannon capacity for both single- and multi-user systems with and without fading under different assumptions about what is known at the transmitter(s) and receiver(s).</a:t>
            </a:r>
          </a:p>
          <a:p>
            <a:pPr algn="just"/>
            <a:endParaRPr lang="en-CA" sz="2400" dirty="0"/>
          </a:p>
        </p:txBody>
      </p:sp>
    </p:spTree>
    <p:extLst>
      <p:ext uri="{BB962C8B-B14F-4D97-AF65-F5344CB8AC3E}">
        <p14:creationId xmlns:p14="http://schemas.microsoft.com/office/powerpoint/2010/main" val="221663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0648"/>
            <a:ext cx="8229600" cy="432048"/>
          </a:xfrm>
        </p:spPr>
        <p:txBody>
          <a:bodyPr>
            <a:noAutofit/>
          </a:bodyPr>
          <a:lstStyle/>
          <a:p>
            <a:r>
              <a:rPr lang="en-CA" sz="2800" b="1" dirty="0"/>
              <a:t>Mutual information and Shannon Capacity</a:t>
            </a:r>
            <a:endParaRPr lang="en-US" sz="2800" b="1" dirty="0">
              <a:solidFill>
                <a:srgbClr val="0070C0"/>
              </a:solidFill>
            </a:endParaRPr>
          </a:p>
        </p:txBody>
      </p:sp>
      <p:sp>
        <p:nvSpPr>
          <p:cNvPr id="4" name="Slide Number Placeholder 3"/>
          <p:cNvSpPr>
            <a:spLocks noGrp="1"/>
          </p:cNvSpPr>
          <p:nvPr>
            <p:ph type="sldNum" sz="quarter" idx="12"/>
          </p:nvPr>
        </p:nvSpPr>
        <p:spPr/>
        <p:txBody>
          <a:bodyPr/>
          <a:lstStyle/>
          <a:p>
            <a:fld id="{449E5AA5-A551-4C90-805E-1548D2A85B11}" type="slidenum">
              <a:rPr lang="en-IN" smtClean="0"/>
              <a:pPr/>
              <a:t>4</a:t>
            </a:fld>
            <a:endParaRPr lang="en-IN"/>
          </a:p>
        </p:txBody>
      </p:sp>
      <p:sp>
        <p:nvSpPr>
          <p:cNvPr id="7" name="Content Placeholder 6"/>
          <p:cNvSpPr>
            <a:spLocks noGrp="1"/>
          </p:cNvSpPr>
          <p:nvPr>
            <p:ph idx="1"/>
          </p:nvPr>
        </p:nvSpPr>
        <p:spPr>
          <a:xfrm>
            <a:off x="381000" y="980729"/>
            <a:ext cx="11353800" cy="4781127"/>
          </a:xfrm>
        </p:spPr>
        <p:txBody>
          <a:bodyPr>
            <a:normAutofit fontScale="92500" lnSpcReduction="10000"/>
          </a:bodyPr>
          <a:lstStyle/>
          <a:p>
            <a:pPr algn="just"/>
            <a:r>
              <a:rPr lang="en-CA" sz="3000" dirty="0">
                <a:latin typeface="Times New Roman" pitchFamily="18" charset="0"/>
                <a:cs typeface="Times New Roman" pitchFamily="18" charset="0"/>
              </a:rPr>
              <a:t>Channel capacity was pioneered by Claude E Shannon in the late 1940s.</a:t>
            </a:r>
          </a:p>
          <a:p>
            <a:pPr algn="just"/>
            <a:endParaRPr lang="en-CA" sz="3000" dirty="0" smtClean="0">
              <a:latin typeface="Times New Roman" pitchFamily="18" charset="0"/>
              <a:cs typeface="Times New Roman" pitchFamily="18" charset="0"/>
            </a:endParaRPr>
          </a:p>
          <a:p>
            <a:pPr algn="just"/>
            <a:r>
              <a:rPr lang="en-CA" sz="3000" dirty="0" smtClean="0">
                <a:latin typeface="Times New Roman" pitchFamily="18" charset="0"/>
                <a:cs typeface="Times New Roman" pitchFamily="18" charset="0"/>
              </a:rPr>
              <a:t>The </a:t>
            </a:r>
            <a:r>
              <a:rPr lang="en-CA" sz="3000" dirty="0">
                <a:latin typeface="Times New Roman" pitchFamily="18" charset="0"/>
                <a:cs typeface="Times New Roman" pitchFamily="18" charset="0"/>
              </a:rPr>
              <a:t>capacity of a channel, denoted by C, is the maximum rate at which reliable communication can be performed, without any constraints on transmitter and receiver complexity. </a:t>
            </a:r>
          </a:p>
          <a:p>
            <a:pPr algn="just">
              <a:buNone/>
            </a:pPr>
            <a:endParaRPr lang="en-CA" sz="3000" dirty="0">
              <a:latin typeface="Times New Roman" pitchFamily="18" charset="0"/>
              <a:cs typeface="Times New Roman" pitchFamily="18" charset="0"/>
            </a:endParaRPr>
          </a:p>
          <a:p>
            <a:pPr algn="just">
              <a:buNone/>
            </a:pPr>
            <a:r>
              <a:rPr lang="en-CA" sz="3000" dirty="0">
                <a:latin typeface="Times New Roman" pitchFamily="18" charset="0"/>
                <a:cs typeface="Times New Roman" pitchFamily="18" charset="0"/>
              </a:rPr>
              <a:t>In </a:t>
            </a:r>
            <a:r>
              <a:rPr lang="en-CA" sz="3000" dirty="0" smtClean="0">
                <a:latin typeface="Times New Roman" pitchFamily="18" charset="0"/>
                <a:cs typeface="Times New Roman" pitchFamily="18" charset="0"/>
              </a:rPr>
              <a:t>MIMO, </a:t>
            </a:r>
            <a:r>
              <a:rPr lang="en-CA" sz="3000" dirty="0">
                <a:latin typeface="Times New Roman" pitchFamily="18" charset="0"/>
                <a:cs typeface="Times New Roman" pitchFamily="18" charset="0"/>
              </a:rPr>
              <a:t>capacity gain depends on  </a:t>
            </a:r>
          </a:p>
          <a:p>
            <a:pPr algn="just"/>
            <a:r>
              <a:rPr lang="en-CA" sz="3000" dirty="0">
                <a:latin typeface="Times New Roman" pitchFamily="18" charset="0"/>
                <a:cs typeface="Times New Roman" pitchFamily="18" charset="0"/>
              </a:rPr>
              <a:t>The available channel information at either the receiver or the transmitter.</a:t>
            </a:r>
          </a:p>
          <a:p>
            <a:pPr algn="just"/>
            <a:r>
              <a:rPr lang="en-CA" sz="3000" dirty="0">
                <a:latin typeface="Times New Roman" pitchFamily="18" charset="0"/>
                <a:cs typeface="Times New Roman" pitchFamily="18" charset="0"/>
              </a:rPr>
              <a:t>The channel signal-to-noise ratio (SNR).</a:t>
            </a:r>
          </a:p>
          <a:p>
            <a:pPr algn="just"/>
            <a:r>
              <a:rPr lang="en-CA" sz="3000" dirty="0">
                <a:latin typeface="Times New Roman" pitchFamily="18" charset="0"/>
                <a:cs typeface="Times New Roman" pitchFamily="18" charset="0"/>
              </a:rPr>
              <a:t> The correlation between the channel gains on each antenna element.</a:t>
            </a:r>
          </a:p>
          <a:p>
            <a:pPr algn="just"/>
            <a:endParaRPr lang="en-CA" sz="2800" dirty="0"/>
          </a:p>
        </p:txBody>
      </p:sp>
    </p:spTree>
    <p:extLst>
      <p:ext uri="{BB962C8B-B14F-4D97-AF65-F5344CB8AC3E}">
        <p14:creationId xmlns:p14="http://schemas.microsoft.com/office/powerpoint/2010/main" val="1936574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624"/>
            <a:ext cx="8229600" cy="562074"/>
          </a:xfrm>
        </p:spPr>
        <p:txBody>
          <a:bodyPr>
            <a:normAutofit fontScale="90000"/>
          </a:bodyPr>
          <a:lstStyle/>
          <a:p>
            <a:r>
              <a:rPr lang="en-US" sz="3000" b="1" dirty="0">
                <a:solidFill>
                  <a:srgbClr val="FF0000"/>
                </a:solidFill>
              </a:rPr>
              <a:t>Channel Capacity Theorem  </a:t>
            </a:r>
            <a:r>
              <a:rPr lang="en-US" sz="3000" b="1" dirty="0">
                <a:solidFill>
                  <a:srgbClr val="00B050"/>
                </a:solidFill>
              </a:rPr>
              <a:t>(Shannon-Hartley Theorem)</a:t>
            </a:r>
            <a:endParaRPr lang="en-US" sz="3000" b="1" dirty="0">
              <a:solidFill>
                <a:srgbClr val="FF0000"/>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764704"/>
                <a:ext cx="11430000" cy="5904656"/>
              </a:xfrm>
            </p:spPr>
            <p:txBody>
              <a:bodyPr>
                <a:noAutofit/>
              </a:bodyPr>
              <a:lstStyle/>
              <a:p>
                <a:pPr algn="just">
                  <a:lnSpc>
                    <a:spcPct val="120000"/>
                  </a:lnSpc>
                </a:pPr>
                <a:r>
                  <a:rPr lang="en-US" sz="2400" dirty="0"/>
                  <a:t>The channel capacity is defined as:</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i="1">
                          <a:latin typeface="Cambria Math"/>
                        </a:rPr>
                        <m:t>𝐶</m:t>
                      </m:r>
                      <m:r>
                        <a:rPr lang="en-US" sz="2400" i="1">
                          <a:latin typeface="Cambria Math"/>
                        </a:rPr>
                        <m:t>= </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a:rPr>
                                <m:t>max</m:t>
                              </m:r>
                            </m:e>
                            <m:lim>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𝑋</m:t>
                                  </m:r>
                                </m:sub>
                              </m:sSub>
                              <m:d>
                                <m:dPr>
                                  <m:ctrlPr>
                                    <a:rPr lang="en-US" sz="2400" i="1">
                                      <a:latin typeface="Cambria Math" panose="02040503050406030204" pitchFamily="18" charset="0"/>
                                    </a:rPr>
                                  </m:ctrlPr>
                                </m:dPr>
                                <m:e>
                                  <m:r>
                                    <a:rPr lang="en-US" sz="2400" i="1">
                                      <a:latin typeface="Cambria Math"/>
                                    </a:rPr>
                                    <m:t>𝑥</m:t>
                                  </m:r>
                                </m:e>
                              </m:d>
                            </m:lim>
                          </m:limLow>
                        </m:fName>
                        <m:e>
                          <m:d>
                            <m:dPr>
                              <m:begChr m:val="{"/>
                              <m:endChr m:val="}"/>
                              <m:ctrlPr>
                                <a:rPr lang="en-US" sz="2400" i="1">
                                  <a:latin typeface="Cambria Math" panose="02040503050406030204" pitchFamily="18" charset="0"/>
                                </a:rPr>
                              </m:ctrlPr>
                            </m:dPr>
                            <m:e>
                              <m:r>
                                <a:rPr lang="en-US" sz="2400" i="1">
                                  <a:latin typeface="Cambria Math"/>
                                </a:rPr>
                                <m:t>𝐼</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𝑋</m:t>
                                      </m:r>
                                    </m:e>
                                    <m:sub>
                                      <m:r>
                                        <a:rPr lang="en-US" sz="2400" i="1">
                                          <a:latin typeface="Cambria Math"/>
                                        </a:rPr>
                                        <m:t>𝑘</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𝑌</m:t>
                                      </m:r>
                                    </m:e>
                                    <m:sub>
                                      <m:r>
                                        <a:rPr lang="en-US" sz="2400" i="1">
                                          <a:latin typeface="Cambria Math"/>
                                        </a:rPr>
                                        <m:t>𝑘</m:t>
                                      </m:r>
                                    </m:sub>
                                  </m:sSub>
                                </m:e>
                              </m:d>
                              <m:r>
                                <a:rPr lang="en-US" sz="2400" i="1">
                                  <a:latin typeface="Cambria Math"/>
                                </a:rPr>
                                <m:t>  :  </m:t>
                              </m:r>
                              <m:r>
                                <a:rPr lang="en-US" sz="2400" i="1">
                                  <a:latin typeface="Cambria Math"/>
                                </a:rPr>
                                <m:t>𝐸</m:t>
                              </m:r>
                              <m:d>
                                <m:dPr>
                                  <m:begChr m:val="["/>
                                  <m:endChr m:val="]"/>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a:rPr>
                                        <m:t>𝑋</m:t>
                                      </m:r>
                                    </m:e>
                                    <m:sub>
                                      <m:r>
                                        <a:rPr lang="en-US" sz="2400" i="1">
                                          <a:latin typeface="Cambria Math"/>
                                        </a:rPr>
                                        <m:t>𝑘</m:t>
                                      </m:r>
                                    </m:sub>
                                    <m:sup>
                                      <m:r>
                                        <a:rPr lang="en-US" sz="2400" i="1">
                                          <a:latin typeface="Cambria Math"/>
                                        </a:rPr>
                                        <m:t>2</m:t>
                                      </m:r>
                                    </m:sup>
                                  </m:sSubSup>
                                </m:e>
                              </m:d>
                              <m:r>
                                <a:rPr lang="en-US" sz="2400" i="1">
                                  <a:latin typeface="Cambria Math"/>
                                </a:rPr>
                                <m:t>=</m:t>
                              </m:r>
                              <m:r>
                                <a:rPr lang="en-US" sz="2400" i="1">
                                  <a:latin typeface="Cambria Math"/>
                                </a:rPr>
                                <m:t>𝑆</m:t>
                              </m:r>
                              <m:r>
                                <a:rPr lang="en-US" sz="2400" i="1">
                                  <a:latin typeface="Cambria Math"/>
                                </a:rPr>
                                <m:t> </m:t>
                              </m:r>
                            </m:e>
                          </m:d>
                        </m:e>
                      </m:func>
                    </m:oMath>
                  </m:oMathPara>
                </a14:m>
                <a:endParaRPr lang="en-US" sz="2400" dirty="0"/>
              </a:p>
              <a:p>
                <a:pPr marL="0" indent="0" algn="just">
                  <a:lnSpc>
                    <a:spcPct val="120000"/>
                  </a:lnSpc>
                  <a:buNone/>
                </a:pPr>
                <a:r>
                  <a:rPr lang="en-US" sz="2400" dirty="0"/>
                  <a:t>    Where, </a:t>
                </a:r>
                <a:r>
                  <a:rPr lang="en-US" sz="2400" b="1" dirty="0">
                    <a:solidFill>
                      <a:srgbClr val="FF0000"/>
                    </a:solidFill>
                  </a:rPr>
                  <a:t>S</a:t>
                </a:r>
                <a:r>
                  <a:rPr lang="en-US" sz="2400" dirty="0"/>
                  <a:t> is average transmitted power </a:t>
                </a:r>
                <a:r>
                  <a:rPr lang="en-US" sz="2000" dirty="0"/>
                  <a:t>(transmitter is power limited),</a:t>
                </a:r>
              </a:p>
              <a:p>
                <a:pPr algn="just">
                  <a:lnSpc>
                    <a:spcPct val="120000"/>
                  </a:lnSpc>
                </a:pPr>
                <a14:m>
                  <m:oMath xmlns:m="http://schemas.openxmlformats.org/officeDocument/2006/math">
                    <m:r>
                      <a:rPr lang="en-US" sz="2400" i="1">
                        <a:solidFill>
                          <a:srgbClr val="00B0F0"/>
                        </a:solidFill>
                        <a:latin typeface="Cambria Math"/>
                      </a:rPr>
                      <m:t>𝐼</m:t>
                    </m:r>
                    <m:d>
                      <m:dPr>
                        <m:ctrlPr>
                          <a:rPr lang="en-US" sz="2400" i="1">
                            <a:solidFill>
                              <a:srgbClr val="00B0F0"/>
                            </a:solidFill>
                            <a:latin typeface="Cambria Math" panose="02040503050406030204" pitchFamily="18" charset="0"/>
                          </a:rPr>
                        </m:ctrlPr>
                      </m:dPr>
                      <m:e>
                        <m:sSub>
                          <m:sSubPr>
                            <m:ctrlPr>
                              <a:rPr lang="en-US" sz="2400" i="1">
                                <a:solidFill>
                                  <a:srgbClr val="00B0F0"/>
                                </a:solidFill>
                                <a:latin typeface="Cambria Math" panose="02040503050406030204" pitchFamily="18" charset="0"/>
                              </a:rPr>
                            </m:ctrlPr>
                          </m:sSubPr>
                          <m:e>
                            <m:r>
                              <a:rPr lang="en-US" sz="2400" i="1">
                                <a:solidFill>
                                  <a:srgbClr val="00B0F0"/>
                                </a:solidFill>
                                <a:latin typeface="Cambria Math"/>
                              </a:rPr>
                              <m:t>𝑋</m:t>
                            </m:r>
                          </m:e>
                          <m:sub>
                            <m:r>
                              <a:rPr lang="en-US" sz="2400" i="1">
                                <a:solidFill>
                                  <a:srgbClr val="00B0F0"/>
                                </a:solidFill>
                                <a:latin typeface="Cambria Math"/>
                              </a:rPr>
                              <m:t>𝑘</m:t>
                            </m:r>
                          </m:sub>
                        </m:sSub>
                        <m:r>
                          <a:rPr lang="en-US" sz="2400" i="1">
                            <a:solidFill>
                              <a:srgbClr val="00B0F0"/>
                            </a:solidFill>
                            <a:latin typeface="Cambria Math"/>
                          </a:rPr>
                          <m:t>,</m:t>
                        </m:r>
                        <m:sSub>
                          <m:sSubPr>
                            <m:ctrlPr>
                              <a:rPr lang="en-US" sz="2400" i="1">
                                <a:solidFill>
                                  <a:srgbClr val="00B0F0"/>
                                </a:solidFill>
                                <a:latin typeface="Cambria Math" panose="02040503050406030204" pitchFamily="18" charset="0"/>
                              </a:rPr>
                            </m:ctrlPr>
                          </m:sSubPr>
                          <m:e>
                            <m:r>
                              <a:rPr lang="en-US" sz="2400" i="1">
                                <a:solidFill>
                                  <a:srgbClr val="00B0F0"/>
                                </a:solidFill>
                                <a:latin typeface="Cambria Math"/>
                              </a:rPr>
                              <m:t>𝑌</m:t>
                            </m:r>
                          </m:e>
                          <m:sub>
                            <m:r>
                              <a:rPr lang="en-US" sz="2400" i="1">
                                <a:solidFill>
                                  <a:srgbClr val="00B0F0"/>
                                </a:solidFill>
                                <a:latin typeface="Cambria Math"/>
                              </a:rPr>
                              <m:t>𝑘</m:t>
                            </m:r>
                          </m:sub>
                        </m:sSub>
                      </m:e>
                    </m:d>
                  </m:oMath>
                </a14:m>
                <a:r>
                  <a:rPr lang="en-US" sz="2400" dirty="0">
                    <a:solidFill>
                      <a:srgbClr val="00B0F0"/>
                    </a:solidFill>
                  </a:rPr>
                  <a:t>  is the average mutual information between </a:t>
                </a:r>
                <a14:m>
                  <m:oMath xmlns:m="http://schemas.openxmlformats.org/officeDocument/2006/math">
                    <m:sSub>
                      <m:sSubPr>
                        <m:ctrlPr>
                          <a:rPr lang="en-US" sz="2400" i="1">
                            <a:solidFill>
                              <a:srgbClr val="00B0F0"/>
                            </a:solidFill>
                            <a:latin typeface="Cambria Math" panose="02040503050406030204" pitchFamily="18" charset="0"/>
                          </a:rPr>
                        </m:ctrlPr>
                      </m:sSubPr>
                      <m:e>
                        <m:r>
                          <a:rPr lang="en-US" sz="2400" i="1">
                            <a:solidFill>
                              <a:srgbClr val="00B0F0"/>
                            </a:solidFill>
                            <a:latin typeface="Cambria Math"/>
                          </a:rPr>
                          <m:t>𝑋</m:t>
                        </m:r>
                      </m:e>
                      <m:sub>
                        <m:r>
                          <a:rPr lang="en-US" sz="2400" i="1">
                            <a:solidFill>
                              <a:srgbClr val="00B0F0"/>
                            </a:solidFill>
                            <a:latin typeface="Cambria Math"/>
                          </a:rPr>
                          <m:t>𝑘</m:t>
                        </m:r>
                      </m:sub>
                    </m:sSub>
                    <m:r>
                      <a:rPr lang="en-US" sz="2400" i="1">
                        <a:solidFill>
                          <a:srgbClr val="00B0F0"/>
                        </a:solidFill>
                        <a:latin typeface="Cambria Math"/>
                      </a:rPr>
                      <m:t>  </m:t>
                    </m:r>
                    <m:r>
                      <a:rPr lang="en-US" sz="2400" i="1">
                        <a:solidFill>
                          <a:srgbClr val="00B0F0"/>
                        </a:solidFill>
                        <a:latin typeface="Cambria Math"/>
                      </a:rPr>
                      <m:t>𝑎𝑛𝑑</m:t>
                    </m:r>
                    <m:r>
                      <a:rPr lang="en-US" sz="2400" i="1">
                        <a:solidFill>
                          <a:srgbClr val="00B0F0"/>
                        </a:solidFill>
                        <a:latin typeface="Cambria Math"/>
                      </a:rPr>
                      <m:t>   </m:t>
                    </m:r>
                    <m:sSub>
                      <m:sSubPr>
                        <m:ctrlPr>
                          <a:rPr lang="en-US" sz="2400" i="1">
                            <a:solidFill>
                              <a:srgbClr val="00B0F0"/>
                            </a:solidFill>
                            <a:latin typeface="Cambria Math" panose="02040503050406030204" pitchFamily="18" charset="0"/>
                          </a:rPr>
                        </m:ctrlPr>
                      </m:sSubPr>
                      <m:e>
                        <m:r>
                          <a:rPr lang="en-US" sz="2400" i="1">
                            <a:solidFill>
                              <a:srgbClr val="00B0F0"/>
                            </a:solidFill>
                            <a:latin typeface="Cambria Math"/>
                          </a:rPr>
                          <m:t>𝑌</m:t>
                        </m:r>
                      </m:e>
                      <m:sub>
                        <m:r>
                          <a:rPr lang="en-US" sz="2400" i="1">
                            <a:solidFill>
                              <a:srgbClr val="00B0F0"/>
                            </a:solidFill>
                            <a:latin typeface="Cambria Math"/>
                          </a:rPr>
                          <m:t>𝑘</m:t>
                        </m:r>
                      </m:sub>
                    </m:sSub>
                  </m:oMath>
                </a14:m>
                <a:r>
                  <a:rPr lang="en-US" sz="2400" dirty="0">
                    <a:solidFill>
                      <a:srgbClr val="00B0F0"/>
                    </a:solidFill>
                  </a:rPr>
                  <a:t> and is defined as</a:t>
                </a:r>
                <a:r>
                  <a:rPr lang="en-US" sz="2400" dirty="0" smtClean="0">
                    <a:solidFill>
                      <a:srgbClr val="00B0F0"/>
                    </a:solidFill>
                  </a:rPr>
                  <a:t>:</a:t>
                </a:r>
              </a:p>
              <a:p>
                <a:pPr marL="0" indent="0">
                  <a:buNone/>
                </a:pPr>
                <a:r>
                  <a:rPr lang="en-US" sz="2400" dirty="0" smtClean="0"/>
                  <a:t>Shannon </a:t>
                </a:r>
                <a:r>
                  <a:rPr lang="en-US" sz="2400" dirty="0"/>
                  <a:t>Third fundamental theorem can be stated as :</a:t>
                </a:r>
              </a:p>
              <a:p>
                <a:pPr marL="0" indent="0" algn="just">
                  <a:buNone/>
                </a:pPr>
                <a:r>
                  <a:rPr lang="en-US" sz="2400" i="1" dirty="0" smtClean="0"/>
                  <a:t>The </a:t>
                </a:r>
                <a:r>
                  <a:rPr lang="en-US" sz="2400" i="1" dirty="0"/>
                  <a:t>channel capacity of a additive white band limited Gaussian channel is given by</a:t>
                </a:r>
              </a:p>
              <a:p>
                <a:pPr algn="just"/>
                <a:endParaRPr lang="en-US" sz="2400" i="1" dirty="0"/>
              </a:p>
              <a:p>
                <a:pPr algn="just"/>
                <a:endParaRPr lang="en-US" sz="2400" i="1" dirty="0"/>
              </a:p>
              <a:p>
                <a:pPr algn="just"/>
                <a:endParaRPr lang="en-US" sz="2400" i="1" dirty="0"/>
              </a:p>
              <a:p>
                <a:pPr marL="0" indent="0" algn="just">
                  <a:buNone/>
                </a:pPr>
                <a:r>
                  <a:rPr lang="en-US" sz="2400" i="1" dirty="0"/>
                  <a:t>Where </a:t>
                </a:r>
                <a:r>
                  <a:rPr lang="en-US" sz="2400" i="1" dirty="0">
                    <a:solidFill>
                      <a:srgbClr val="FF0000"/>
                    </a:solidFill>
                  </a:rPr>
                  <a:t>B</a:t>
                </a:r>
                <a:r>
                  <a:rPr lang="en-US" sz="2400" i="1" dirty="0"/>
                  <a:t> </a:t>
                </a:r>
                <a:r>
                  <a:rPr lang="en-US" sz="2400" i="1" dirty="0">
                    <a:solidFill>
                      <a:srgbClr val="FF0000"/>
                    </a:solidFill>
                  </a:rPr>
                  <a:t>is the channel bandwidth in hertz</a:t>
                </a:r>
                <a:r>
                  <a:rPr lang="en-US" sz="2400" i="1" dirty="0"/>
                  <a:t>, </a:t>
                </a:r>
                <a:r>
                  <a:rPr lang="en-US" sz="2400" b="1" i="1" dirty="0">
                    <a:solidFill>
                      <a:srgbClr val="FF0000"/>
                    </a:solidFill>
                  </a:rPr>
                  <a:t>S</a:t>
                </a:r>
                <a:r>
                  <a:rPr lang="en-US" sz="2400" i="1" dirty="0"/>
                  <a:t> is average transmitted power, </a:t>
                </a:r>
                <a14:m>
                  <m:oMath xmlns:m="http://schemas.openxmlformats.org/officeDocument/2006/math">
                    <m:sSub>
                      <m:sSubPr>
                        <m:ctrlPr>
                          <a:rPr lang="en-US" sz="2400" b="1" i="1" dirty="0">
                            <a:solidFill>
                              <a:srgbClr val="FF0000"/>
                            </a:solidFill>
                            <a:latin typeface="Cambria Math" panose="02040503050406030204" pitchFamily="18" charset="0"/>
                          </a:rPr>
                        </m:ctrlPr>
                      </m:sSubPr>
                      <m:e>
                        <m:r>
                          <a:rPr lang="en-US" sz="2400" b="1" i="1" dirty="0">
                            <a:solidFill>
                              <a:srgbClr val="FF0000"/>
                            </a:solidFill>
                            <a:latin typeface="Cambria Math"/>
                          </a:rPr>
                          <m:t>𝑵</m:t>
                        </m:r>
                      </m:e>
                      <m:sub>
                        <m:r>
                          <a:rPr lang="en-US" sz="2400" b="1" i="1" dirty="0">
                            <a:solidFill>
                              <a:srgbClr val="FF0000"/>
                            </a:solidFill>
                            <a:latin typeface="Cambria Math"/>
                          </a:rPr>
                          <m:t>𝟎</m:t>
                        </m:r>
                      </m:sub>
                    </m:sSub>
                    <m:r>
                      <a:rPr lang="en-US" sz="2400" b="1" i="1" dirty="0">
                        <a:solidFill>
                          <a:srgbClr val="FF0000"/>
                        </a:solidFill>
                        <a:latin typeface="Cambria Math"/>
                      </a:rPr>
                      <m:t>/</m:t>
                    </m:r>
                    <m:r>
                      <a:rPr lang="en-US" sz="2400" b="1" i="1" dirty="0">
                        <a:solidFill>
                          <a:srgbClr val="FF0000"/>
                        </a:solidFill>
                        <a:latin typeface="Cambria Math"/>
                      </a:rPr>
                      <m:t>𝟐</m:t>
                    </m:r>
                  </m:oMath>
                </a14:m>
                <a:r>
                  <a:rPr lang="en-US" sz="2400" b="1" i="1" dirty="0">
                    <a:solidFill>
                      <a:srgbClr val="FF0000"/>
                    </a:solidFill>
                  </a:rPr>
                  <a:t> </a:t>
                </a:r>
                <a:r>
                  <a:rPr lang="en-US" sz="2400" i="1" dirty="0"/>
                  <a:t>is the power spectral density of noise</a:t>
                </a:r>
              </a:p>
              <a:p>
                <a:pPr marL="0" indent="0" algn="just">
                  <a:lnSpc>
                    <a:spcPct val="120000"/>
                  </a:lnSpc>
                  <a:buNone/>
                </a:pPr>
                <a:endParaRPr lang="en-US" sz="2400" dirty="0">
                  <a:solidFill>
                    <a:srgbClr val="00B0F0"/>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764704"/>
                <a:ext cx="11430000" cy="5904656"/>
              </a:xfrm>
              <a:blipFill>
                <a:blip r:embed="rId2"/>
                <a:stretch>
                  <a:fillRect l="-853" t="-103" r="-800"/>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449E5AA5-A551-4C90-805E-1548D2A85B11}" type="slidenum">
              <a:rPr lang="en-IN" smtClean="0"/>
              <a:t>5</a:t>
            </a:fld>
            <a:endParaRPr lang="en-IN"/>
          </a:p>
        </p:txBody>
      </p:sp>
      <mc:AlternateContent xmlns:mc="http://schemas.openxmlformats.org/markup-compatibility/2006">
        <mc:Choice xmlns:a14="http://schemas.microsoft.com/office/drawing/2010/main" Requires="a14">
          <p:sp>
            <p:nvSpPr>
              <p:cNvPr id="5" name="Rounded Rectangle 4"/>
              <p:cNvSpPr/>
              <p:nvPr/>
            </p:nvSpPr>
            <p:spPr>
              <a:xfrm>
                <a:off x="4057080" y="3962400"/>
                <a:ext cx="4680520" cy="100811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200" b="1" i="1">
                          <a:solidFill>
                            <a:srgbClr val="FF0000"/>
                          </a:solidFill>
                          <a:latin typeface="Cambria Math"/>
                        </a:rPr>
                        <m:t>𝑪</m:t>
                      </m:r>
                      <m:r>
                        <a:rPr lang="en-US" sz="2200" b="1" i="1">
                          <a:solidFill>
                            <a:srgbClr val="FF0000"/>
                          </a:solidFill>
                          <a:latin typeface="Cambria Math"/>
                        </a:rPr>
                        <m:t>=</m:t>
                      </m:r>
                      <m:func>
                        <m:funcPr>
                          <m:ctrlPr>
                            <a:rPr lang="en-US" sz="2200" b="1" i="1">
                              <a:solidFill>
                                <a:srgbClr val="FF0000"/>
                              </a:solidFill>
                              <a:latin typeface="Cambria Math" panose="02040503050406030204" pitchFamily="18" charset="0"/>
                            </a:rPr>
                          </m:ctrlPr>
                        </m:funcPr>
                        <m:fName>
                          <m:r>
                            <a:rPr lang="en-US" sz="2200" b="1" i="1">
                              <a:solidFill>
                                <a:srgbClr val="FF0000"/>
                              </a:solidFill>
                              <a:latin typeface="Cambria Math"/>
                            </a:rPr>
                            <m:t>𝑩</m:t>
                          </m:r>
                          <m:r>
                            <a:rPr lang="en-US" sz="2200" b="1" i="1">
                              <a:solidFill>
                                <a:srgbClr val="FF0000"/>
                              </a:solidFill>
                              <a:latin typeface="Cambria Math"/>
                            </a:rPr>
                            <m:t>  </m:t>
                          </m:r>
                          <m:sSub>
                            <m:sSubPr>
                              <m:ctrlPr>
                                <a:rPr lang="en-US" sz="2200" b="1" i="1">
                                  <a:solidFill>
                                    <a:srgbClr val="FF0000"/>
                                  </a:solidFill>
                                  <a:latin typeface="Cambria Math" panose="02040503050406030204" pitchFamily="18" charset="0"/>
                                </a:rPr>
                              </m:ctrlPr>
                            </m:sSubPr>
                            <m:e>
                              <m:r>
                                <a:rPr lang="en-US" sz="2200" b="1">
                                  <a:solidFill>
                                    <a:srgbClr val="FF0000"/>
                                  </a:solidFill>
                                  <a:latin typeface="Cambria Math"/>
                                </a:rPr>
                                <m:t>𝐥𝐨𝐠</m:t>
                              </m:r>
                            </m:e>
                            <m:sub>
                              <m:r>
                                <a:rPr lang="en-US" sz="2200" b="1" i="1">
                                  <a:solidFill>
                                    <a:srgbClr val="FF0000"/>
                                  </a:solidFill>
                                  <a:latin typeface="Cambria Math"/>
                                </a:rPr>
                                <m:t>𝟐</m:t>
                              </m:r>
                            </m:sub>
                          </m:sSub>
                        </m:fName>
                        <m:e>
                          <m:d>
                            <m:dPr>
                              <m:ctrlPr>
                                <a:rPr lang="en-US" sz="2200" b="1" i="1">
                                  <a:solidFill>
                                    <a:srgbClr val="FF0000"/>
                                  </a:solidFill>
                                  <a:latin typeface="Cambria Math" panose="02040503050406030204" pitchFamily="18" charset="0"/>
                                </a:rPr>
                              </m:ctrlPr>
                            </m:dPr>
                            <m:e>
                              <m:r>
                                <a:rPr lang="en-US" sz="2200" b="1" i="1">
                                  <a:solidFill>
                                    <a:srgbClr val="FF0000"/>
                                  </a:solidFill>
                                  <a:latin typeface="Cambria Math"/>
                                </a:rPr>
                                <m:t>𝟏</m:t>
                              </m:r>
                              <m:r>
                                <a:rPr lang="en-US" sz="2200" b="1" i="1">
                                  <a:solidFill>
                                    <a:srgbClr val="FF0000"/>
                                  </a:solidFill>
                                  <a:latin typeface="Cambria Math"/>
                                </a:rPr>
                                <m:t>+</m:t>
                              </m:r>
                              <m:f>
                                <m:fPr>
                                  <m:ctrlPr>
                                    <a:rPr lang="en-US" sz="2200" b="1" i="1">
                                      <a:solidFill>
                                        <a:srgbClr val="FF0000"/>
                                      </a:solidFill>
                                      <a:latin typeface="Cambria Math" panose="02040503050406030204" pitchFamily="18" charset="0"/>
                                    </a:rPr>
                                  </m:ctrlPr>
                                </m:fPr>
                                <m:num>
                                  <m:r>
                                    <a:rPr lang="en-US" sz="2200" b="1" i="1">
                                      <a:solidFill>
                                        <a:srgbClr val="FF0000"/>
                                      </a:solidFill>
                                      <a:latin typeface="Cambria Math"/>
                                    </a:rPr>
                                    <m:t>𝑺</m:t>
                                  </m:r>
                                </m:num>
                                <m:den>
                                  <m:sSub>
                                    <m:sSubPr>
                                      <m:ctrlPr>
                                        <a:rPr lang="en-US" sz="2200" b="1" i="1">
                                          <a:solidFill>
                                            <a:srgbClr val="FF0000"/>
                                          </a:solidFill>
                                          <a:latin typeface="Cambria Math" panose="02040503050406030204" pitchFamily="18" charset="0"/>
                                        </a:rPr>
                                      </m:ctrlPr>
                                    </m:sSubPr>
                                    <m:e>
                                      <m:r>
                                        <a:rPr lang="en-US" sz="2200" b="1" i="1">
                                          <a:solidFill>
                                            <a:srgbClr val="FF0000"/>
                                          </a:solidFill>
                                          <a:latin typeface="Cambria Math"/>
                                        </a:rPr>
                                        <m:t>𝑵</m:t>
                                      </m:r>
                                    </m:e>
                                    <m:sub>
                                      <m:r>
                                        <a:rPr lang="en-US" sz="2200" b="1" i="1">
                                          <a:solidFill>
                                            <a:srgbClr val="FF0000"/>
                                          </a:solidFill>
                                          <a:latin typeface="Cambria Math"/>
                                        </a:rPr>
                                        <m:t>𝟎</m:t>
                                      </m:r>
                                    </m:sub>
                                  </m:sSub>
                                  <m:r>
                                    <a:rPr lang="en-US" sz="2200" b="1" i="1">
                                      <a:solidFill>
                                        <a:srgbClr val="FF0000"/>
                                      </a:solidFill>
                                      <a:latin typeface="Cambria Math"/>
                                    </a:rPr>
                                    <m:t> </m:t>
                                  </m:r>
                                  <m:r>
                                    <a:rPr lang="en-US" sz="2200" b="1" i="1">
                                      <a:solidFill>
                                        <a:srgbClr val="FF0000"/>
                                      </a:solidFill>
                                      <a:latin typeface="Cambria Math"/>
                                    </a:rPr>
                                    <m:t>𝑩</m:t>
                                  </m:r>
                                </m:den>
                              </m:f>
                            </m:e>
                          </m:d>
                        </m:e>
                      </m:func>
                      <m:r>
                        <a:rPr lang="en-US" sz="2200" b="1" i="1">
                          <a:solidFill>
                            <a:srgbClr val="FF0000"/>
                          </a:solidFill>
                          <a:latin typeface="Cambria Math"/>
                        </a:rPr>
                        <m:t>    </m:t>
                      </m:r>
                      <m:f>
                        <m:fPr>
                          <m:ctrlPr>
                            <a:rPr lang="en-US" sz="2200" b="1" i="1">
                              <a:solidFill>
                                <a:srgbClr val="FF0000"/>
                              </a:solidFill>
                              <a:latin typeface="Cambria Math" panose="02040503050406030204" pitchFamily="18" charset="0"/>
                            </a:rPr>
                          </m:ctrlPr>
                        </m:fPr>
                        <m:num>
                          <m:r>
                            <a:rPr lang="en-US" sz="2200" b="1" i="1">
                              <a:solidFill>
                                <a:srgbClr val="FF0000"/>
                              </a:solidFill>
                              <a:latin typeface="Cambria Math"/>
                            </a:rPr>
                            <m:t>𝒃𝒊𝒕𝒔</m:t>
                          </m:r>
                        </m:num>
                        <m:den>
                          <m:r>
                            <a:rPr lang="en-US" sz="2200" b="1" i="1">
                              <a:solidFill>
                                <a:srgbClr val="FF0000"/>
                              </a:solidFill>
                              <a:latin typeface="Cambria Math"/>
                            </a:rPr>
                            <m:t>𝒔𝒆𝒄𝒐𝒏𝒅</m:t>
                          </m:r>
                        </m:den>
                      </m:f>
                    </m:oMath>
                  </m:oMathPara>
                </a14:m>
                <a:endParaRPr lang="en-US" sz="2200" dirty="0">
                  <a:solidFill>
                    <a:srgbClr val="FF0000"/>
                  </a:solidFill>
                </a:endParaRPr>
              </a:p>
            </p:txBody>
          </p:sp>
        </mc:Choice>
        <mc:Fallback>
          <p:sp>
            <p:nvSpPr>
              <p:cNvPr id="5" name="Rounded Rectangle 4"/>
              <p:cNvSpPr>
                <a:spLocks noRot="1" noChangeAspect="1" noMove="1" noResize="1" noEditPoints="1" noAdjustHandles="1" noChangeArrowheads="1" noChangeShapeType="1" noTextEdit="1"/>
              </p:cNvSpPr>
              <p:nvPr/>
            </p:nvSpPr>
            <p:spPr>
              <a:xfrm>
                <a:off x="4057080" y="3962400"/>
                <a:ext cx="4680520" cy="1008112"/>
              </a:xfrm>
              <a:prstGeom prst="round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154285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71800" y="1524000"/>
            <a:ext cx="6096000" cy="1754326"/>
          </a:xfrm>
          <a:prstGeom prst="rect">
            <a:avLst/>
          </a:prstGeom>
        </p:spPr>
        <p:txBody>
          <a:bodyPr>
            <a:spAutoFit/>
          </a:bodyPr>
          <a:lstStyle/>
          <a:p>
            <a:pPr algn="ctr"/>
            <a:r>
              <a:rPr lang="en-US" sz="3600" dirty="0" smtClean="0">
                <a:solidFill>
                  <a:srgbClr val="3A3A3A"/>
                </a:solidFill>
              </a:rPr>
              <a:t>Capacity </a:t>
            </a:r>
            <a:r>
              <a:rPr lang="en-US" sz="3600" dirty="0">
                <a:solidFill>
                  <a:srgbClr val="3A3A3A"/>
                </a:solidFill>
              </a:rPr>
              <a:t>of MIMO system </a:t>
            </a:r>
            <a:endParaRPr lang="en-US" sz="3600" dirty="0" smtClean="0">
              <a:solidFill>
                <a:srgbClr val="3A3A3A"/>
              </a:solidFill>
            </a:endParaRPr>
          </a:p>
          <a:p>
            <a:pPr algn="ctr"/>
            <a:r>
              <a:rPr lang="en-US" sz="3600" smtClean="0">
                <a:solidFill>
                  <a:srgbClr val="3A3A3A"/>
                </a:solidFill>
              </a:rPr>
              <a:t>Over</a:t>
            </a:r>
          </a:p>
          <a:p>
            <a:pPr algn="ctr"/>
            <a:r>
              <a:rPr lang="en-US" sz="3600" dirty="0" smtClean="0">
                <a:solidFill>
                  <a:srgbClr val="3A3A3A"/>
                </a:solidFill>
              </a:rPr>
              <a:t>fading </a:t>
            </a:r>
            <a:r>
              <a:rPr lang="en-US" sz="3600" dirty="0">
                <a:solidFill>
                  <a:srgbClr val="3A3A3A"/>
                </a:solidFill>
              </a:rPr>
              <a:t>Channels</a:t>
            </a:r>
            <a:endParaRPr lang="en-IN" sz="3600"/>
          </a:p>
        </p:txBody>
      </p:sp>
    </p:spTree>
    <p:extLst>
      <p:ext uri="{BB962C8B-B14F-4D97-AF65-F5344CB8AC3E}">
        <p14:creationId xmlns:p14="http://schemas.microsoft.com/office/powerpoint/2010/main" val="3608691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0" y="152400"/>
            <a:ext cx="5343129" cy="523220"/>
          </a:xfrm>
          <a:prstGeom prst="rect">
            <a:avLst/>
          </a:prstGeom>
        </p:spPr>
        <p:txBody>
          <a:bodyPr wrap="none">
            <a:spAutoFit/>
          </a:bodyPr>
          <a:lstStyle/>
          <a:p>
            <a:r>
              <a:rPr lang="en-IN" sz="2800" dirty="0">
                <a:solidFill>
                  <a:srgbClr val="3A3A3A"/>
                </a:solidFill>
                <a:latin typeface="Libre Franklin"/>
              </a:rPr>
              <a:t>MIMO flat fading Channel model</a:t>
            </a:r>
            <a:endParaRPr lang="en-IN" sz="2800" b="0" i="0" dirty="0">
              <a:solidFill>
                <a:srgbClr val="3A3A3A"/>
              </a:solidFill>
              <a:effectLst/>
              <a:latin typeface="Libre Franklin"/>
            </a:endParaRPr>
          </a:p>
        </p:txBody>
      </p:sp>
      <p:pic>
        <p:nvPicPr>
          <p:cNvPr id="7" name="Picture 6"/>
          <p:cNvPicPr>
            <a:picLocks noChangeAspect="1"/>
          </p:cNvPicPr>
          <p:nvPr/>
        </p:nvPicPr>
        <p:blipFill>
          <a:blip r:embed="rId2"/>
          <a:stretch>
            <a:fillRect/>
          </a:stretch>
        </p:blipFill>
        <p:spPr>
          <a:xfrm>
            <a:off x="533400" y="838200"/>
            <a:ext cx="9906000" cy="4694532"/>
          </a:xfrm>
          <a:prstGeom prst="rect">
            <a:avLst/>
          </a:prstGeom>
        </p:spPr>
      </p:pic>
      <p:pic>
        <p:nvPicPr>
          <p:cNvPr id="9" name="Picture 8"/>
          <p:cNvPicPr>
            <a:picLocks noChangeAspect="1"/>
          </p:cNvPicPr>
          <p:nvPr/>
        </p:nvPicPr>
        <p:blipFill>
          <a:blip r:embed="rId3"/>
          <a:stretch>
            <a:fillRect/>
          </a:stretch>
        </p:blipFill>
        <p:spPr>
          <a:xfrm>
            <a:off x="762000" y="5695312"/>
            <a:ext cx="10287000" cy="962025"/>
          </a:xfrm>
          <a:prstGeom prst="rect">
            <a:avLst/>
          </a:prstGeom>
        </p:spPr>
      </p:pic>
    </p:spTree>
    <p:extLst>
      <p:ext uri="{BB962C8B-B14F-4D97-AF65-F5344CB8AC3E}">
        <p14:creationId xmlns:p14="http://schemas.microsoft.com/office/powerpoint/2010/main" val="891612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600" y="304800"/>
            <a:ext cx="7589216" cy="2057400"/>
          </a:xfrm>
          <a:prstGeom prst="rect">
            <a:avLst/>
          </a:prstGeom>
        </p:spPr>
      </p:pic>
      <p:pic>
        <p:nvPicPr>
          <p:cNvPr id="5" name="Picture 4"/>
          <p:cNvPicPr>
            <a:picLocks noChangeAspect="1"/>
          </p:cNvPicPr>
          <p:nvPr/>
        </p:nvPicPr>
        <p:blipFill>
          <a:blip r:embed="rId3"/>
          <a:stretch>
            <a:fillRect/>
          </a:stretch>
        </p:blipFill>
        <p:spPr>
          <a:xfrm>
            <a:off x="228600" y="2590800"/>
            <a:ext cx="5755105" cy="533400"/>
          </a:xfrm>
          <a:prstGeom prst="rect">
            <a:avLst/>
          </a:prstGeom>
        </p:spPr>
      </p:pic>
      <p:pic>
        <p:nvPicPr>
          <p:cNvPr id="6" name="Picture 5"/>
          <p:cNvPicPr>
            <a:picLocks noChangeAspect="1"/>
          </p:cNvPicPr>
          <p:nvPr/>
        </p:nvPicPr>
        <p:blipFill>
          <a:blip r:embed="rId4"/>
          <a:stretch>
            <a:fillRect/>
          </a:stretch>
        </p:blipFill>
        <p:spPr>
          <a:xfrm>
            <a:off x="228600" y="3319549"/>
            <a:ext cx="6362008" cy="1252451"/>
          </a:xfrm>
          <a:prstGeom prst="rect">
            <a:avLst/>
          </a:prstGeom>
        </p:spPr>
      </p:pic>
    </p:spTree>
    <p:extLst>
      <p:ext uri="{BB962C8B-B14F-4D97-AF65-F5344CB8AC3E}">
        <p14:creationId xmlns:p14="http://schemas.microsoft.com/office/powerpoint/2010/main" val="413211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FA3532-14EF-42E4-9304-6EF0F5007B88}"/>
              </a:ext>
            </a:extLst>
          </p:cNvPr>
          <p:cNvPicPr>
            <a:picLocks noChangeAspect="1"/>
          </p:cNvPicPr>
          <p:nvPr/>
        </p:nvPicPr>
        <p:blipFill>
          <a:blip r:embed="rId2"/>
          <a:stretch>
            <a:fillRect/>
          </a:stretch>
        </p:blipFill>
        <p:spPr>
          <a:xfrm>
            <a:off x="990600" y="457200"/>
            <a:ext cx="6660231" cy="4932765"/>
          </a:xfrm>
          <a:prstGeom prst="rect">
            <a:avLst/>
          </a:prstGeom>
        </p:spPr>
      </p:pic>
    </p:spTree>
    <p:extLst>
      <p:ext uri="{BB962C8B-B14F-4D97-AF65-F5344CB8AC3E}">
        <p14:creationId xmlns:p14="http://schemas.microsoft.com/office/powerpoint/2010/main" val="1110886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379B17-0657-4B24-8AB3-CE8BB39857FD}"/>
              </a:ext>
            </a:extLst>
          </p:cNvPr>
          <p:cNvPicPr>
            <a:picLocks noChangeAspect="1"/>
          </p:cNvPicPr>
          <p:nvPr/>
        </p:nvPicPr>
        <p:blipFill>
          <a:blip r:embed="rId2"/>
          <a:stretch>
            <a:fillRect/>
          </a:stretch>
        </p:blipFill>
        <p:spPr>
          <a:xfrm>
            <a:off x="1295400" y="457200"/>
            <a:ext cx="7696200" cy="5623589"/>
          </a:xfrm>
          <a:prstGeom prst="rect">
            <a:avLst/>
          </a:prstGeom>
        </p:spPr>
      </p:pic>
    </p:spTree>
    <p:extLst>
      <p:ext uri="{BB962C8B-B14F-4D97-AF65-F5344CB8AC3E}">
        <p14:creationId xmlns:p14="http://schemas.microsoft.com/office/powerpoint/2010/main" val="1360346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4C78-B03C-40F4-96C1-B13F6951F719}"/>
              </a:ext>
            </a:extLst>
          </p:cNvPr>
          <p:cNvSpPr>
            <a:spLocks noGrp="1"/>
          </p:cNvSpPr>
          <p:nvPr>
            <p:ph type="title"/>
          </p:nvPr>
        </p:nvSpPr>
        <p:spPr>
          <a:xfrm>
            <a:off x="1981200" y="274638"/>
            <a:ext cx="8229600" cy="490066"/>
          </a:xfrm>
        </p:spPr>
        <p:txBody>
          <a:bodyPr>
            <a:noAutofit/>
          </a:bodyPr>
          <a:lstStyle/>
          <a:p>
            <a:r>
              <a:rPr lang="en-US" sz="3200" dirty="0"/>
              <a:t>Capacity Gain </a:t>
            </a:r>
            <a:endParaRPr lang="en-IN" sz="3200" dirty="0"/>
          </a:p>
        </p:txBody>
      </p:sp>
      <p:sp>
        <p:nvSpPr>
          <p:cNvPr id="3" name="Content Placeholder 2">
            <a:extLst>
              <a:ext uri="{FF2B5EF4-FFF2-40B4-BE49-F238E27FC236}">
                <a16:creationId xmlns:a16="http://schemas.microsoft.com/office/drawing/2014/main" id="{5A5EAADC-88E0-4319-B486-46870E450FB4}"/>
              </a:ext>
            </a:extLst>
          </p:cNvPr>
          <p:cNvSpPr>
            <a:spLocks noGrp="1"/>
          </p:cNvSpPr>
          <p:nvPr>
            <p:ph idx="1"/>
          </p:nvPr>
        </p:nvSpPr>
        <p:spPr>
          <a:xfrm>
            <a:off x="457200" y="980729"/>
            <a:ext cx="11049000" cy="4525963"/>
          </a:xfrm>
        </p:spPr>
        <p:txBody>
          <a:bodyPr>
            <a:normAutofit fontScale="85000" lnSpcReduction="10000"/>
          </a:bodyPr>
          <a:lstStyle/>
          <a:p>
            <a:pPr algn="just"/>
            <a:r>
              <a:rPr lang="en-US" dirty="0"/>
              <a:t>If the number of receiving antennas (M</a:t>
            </a:r>
            <a:r>
              <a:rPr lang="en-US" baseline="-25000" dirty="0"/>
              <a:t>R</a:t>
            </a:r>
            <a:r>
              <a:rPr lang="en-US" dirty="0"/>
              <a:t>) is taken to infinity while keeping (M</a:t>
            </a:r>
            <a:r>
              <a:rPr lang="en-US" baseline="-25000" dirty="0"/>
              <a:t>T</a:t>
            </a:r>
            <a:r>
              <a:rPr lang="en-US" dirty="0"/>
              <a:t>) fixed, the capacity does indeed go to infinity approximately as log(M</a:t>
            </a:r>
            <a:r>
              <a:rPr lang="en-US" baseline="-25000" dirty="0"/>
              <a:t>R</a:t>
            </a:r>
            <a:r>
              <a:rPr lang="en-US" dirty="0"/>
              <a:t>).</a:t>
            </a:r>
          </a:p>
          <a:p>
            <a:pPr algn="just"/>
            <a:endParaRPr lang="en-US" dirty="0" smtClean="0"/>
          </a:p>
          <a:p>
            <a:pPr algn="just"/>
            <a:r>
              <a:rPr lang="en-US" dirty="0" smtClean="0"/>
              <a:t>The </a:t>
            </a:r>
            <a:r>
              <a:rPr lang="en-US" dirty="0"/>
              <a:t>key difference is that adding receive antennas increases the amount of received power, while adding transmit antennas does not do so because the power is split between all transmit antennas.</a:t>
            </a:r>
          </a:p>
          <a:p>
            <a:pPr algn="just"/>
            <a:endParaRPr lang="en-US" dirty="0" smtClean="0"/>
          </a:p>
          <a:p>
            <a:pPr algn="just"/>
            <a:r>
              <a:rPr lang="en-US" dirty="0" smtClean="0"/>
              <a:t>If </a:t>
            </a:r>
            <a:r>
              <a:rPr lang="en-US" dirty="0"/>
              <a:t>MT and MR are simultaneously taken to infinity, the capacity is seen to grow linearly with min (M</a:t>
            </a:r>
            <a:r>
              <a:rPr lang="en-US" baseline="-25000" dirty="0"/>
              <a:t>T</a:t>
            </a:r>
            <a:r>
              <a:rPr lang="en-US" dirty="0"/>
              <a:t> M</a:t>
            </a:r>
            <a:r>
              <a:rPr lang="en-US" baseline="-25000" dirty="0"/>
              <a:t>R</a:t>
            </a:r>
            <a:r>
              <a:rPr lang="en-US" dirty="0"/>
              <a:t>) i.e. C ≈ min (M</a:t>
            </a:r>
            <a:r>
              <a:rPr lang="en-US" baseline="-25000" dirty="0"/>
              <a:t>T</a:t>
            </a:r>
            <a:r>
              <a:rPr lang="en-US" dirty="0"/>
              <a:t> M</a:t>
            </a:r>
            <a:r>
              <a:rPr lang="en-US" baseline="-25000" dirty="0"/>
              <a:t>R</a:t>
            </a:r>
            <a:r>
              <a:rPr lang="en-US" dirty="0"/>
              <a:t>) · K, where K is a constant depending on the ratio of MT and MR, and on the SNR. </a:t>
            </a:r>
          </a:p>
        </p:txBody>
      </p:sp>
    </p:spTree>
    <p:extLst>
      <p:ext uri="{BB962C8B-B14F-4D97-AF65-F5344CB8AC3E}">
        <p14:creationId xmlns:p14="http://schemas.microsoft.com/office/powerpoint/2010/main" val="12697424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4C78-B03C-40F4-96C1-B13F6951F719}"/>
              </a:ext>
            </a:extLst>
          </p:cNvPr>
          <p:cNvSpPr>
            <a:spLocks noGrp="1"/>
          </p:cNvSpPr>
          <p:nvPr>
            <p:ph type="title"/>
          </p:nvPr>
        </p:nvSpPr>
        <p:spPr>
          <a:xfrm>
            <a:off x="609600" y="152400"/>
            <a:ext cx="10972800" cy="685800"/>
          </a:xfrm>
        </p:spPr>
        <p:txBody>
          <a:bodyPr>
            <a:normAutofit fontScale="90000"/>
          </a:bodyPr>
          <a:lstStyle/>
          <a:p>
            <a:r>
              <a:rPr lang="en-US" dirty="0"/>
              <a:t>Capacity Gain </a:t>
            </a:r>
            <a:endParaRPr lang="en-IN" dirty="0"/>
          </a:p>
        </p:txBody>
      </p:sp>
      <p:sp>
        <p:nvSpPr>
          <p:cNvPr id="3" name="Content Placeholder 2">
            <a:extLst>
              <a:ext uri="{FF2B5EF4-FFF2-40B4-BE49-F238E27FC236}">
                <a16:creationId xmlns:a16="http://schemas.microsoft.com/office/drawing/2014/main" id="{5A5EAADC-88E0-4319-B486-46870E450FB4}"/>
              </a:ext>
            </a:extLst>
          </p:cNvPr>
          <p:cNvSpPr>
            <a:spLocks noGrp="1"/>
          </p:cNvSpPr>
          <p:nvPr>
            <p:ph idx="1"/>
          </p:nvPr>
        </p:nvSpPr>
        <p:spPr>
          <a:xfrm>
            <a:off x="304800" y="1066800"/>
            <a:ext cx="11734800" cy="4525963"/>
          </a:xfrm>
        </p:spPr>
        <p:txBody>
          <a:bodyPr>
            <a:normAutofit fontScale="77500" lnSpcReduction="20000"/>
          </a:bodyPr>
          <a:lstStyle/>
          <a:p>
            <a:pPr algn="just"/>
            <a:r>
              <a:rPr lang="en-US" dirty="0"/>
              <a:t>In summary, increasing the number of receive antennas leads to a logarithmic growth in capacity, </a:t>
            </a:r>
          </a:p>
          <a:p>
            <a:pPr algn="just"/>
            <a:endParaRPr lang="en-US" dirty="0" smtClean="0"/>
          </a:p>
          <a:p>
            <a:pPr algn="just"/>
            <a:r>
              <a:rPr lang="en-US" dirty="0" smtClean="0"/>
              <a:t>while </a:t>
            </a:r>
            <a:r>
              <a:rPr lang="en-US" dirty="0"/>
              <a:t>simultaneously increasing the number of receive and transmit antennas leads to linear growth. </a:t>
            </a:r>
          </a:p>
          <a:p>
            <a:pPr algn="just"/>
            <a:endParaRPr lang="en-US" dirty="0" smtClean="0"/>
          </a:p>
          <a:p>
            <a:pPr algn="just"/>
            <a:r>
              <a:rPr lang="en-US" dirty="0" smtClean="0"/>
              <a:t>Increasing </a:t>
            </a:r>
            <a:r>
              <a:rPr lang="en-US" dirty="0"/>
              <a:t>the number of transmit antennas, on the other hand, provides only a bounded increase in capacity. </a:t>
            </a:r>
          </a:p>
          <a:p>
            <a:pPr algn="just"/>
            <a:endParaRPr lang="en-US" dirty="0" smtClean="0"/>
          </a:p>
          <a:p>
            <a:pPr algn="just"/>
            <a:r>
              <a:rPr lang="en-US" dirty="0" smtClean="0"/>
              <a:t>One </a:t>
            </a:r>
            <a:r>
              <a:rPr lang="en-US" dirty="0"/>
              <a:t>crucial point to take away from this section is that the capacity of an M × M MIMO system supports approximately M times the capacity of a SISO system at any SNR</a:t>
            </a:r>
            <a:endParaRPr lang="en-IN" dirty="0"/>
          </a:p>
        </p:txBody>
      </p:sp>
    </p:spTree>
    <p:extLst>
      <p:ext uri="{BB962C8B-B14F-4D97-AF65-F5344CB8AC3E}">
        <p14:creationId xmlns:p14="http://schemas.microsoft.com/office/powerpoint/2010/main" val="3891778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3075</TotalTime>
  <Words>440</Words>
  <Application>Microsoft Office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 Math</vt:lpstr>
      <vt:lpstr>Libre Franklin</vt:lpstr>
      <vt:lpstr>Times New Roman</vt:lpstr>
      <vt:lpstr>Office Theme</vt:lpstr>
      <vt:lpstr>5G WIRELESS COMMUNICATION  (UEC 719) </vt:lpstr>
      <vt:lpstr>PowerPoint Presentation</vt:lpstr>
      <vt:lpstr>Capacity Limit</vt:lpstr>
      <vt:lpstr>Mutual information and Shannon Capacity</vt:lpstr>
      <vt:lpstr>Channel Capacity Theorem  (Shannon-Hartley Theorem)</vt:lpstr>
      <vt:lpstr>PowerPoint Presentation</vt:lpstr>
      <vt:lpstr>PowerPoint Presentation</vt:lpstr>
      <vt:lpstr>PowerPoint Presentation</vt:lpstr>
      <vt:lpstr>PowerPoint Presentation</vt:lpstr>
      <vt:lpstr>PowerPoint Presentation</vt:lpstr>
      <vt:lpstr>Capacity Gain </vt:lpstr>
      <vt:lpstr>Capacity Gain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Lecture-5  FUNCTIONS OF ONE RANDOM VARIABLE</dc:title>
  <dc:creator>ashutosh</dc:creator>
  <cp:lastModifiedBy>Hemdutt Joshi</cp:lastModifiedBy>
  <cp:revision>199</cp:revision>
  <dcterms:created xsi:type="dcterms:W3CDTF">2020-06-13T16:57:58Z</dcterms:created>
  <dcterms:modified xsi:type="dcterms:W3CDTF">2024-11-19T17:50:59Z</dcterms:modified>
</cp:coreProperties>
</file>
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212" r:id="rId1"/>
  </p:sldMasterIdLst>
  <p:notesMasterIdLst>
    <p:notesMasterId r:id="rId25"/>
  </p:notesMasterIdLst>
  <p:sldIdLst>
    <p:sldId id="278" r:id="rId2"/>
    <p:sldId id="301" r:id="rId3"/>
    <p:sldId id="297" r:id="rId4"/>
    <p:sldId id="257" r:id="rId5"/>
    <p:sldId id="282" r:id="rId6"/>
    <p:sldId id="318" r:id="rId7"/>
    <p:sldId id="319" r:id="rId8"/>
    <p:sldId id="287" r:id="rId9"/>
    <p:sldId id="288" r:id="rId10"/>
    <p:sldId id="293" r:id="rId11"/>
    <p:sldId id="292" r:id="rId12"/>
    <p:sldId id="291" r:id="rId13"/>
    <p:sldId id="289" r:id="rId14"/>
    <p:sldId id="290" r:id="rId15"/>
    <p:sldId id="294" r:id="rId16"/>
    <p:sldId id="296" r:id="rId17"/>
    <p:sldId id="295" r:id="rId18"/>
    <p:sldId id="269" r:id="rId19"/>
    <p:sldId id="298" r:id="rId20"/>
    <p:sldId id="305" r:id="rId21"/>
    <p:sldId id="307" r:id="rId22"/>
    <p:sldId id="311" r:id="rId23"/>
    <p:sldId id="320" r:id="rId24"/>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676" autoAdjust="0"/>
    <p:restoredTop sz="86444" autoAdjust="0"/>
  </p:normalViewPr>
  <p:slideViewPr>
    <p:cSldViewPr>
      <p:cViewPr>
        <p:scale>
          <a:sx n="59" d="100"/>
          <a:sy n="59" d="100"/>
        </p:scale>
        <p:origin x="-1764" y="-402"/>
      </p:cViewPr>
      <p:guideLst>
        <p:guide orient="horz" pos="2160"/>
        <p:guide pos="2880"/>
      </p:guideLst>
    </p:cSldViewPr>
  </p:slideViewPr>
  <p:outlineViewPr>
    <p:cViewPr>
      <p:scale>
        <a:sx n="33" d="100"/>
        <a:sy n="33" d="100"/>
      </p:scale>
      <p:origin x="246" y="142968"/>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50077FA0-3674-4DE0-8E09-3CDBB590E8B6}" type="datetimeFigureOut">
              <a:rPr lang="en-US"/>
              <a:pPr>
                <a:defRPr/>
              </a:pPr>
              <a:t>7/17/2023</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CE57B51F-A627-4E6C-8374-DDFEB8026595}" type="slidenum">
              <a:rPr lang="en-US"/>
              <a:pPr>
                <a:defRPr/>
              </a:pPr>
              <a:t>‹#›</a:t>
            </a:fld>
            <a:endParaRPr lang="en-US" dirty="0"/>
          </a:p>
        </p:txBody>
      </p:sp>
    </p:spTree>
    <p:extLst>
      <p:ext uri="{BB962C8B-B14F-4D97-AF65-F5344CB8AC3E}">
        <p14:creationId xmlns:p14="http://schemas.microsoft.com/office/powerpoint/2010/main" val="211518354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B22E5A3A-384C-4F9E-A382-64826C073FE8}" type="slidenum">
              <a:rPr lang="en-US"/>
              <a:pPr/>
              <a:t>3</a:t>
            </a:fld>
            <a:endParaRPr lang="en-US"/>
          </a:p>
        </p:txBody>
      </p:sp>
      <p:sp>
        <p:nvSpPr>
          <p:cNvPr id="101378" name="Rectangle 2"/>
          <p:cNvSpPr>
            <a:spLocks noGrp="1" noRot="1" noChangeAspect="1" noChangeArrowheads="1" noTextEdit="1"/>
          </p:cNvSpPr>
          <p:nvPr>
            <p:ph type="sldImg"/>
          </p:nvPr>
        </p:nvSpPr>
        <p:spPr>
          <a:xfrm>
            <a:off x="1143000" y="685800"/>
            <a:ext cx="4572000" cy="3429000"/>
          </a:xfrm>
          <a:ln/>
        </p:spPr>
      </p:sp>
      <p:sp>
        <p:nvSpPr>
          <p:cNvPr id="101379" name="Rectangle 3"/>
          <p:cNvSpPr>
            <a:spLocks noGrp="1" noChangeArrowheads="1"/>
          </p:cNvSpPr>
          <p:nvPr>
            <p:ph type="body" idx="1"/>
          </p:nvPr>
        </p:nvSpPr>
        <p:spPr/>
        <p:txBody>
          <a:bodyPr/>
          <a:lstStyle/>
          <a:p>
            <a:r>
              <a:rPr lang="en-US"/>
              <a:t>Companies can engage in CSR activities even while they are acting in unethical ways.  For example, Enron was a champion of community involvement, but used off-balance-sheet partnerships to bilk investors and eventually ruin the company.  Similarly Parmalat helped many Parma people and </a:t>
            </a:r>
            <a:r>
              <a:rPr lang="en-US">
                <a:cs typeface="Times New Roman" charset="0"/>
              </a:rPr>
              <a:t>gave $2 million to restore the </a:t>
            </a:r>
            <a:r>
              <a:rPr lang="en-GB">
                <a:cs typeface="Times New Roman" charset="0"/>
              </a:rPr>
              <a:t>sixteenth-</a:t>
            </a:r>
            <a:r>
              <a:rPr lang="en-US">
                <a:cs typeface="Times New Roman" charset="0"/>
              </a:rPr>
              <a:t>century Correggio frescoes at Parma Cathedral.  But he diverted hundreds of millions from publicly held Parmalat to family owned companies like soccer team Parma AC and Parmatour</a:t>
            </a:r>
            <a:r>
              <a:rPr lang="en-GB">
                <a:cs typeface="Times New Roman" charset="0"/>
              </a:rPr>
              <a:t>.</a:t>
            </a:r>
            <a:endParaRPr lang="en-US">
              <a:cs typeface="Times New Roman" charset="0"/>
            </a:endParaRPr>
          </a:p>
          <a:p>
            <a:endParaRPr lang="en-US">
              <a:cs typeface="Times New Roman" charset="0"/>
            </a:endParaRPr>
          </a:p>
          <a:p>
            <a:endParaRPr lang="en-US"/>
          </a:p>
          <a:p>
            <a:pPr lvl="1"/>
            <a:r>
              <a:rPr lang="en-US"/>
              <a:t>Companies can say one thing </a:t>
            </a:r>
            <a:r>
              <a:rPr lang="en-GB"/>
              <a:t>a</a:t>
            </a:r>
            <a:r>
              <a:rPr lang="en-US"/>
              <a:t>nd do another</a:t>
            </a:r>
            <a:r>
              <a:rPr lang="en-GB"/>
              <a:t>.</a:t>
            </a:r>
            <a:endParaRPr lang="en-US"/>
          </a:p>
          <a:p>
            <a:endParaRPr lang="en-US"/>
          </a:p>
          <a:p>
            <a:endParaRPr lang="en-US"/>
          </a:p>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6EAE28B3-692A-4DA9-99E4-DCB814A357AE}" type="slidenum">
              <a:rPr lang="en-US"/>
              <a:pPr/>
              <a:t>19</a:t>
            </a:fld>
            <a:endParaRPr lang="en-US"/>
          </a:p>
        </p:txBody>
      </p:sp>
      <p:sp>
        <p:nvSpPr>
          <p:cNvPr id="71682" name="Rectangle 2"/>
          <p:cNvSpPr>
            <a:spLocks noGrp="1" noRot="1" noChangeAspect="1" noChangeArrowheads="1" noTextEdit="1"/>
          </p:cNvSpPr>
          <p:nvPr>
            <p:ph type="sldImg"/>
          </p:nvPr>
        </p:nvSpPr>
        <p:spPr>
          <a:xfrm>
            <a:off x="1143000" y="685800"/>
            <a:ext cx="4572000" cy="3429000"/>
          </a:xfrm>
          <a:ln/>
        </p:spPr>
      </p:sp>
      <p:sp>
        <p:nvSpPr>
          <p:cNvPr id="71683" name="Rectangle 3"/>
          <p:cNvSpPr>
            <a:spLocks noGrp="1" noChangeArrowheads="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pPr>
              <a:defRPr/>
            </a:pPr>
            <a:fld id="{4A31EA3A-685D-4EBD-86C6-E5D1682D77E4}" type="datetimeFigureOut">
              <a:rPr lang="en-US" smtClean="0"/>
              <a:pPr>
                <a:defRPr/>
              </a:pPr>
              <a:t>7/17/2023</a:t>
            </a:fld>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D7F42CBE-FAFA-438C-8DFB-3149317B22D2}" type="slidenum">
              <a:rPr lang="en-US" smtClean="0"/>
              <a:pPr>
                <a:defRPr/>
              </a:pPr>
              <a:t>‹#›</a:t>
            </a:fld>
            <a:endParaRPr lang="en-US" dirty="0"/>
          </a:p>
        </p:txBody>
      </p:sp>
    </p:spTree>
    <p:extLst>
      <p:ext uri="{BB962C8B-B14F-4D97-AF65-F5344CB8AC3E}">
        <p14:creationId xmlns:p14="http://schemas.microsoft.com/office/powerpoint/2010/main" val="3604260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pPr>
              <a:defRPr/>
            </a:pPr>
            <a:fld id="{7CA36038-B1A2-4A42-9A20-4F2733C74628}" type="datetimeFigureOut">
              <a:rPr lang="en-US" smtClean="0"/>
              <a:pPr>
                <a:defRPr/>
              </a:pPr>
              <a:t>7/17/2023</a:t>
            </a:fld>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79ADAC47-6E1B-4FD7-ACAD-6E2A65A1D154}" type="slidenum">
              <a:rPr lang="en-US" smtClean="0"/>
              <a:pPr>
                <a:defRPr/>
              </a:pPr>
              <a:t>‹#›</a:t>
            </a:fld>
            <a:endParaRPr lang="en-US" dirty="0"/>
          </a:p>
        </p:txBody>
      </p:sp>
    </p:spTree>
    <p:extLst>
      <p:ext uri="{BB962C8B-B14F-4D97-AF65-F5344CB8AC3E}">
        <p14:creationId xmlns:p14="http://schemas.microsoft.com/office/powerpoint/2010/main" val="15008870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pPr>
              <a:defRPr/>
            </a:pPr>
            <a:fld id="{24000346-EE7E-4BD0-9E89-33ABF22A5B26}" type="datetimeFigureOut">
              <a:rPr lang="en-US" smtClean="0"/>
              <a:pPr>
                <a:defRPr/>
              </a:pPr>
              <a:t>7/17/2023</a:t>
            </a:fld>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C99E365D-807A-45F4-8096-FE1F320AD1BE}" type="slidenum">
              <a:rPr lang="en-US" smtClean="0"/>
              <a:pPr>
                <a:defRPr/>
              </a:pPr>
              <a:t>‹#›</a:t>
            </a:fld>
            <a:endParaRPr lang="en-US" dirty="0"/>
          </a:p>
        </p:txBody>
      </p:sp>
    </p:spTree>
    <p:extLst>
      <p:ext uri="{BB962C8B-B14F-4D97-AF65-F5344CB8AC3E}">
        <p14:creationId xmlns:p14="http://schemas.microsoft.com/office/powerpoint/2010/main" val="22025258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pPr>
              <a:defRPr/>
            </a:pPr>
            <a:fld id="{0D3DDB28-A93B-46CA-A77C-60C6013181AD}" type="datetimeFigureOut">
              <a:rPr lang="en-US" smtClean="0"/>
              <a:pPr>
                <a:defRPr/>
              </a:pPr>
              <a:t>7/17/2023</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ACDB868C-BF6F-4976-9877-1F669DEEC01B}" type="slidenum">
              <a:rPr lang="en-US" smtClean="0"/>
              <a:pPr>
                <a:defRPr/>
              </a:pPr>
              <a:t>‹#›</a:t>
            </a:fld>
            <a:endParaRPr lang="en-US" dirty="0"/>
          </a:p>
        </p:txBody>
      </p:sp>
    </p:spTree>
    <p:extLst>
      <p:ext uri="{BB962C8B-B14F-4D97-AF65-F5344CB8AC3E}">
        <p14:creationId xmlns:p14="http://schemas.microsoft.com/office/powerpoint/2010/main" val="15066850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pPr>
              <a:defRPr/>
            </a:pPr>
            <a:fld id="{5AA879C1-C026-40B5-89B9-0878A294FC69}" type="datetimeFigureOut">
              <a:rPr lang="en-US" smtClean="0"/>
              <a:pPr>
                <a:defRPr/>
              </a:pPr>
              <a:t>7/17/2023</a:t>
            </a:fld>
            <a:endParaRPr lang="en-US" dirty="0"/>
          </a:p>
        </p:txBody>
      </p:sp>
      <p:sp>
        <p:nvSpPr>
          <p:cNvPr id="8" name="Footer Placeholder 7"/>
          <p:cNvSpPr>
            <a:spLocks noGrp="1"/>
          </p:cNvSpPr>
          <p:nvPr>
            <p:ph type="ftr" sz="quarter" idx="11"/>
          </p:nvPr>
        </p:nvSpPr>
        <p:spPr/>
        <p:txBody>
          <a:bodyPr/>
          <a:lstStyle/>
          <a:p>
            <a:pPr>
              <a:defRPr/>
            </a:pPr>
            <a:endParaRPr lang="en-US" dirty="0"/>
          </a:p>
        </p:txBody>
      </p:sp>
      <p:sp>
        <p:nvSpPr>
          <p:cNvPr id="9" name="Slide Number Placeholder 8"/>
          <p:cNvSpPr>
            <a:spLocks noGrp="1"/>
          </p:cNvSpPr>
          <p:nvPr>
            <p:ph type="sldNum" sz="quarter" idx="12"/>
          </p:nvPr>
        </p:nvSpPr>
        <p:spPr/>
        <p:txBody>
          <a:bodyPr/>
          <a:lstStyle/>
          <a:p>
            <a:pPr>
              <a:defRPr/>
            </a:pPr>
            <a:fld id="{FC64AB99-CD88-4D22-B9BF-6281402E34D8}" type="slidenum">
              <a:rPr lang="en-US" smtClean="0"/>
              <a:pPr>
                <a:defRPr/>
              </a:pPr>
              <a:t>‹#›</a:t>
            </a:fld>
            <a:endParaRPr lang="en-US" dirty="0"/>
          </a:p>
        </p:txBody>
      </p:sp>
    </p:spTree>
    <p:extLst>
      <p:ext uri="{BB962C8B-B14F-4D97-AF65-F5344CB8AC3E}">
        <p14:creationId xmlns:p14="http://schemas.microsoft.com/office/powerpoint/2010/main" val="9063300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pPr>
              <a:defRPr/>
            </a:pPr>
            <a:fld id="{6729F8FA-FD7F-49B5-89C7-8E58A6892F91}" type="datetimeFigureOut">
              <a:rPr lang="en-US" smtClean="0"/>
              <a:pPr>
                <a:defRPr/>
              </a:pPr>
              <a:t>7/17/2023</a:t>
            </a:fld>
            <a:endParaRPr lang="en-US" dirty="0"/>
          </a:p>
        </p:txBody>
      </p:sp>
      <p:sp>
        <p:nvSpPr>
          <p:cNvPr id="4" name="Footer Placeholder 3"/>
          <p:cNvSpPr>
            <a:spLocks noGrp="1"/>
          </p:cNvSpPr>
          <p:nvPr>
            <p:ph type="ftr" sz="quarter" idx="11"/>
          </p:nvPr>
        </p:nvSpPr>
        <p:spPr/>
        <p:txBody>
          <a:bodyPr/>
          <a:lstStyle/>
          <a:p>
            <a:pPr>
              <a:defRPr/>
            </a:pPr>
            <a:endParaRPr lang="en-US" dirty="0"/>
          </a:p>
        </p:txBody>
      </p:sp>
      <p:sp>
        <p:nvSpPr>
          <p:cNvPr id="5" name="Slide Number Placeholder 4"/>
          <p:cNvSpPr>
            <a:spLocks noGrp="1"/>
          </p:cNvSpPr>
          <p:nvPr>
            <p:ph type="sldNum" sz="quarter" idx="12"/>
          </p:nvPr>
        </p:nvSpPr>
        <p:spPr/>
        <p:txBody>
          <a:bodyPr/>
          <a:lstStyle/>
          <a:p>
            <a:pPr>
              <a:defRPr/>
            </a:pPr>
            <a:fld id="{516CF6C2-C567-429A-A142-A3C4173C542C}" type="slidenum">
              <a:rPr lang="en-US" smtClean="0"/>
              <a:pPr>
                <a:defRPr/>
              </a:pPr>
              <a:t>‹#›</a:t>
            </a:fld>
            <a:endParaRPr lang="en-US" dirty="0"/>
          </a:p>
        </p:txBody>
      </p:sp>
    </p:spTree>
    <p:extLst>
      <p:ext uri="{BB962C8B-B14F-4D97-AF65-F5344CB8AC3E}">
        <p14:creationId xmlns:p14="http://schemas.microsoft.com/office/powerpoint/2010/main" val="1900241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1D91C47E-951D-48FB-BE00-0B4AD15708F1}" type="datetimeFigureOut">
              <a:rPr lang="en-US" smtClean="0"/>
              <a:pPr>
                <a:defRPr/>
              </a:pPr>
              <a:t>7/17/2023</a:t>
            </a:fld>
            <a:endParaRPr lang="en-US" dirty="0"/>
          </a:p>
        </p:txBody>
      </p:sp>
      <p:sp>
        <p:nvSpPr>
          <p:cNvPr id="3" name="Footer Placeholder 2"/>
          <p:cNvSpPr>
            <a:spLocks noGrp="1"/>
          </p:cNvSpPr>
          <p:nvPr>
            <p:ph type="ftr" sz="quarter" idx="11"/>
          </p:nvPr>
        </p:nvSpPr>
        <p:spPr/>
        <p:txBody>
          <a:bodyPr/>
          <a:lstStyle/>
          <a:p>
            <a:pPr>
              <a:defRPr/>
            </a:pPr>
            <a:endParaRPr lang="en-US" dirty="0"/>
          </a:p>
        </p:txBody>
      </p:sp>
      <p:sp>
        <p:nvSpPr>
          <p:cNvPr id="4" name="Slide Number Placeholder 3"/>
          <p:cNvSpPr>
            <a:spLocks noGrp="1"/>
          </p:cNvSpPr>
          <p:nvPr>
            <p:ph type="sldNum" sz="quarter" idx="12"/>
          </p:nvPr>
        </p:nvSpPr>
        <p:spPr/>
        <p:txBody>
          <a:bodyPr/>
          <a:lstStyle/>
          <a:p>
            <a:pPr>
              <a:defRPr/>
            </a:pPr>
            <a:fld id="{EBA5216B-AE6C-4E25-86AA-95C2393CB43F}" type="slidenum">
              <a:rPr lang="en-US" smtClean="0"/>
              <a:pPr>
                <a:defRPr/>
              </a:pPr>
              <a:t>‹#›</a:t>
            </a:fld>
            <a:endParaRPr lang="en-US" dirty="0"/>
          </a:p>
        </p:txBody>
      </p:sp>
    </p:spTree>
    <p:extLst>
      <p:ext uri="{BB962C8B-B14F-4D97-AF65-F5344CB8AC3E}">
        <p14:creationId xmlns:p14="http://schemas.microsoft.com/office/powerpoint/2010/main" val="24927003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a:defRPr/>
            </a:pPr>
            <a:fld id="{11A2F5C2-BA5A-4863-9831-F40A2982E9C0}" type="datetimeFigureOut">
              <a:rPr lang="en-US" smtClean="0"/>
              <a:pPr>
                <a:defRPr/>
              </a:pPr>
              <a:t>7/17/2023</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60D8107B-3C94-4CB8-BE1A-4B3C45B1A406}" type="slidenum">
              <a:rPr lang="en-US" smtClean="0"/>
              <a:pPr>
                <a:defRPr/>
              </a:pPr>
              <a:t>‹#›</a:t>
            </a:fld>
            <a:endParaRPr lang="en-US" dirty="0"/>
          </a:p>
        </p:txBody>
      </p:sp>
    </p:spTree>
    <p:extLst>
      <p:ext uri="{BB962C8B-B14F-4D97-AF65-F5344CB8AC3E}">
        <p14:creationId xmlns:p14="http://schemas.microsoft.com/office/powerpoint/2010/main" val="23191966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a:defRPr/>
            </a:pPr>
            <a:fld id="{424F0DB6-59EE-453F-A771-2E5CE9039250}" type="datetimeFigureOut">
              <a:rPr lang="en-US" smtClean="0"/>
              <a:pPr>
                <a:defRPr/>
              </a:pPr>
              <a:t>7/17/2023</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68E3AC3F-1980-4E3E-A130-F8C6FD0EA1F4}" type="slidenum">
              <a:rPr lang="en-US" smtClean="0"/>
              <a:pPr>
                <a:defRPr/>
              </a:pPr>
              <a:t>‹#›</a:t>
            </a:fld>
            <a:endParaRPr lang="en-US" dirty="0"/>
          </a:p>
        </p:txBody>
      </p:sp>
    </p:spTree>
    <p:extLst>
      <p:ext uri="{BB962C8B-B14F-4D97-AF65-F5344CB8AC3E}">
        <p14:creationId xmlns:p14="http://schemas.microsoft.com/office/powerpoint/2010/main" val="27865979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pPr>
              <a:defRPr/>
            </a:pPr>
            <a:fld id="{D7B8B349-544A-4001-8BC4-27A1896E2C8E}" type="datetimeFigureOut">
              <a:rPr lang="en-US" smtClean="0"/>
              <a:pPr>
                <a:defRPr/>
              </a:pPr>
              <a:t>7/17/2023</a:t>
            </a:fld>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333A5999-92E2-4437-94FA-981A8C31793F}" type="slidenum">
              <a:rPr lang="en-US" smtClean="0"/>
              <a:pPr>
                <a:defRPr/>
              </a:pPr>
              <a:t>‹#›</a:t>
            </a:fld>
            <a:endParaRPr lang="en-US" dirty="0"/>
          </a:p>
        </p:txBody>
      </p:sp>
    </p:spTree>
    <p:extLst>
      <p:ext uri="{BB962C8B-B14F-4D97-AF65-F5344CB8AC3E}">
        <p14:creationId xmlns:p14="http://schemas.microsoft.com/office/powerpoint/2010/main" val="20552861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pPr>
              <a:defRPr/>
            </a:pPr>
            <a:fld id="{F2032F2B-3E90-4FD9-AA93-9C16ED1EC2D5}" type="datetimeFigureOut">
              <a:rPr lang="en-US" smtClean="0"/>
              <a:pPr>
                <a:defRPr/>
              </a:pPr>
              <a:t>7/17/2023</a:t>
            </a:fld>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5E8D1E77-C8F3-49CA-9DE1-97332F757399}" type="slidenum">
              <a:rPr lang="en-US" smtClean="0"/>
              <a:pPr>
                <a:defRPr/>
              </a:pPr>
              <a:t>‹#›</a:t>
            </a:fld>
            <a:endParaRPr lang="en-US" dirty="0"/>
          </a:p>
        </p:txBody>
      </p:sp>
    </p:spTree>
    <p:extLst>
      <p:ext uri="{BB962C8B-B14F-4D97-AF65-F5344CB8AC3E}">
        <p14:creationId xmlns:p14="http://schemas.microsoft.com/office/powerpoint/2010/main" val="19815317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1579D2A3-69AF-4635-847C-FB538B8B457F}" type="datetimeFigureOut">
              <a:rPr lang="en-US" smtClean="0"/>
              <a:pPr>
                <a:defRPr/>
              </a:pPr>
              <a:t>7/17/2023</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556BA8D1-01A5-436E-9760-C3CB702ACB46}" type="slidenum">
              <a:rPr lang="en-US" smtClean="0"/>
              <a:pPr>
                <a:defRPr/>
              </a:pPr>
              <a:t>‹#›</a:t>
            </a:fld>
            <a:endParaRPr lang="en-US" dirty="0"/>
          </a:p>
        </p:txBody>
      </p:sp>
    </p:spTree>
    <p:extLst>
      <p:ext uri="{BB962C8B-B14F-4D97-AF65-F5344CB8AC3E}">
        <p14:creationId xmlns:p14="http://schemas.microsoft.com/office/powerpoint/2010/main" val="214520602"/>
      </p:ext>
    </p:extLst>
  </p:cSld>
  <p:clrMap bg1="lt1" tx1="dk1" bg2="lt2" tx2="dk2" accent1="accent1" accent2="accent2" accent3="accent3" accent4="accent4" accent5="accent5" accent6="accent6" hlink="hlink" folHlink="folHlink"/>
  <p:sldLayoutIdLst>
    <p:sldLayoutId id="2147484213" r:id="rId1"/>
    <p:sldLayoutId id="2147484214" r:id="rId2"/>
    <p:sldLayoutId id="2147484215" r:id="rId3"/>
    <p:sldLayoutId id="2147484216" r:id="rId4"/>
    <p:sldLayoutId id="2147484217" r:id="rId5"/>
    <p:sldLayoutId id="2147484218" r:id="rId6"/>
    <p:sldLayoutId id="2147484219" r:id="rId7"/>
    <p:sldLayoutId id="2147484220" r:id="rId8"/>
    <p:sldLayoutId id="2147484221" r:id="rId9"/>
    <p:sldLayoutId id="2147484222" r:id="rId10"/>
    <p:sldLayoutId id="214748422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7467600" cy="868363"/>
          </a:xfrm>
        </p:spPr>
        <p:txBody>
          <a:bodyPr>
            <a:normAutofit fontScale="90000"/>
          </a:bodyPr>
          <a:lstStyle/>
          <a:p>
            <a:pPr algn="ctr" fontAlgn="auto">
              <a:spcAft>
                <a:spcPts val="0"/>
              </a:spcAft>
              <a:defRPr/>
            </a:pPr>
            <a:r>
              <a:rPr lang="en-IN" b="1" dirty="0" smtClean="0">
                <a:solidFill>
                  <a:srgbClr val="000000"/>
                </a:solidFill>
              </a:rPr>
              <a:t/>
            </a:r>
            <a:br>
              <a:rPr lang="en-IN" b="1" dirty="0" smtClean="0">
                <a:solidFill>
                  <a:srgbClr val="000000"/>
                </a:solidFill>
              </a:rPr>
            </a:br>
            <a:r>
              <a:rPr lang="en-IN" b="1" dirty="0" smtClean="0">
                <a:solidFill>
                  <a:srgbClr val="000000"/>
                </a:solidFill>
              </a:rPr>
              <a:t/>
            </a:r>
            <a:br>
              <a:rPr lang="en-IN" b="1" dirty="0" smtClean="0">
                <a:solidFill>
                  <a:srgbClr val="000000"/>
                </a:solidFill>
              </a:rPr>
            </a:br>
            <a:r>
              <a:rPr lang="en-IN" b="1" dirty="0" smtClean="0">
                <a:solidFill>
                  <a:srgbClr val="000000"/>
                </a:solidFill>
              </a:rPr>
              <a:t/>
            </a:r>
            <a:br>
              <a:rPr lang="en-IN" b="1" dirty="0" smtClean="0">
                <a:solidFill>
                  <a:srgbClr val="000000"/>
                </a:solidFill>
              </a:rPr>
            </a:br>
            <a:r>
              <a:rPr lang="en-IN" b="1" dirty="0" smtClean="0">
                <a:solidFill>
                  <a:srgbClr val="000000"/>
                </a:solidFill>
              </a:rPr>
              <a:t/>
            </a:r>
            <a:br>
              <a:rPr lang="en-IN" b="1" dirty="0" smtClean="0">
                <a:solidFill>
                  <a:srgbClr val="000000"/>
                </a:solidFill>
              </a:rPr>
            </a:br>
            <a:r>
              <a:rPr lang="en-IN" b="1" dirty="0" smtClean="0">
                <a:solidFill>
                  <a:srgbClr val="000000"/>
                </a:solidFill>
              </a:rPr>
              <a:t/>
            </a:r>
            <a:br>
              <a:rPr lang="en-IN" b="1" dirty="0" smtClean="0">
                <a:solidFill>
                  <a:srgbClr val="000000"/>
                </a:solidFill>
              </a:rPr>
            </a:br>
            <a:r>
              <a:rPr lang="en-IN" b="1" dirty="0" smtClean="0">
                <a:solidFill>
                  <a:srgbClr val="000000"/>
                </a:solidFill>
              </a:rPr>
              <a:t/>
            </a:r>
            <a:br>
              <a:rPr lang="en-IN" b="1" dirty="0" smtClean="0">
                <a:solidFill>
                  <a:srgbClr val="000000"/>
                </a:solidFill>
              </a:rPr>
            </a:br>
            <a:r>
              <a:rPr lang="en-IN" b="1" dirty="0" smtClean="0">
                <a:solidFill>
                  <a:srgbClr val="000000"/>
                </a:solidFill>
              </a:rPr>
              <a:t/>
            </a:r>
            <a:br>
              <a:rPr lang="en-IN" b="1" dirty="0" smtClean="0">
                <a:solidFill>
                  <a:srgbClr val="000000"/>
                </a:solidFill>
              </a:rPr>
            </a:br>
            <a:r>
              <a:rPr lang="en-IN" b="1" dirty="0" smtClean="0">
                <a:solidFill>
                  <a:srgbClr val="000000"/>
                </a:solidFill>
              </a:rPr>
              <a:t/>
            </a:r>
            <a:br>
              <a:rPr lang="en-IN" b="1" dirty="0" smtClean="0">
                <a:solidFill>
                  <a:srgbClr val="000000"/>
                </a:solidFill>
              </a:rPr>
            </a:br>
            <a:r>
              <a:rPr lang="en-IN" b="1" dirty="0" smtClean="0">
                <a:solidFill>
                  <a:srgbClr val="000000"/>
                </a:solidFill>
              </a:rPr>
              <a:t/>
            </a:r>
            <a:br>
              <a:rPr lang="en-IN" b="1" dirty="0" smtClean="0">
                <a:solidFill>
                  <a:srgbClr val="000000"/>
                </a:solidFill>
              </a:rPr>
            </a:br>
            <a:endParaRPr lang="en-US" sz="2700" dirty="0">
              <a:latin typeface="Times New Roman" pitchFamily="18" charset="0"/>
              <a:cs typeface="Times New Roman" pitchFamily="18" charset="0"/>
            </a:endParaRPr>
          </a:p>
        </p:txBody>
      </p:sp>
      <p:sp>
        <p:nvSpPr>
          <p:cNvPr id="6147" name="Content Placeholder 2"/>
          <p:cNvSpPr>
            <a:spLocks noGrp="1"/>
          </p:cNvSpPr>
          <p:nvPr>
            <p:ph idx="1"/>
          </p:nvPr>
        </p:nvSpPr>
        <p:spPr>
          <a:xfrm>
            <a:off x="152400" y="838200"/>
            <a:ext cx="8686800" cy="5635625"/>
          </a:xfrm>
        </p:spPr>
        <p:txBody>
          <a:bodyPr/>
          <a:lstStyle/>
          <a:p>
            <a:pPr algn="ctr">
              <a:buFont typeface="Wingdings 2" pitchFamily="18" charset="2"/>
              <a:buNone/>
            </a:pPr>
            <a:endParaRPr lang="en-US" sz="2000" b="1" dirty="0" smtClean="0">
              <a:latin typeface="+mj-lt"/>
            </a:endParaRPr>
          </a:p>
          <a:p>
            <a:pPr algn="ctr">
              <a:buFont typeface="Wingdings 2" pitchFamily="18" charset="2"/>
              <a:buNone/>
            </a:pPr>
            <a:endParaRPr lang="en-US" sz="2000" b="1" dirty="0" smtClean="0">
              <a:latin typeface="+mj-lt"/>
            </a:endParaRPr>
          </a:p>
          <a:p>
            <a:pPr algn="ctr">
              <a:buFont typeface="Wingdings 2" pitchFamily="18" charset="2"/>
              <a:buNone/>
            </a:pPr>
            <a:endParaRPr lang="en-US" sz="2000" b="1" dirty="0" smtClean="0">
              <a:latin typeface="+mj-lt"/>
            </a:endParaRPr>
          </a:p>
          <a:p>
            <a:pPr algn="ctr">
              <a:buFont typeface="Wingdings 2" pitchFamily="18" charset="2"/>
              <a:buNone/>
            </a:pPr>
            <a:r>
              <a:rPr lang="en-US" sz="4400" b="1" dirty="0" smtClean="0">
                <a:latin typeface="+mj-lt"/>
                <a:cs typeface="Times New Roman" pitchFamily="18" charset="0"/>
              </a:rPr>
              <a:t>Corporate Social Responsibility</a:t>
            </a:r>
            <a:endParaRPr lang="en-IN" sz="4400" b="1" dirty="0" smtClean="0">
              <a:solidFill>
                <a:srgbClr val="000000"/>
              </a:solidFill>
              <a:latin typeface="+mj-lt"/>
              <a:cs typeface="Times New Roman" pitchFamily="18" charset="0"/>
            </a:endParaRPr>
          </a:p>
          <a:p>
            <a:pPr>
              <a:buFont typeface="Wingdings" pitchFamily="2" charset="2"/>
              <a:buNone/>
            </a:pPr>
            <a:endParaRPr lang="en-IN" sz="2000" b="1" dirty="0" smtClean="0">
              <a:solidFill>
                <a:srgbClr val="000000"/>
              </a:solidFill>
              <a:latin typeface="+mj-lt"/>
              <a:cs typeface="Times New Roman" pitchFamily="18" charset="0"/>
            </a:endParaRPr>
          </a:p>
          <a:p>
            <a:pPr>
              <a:buFont typeface="Wingdings" pitchFamily="2" charset="2"/>
              <a:buNone/>
            </a:pPr>
            <a:endParaRPr lang="en-IN" sz="2000" b="1" dirty="0" smtClean="0">
              <a:solidFill>
                <a:srgbClr val="000000"/>
              </a:solidFill>
              <a:latin typeface="+mj-lt"/>
              <a:cs typeface="Times New Roman" pitchFamily="18" charset="0"/>
            </a:endParaRPr>
          </a:p>
          <a:p>
            <a:pPr>
              <a:buFont typeface="Wingdings 2" pitchFamily="18" charset="2"/>
              <a:buNone/>
            </a:pPr>
            <a:endParaRPr lang="en-IN" sz="2000" b="1" dirty="0" smtClean="0">
              <a:solidFill>
                <a:srgbClr val="000000"/>
              </a:solidFill>
              <a:latin typeface="+mj-lt"/>
              <a:cs typeface="Times New Roman" pitchFamily="18" charset="0"/>
            </a:endParaRPr>
          </a:p>
          <a:p>
            <a:pPr algn="ctr">
              <a:buFont typeface="Wingdings" pitchFamily="2" charset="2"/>
              <a:buNone/>
            </a:pPr>
            <a:endParaRPr lang="en-IN" sz="1800" dirty="0" smtClean="0">
              <a:solidFill>
                <a:srgbClr val="000000"/>
              </a:solidFill>
              <a:latin typeface="+mj-lt"/>
              <a:cs typeface="Times New Roman" pitchFamily="18" charset="0"/>
            </a:endParaRPr>
          </a:p>
          <a:p>
            <a:pPr algn="ctr">
              <a:buFont typeface="Wingdings" pitchFamily="2" charset="2"/>
              <a:buNone/>
            </a:pPr>
            <a:endParaRPr lang="en-US" sz="2000" dirty="0" smtClean="0">
              <a:latin typeface="+mj-lt"/>
              <a:cs typeface="Times New Roman"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685800" y="1295400"/>
            <a:ext cx="7772400" cy="3733800"/>
          </a:xfrm>
        </p:spPr>
        <p:txBody>
          <a:bodyPr/>
          <a:lstStyle/>
          <a:p>
            <a:pPr algn="ctr">
              <a:buFont typeface="Wingdings" pitchFamily="2" charset="2"/>
              <a:buNone/>
            </a:pPr>
            <a:endParaRPr lang="zh-CN" altLang="en-US" sz="4800" i="1" dirty="0">
              <a:ea typeface="宋体" charset="-122"/>
            </a:endParaRPr>
          </a:p>
          <a:p>
            <a:pPr algn="ctr">
              <a:buFont typeface="Wingdings" pitchFamily="2" charset="2"/>
              <a:buNone/>
            </a:pPr>
            <a:r>
              <a:rPr lang="en-US" altLang="zh-CN" sz="4800" b="1" i="1" dirty="0">
                <a:ea typeface="宋体" charset="-122"/>
              </a:rPr>
              <a:t>Business of business is to do business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p:txBody>
          <a:bodyPr/>
          <a:lstStyle/>
          <a:p>
            <a:pPr algn="ctr"/>
            <a:r>
              <a:rPr lang="en-US"/>
              <a:t>Definitions and Relationships</a:t>
            </a:r>
          </a:p>
        </p:txBody>
      </p:sp>
      <p:sp>
        <p:nvSpPr>
          <p:cNvPr id="100355" name="Rectangle 3"/>
          <p:cNvSpPr>
            <a:spLocks noGrp="1" noChangeArrowheads="1"/>
          </p:cNvSpPr>
          <p:nvPr>
            <p:ph idx="1"/>
          </p:nvPr>
        </p:nvSpPr>
        <p:spPr/>
        <p:txBody>
          <a:bodyPr/>
          <a:lstStyle/>
          <a:p>
            <a:pPr algn="just"/>
            <a:r>
              <a:rPr lang="en-US" sz="2800" dirty="0">
                <a:cs typeface="Times New Roman" charset="0"/>
              </a:rPr>
              <a:t>Corporate social responsibility (CSR) is the process by which businesses negotiate their role in society </a:t>
            </a:r>
          </a:p>
          <a:p>
            <a:pPr algn="just"/>
            <a:r>
              <a:rPr lang="en-US" sz="2800" dirty="0">
                <a:cs typeface="Times New Roman" charset="0"/>
              </a:rPr>
              <a:t>In the business world, ethics is the study of morally appropriate behaviors and decisions, examining what "</a:t>
            </a:r>
            <a:r>
              <a:rPr lang="en-US" sz="2800" u="sng" dirty="0">
                <a:cs typeface="Times New Roman" charset="0"/>
              </a:rPr>
              <a:t>should</a:t>
            </a:r>
            <a:r>
              <a:rPr lang="en-US" sz="2800" dirty="0">
                <a:cs typeface="Times New Roman" charset="0"/>
              </a:rPr>
              <a:t> be done</a:t>
            </a:r>
            <a:r>
              <a:rPr lang="en-GB" sz="2800" dirty="0">
                <a:cs typeface="Times New Roman" charset="0"/>
              </a:rPr>
              <a:t>”</a:t>
            </a:r>
            <a:endParaRPr lang="en-US" sz="2800" dirty="0">
              <a:cs typeface="Times New Roman" charset="0"/>
            </a:endParaRPr>
          </a:p>
          <a:p>
            <a:pPr algn="just"/>
            <a:r>
              <a:rPr lang="en-US" sz="2800" dirty="0">
                <a:cs typeface="Times New Roman" charset="0"/>
              </a:rPr>
              <a:t>Although the two are linked in most firms, CSR activities are no guarantee of ethical behavior</a:t>
            </a:r>
          </a:p>
          <a:p>
            <a:pPr algn="just"/>
            <a:endParaRPr lang="en-US" sz="2800" dirty="0">
              <a:cs typeface="Times New Roman"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704850"/>
            <a:ext cx="8229600" cy="819150"/>
          </a:xfrm>
        </p:spPr>
        <p:txBody>
          <a:bodyPr>
            <a:normAutofit/>
          </a:bodyPr>
          <a:lstStyle/>
          <a:p>
            <a:pPr fontAlgn="auto">
              <a:spcAft>
                <a:spcPts val="0"/>
              </a:spcAft>
              <a:defRPr/>
            </a:pPr>
            <a:r>
              <a:rPr lang="en-US" dirty="0" smtClean="0"/>
              <a:t> </a:t>
            </a:r>
            <a:r>
              <a:rPr lang="en-US" dirty="0" smtClean="0">
                <a:solidFill>
                  <a:schemeClr val="accent1">
                    <a:lumMod val="75000"/>
                  </a:schemeClr>
                </a:solidFill>
                <a:latin typeface="Times New Roman" pitchFamily="18" charset="0"/>
                <a:cs typeface="Times New Roman" pitchFamily="18" charset="0"/>
              </a:rPr>
              <a:t>Introduction to CSR</a:t>
            </a:r>
            <a:endParaRPr lang="en-US" dirty="0">
              <a:solidFill>
                <a:schemeClr val="accent1">
                  <a:lumMod val="75000"/>
                </a:schemeClr>
              </a:solidFill>
              <a:latin typeface="Times New Roman" pitchFamily="18" charset="0"/>
              <a:cs typeface="Times New Roman" pitchFamily="18" charset="0"/>
            </a:endParaRPr>
          </a:p>
        </p:txBody>
      </p:sp>
      <p:sp>
        <p:nvSpPr>
          <p:cNvPr id="7171" name="Subtitle 4"/>
          <p:cNvSpPr>
            <a:spLocks noGrp="1"/>
          </p:cNvSpPr>
          <p:nvPr>
            <p:ph idx="1"/>
          </p:nvPr>
        </p:nvSpPr>
        <p:spPr>
          <a:xfrm>
            <a:off x="457200" y="1447800"/>
            <a:ext cx="5562600" cy="4876800"/>
          </a:xfrm>
        </p:spPr>
        <p:txBody>
          <a:bodyPr/>
          <a:lstStyle/>
          <a:p>
            <a:pPr algn="just">
              <a:buNone/>
            </a:pPr>
            <a:r>
              <a:rPr lang="en-US" sz="2000" dirty="0" smtClean="0">
                <a:latin typeface="Times New Roman" pitchFamily="18" charset="0"/>
                <a:cs typeface="Times New Roman" pitchFamily="18" charset="0"/>
              </a:rPr>
              <a:t>    CSR stands for corporate social responsibility which is a broad term that covers concepts used by companies</a:t>
            </a:r>
            <a:r>
              <a:rPr lang="en-US" sz="2000" b="1"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to maintain their socially good or responsible image in relationships with customers, shareholders, stakeholders.</a:t>
            </a:r>
          </a:p>
          <a:p>
            <a:pPr algn="just">
              <a:buFont typeface="Wingdings 2" pitchFamily="18" charset="2"/>
              <a:buNone/>
            </a:pPr>
            <a:r>
              <a:rPr lang="en-US" sz="2000" dirty="0" smtClean="0">
                <a:latin typeface="Times New Roman" pitchFamily="18" charset="0"/>
                <a:cs typeface="Times New Roman" pitchFamily="18" charset="0"/>
              </a:rPr>
              <a:t> </a:t>
            </a:r>
          </a:p>
          <a:p>
            <a:pPr algn="just">
              <a:buNone/>
            </a:pPr>
            <a:r>
              <a:rPr lang="en-US" sz="2000" dirty="0" smtClean="0">
                <a:latin typeface="Times New Roman" pitchFamily="18" charset="0"/>
                <a:cs typeface="Times New Roman" pitchFamily="18" charset="0"/>
              </a:rPr>
              <a:t> “Corporate Social Responsibility (CSR) is a powerful way of making sustainable competitive profit and achieving lasting value for the shareholder as well as for stakeholders. CSR and the reporting thereof is a win-win opportunity, not just for companies and for financial investors but for society also.”</a:t>
            </a:r>
            <a:endParaRPr lang="en-AU" sz="2000" dirty="0" smtClean="0">
              <a:latin typeface="Times New Roman" pitchFamily="18" charset="0"/>
              <a:cs typeface="Times New Roman" pitchFamily="18" charset="0"/>
            </a:endParaRPr>
          </a:p>
          <a:p>
            <a:endParaRPr lang="en-US" dirty="0" smtClean="0"/>
          </a:p>
        </p:txBody>
      </p:sp>
      <p:pic>
        <p:nvPicPr>
          <p:cNvPr id="11269" name="Picture 5" descr="Corporate Horizon"/>
          <p:cNvPicPr>
            <a:picLocks noChangeAspect="1" noChangeArrowheads="1"/>
          </p:cNvPicPr>
          <p:nvPr/>
        </p:nvPicPr>
        <p:blipFill>
          <a:blip r:embed="rId2" cstate="print"/>
          <a:srcRect/>
          <a:stretch>
            <a:fillRect/>
          </a:stretch>
        </p:blipFill>
        <p:spPr bwMode="auto">
          <a:xfrm>
            <a:off x="6324600" y="2133600"/>
            <a:ext cx="2819400" cy="28194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269"/>
                                        </p:tgtEl>
                                        <p:attrNameLst>
                                          <p:attrName>style.visibility</p:attrName>
                                        </p:attrNameLst>
                                      </p:cBhvr>
                                      <p:to>
                                        <p:strVal val="visible"/>
                                      </p:to>
                                    </p:set>
                                    <p:anim calcmode="lin" valueType="num">
                                      <p:cBhvr additive="base">
                                        <p:cTn id="7" dur="500" fill="hold"/>
                                        <p:tgtEl>
                                          <p:spTgt spid="11269"/>
                                        </p:tgtEl>
                                        <p:attrNameLst>
                                          <p:attrName>ppt_x</p:attrName>
                                        </p:attrNameLst>
                                      </p:cBhvr>
                                      <p:tavLst>
                                        <p:tav tm="0">
                                          <p:val>
                                            <p:strVal val="#ppt_x"/>
                                          </p:val>
                                        </p:tav>
                                        <p:tav tm="100000">
                                          <p:val>
                                            <p:strVal val="#ppt_x"/>
                                          </p:val>
                                        </p:tav>
                                      </p:tavLst>
                                    </p:anim>
                                    <p:anim calcmode="lin" valueType="num">
                                      <p:cBhvr additive="base">
                                        <p:cTn id="8" dur="500" fill="hold"/>
                                        <p:tgtEl>
                                          <p:spTgt spid="1126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ubtitle 4"/>
          <p:cNvSpPr>
            <a:spLocks noGrp="1"/>
          </p:cNvSpPr>
          <p:nvPr>
            <p:ph type="subTitle" idx="4294967295"/>
          </p:nvPr>
        </p:nvSpPr>
        <p:spPr>
          <a:xfrm>
            <a:off x="1371600" y="1524000"/>
            <a:ext cx="7772400" cy="4851400"/>
          </a:xfrm>
        </p:spPr>
        <p:txBody>
          <a:bodyPr>
            <a:normAutofit lnSpcReduction="10000"/>
          </a:bodyPr>
          <a:lstStyle/>
          <a:p>
            <a:pPr algn="just">
              <a:buFont typeface="Wingdings 2" pitchFamily="18" charset="2"/>
              <a:buNone/>
            </a:pPr>
            <a:r>
              <a:rPr lang="en-US" sz="2000" dirty="0" smtClean="0">
                <a:latin typeface="Times New Roman" pitchFamily="18" charset="0"/>
                <a:cs typeface="Times New Roman" pitchFamily="18" charset="0"/>
              </a:rPr>
              <a:t>	In India, the term CSR might be new but the concept is not. It has been there since the earliest times,</a:t>
            </a:r>
          </a:p>
          <a:p>
            <a:pPr algn="just"/>
            <a:endParaRPr lang="en-US" sz="2000" dirty="0" smtClean="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Hindus call it ‘dharmmada’</a:t>
            </a:r>
          </a:p>
          <a:p>
            <a:pPr algn="just"/>
            <a:endParaRPr lang="en-US" sz="2000" dirty="0" smtClean="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Muslims call it ‘zakatah’</a:t>
            </a:r>
          </a:p>
          <a:p>
            <a:pPr algn="just"/>
            <a:endParaRPr lang="en-US" sz="2000" dirty="0" smtClean="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Sikhs call it ‘dashaant’</a:t>
            </a:r>
          </a:p>
          <a:p>
            <a:pPr algn="just"/>
            <a:endParaRPr lang="en-US" sz="2000" dirty="0" smtClean="0">
              <a:latin typeface="Times New Roman" pitchFamily="18" charset="0"/>
              <a:cs typeface="Times New Roman" pitchFamily="18" charset="0"/>
            </a:endParaRPr>
          </a:p>
          <a:p>
            <a:pPr algn="just">
              <a:buFont typeface="Wingdings 2" pitchFamily="18" charset="2"/>
              <a:buNone/>
            </a:pPr>
            <a:r>
              <a:rPr lang="en-US" sz="2000" dirty="0" smtClean="0">
                <a:latin typeface="Times New Roman" pitchFamily="18" charset="0"/>
                <a:cs typeface="Times New Roman" pitchFamily="18" charset="0"/>
              </a:rPr>
              <a:t>      </a:t>
            </a:r>
          </a:p>
          <a:p>
            <a:pPr algn="just"/>
            <a:endParaRPr lang="en-US" sz="2000" dirty="0" smtClean="0">
              <a:latin typeface="Times New Roman" pitchFamily="18" charset="0"/>
              <a:cs typeface="Times New Roman" pitchFamily="18" charset="0"/>
            </a:endParaRPr>
          </a:p>
          <a:p>
            <a:pPr algn="just">
              <a:buFont typeface="Wingdings 2" pitchFamily="18" charset="2"/>
              <a:buNone/>
            </a:pPr>
            <a:r>
              <a:rPr lang="en-US" sz="2000" dirty="0" smtClean="0">
                <a:latin typeface="Times New Roman" pitchFamily="18" charset="0"/>
                <a:cs typeface="Times New Roman" pitchFamily="18" charset="0"/>
              </a:rPr>
              <a:t>     As individuals joined hands to form organizations,   the same concept became embedded in the organizations.</a:t>
            </a:r>
          </a:p>
          <a:p>
            <a:pPr algn="just">
              <a:buFont typeface="Wingdings 2" pitchFamily="18" charset="2"/>
              <a:buNone/>
            </a:pPr>
            <a:r>
              <a:rPr lang="en-US" sz="2000" dirty="0" smtClean="0">
                <a:latin typeface="Times New Roman" pitchFamily="18" charset="0"/>
                <a:cs typeface="Times New Roman" pitchFamily="18" charset="0"/>
              </a:rPr>
              <a:t>                                                          </a:t>
            </a:r>
          </a:p>
        </p:txBody>
      </p:sp>
      <p:sp>
        <p:nvSpPr>
          <p:cNvPr id="4" name="Title 3"/>
          <p:cNvSpPr>
            <a:spLocks noGrp="1"/>
          </p:cNvSpPr>
          <p:nvPr>
            <p:ph type="ctrTitle" idx="4294967295"/>
          </p:nvPr>
        </p:nvSpPr>
        <p:spPr>
          <a:xfrm>
            <a:off x="0" y="533400"/>
            <a:ext cx="7924800" cy="533400"/>
          </a:xfrm>
        </p:spPr>
        <p:txBody>
          <a:bodyPr>
            <a:normAutofit fontScale="90000"/>
          </a:bodyPr>
          <a:lstStyle/>
          <a:p>
            <a:pPr algn="r" fontAlgn="auto">
              <a:spcAft>
                <a:spcPts val="0"/>
              </a:spcAft>
              <a:defRPr/>
            </a:pPr>
            <a:r>
              <a:rPr lang="en-US" dirty="0" smtClean="0">
                <a:solidFill>
                  <a:schemeClr val="accent1">
                    <a:lumMod val="75000"/>
                  </a:schemeClr>
                </a:solidFill>
              </a:rPr>
              <a:t>                                                               </a:t>
            </a:r>
            <a:r>
              <a:rPr lang="en-US" dirty="0" smtClean="0">
                <a:solidFill>
                  <a:schemeClr val="accent1">
                    <a:lumMod val="75000"/>
                  </a:schemeClr>
                </a:solidFill>
                <a:latin typeface="Times New Roman" pitchFamily="18" charset="0"/>
                <a:cs typeface="Times New Roman" pitchFamily="18" charset="0"/>
              </a:rPr>
              <a:t>Cont…</a:t>
            </a:r>
            <a:endParaRPr lang="en-US" dirty="0">
              <a:solidFill>
                <a:schemeClr val="accent1">
                  <a:lumMod val="75000"/>
                </a:schemeClr>
              </a:solidFill>
              <a:latin typeface="Times New Roman" pitchFamily="18" charset="0"/>
              <a:cs typeface="Times New Roman" pitchFamily="18" charset="0"/>
            </a:endParaRPr>
          </a:p>
        </p:txBody>
      </p:sp>
      <p:pic>
        <p:nvPicPr>
          <p:cNvPr id="8196" name="Picture 4" descr="CSR Equity"/>
          <p:cNvPicPr>
            <a:picLocks noChangeAspect="1" noChangeArrowheads="1"/>
          </p:cNvPicPr>
          <p:nvPr/>
        </p:nvPicPr>
        <p:blipFill>
          <a:blip r:embed="rId2" cstate="print"/>
          <a:srcRect/>
          <a:stretch>
            <a:fillRect/>
          </a:stretch>
        </p:blipFill>
        <p:spPr bwMode="auto">
          <a:xfrm>
            <a:off x="533400" y="2133600"/>
            <a:ext cx="3581400" cy="2438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r>
              <a:rPr lang="en-US"/>
              <a:t>The evolution of CSR</a:t>
            </a:r>
          </a:p>
        </p:txBody>
      </p:sp>
      <p:sp>
        <p:nvSpPr>
          <p:cNvPr id="68611" name="Rectangle 3"/>
          <p:cNvSpPr>
            <a:spLocks noGrp="1" noChangeArrowheads="1"/>
          </p:cNvSpPr>
          <p:nvPr>
            <p:ph idx="1"/>
          </p:nvPr>
        </p:nvSpPr>
        <p:spPr/>
        <p:txBody>
          <a:bodyPr/>
          <a:lstStyle/>
          <a:p>
            <a:pPr>
              <a:buFont typeface="Wingdings" pitchFamily="2" charset="2"/>
              <a:buNone/>
            </a:pPr>
            <a:endParaRPr lang="en-US"/>
          </a:p>
          <a:p>
            <a:pPr>
              <a:buFont typeface="Wingdings" pitchFamily="2" charset="2"/>
              <a:buNone/>
            </a:pPr>
            <a:endParaRPr lang="en-US"/>
          </a:p>
          <a:p>
            <a:pPr>
              <a:buFont typeface="Wingdings" pitchFamily="2" charset="2"/>
              <a:buNone/>
            </a:pPr>
            <a:endParaRPr lang="en-US"/>
          </a:p>
          <a:p>
            <a:pPr>
              <a:buFont typeface="Wingdings" pitchFamily="2" charset="2"/>
              <a:buNone/>
            </a:pPr>
            <a:endParaRPr lang="en-US"/>
          </a:p>
          <a:p>
            <a:pPr>
              <a:buFont typeface="Wingdings" pitchFamily="2" charset="2"/>
              <a:buNone/>
            </a:pPr>
            <a:endParaRPr lang="en-US"/>
          </a:p>
        </p:txBody>
      </p:sp>
      <p:sp>
        <p:nvSpPr>
          <p:cNvPr id="68612" name="AutoShape 4"/>
          <p:cNvSpPr>
            <a:spLocks noChangeArrowheads="1"/>
          </p:cNvSpPr>
          <p:nvPr/>
        </p:nvSpPr>
        <p:spPr bwMode="auto">
          <a:xfrm>
            <a:off x="1600200" y="5638800"/>
            <a:ext cx="2286000" cy="990600"/>
          </a:xfrm>
          <a:prstGeom prst="upArrowCallout">
            <a:avLst>
              <a:gd name="adj1" fmla="val 57692"/>
              <a:gd name="adj2" fmla="val 57692"/>
              <a:gd name="adj3" fmla="val 16667"/>
              <a:gd name="adj4" fmla="val 66667"/>
            </a:avLst>
          </a:prstGeom>
          <a:solidFill>
            <a:schemeClr val="accent1"/>
          </a:solidFill>
          <a:ln w="9525">
            <a:solidFill>
              <a:schemeClr val="tx1"/>
            </a:solidFill>
            <a:miter lim="800000"/>
            <a:headEnd/>
            <a:tailEnd/>
          </a:ln>
          <a:effectLst/>
        </p:spPr>
        <p:txBody>
          <a:bodyPr wrap="none" anchor="ctr"/>
          <a:lstStyle/>
          <a:p>
            <a:endParaRPr lang="en-US"/>
          </a:p>
        </p:txBody>
      </p:sp>
      <p:sp>
        <p:nvSpPr>
          <p:cNvPr id="68613" name="Text Box 5"/>
          <p:cNvSpPr txBox="1">
            <a:spLocks noChangeArrowheads="1"/>
          </p:cNvSpPr>
          <p:nvPr/>
        </p:nvSpPr>
        <p:spPr bwMode="auto">
          <a:xfrm>
            <a:off x="1676400" y="6172200"/>
            <a:ext cx="2133600" cy="366713"/>
          </a:xfrm>
          <a:prstGeom prst="rect">
            <a:avLst/>
          </a:prstGeom>
          <a:noFill/>
          <a:ln w="9525">
            <a:noFill/>
            <a:miter lim="800000"/>
            <a:headEnd/>
            <a:tailEnd/>
          </a:ln>
          <a:effectLst/>
        </p:spPr>
        <p:txBody>
          <a:bodyPr>
            <a:spAutoFit/>
          </a:bodyPr>
          <a:lstStyle/>
          <a:p>
            <a:pPr algn="ctr">
              <a:spcBef>
                <a:spcPct val="50000"/>
              </a:spcBef>
            </a:pPr>
            <a:r>
              <a:rPr lang="en-US">
                <a:latin typeface="Arial" charset="0"/>
              </a:rPr>
              <a:t>Corporate profit</a:t>
            </a:r>
          </a:p>
        </p:txBody>
      </p:sp>
      <p:sp>
        <p:nvSpPr>
          <p:cNvPr id="68614" name="AutoShape 6"/>
          <p:cNvSpPr>
            <a:spLocks noChangeArrowheads="1"/>
          </p:cNvSpPr>
          <p:nvPr/>
        </p:nvSpPr>
        <p:spPr bwMode="auto">
          <a:xfrm>
            <a:off x="1600200" y="4343400"/>
            <a:ext cx="2286000" cy="990600"/>
          </a:xfrm>
          <a:prstGeom prst="upArrowCallout">
            <a:avLst>
              <a:gd name="adj1" fmla="val 57692"/>
              <a:gd name="adj2" fmla="val 57692"/>
              <a:gd name="adj3" fmla="val 16667"/>
              <a:gd name="adj4" fmla="val 66667"/>
            </a:avLst>
          </a:prstGeom>
          <a:solidFill>
            <a:schemeClr val="accent1"/>
          </a:solidFill>
          <a:ln w="9525">
            <a:solidFill>
              <a:schemeClr val="tx1"/>
            </a:solidFill>
            <a:miter lim="800000"/>
            <a:headEnd/>
            <a:tailEnd/>
          </a:ln>
          <a:effectLst/>
        </p:spPr>
        <p:txBody>
          <a:bodyPr wrap="none" anchor="ctr"/>
          <a:lstStyle/>
          <a:p>
            <a:endParaRPr lang="en-US"/>
          </a:p>
        </p:txBody>
      </p:sp>
      <p:sp>
        <p:nvSpPr>
          <p:cNvPr id="68615" name="Text Box 7"/>
          <p:cNvSpPr txBox="1">
            <a:spLocks noChangeArrowheads="1"/>
          </p:cNvSpPr>
          <p:nvPr/>
        </p:nvSpPr>
        <p:spPr bwMode="auto">
          <a:xfrm>
            <a:off x="1676400" y="4800600"/>
            <a:ext cx="2057400" cy="366713"/>
          </a:xfrm>
          <a:prstGeom prst="rect">
            <a:avLst/>
          </a:prstGeom>
          <a:noFill/>
          <a:ln w="9525">
            <a:noFill/>
            <a:miter lim="800000"/>
            <a:headEnd/>
            <a:tailEnd/>
          </a:ln>
          <a:effectLst/>
        </p:spPr>
        <p:txBody>
          <a:bodyPr>
            <a:spAutoFit/>
          </a:bodyPr>
          <a:lstStyle/>
          <a:p>
            <a:pPr algn="ctr">
              <a:spcBef>
                <a:spcPct val="50000"/>
              </a:spcBef>
            </a:pPr>
            <a:r>
              <a:rPr lang="en-US">
                <a:latin typeface="Arial" charset="0"/>
              </a:rPr>
              <a:t>Philanthropy</a:t>
            </a:r>
          </a:p>
        </p:txBody>
      </p:sp>
      <p:sp>
        <p:nvSpPr>
          <p:cNvPr id="68616" name="AutoShape 8"/>
          <p:cNvSpPr>
            <a:spLocks noChangeArrowheads="1"/>
          </p:cNvSpPr>
          <p:nvPr/>
        </p:nvSpPr>
        <p:spPr bwMode="auto">
          <a:xfrm>
            <a:off x="1524000" y="1752600"/>
            <a:ext cx="2286000" cy="990600"/>
          </a:xfrm>
          <a:prstGeom prst="upArrowCallout">
            <a:avLst>
              <a:gd name="adj1" fmla="val 57692"/>
              <a:gd name="adj2" fmla="val 57692"/>
              <a:gd name="adj3" fmla="val 16667"/>
              <a:gd name="adj4" fmla="val 66667"/>
            </a:avLst>
          </a:prstGeom>
          <a:solidFill>
            <a:srgbClr val="FFCC00"/>
          </a:solidFill>
          <a:ln w="9525">
            <a:solidFill>
              <a:schemeClr val="tx1"/>
            </a:solidFill>
            <a:miter lim="800000"/>
            <a:headEnd/>
            <a:tailEnd/>
          </a:ln>
          <a:effectLst/>
        </p:spPr>
        <p:txBody>
          <a:bodyPr wrap="none" anchor="ctr"/>
          <a:lstStyle/>
          <a:p>
            <a:endParaRPr lang="en-US"/>
          </a:p>
        </p:txBody>
      </p:sp>
      <p:sp>
        <p:nvSpPr>
          <p:cNvPr id="68617" name="AutoShape 9"/>
          <p:cNvSpPr>
            <a:spLocks noChangeArrowheads="1"/>
          </p:cNvSpPr>
          <p:nvPr/>
        </p:nvSpPr>
        <p:spPr bwMode="auto">
          <a:xfrm>
            <a:off x="1524000" y="3048000"/>
            <a:ext cx="2286000" cy="990600"/>
          </a:xfrm>
          <a:prstGeom prst="upArrowCallout">
            <a:avLst>
              <a:gd name="adj1" fmla="val 57692"/>
              <a:gd name="adj2" fmla="val 57692"/>
              <a:gd name="adj3" fmla="val 16667"/>
              <a:gd name="adj4" fmla="val 66667"/>
            </a:avLst>
          </a:prstGeom>
          <a:solidFill>
            <a:schemeClr val="accent1"/>
          </a:solidFill>
          <a:ln w="9525">
            <a:solidFill>
              <a:schemeClr val="tx1"/>
            </a:solidFill>
            <a:miter lim="800000"/>
            <a:headEnd/>
            <a:tailEnd/>
          </a:ln>
          <a:effectLst/>
        </p:spPr>
        <p:txBody>
          <a:bodyPr wrap="none" anchor="ctr"/>
          <a:lstStyle/>
          <a:p>
            <a:endParaRPr lang="en-US"/>
          </a:p>
        </p:txBody>
      </p:sp>
      <p:sp>
        <p:nvSpPr>
          <p:cNvPr id="68618" name="Text Box 10"/>
          <p:cNvSpPr txBox="1">
            <a:spLocks noChangeArrowheads="1"/>
          </p:cNvSpPr>
          <p:nvPr/>
        </p:nvSpPr>
        <p:spPr bwMode="auto">
          <a:xfrm>
            <a:off x="1143000" y="3352800"/>
            <a:ext cx="3200400" cy="641350"/>
          </a:xfrm>
          <a:prstGeom prst="rect">
            <a:avLst/>
          </a:prstGeom>
          <a:noFill/>
          <a:ln w="9525">
            <a:noFill/>
            <a:miter lim="800000"/>
            <a:headEnd/>
            <a:tailEnd/>
          </a:ln>
          <a:effectLst/>
        </p:spPr>
        <p:txBody>
          <a:bodyPr>
            <a:spAutoFit/>
          </a:bodyPr>
          <a:lstStyle/>
          <a:p>
            <a:pPr algn="ctr">
              <a:spcBef>
                <a:spcPct val="50000"/>
              </a:spcBef>
            </a:pPr>
            <a:r>
              <a:rPr lang="en-US">
                <a:latin typeface="Arial" charset="0"/>
              </a:rPr>
              <a:t>Strategic Community investment</a:t>
            </a:r>
          </a:p>
        </p:txBody>
      </p:sp>
      <p:sp>
        <p:nvSpPr>
          <p:cNvPr id="68619" name="Text Box 11"/>
          <p:cNvSpPr txBox="1">
            <a:spLocks noChangeArrowheads="1"/>
          </p:cNvSpPr>
          <p:nvPr/>
        </p:nvSpPr>
        <p:spPr bwMode="auto">
          <a:xfrm>
            <a:off x="1447800" y="2057400"/>
            <a:ext cx="2362200" cy="641350"/>
          </a:xfrm>
          <a:prstGeom prst="rect">
            <a:avLst/>
          </a:prstGeom>
          <a:noFill/>
          <a:ln w="9525">
            <a:noFill/>
            <a:miter lim="800000"/>
            <a:headEnd/>
            <a:tailEnd/>
          </a:ln>
          <a:effectLst/>
        </p:spPr>
        <p:txBody>
          <a:bodyPr>
            <a:spAutoFit/>
          </a:bodyPr>
          <a:lstStyle/>
          <a:p>
            <a:pPr algn="ctr">
              <a:spcBef>
                <a:spcPct val="50000"/>
              </a:spcBef>
            </a:pPr>
            <a:r>
              <a:rPr lang="en-US">
                <a:latin typeface="Arial" charset="0"/>
              </a:rPr>
              <a:t>Good corporate citizenship</a:t>
            </a:r>
          </a:p>
        </p:txBody>
      </p:sp>
      <p:sp>
        <p:nvSpPr>
          <p:cNvPr id="68620" name="Text Box 12"/>
          <p:cNvSpPr txBox="1">
            <a:spLocks noChangeArrowheads="1"/>
          </p:cNvSpPr>
          <p:nvPr/>
        </p:nvSpPr>
        <p:spPr bwMode="auto">
          <a:xfrm>
            <a:off x="4495800" y="6096000"/>
            <a:ext cx="4191000" cy="366713"/>
          </a:xfrm>
          <a:prstGeom prst="rect">
            <a:avLst/>
          </a:prstGeom>
          <a:noFill/>
          <a:ln w="9525">
            <a:noFill/>
            <a:miter lim="800000"/>
            <a:headEnd/>
            <a:tailEnd/>
          </a:ln>
          <a:effectLst/>
        </p:spPr>
        <p:txBody>
          <a:bodyPr>
            <a:spAutoFit/>
          </a:bodyPr>
          <a:lstStyle/>
          <a:p>
            <a:pPr>
              <a:spcBef>
                <a:spcPct val="50000"/>
              </a:spcBef>
            </a:pPr>
            <a:r>
              <a:rPr lang="en-US" b="1">
                <a:latin typeface="Arial" charset="0"/>
              </a:rPr>
              <a:t>Pure self interest</a:t>
            </a:r>
          </a:p>
        </p:txBody>
      </p:sp>
      <p:sp>
        <p:nvSpPr>
          <p:cNvPr id="68621" name="Line 13"/>
          <p:cNvSpPr>
            <a:spLocks noChangeShapeType="1"/>
          </p:cNvSpPr>
          <p:nvPr/>
        </p:nvSpPr>
        <p:spPr bwMode="auto">
          <a:xfrm>
            <a:off x="3886200" y="6248400"/>
            <a:ext cx="457200" cy="0"/>
          </a:xfrm>
          <a:prstGeom prst="line">
            <a:avLst/>
          </a:prstGeom>
          <a:noFill/>
          <a:ln w="9525">
            <a:solidFill>
              <a:schemeClr val="tx1"/>
            </a:solidFill>
            <a:round/>
            <a:headEnd/>
            <a:tailEnd type="triangle" w="med" len="med"/>
          </a:ln>
          <a:effectLst/>
        </p:spPr>
        <p:txBody>
          <a:bodyPr/>
          <a:lstStyle/>
          <a:p>
            <a:endParaRPr lang="en-US"/>
          </a:p>
        </p:txBody>
      </p:sp>
      <p:sp>
        <p:nvSpPr>
          <p:cNvPr id="68622" name="Text Box 14"/>
          <p:cNvSpPr txBox="1">
            <a:spLocks noChangeArrowheads="1"/>
          </p:cNvSpPr>
          <p:nvPr/>
        </p:nvSpPr>
        <p:spPr bwMode="auto">
          <a:xfrm>
            <a:off x="4495800" y="4876800"/>
            <a:ext cx="4114800" cy="366713"/>
          </a:xfrm>
          <a:prstGeom prst="rect">
            <a:avLst/>
          </a:prstGeom>
          <a:noFill/>
          <a:ln w="9525">
            <a:noFill/>
            <a:miter lim="800000"/>
            <a:headEnd/>
            <a:tailEnd/>
          </a:ln>
          <a:effectLst/>
        </p:spPr>
        <p:txBody>
          <a:bodyPr>
            <a:spAutoFit/>
          </a:bodyPr>
          <a:lstStyle/>
          <a:p>
            <a:pPr>
              <a:spcBef>
                <a:spcPct val="50000"/>
              </a:spcBef>
            </a:pPr>
            <a:r>
              <a:rPr lang="en-US" b="1">
                <a:latin typeface="Arial" charset="0"/>
              </a:rPr>
              <a:t>Passive donations to charities</a:t>
            </a:r>
          </a:p>
        </p:txBody>
      </p:sp>
      <p:sp>
        <p:nvSpPr>
          <p:cNvPr id="68623" name="Line 15"/>
          <p:cNvSpPr>
            <a:spLocks noChangeShapeType="1"/>
          </p:cNvSpPr>
          <p:nvPr/>
        </p:nvSpPr>
        <p:spPr bwMode="auto">
          <a:xfrm>
            <a:off x="3886200" y="5029200"/>
            <a:ext cx="457200" cy="0"/>
          </a:xfrm>
          <a:prstGeom prst="line">
            <a:avLst/>
          </a:prstGeom>
          <a:noFill/>
          <a:ln w="9525">
            <a:solidFill>
              <a:schemeClr val="tx1"/>
            </a:solidFill>
            <a:round/>
            <a:headEnd/>
            <a:tailEnd type="triangle" w="med" len="med"/>
          </a:ln>
          <a:effectLst/>
        </p:spPr>
        <p:txBody>
          <a:bodyPr/>
          <a:lstStyle/>
          <a:p>
            <a:endParaRPr lang="en-US"/>
          </a:p>
        </p:txBody>
      </p:sp>
      <p:sp>
        <p:nvSpPr>
          <p:cNvPr id="68624" name="Line 16"/>
          <p:cNvSpPr>
            <a:spLocks noChangeShapeType="1"/>
          </p:cNvSpPr>
          <p:nvPr/>
        </p:nvSpPr>
        <p:spPr bwMode="auto">
          <a:xfrm>
            <a:off x="3810000" y="3733800"/>
            <a:ext cx="457200" cy="0"/>
          </a:xfrm>
          <a:prstGeom prst="line">
            <a:avLst/>
          </a:prstGeom>
          <a:noFill/>
          <a:ln w="9525">
            <a:solidFill>
              <a:schemeClr val="tx1"/>
            </a:solidFill>
            <a:round/>
            <a:headEnd/>
            <a:tailEnd type="triangle" w="med" len="med"/>
          </a:ln>
          <a:effectLst/>
        </p:spPr>
        <p:txBody>
          <a:bodyPr/>
          <a:lstStyle/>
          <a:p>
            <a:endParaRPr lang="en-US"/>
          </a:p>
        </p:txBody>
      </p:sp>
      <p:sp>
        <p:nvSpPr>
          <p:cNvPr id="68625" name="Line 17"/>
          <p:cNvSpPr>
            <a:spLocks noChangeShapeType="1"/>
          </p:cNvSpPr>
          <p:nvPr/>
        </p:nvSpPr>
        <p:spPr bwMode="auto">
          <a:xfrm>
            <a:off x="3810000" y="2438400"/>
            <a:ext cx="457200" cy="0"/>
          </a:xfrm>
          <a:prstGeom prst="line">
            <a:avLst/>
          </a:prstGeom>
          <a:noFill/>
          <a:ln w="9525">
            <a:solidFill>
              <a:schemeClr val="tx1"/>
            </a:solidFill>
            <a:round/>
            <a:headEnd/>
            <a:tailEnd type="triangle" w="med" len="med"/>
          </a:ln>
          <a:effectLst/>
        </p:spPr>
        <p:txBody>
          <a:bodyPr/>
          <a:lstStyle/>
          <a:p>
            <a:endParaRPr lang="en-US"/>
          </a:p>
        </p:txBody>
      </p:sp>
      <p:sp>
        <p:nvSpPr>
          <p:cNvPr id="68626" name="Text Box 18"/>
          <p:cNvSpPr txBox="1">
            <a:spLocks noChangeArrowheads="1"/>
          </p:cNvSpPr>
          <p:nvPr/>
        </p:nvSpPr>
        <p:spPr bwMode="auto">
          <a:xfrm>
            <a:off x="4419600" y="3581400"/>
            <a:ext cx="4724400" cy="641350"/>
          </a:xfrm>
          <a:prstGeom prst="rect">
            <a:avLst/>
          </a:prstGeom>
          <a:noFill/>
          <a:ln w="9525">
            <a:noFill/>
            <a:miter lim="800000"/>
            <a:headEnd/>
            <a:tailEnd/>
          </a:ln>
          <a:effectLst/>
        </p:spPr>
        <p:txBody>
          <a:bodyPr>
            <a:spAutoFit/>
          </a:bodyPr>
          <a:lstStyle/>
          <a:p>
            <a:pPr>
              <a:spcBef>
                <a:spcPct val="50000"/>
              </a:spcBef>
            </a:pPr>
            <a:r>
              <a:rPr lang="en-US" b="1">
                <a:latin typeface="Arial" charset="0"/>
              </a:rPr>
              <a:t>Strategic giving linked to business interest</a:t>
            </a:r>
          </a:p>
        </p:txBody>
      </p:sp>
      <p:sp>
        <p:nvSpPr>
          <p:cNvPr id="68627" name="Text Box 19"/>
          <p:cNvSpPr txBox="1">
            <a:spLocks noChangeArrowheads="1"/>
          </p:cNvSpPr>
          <p:nvPr/>
        </p:nvSpPr>
        <p:spPr bwMode="auto">
          <a:xfrm>
            <a:off x="4419600" y="2209800"/>
            <a:ext cx="4267200" cy="641350"/>
          </a:xfrm>
          <a:prstGeom prst="rect">
            <a:avLst/>
          </a:prstGeom>
          <a:noFill/>
          <a:ln w="9525">
            <a:noFill/>
            <a:miter lim="800000"/>
            <a:headEnd/>
            <a:tailEnd/>
          </a:ln>
          <a:effectLst/>
        </p:spPr>
        <p:txBody>
          <a:bodyPr>
            <a:spAutoFit/>
          </a:bodyPr>
          <a:lstStyle/>
          <a:p>
            <a:pPr>
              <a:spcBef>
                <a:spcPct val="50000"/>
              </a:spcBef>
            </a:pPr>
            <a:r>
              <a:rPr lang="en-US" b="1">
                <a:latin typeface="Arial" charset="0"/>
              </a:rPr>
              <a:t>Investment in social development as part of the Business plan</a:t>
            </a:r>
          </a:p>
        </p:txBody>
      </p:sp>
      <p:sp>
        <p:nvSpPr>
          <p:cNvPr id="68628" name="AutoShape 20"/>
          <p:cNvSpPr>
            <a:spLocks noChangeArrowheads="1"/>
          </p:cNvSpPr>
          <p:nvPr/>
        </p:nvSpPr>
        <p:spPr bwMode="auto">
          <a:xfrm>
            <a:off x="4648200" y="1219200"/>
            <a:ext cx="2743200" cy="762000"/>
          </a:xfrm>
          <a:prstGeom prst="wedgeRoundRectCallout">
            <a:avLst>
              <a:gd name="adj1" fmla="val -108102"/>
              <a:gd name="adj2" fmla="val 58333"/>
              <a:gd name="adj3" fmla="val 16667"/>
            </a:avLst>
          </a:prstGeom>
          <a:solidFill>
            <a:srgbClr val="FFCC00"/>
          </a:solidFill>
          <a:ln w="9525">
            <a:solidFill>
              <a:schemeClr val="tx1"/>
            </a:solidFill>
            <a:miter lim="800000"/>
            <a:headEnd/>
            <a:tailEnd/>
          </a:ln>
          <a:effectLst/>
        </p:spPr>
        <p:txBody>
          <a:bodyPr/>
          <a:lstStyle/>
          <a:p>
            <a:pPr algn="ctr"/>
            <a:endParaRPr lang="en-US">
              <a:latin typeface="Arial" charset="0"/>
            </a:endParaRPr>
          </a:p>
        </p:txBody>
      </p:sp>
      <p:sp>
        <p:nvSpPr>
          <p:cNvPr id="68629" name="Text Box 21"/>
          <p:cNvSpPr txBox="1">
            <a:spLocks noChangeArrowheads="1"/>
          </p:cNvSpPr>
          <p:nvPr/>
        </p:nvSpPr>
        <p:spPr bwMode="auto">
          <a:xfrm>
            <a:off x="4648200" y="1447800"/>
            <a:ext cx="2590800" cy="366713"/>
          </a:xfrm>
          <a:prstGeom prst="rect">
            <a:avLst/>
          </a:prstGeom>
          <a:noFill/>
          <a:ln w="9525">
            <a:noFill/>
            <a:miter lim="800000"/>
            <a:headEnd/>
            <a:tailEnd/>
          </a:ln>
          <a:effectLst/>
        </p:spPr>
        <p:txBody>
          <a:bodyPr>
            <a:spAutoFit/>
          </a:bodyPr>
          <a:lstStyle/>
          <a:p>
            <a:pPr algn="ctr">
              <a:spcBef>
                <a:spcPct val="50000"/>
              </a:spcBef>
            </a:pPr>
            <a:r>
              <a:rPr lang="en-US">
                <a:latin typeface="Arial" charset="0"/>
              </a:rPr>
              <a:t>We are getting here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8613">
                                            <p:txEl>
                                              <p:pRg st="0" end="0"/>
                                            </p:txEl>
                                          </p:spTgt>
                                        </p:tgtEl>
                                        <p:attrNameLst>
                                          <p:attrName>style.visibility</p:attrName>
                                        </p:attrNameLst>
                                      </p:cBhvr>
                                      <p:to>
                                        <p:strVal val="visible"/>
                                      </p:to>
                                    </p:set>
                                    <p:anim calcmode="lin" valueType="num">
                                      <p:cBhvr additive="base">
                                        <p:cTn id="7" dur="500" fill="hold"/>
                                        <p:tgtEl>
                                          <p:spTgt spid="6861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861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68620">
                                            <p:txEl>
                                              <p:pRg st="0" end="0"/>
                                            </p:txEl>
                                          </p:spTgt>
                                        </p:tgtEl>
                                        <p:attrNameLst>
                                          <p:attrName>style.visibility</p:attrName>
                                        </p:attrNameLst>
                                      </p:cBhvr>
                                      <p:to>
                                        <p:strVal val="visible"/>
                                      </p:to>
                                    </p:set>
                                    <p:animEffect transition="in" filter="slide(fromBottom)">
                                      <p:cBhvr>
                                        <p:cTn id="13" dur="500"/>
                                        <p:tgtEl>
                                          <p:spTgt spid="68620">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68615">
                                            <p:txEl>
                                              <p:pRg st="0" end="0"/>
                                            </p:txEl>
                                          </p:spTgt>
                                        </p:tgtEl>
                                        <p:attrNameLst>
                                          <p:attrName>style.visibility</p:attrName>
                                        </p:attrNameLst>
                                      </p:cBhvr>
                                      <p:to>
                                        <p:strVal val="visible"/>
                                      </p:to>
                                    </p:set>
                                    <p:anim calcmode="lin" valueType="num">
                                      <p:cBhvr additive="base">
                                        <p:cTn id="18" dur="500" fill="hold"/>
                                        <p:tgtEl>
                                          <p:spTgt spid="68615">
                                            <p:txEl>
                                              <p:pRg st="0" end="0"/>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6861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2" presetClass="entr" presetSubtype="4" fill="hold" nodeType="clickEffect">
                                  <p:stCondLst>
                                    <p:cond delay="0"/>
                                  </p:stCondLst>
                                  <p:childTnLst>
                                    <p:set>
                                      <p:cBhvr>
                                        <p:cTn id="23" dur="1" fill="hold">
                                          <p:stCondLst>
                                            <p:cond delay="0"/>
                                          </p:stCondLst>
                                        </p:cTn>
                                        <p:tgtEl>
                                          <p:spTgt spid="68622">
                                            <p:txEl>
                                              <p:pRg st="0" end="0"/>
                                            </p:txEl>
                                          </p:spTgt>
                                        </p:tgtEl>
                                        <p:attrNameLst>
                                          <p:attrName>style.visibility</p:attrName>
                                        </p:attrNameLst>
                                      </p:cBhvr>
                                      <p:to>
                                        <p:strVal val="visible"/>
                                      </p:to>
                                    </p:set>
                                    <p:animEffect transition="in" filter="slide(fromBottom)">
                                      <p:cBhvr>
                                        <p:cTn id="24" dur="500"/>
                                        <p:tgtEl>
                                          <p:spTgt spid="68622">
                                            <p:txEl>
                                              <p:pRg st="0" end="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68618">
                                            <p:txEl>
                                              <p:pRg st="0" end="0"/>
                                            </p:txEl>
                                          </p:spTgt>
                                        </p:tgtEl>
                                        <p:attrNameLst>
                                          <p:attrName>style.visibility</p:attrName>
                                        </p:attrNameLst>
                                      </p:cBhvr>
                                      <p:to>
                                        <p:strVal val="visible"/>
                                      </p:to>
                                    </p:set>
                                    <p:anim calcmode="lin" valueType="num">
                                      <p:cBhvr additive="base">
                                        <p:cTn id="29" dur="500" fill="hold"/>
                                        <p:tgtEl>
                                          <p:spTgt spid="68618">
                                            <p:txEl>
                                              <p:pRg st="0" end="0"/>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6861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2" presetClass="entr" presetSubtype="4" fill="hold" nodeType="clickEffect">
                                  <p:stCondLst>
                                    <p:cond delay="0"/>
                                  </p:stCondLst>
                                  <p:childTnLst>
                                    <p:set>
                                      <p:cBhvr>
                                        <p:cTn id="34" dur="1" fill="hold">
                                          <p:stCondLst>
                                            <p:cond delay="0"/>
                                          </p:stCondLst>
                                        </p:cTn>
                                        <p:tgtEl>
                                          <p:spTgt spid="68626">
                                            <p:txEl>
                                              <p:pRg st="0" end="0"/>
                                            </p:txEl>
                                          </p:spTgt>
                                        </p:tgtEl>
                                        <p:attrNameLst>
                                          <p:attrName>style.visibility</p:attrName>
                                        </p:attrNameLst>
                                      </p:cBhvr>
                                      <p:to>
                                        <p:strVal val="visible"/>
                                      </p:to>
                                    </p:set>
                                    <p:animEffect transition="in" filter="slide(fromBottom)">
                                      <p:cBhvr>
                                        <p:cTn id="35" dur="500"/>
                                        <p:tgtEl>
                                          <p:spTgt spid="68626">
                                            <p:txEl>
                                              <p:pRg st="0" end="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nodeType="clickEffect">
                                  <p:stCondLst>
                                    <p:cond delay="0"/>
                                  </p:stCondLst>
                                  <p:childTnLst>
                                    <p:set>
                                      <p:cBhvr>
                                        <p:cTn id="39" dur="1" fill="hold">
                                          <p:stCondLst>
                                            <p:cond delay="0"/>
                                          </p:stCondLst>
                                        </p:cTn>
                                        <p:tgtEl>
                                          <p:spTgt spid="68619">
                                            <p:txEl>
                                              <p:pRg st="0" end="0"/>
                                            </p:txEl>
                                          </p:spTgt>
                                        </p:tgtEl>
                                        <p:attrNameLst>
                                          <p:attrName>style.visibility</p:attrName>
                                        </p:attrNameLst>
                                      </p:cBhvr>
                                      <p:to>
                                        <p:strVal val="visible"/>
                                      </p:to>
                                    </p:set>
                                    <p:anim calcmode="lin" valueType="num">
                                      <p:cBhvr additive="base">
                                        <p:cTn id="40" dur="500" fill="hold"/>
                                        <p:tgtEl>
                                          <p:spTgt spid="68619">
                                            <p:txEl>
                                              <p:pRg st="0" end="0"/>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6861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12" presetClass="entr" presetSubtype="4" fill="hold" nodeType="clickEffect">
                                  <p:stCondLst>
                                    <p:cond delay="0"/>
                                  </p:stCondLst>
                                  <p:childTnLst>
                                    <p:set>
                                      <p:cBhvr>
                                        <p:cTn id="45" dur="1" fill="hold">
                                          <p:stCondLst>
                                            <p:cond delay="0"/>
                                          </p:stCondLst>
                                        </p:cTn>
                                        <p:tgtEl>
                                          <p:spTgt spid="68627">
                                            <p:txEl>
                                              <p:pRg st="0" end="0"/>
                                            </p:txEl>
                                          </p:spTgt>
                                        </p:tgtEl>
                                        <p:attrNameLst>
                                          <p:attrName>style.visibility</p:attrName>
                                        </p:attrNameLst>
                                      </p:cBhvr>
                                      <p:to>
                                        <p:strVal val="visible"/>
                                      </p:to>
                                    </p:set>
                                    <p:animEffect transition="in" filter="slide(fromBottom)">
                                      <p:cBhvr>
                                        <p:cTn id="46" dur="500"/>
                                        <p:tgtEl>
                                          <p:spTgt spid="68627">
                                            <p:txEl>
                                              <p:pRg st="0" end="0"/>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5" presetClass="entr" presetSubtype="10" fill="hold" grpId="0" nodeType="clickEffect">
                                  <p:stCondLst>
                                    <p:cond delay="0"/>
                                  </p:stCondLst>
                                  <p:childTnLst>
                                    <p:set>
                                      <p:cBhvr>
                                        <p:cTn id="50" dur="1" fill="hold">
                                          <p:stCondLst>
                                            <p:cond delay="0"/>
                                          </p:stCondLst>
                                        </p:cTn>
                                        <p:tgtEl>
                                          <p:spTgt spid="68628"/>
                                        </p:tgtEl>
                                        <p:attrNameLst>
                                          <p:attrName>style.visibility</p:attrName>
                                        </p:attrNameLst>
                                      </p:cBhvr>
                                      <p:to>
                                        <p:strVal val="visible"/>
                                      </p:to>
                                    </p:set>
                                    <p:animEffect transition="in" filter="checkerboard(across)">
                                      <p:cBhvr>
                                        <p:cTn id="51" dur="500"/>
                                        <p:tgtEl>
                                          <p:spTgt spid="68628"/>
                                        </p:tgtEl>
                                      </p:cBhvr>
                                    </p:animEffect>
                                  </p:childTnLst>
                                </p:cTn>
                              </p:par>
                            </p:childTnLst>
                          </p:cTn>
                        </p:par>
                      </p:childTnLst>
                    </p:cTn>
                  </p:par>
                  <p:par>
                    <p:cTn id="52" fill="hold">
                      <p:stCondLst>
                        <p:cond delay="indefinite"/>
                      </p:stCondLst>
                      <p:childTnLst>
                        <p:par>
                          <p:cTn id="53" fill="hold">
                            <p:stCondLst>
                              <p:cond delay="0"/>
                            </p:stCondLst>
                            <p:childTnLst>
                              <p:par>
                                <p:cTn id="54" presetID="2" presetClass="entr" presetSubtype="4" fill="hold" nodeType="clickEffect">
                                  <p:stCondLst>
                                    <p:cond delay="0"/>
                                  </p:stCondLst>
                                  <p:childTnLst>
                                    <p:set>
                                      <p:cBhvr>
                                        <p:cTn id="55" dur="1" fill="hold">
                                          <p:stCondLst>
                                            <p:cond delay="0"/>
                                          </p:stCondLst>
                                        </p:cTn>
                                        <p:tgtEl>
                                          <p:spTgt spid="68629">
                                            <p:txEl>
                                              <p:pRg st="0" end="0"/>
                                            </p:txEl>
                                          </p:spTgt>
                                        </p:tgtEl>
                                        <p:attrNameLst>
                                          <p:attrName>style.visibility</p:attrName>
                                        </p:attrNameLst>
                                      </p:cBhvr>
                                      <p:to>
                                        <p:strVal val="visible"/>
                                      </p:to>
                                    </p:set>
                                    <p:anim calcmode="lin" valueType="num">
                                      <p:cBhvr additive="base">
                                        <p:cTn id="56" dur="500" fill="hold"/>
                                        <p:tgtEl>
                                          <p:spTgt spid="68629">
                                            <p:txEl>
                                              <p:pRg st="0" end="0"/>
                                            </p:txEl>
                                          </p:spTgt>
                                        </p:tgtEl>
                                        <p:attrNameLst>
                                          <p:attrName>ppt_x</p:attrName>
                                        </p:attrNameLst>
                                      </p:cBhvr>
                                      <p:tavLst>
                                        <p:tav tm="0">
                                          <p:val>
                                            <p:strVal val="#ppt_x"/>
                                          </p:val>
                                        </p:tav>
                                        <p:tav tm="100000">
                                          <p:val>
                                            <p:strVal val="#ppt_x"/>
                                          </p:val>
                                        </p:tav>
                                      </p:tavLst>
                                    </p:anim>
                                    <p:anim calcmode="lin" valueType="num">
                                      <p:cBhvr additive="base">
                                        <p:cTn id="57" dur="500" fill="hold"/>
                                        <p:tgtEl>
                                          <p:spTgt spid="68629">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2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r>
              <a:rPr lang="en-US"/>
              <a:t>Levels of Social responsibility</a:t>
            </a:r>
          </a:p>
        </p:txBody>
      </p:sp>
      <p:sp>
        <p:nvSpPr>
          <p:cNvPr id="69635" name="Rectangle 3"/>
          <p:cNvSpPr>
            <a:spLocks noGrp="1" noChangeArrowheads="1"/>
          </p:cNvSpPr>
          <p:nvPr>
            <p:ph idx="1"/>
          </p:nvPr>
        </p:nvSpPr>
        <p:spPr/>
        <p:txBody>
          <a:bodyPr/>
          <a:lstStyle/>
          <a:p>
            <a:endParaRPr lang="en-US"/>
          </a:p>
          <a:p>
            <a:endParaRPr lang="en-US"/>
          </a:p>
        </p:txBody>
      </p:sp>
      <p:sp>
        <p:nvSpPr>
          <p:cNvPr id="69636" name="Text Box 4"/>
          <p:cNvSpPr txBox="1">
            <a:spLocks noChangeArrowheads="1"/>
          </p:cNvSpPr>
          <p:nvPr/>
        </p:nvSpPr>
        <p:spPr bwMode="auto">
          <a:xfrm>
            <a:off x="3581400" y="3886200"/>
            <a:ext cx="1981200" cy="366713"/>
          </a:xfrm>
          <a:prstGeom prst="rect">
            <a:avLst/>
          </a:prstGeom>
          <a:noFill/>
          <a:ln w="9525">
            <a:noFill/>
            <a:miter lim="800000"/>
            <a:headEnd/>
            <a:tailEnd/>
          </a:ln>
          <a:effectLst/>
        </p:spPr>
        <p:txBody>
          <a:bodyPr>
            <a:spAutoFit/>
          </a:bodyPr>
          <a:lstStyle/>
          <a:p>
            <a:pPr>
              <a:spcBef>
                <a:spcPct val="50000"/>
              </a:spcBef>
            </a:pPr>
            <a:r>
              <a:rPr lang="en-US">
                <a:latin typeface="Arial" charset="0"/>
              </a:rPr>
              <a:t> </a:t>
            </a:r>
          </a:p>
        </p:txBody>
      </p:sp>
      <p:sp>
        <p:nvSpPr>
          <p:cNvPr id="69637" name="Rectangle 5"/>
          <p:cNvSpPr>
            <a:spLocks noChangeArrowheads="1"/>
          </p:cNvSpPr>
          <p:nvPr/>
        </p:nvSpPr>
        <p:spPr bwMode="auto">
          <a:xfrm>
            <a:off x="838200" y="5410200"/>
            <a:ext cx="4038600" cy="8382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69638" name="Rectangle 6"/>
          <p:cNvSpPr>
            <a:spLocks noChangeArrowheads="1"/>
          </p:cNvSpPr>
          <p:nvPr/>
        </p:nvSpPr>
        <p:spPr bwMode="auto">
          <a:xfrm>
            <a:off x="1600200" y="4495800"/>
            <a:ext cx="3886200" cy="8382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69639" name="Rectangle 7"/>
          <p:cNvSpPr>
            <a:spLocks noChangeArrowheads="1"/>
          </p:cNvSpPr>
          <p:nvPr/>
        </p:nvSpPr>
        <p:spPr bwMode="auto">
          <a:xfrm>
            <a:off x="2286000" y="3581400"/>
            <a:ext cx="3962400" cy="8382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69640" name="Rectangle 8"/>
          <p:cNvSpPr>
            <a:spLocks noChangeArrowheads="1"/>
          </p:cNvSpPr>
          <p:nvPr/>
        </p:nvSpPr>
        <p:spPr bwMode="auto">
          <a:xfrm>
            <a:off x="2971800" y="2667000"/>
            <a:ext cx="3886200" cy="8382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69641" name="Text Box 9"/>
          <p:cNvSpPr txBox="1">
            <a:spLocks noChangeArrowheads="1"/>
          </p:cNvSpPr>
          <p:nvPr/>
        </p:nvSpPr>
        <p:spPr bwMode="auto">
          <a:xfrm>
            <a:off x="1066800" y="5638800"/>
            <a:ext cx="3505200" cy="366713"/>
          </a:xfrm>
          <a:prstGeom prst="rect">
            <a:avLst/>
          </a:prstGeom>
          <a:noFill/>
          <a:ln w="9525">
            <a:noFill/>
            <a:miter lim="800000"/>
            <a:headEnd/>
            <a:tailEnd/>
          </a:ln>
          <a:effectLst/>
        </p:spPr>
        <p:txBody>
          <a:bodyPr>
            <a:spAutoFit/>
          </a:bodyPr>
          <a:lstStyle/>
          <a:p>
            <a:pPr algn="ctr">
              <a:spcBef>
                <a:spcPct val="50000"/>
              </a:spcBef>
            </a:pPr>
            <a:r>
              <a:rPr lang="en-US" b="1">
                <a:latin typeface="Arial" charset="0"/>
              </a:rPr>
              <a:t>Staff welfare</a:t>
            </a:r>
          </a:p>
        </p:txBody>
      </p:sp>
      <p:sp>
        <p:nvSpPr>
          <p:cNvPr id="69642" name="Text Box 10"/>
          <p:cNvSpPr txBox="1">
            <a:spLocks noChangeArrowheads="1"/>
          </p:cNvSpPr>
          <p:nvPr/>
        </p:nvSpPr>
        <p:spPr bwMode="auto">
          <a:xfrm>
            <a:off x="1828800" y="4724400"/>
            <a:ext cx="3352800" cy="366713"/>
          </a:xfrm>
          <a:prstGeom prst="rect">
            <a:avLst/>
          </a:prstGeom>
          <a:noFill/>
          <a:ln w="9525">
            <a:noFill/>
            <a:miter lim="800000"/>
            <a:headEnd/>
            <a:tailEnd/>
          </a:ln>
          <a:effectLst/>
        </p:spPr>
        <p:txBody>
          <a:bodyPr>
            <a:spAutoFit/>
          </a:bodyPr>
          <a:lstStyle/>
          <a:p>
            <a:pPr algn="ctr">
              <a:spcBef>
                <a:spcPct val="50000"/>
              </a:spcBef>
            </a:pPr>
            <a:r>
              <a:rPr lang="en-US" b="1">
                <a:latin typeface="Arial" charset="0"/>
              </a:rPr>
              <a:t>Welfare of staff  families</a:t>
            </a:r>
          </a:p>
        </p:txBody>
      </p:sp>
      <p:sp>
        <p:nvSpPr>
          <p:cNvPr id="69643" name="Text Box 11"/>
          <p:cNvSpPr txBox="1">
            <a:spLocks noChangeArrowheads="1"/>
          </p:cNvSpPr>
          <p:nvPr/>
        </p:nvSpPr>
        <p:spPr bwMode="auto">
          <a:xfrm>
            <a:off x="2209800" y="3810000"/>
            <a:ext cx="4191000" cy="366713"/>
          </a:xfrm>
          <a:prstGeom prst="rect">
            <a:avLst/>
          </a:prstGeom>
          <a:noFill/>
          <a:ln w="9525">
            <a:noFill/>
            <a:miter lim="800000"/>
            <a:headEnd/>
            <a:tailEnd/>
          </a:ln>
          <a:effectLst/>
        </p:spPr>
        <p:txBody>
          <a:bodyPr>
            <a:spAutoFit/>
          </a:bodyPr>
          <a:lstStyle/>
          <a:p>
            <a:pPr>
              <a:spcBef>
                <a:spcPct val="50000"/>
              </a:spcBef>
            </a:pPr>
            <a:r>
              <a:rPr lang="en-US" b="1">
                <a:latin typeface="Arial" charset="0"/>
              </a:rPr>
              <a:t>Immediate Community development</a:t>
            </a:r>
          </a:p>
        </p:txBody>
      </p:sp>
      <p:sp>
        <p:nvSpPr>
          <p:cNvPr id="69644" name="Text Box 12"/>
          <p:cNvSpPr txBox="1">
            <a:spLocks noChangeArrowheads="1"/>
          </p:cNvSpPr>
          <p:nvPr/>
        </p:nvSpPr>
        <p:spPr bwMode="auto">
          <a:xfrm>
            <a:off x="2895600" y="2895600"/>
            <a:ext cx="3886200" cy="366713"/>
          </a:xfrm>
          <a:prstGeom prst="rect">
            <a:avLst/>
          </a:prstGeom>
          <a:noFill/>
          <a:ln w="9525">
            <a:noFill/>
            <a:miter lim="800000"/>
            <a:headEnd/>
            <a:tailEnd/>
          </a:ln>
          <a:effectLst/>
        </p:spPr>
        <p:txBody>
          <a:bodyPr>
            <a:spAutoFit/>
          </a:bodyPr>
          <a:lstStyle/>
          <a:p>
            <a:pPr algn="ctr">
              <a:spcBef>
                <a:spcPct val="50000"/>
              </a:spcBef>
            </a:pPr>
            <a:r>
              <a:rPr lang="en-US" b="1">
                <a:latin typeface="Arial" charset="0"/>
              </a:rPr>
              <a:t>Nation Building</a:t>
            </a:r>
          </a:p>
        </p:txBody>
      </p:sp>
      <p:sp>
        <p:nvSpPr>
          <p:cNvPr id="69645" name="Line 13"/>
          <p:cNvSpPr>
            <a:spLocks noChangeShapeType="1"/>
          </p:cNvSpPr>
          <p:nvPr/>
        </p:nvSpPr>
        <p:spPr bwMode="auto">
          <a:xfrm>
            <a:off x="4876800" y="5791200"/>
            <a:ext cx="457200" cy="0"/>
          </a:xfrm>
          <a:prstGeom prst="line">
            <a:avLst/>
          </a:prstGeom>
          <a:noFill/>
          <a:ln w="9525">
            <a:solidFill>
              <a:schemeClr val="tx1"/>
            </a:solidFill>
            <a:round/>
            <a:headEnd/>
            <a:tailEnd type="triangle" w="med" len="med"/>
          </a:ln>
          <a:effectLst/>
        </p:spPr>
        <p:txBody>
          <a:bodyPr/>
          <a:lstStyle/>
          <a:p>
            <a:endParaRPr lang="en-US"/>
          </a:p>
        </p:txBody>
      </p:sp>
      <p:sp>
        <p:nvSpPr>
          <p:cNvPr id="69646" name="Text Box 14"/>
          <p:cNvSpPr txBox="1">
            <a:spLocks noChangeArrowheads="1"/>
          </p:cNvSpPr>
          <p:nvPr/>
        </p:nvSpPr>
        <p:spPr bwMode="auto">
          <a:xfrm>
            <a:off x="5410200" y="5638800"/>
            <a:ext cx="3352800" cy="366713"/>
          </a:xfrm>
          <a:prstGeom prst="rect">
            <a:avLst/>
          </a:prstGeom>
          <a:noFill/>
          <a:ln w="9525">
            <a:noFill/>
            <a:miter lim="800000"/>
            <a:headEnd/>
            <a:tailEnd/>
          </a:ln>
          <a:effectLst/>
        </p:spPr>
        <p:txBody>
          <a:bodyPr>
            <a:spAutoFit/>
          </a:bodyPr>
          <a:lstStyle/>
          <a:p>
            <a:pPr>
              <a:spcBef>
                <a:spcPct val="50000"/>
              </a:spcBef>
            </a:pPr>
            <a:r>
              <a:rPr lang="en-US">
                <a:latin typeface="Arial" charset="0"/>
              </a:rPr>
              <a:t>Occupational safety</a:t>
            </a:r>
          </a:p>
        </p:txBody>
      </p:sp>
      <p:sp>
        <p:nvSpPr>
          <p:cNvPr id="69647" name="Line 15"/>
          <p:cNvSpPr>
            <a:spLocks noChangeShapeType="1"/>
          </p:cNvSpPr>
          <p:nvPr/>
        </p:nvSpPr>
        <p:spPr bwMode="auto">
          <a:xfrm>
            <a:off x="5486400" y="4800600"/>
            <a:ext cx="381000" cy="0"/>
          </a:xfrm>
          <a:prstGeom prst="line">
            <a:avLst/>
          </a:prstGeom>
          <a:noFill/>
          <a:ln w="9525">
            <a:solidFill>
              <a:schemeClr val="tx1"/>
            </a:solidFill>
            <a:round/>
            <a:headEnd/>
            <a:tailEnd type="triangle" w="med" len="med"/>
          </a:ln>
          <a:effectLst/>
        </p:spPr>
        <p:txBody>
          <a:bodyPr/>
          <a:lstStyle/>
          <a:p>
            <a:endParaRPr lang="en-US"/>
          </a:p>
        </p:txBody>
      </p:sp>
      <p:sp>
        <p:nvSpPr>
          <p:cNvPr id="69648" name="Text Box 16"/>
          <p:cNvSpPr txBox="1">
            <a:spLocks noChangeArrowheads="1"/>
          </p:cNvSpPr>
          <p:nvPr/>
        </p:nvSpPr>
        <p:spPr bwMode="auto">
          <a:xfrm>
            <a:off x="5791200" y="4572000"/>
            <a:ext cx="3352800" cy="641350"/>
          </a:xfrm>
          <a:prstGeom prst="rect">
            <a:avLst/>
          </a:prstGeom>
          <a:noFill/>
          <a:ln w="9525">
            <a:noFill/>
            <a:miter lim="800000"/>
            <a:headEnd/>
            <a:tailEnd/>
          </a:ln>
          <a:effectLst/>
        </p:spPr>
        <p:txBody>
          <a:bodyPr>
            <a:spAutoFit/>
          </a:bodyPr>
          <a:lstStyle/>
          <a:p>
            <a:pPr>
              <a:spcBef>
                <a:spcPct val="50000"/>
              </a:spcBef>
            </a:pPr>
            <a:r>
              <a:rPr lang="en-US">
                <a:latin typeface="Arial" charset="0"/>
              </a:rPr>
              <a:t>School for staff children, sanitation in staff colonies etc.</a:t>
            </a:r>
          </a:p>
        </p:txBody>
      </p:sp>
      <p:sp>
        <p:nvSpPr>
          <p:cNvPr id="69649" name="Line 17"/>
          <p:cNvSpPr>
            <a:spLocks noChangeShapeType="1"/>
          </p:cNvSpPr>
          <p:nvPr/>
        </p:nvSpPr>
        <p:spPr bwMode="auto">
          <a:xfrm>
            <a:off x="6324600" y="3962400"/>
            <a:ext cx="304800" cy="0"/>
          </a:xfrm>
          <a:prstGeom prst="line">
            <a:avLst/>
          </a:prstGeom>
          <a:noFill/>
          <a:ln w="9525">
            <a:solidFill>
              <a:schemeClr val="tx1"/>
            </a:solidFill>
            <a:round/>
            <a:headEnd/>
            <a:tailEnd type="triangle" w="med" len="med"/>
          </a:ln>
          <a:effectLst/>
        </p:spPr>
        <p:txBody>
          <a:bodyPr/>
          <a:lstStyle/>
          <a:p>
            <a:endParaRPr lang="en-US"/>
          </a:p>
        </p:txBody>
      </p:sp>
      <p:sp>
        <p:nvSpPr>
          <p:cNvPr id="69650" name="Line 18"/>
          <p:cNvSpPr>
            <a:spLocks noChangeShapeType="1"/>
          </p:cNvSpPr>
          <p:nvPr/>
        </p:nvSpPr>
        <p:spPr bwMode="auto">
          <a:xfrm>
            <a:off x="6934200" y="2971800"/>
            <a:ext cx="304800" cy="0"/>
          </a:xfrm>
          <a:prstGeom prst="line">
            <a:avLst/>
          </a:prstGeom>
          <a:noFill/>
          <a:ln w="9525">
            <a:solidFill>
              <a:schemeClr val="tx1"/>
            </a:solidFill>
            <a:round/>
            <a:headEnd/>
            <a:tailEnd type="triangle" w="med" len="med"/>
          </a:ln>
          <a:effectLst/>
        </p:spPr>
        <p:txBody>
          <a:bodyPr/>
          <a:lstStyle/>
          <a:p>
            <a:endParaRPr lang="en-US"/>
          </a:p>
        </p:txBody>
      </p:sp>
      <p:sp>
        <p:nvSpPr>
          <p:cNvPr id="69651" name="Text Box 19"/>
          <p:cNvSpPr txBox="1">
            <a:spLocks noChangeArrowheads="1"/>
          </p:cNvSpPr>
          <p:nvPr/>
        </p:nvSpPr>
        <p:spPr bwMode="auto">
          <a:xfrm>
            <a:off x="6553200" y="3733800"/>
            <a:ext cx="2590800" cy="641350"/>
          </a:xfrm>
          <a:prstGeom prst="rect">
            <a:avLst/>
          </a:prstGeom>
          <a:noFill/>
          <a:ln w="9525">
            <a:noFill/>
            <a:miter lim="800000"/>
            <a:headEnd/>
            <a:tailEnd/>
          </a:ln>
          <a:effectLst/>
        </p:spPr>
        <p:txBody>
          <a:bodyPr>
            <a:spAutoFit/>
          </a:bodyPr>
          <a:lstStyle/>
          <a:p>
            <a:pPr>
              <a:spcBef>
                <a:spcPct val="50000"/>
              </a:spcBef>
            </a:pPr>
            <a:r>
              <a:rPr lang="en-US">
                <a:latin typeface="Arial" charset="0"/>
              </a:rPr>
              <a:t>Sanitation, education, environment </a:t>
            </a:r>
          </a:p>
        </p:txBody>
      </p:sp>
      <p:sp>
        <p:nvSpPr>
          <p:cNvPr id="69652" name="Text Box 20"/>
          <p:cNvSpPr txBox="1">
            <a:spLocks noChangeArrowheads="1"/>
          </p:cNvSpPr>
          <p:nvPr/>
        </p:nvSpPr>
        <p:spPr bwMode="auto">
          <a:xfrm>
            <a:off x="7162800" y="2819400"/>
            <a:ext cx="1676400" cy="366713"/>
          </a:xfrm>
          <a:prstGeom prst="rect">
            <a:avLst/>
          </a:prstGeom>
          <a:noFill/>
          <a:ln w="9525">
            <a:noFill/>
            <a:miter lim="800000"/>
            <a:headEnd/>
            <a:tailEnd/>
          </a:ln>
          <a:effectLst/>
        </p:spPr>
        <p:txBody>
          <a:bodyPr>
            <a:spAutoFit/>
          </a:bodyPr>
          <a:lstStyle/>
          <a:p>
            <a:pPr>
              <a:spcBef>
                <a:spcPct val="50000"/>
              </a:spcBef>
            </a:pPr>
            <a:r>
              <a:rPr lang="en-US">
                <a:latin typeface="Arial" charset="0"/>
              </a:rPr>
              <a:t>Grant making</a:t>
            </a:r>
          </a:p>
        </p:txBody>
      </p:sp>
      <p:sp>
        <p:nvSpPr>
          <p:cNvPr id="69653" name="Line 21"/>
          <p:cNvSpPr>
            <a:spLocks noChangeShapeType="1"/>
          </p:cNvSpPr>
          <p:nvPr/>
        </p:nvSpPr>
        <p:spPr bwMode="auto">
          <a:xfrm flipV="1">
            <a:off x="0" y="1600200"/>
            <a:ext cx="3810000" cy="4876800"/>
          </a:xfrm>
          <a:prstGeom prst="line">
            <a:avLst/>
          </a:prstGeom>
          <a:noFill/>
          <a:ln w="9525">
            <a:solidFill>
              <a:schemeClr val="tx1"/>
            </a:solidFill>
            <a:round/>
            <a:headEnd/>
            <a:tailEnd type="triangle" w="med" len="med"/>
          </a:ln>
          <a:effectLst/>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69646">
                                            <p:txEl>
                                              <p:pRg st="0" end="0"/>
                                            </p:txEl>
                                          </p:spTgt>
                                        </p:tgtEl>
                                        <p:attrNameLst>
                                          <p:attrName>style.visibility</p:attrName>
                                        </p:attrNameLst>
                                      </p:cBhvr>
                                      <p:to>
                                        <p:strVal val="visible"/>
                                      </p:to>
                                    </p:set>
                                    <p:animEffect transition="in" filter="box(in)">
                                      <p:cBhvr>
                                        <p:cTn id="7" dur="500"/>
                                        <p:tgtEl>
                                          <p:spTgt spid="6964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69648">
                                            <p:txEl>
                                              <p:pRg st="0" end="0"/>
                                            </p:txEl>
                                          </p:spTgt>
                                        </p:tgtEl>
                                        <p:attrNameLst>
                                          <p:attrName>style.visibility</p:attrName>
                                        </p:attrNameLst>
                                      </p:cBhvr>
                                      <p:to>
                                        <p:strVal val="visible"/>
                                      </p:to>
                                    </p:set>
                                    <p:animEffect transition="in" filter="diamond(in)">
                                      <p:cBhvr>
                                        <p:cTn id="12" dur="2000"/>
                                        <p:tgtEl>
                                          <p:spTgt spid="6964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69651">
                                            <p:txEl>
                                              <p:pRg st="0" end="0"/>
                                            </p:txEl>
                                          </p:spTgt>
                                        </p:tgtEl>
                                        <p:attrNameLst>
                                          <p:attrName>style.visibility</p:attrName>
                                        </p:attrNameLst>
                                      </p:cBhvr>
                                      <p:to>
                                        <p:strVal val="visible"/>
                                      </p:to>
                                    </p:set>
                                    <p:animEffect transition="in" filter="checkerboard(across)">
                                      <p:cBhvr>
                                        <p:cTn id="17" dur="500"/>
                                        <p:tgtEl>
                                          <p:spTgt spid="69651">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69652">
                                            <p:txEl>
                                              <p:pRg st="0" end="0"/>
                                            </p:txEl>
                                          </p:spTgt>
                                        </p:tgtEl>
                                        <p:attrNameLst>
                                          <p:attrName>style.visibility</p:attrName>
                                        </p:attrNameLst>
                                      </p:cBhvr>
                                      <p:to>
                                        <p:strVal val="visible"/>
                                      </p:to>
                                    </p:set>
                                    <p:animEffect transition="in" filter="blinds(horizontal)">
                                      <p:cBhvr>
                                        <p:cTn id="22" dur="500"/>
                                        <p:tgtEl>
                                          <p:spTgt spid="69652">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69646">
                                            <p:txEl>
                                              <p:pRg st="0" end="0"/>
                                            </p:txEl>
                                          </p:spTgt>
                                        </p:tgtEl>
                                        <p:attrNameLst>
                                          <p:attrName>style.visibility</p:attrName>
                                        </p:attrNameLst>
                                      </p:cBhvr>
                                      <p:to>
                                        <p:strVal val="visible"/>
                                      </p:to>
                                    </p:set>
                                    <p:animEffect transition="in" filter="blinds(horizontal)">
                                      <p:cBhvr>
                                        <p:cTn id="27" dur="500"/>
                                        <p:tgtEl>
                                          <p:spTgt spid="6964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848600" cy="792162"/>
          </a:xfrm>
        </p:spPr>
        <p:txBody>
          <a:bodyPr>
            <a:normAutofit fontScale="90000"/>
          </a:bodyPr>
          <a:lstStyle/>
          <a:p>
            <a:pPr algn="r" fontAlgn="auto">
              <a:spcAft>
                <a:spcPts val="0"/>
              </a:spcAft>
              <a:defRPr/>
            </a:pPr>
            <a:r>
              <a:rPr lang="en-US" dirty="0" smtClean="0"/>
              <a:t>                                                 </a:t>
            </a:r>
            <a:r>
              <a:rPr lang="en-US" dirty="0" smtClean="0">
                <a:solidFill>
                  <a:schemeClr val="accent1">
                    <a:lumMod val="75000"/>
                  </a:schemeClr>
                </a:solidFill>
                <a:latin typeface="Times New Roman" pitchFamily="18" charset="0"/>
                <a:cs typeface="Times New Roman" pitchFamily="18" charset="0"/>
              </a:rPr>
              <a:t>Cont…</a:t>
            </a:r>
            <a:endParaRPr lang="en-US" dirty="0">
              <a:solidFill>
                <a:schemeClr val="accent1">
                  <a:lumMod val="75000"/>
                </a:schemeClr>
              </a:solidFill>
              <a:latin typeface="Times New Roman" pitchFamily="18" charset="0"/>
              <a:cs typeface="Times New Roman" pitchFamily="18" charset="0"/>
            </a:endParaRPr>
          </a:p>
        </p:txBody>
      </p:sp>
      <p:sp>
        <p:nvSpPr>
          <p:cNvPr id="12291" name="Content Placeholder 2"/>
          <p:cNvSpPr>
            <a:spLocks noGrp="1"/>
          </p:cNvSpPr>
          <p:nvPr>
            <p:ph idx="1"/>
          </p:nvPr>
        </p:nvSpPr>
        <p:spPr>
          <a:xfrm>
            <a:off x="457200" y="1219200"/>
            <a:ext cx="8382000" cy="4114800"/>
          </a:xfrm>
        </p:spPr>
        <p:txBody>
          <a:bodyPr>
            <a:normAutofit/>
          </a:bodyPr>
          <a:lstStyle/>
          <a:p>
            <a:pPr marL="274320" indent="-274320" algn="just" fontAlgn="auto">
              <a:spcAft>
                <a:spcPts val="0"/>
              </a:spcAft>
              <a:buClr>
                <a:schemeClr val="accent3"/>
              </a:buClr>
              <a:buFont typeface="Wingdings 2"/>
              <a:buNone/>
              <a:defRPr/>
            </a:pPr>
            <a:r>
              <a:rPr lang="en-US" sz="2200" b="1" dirty="0" smtClean="0">
                <a:latin typeface="Times New Roman" pitchFamily="18" charset="0"/>
                <a:cs typeface="Times New Roman" pitchFamily="18" charset="0"/>
              </a:rPr>
              <a:t> 	</a:t>
            </a:r>
            <a:r>
              <a:rPr lang="en-US" sz="2200" dirty="0" smtClean="0">
                <a:latin typeface="Times New Roman" pitchFamily="18" charset="0"/>
                <a:cs typeface="Times New Roman" pitchFamily="18" charset="0"/>
              </a:rPr>
              <a:t>Today the Corporate social responsibility goes far beyond the old philanthropy of the past – donating money to good cause at the end of the financial year– and is instead an all year round responsibility that companies accept for the environment around them, for the best working practices, for the engagement of local communities.</a:t>
            </a:r>
          </a:p>
          <a:p>
            <a:pPr marL="274320" indent="-274320" algn="just" fontAlgn="auto">
              <a:spcAft>
                <a:spcPts val="0"/>
              </a:spcAft>
              <a:buClr>
                <a:schemeClr val="accent3"/>
              </a:buClr>
              <a:buFont typeface="Wingdings" pitchFamily="2" charset="2"/>
              <a:buNone/>
              <a:defRPr/>
            </a:pPr>
            <a:r>
              <a:rPr lang="en-US" sz="2000" b="1" dirty="0" smtClean="0">
                <a:latin typeface="Times New Roman" pitchFamily="18" charset="0"/>
                <a:cs typeface="Times New Roman" pitchFamily="18" charset="0"/>
              </a:rPr>
              <a:t> </a:t>
            </a:r>
          </a:p>
        </p:txBody>
      </p:sp>
      <p:pic>
        <p:nvPicPr>
          <p:cNvPr id="13317" name="Picture 3" descr="http://www.expresscomputeronline.com/20090622/20090622110.jpg"/>
          <p:cNvPicPr>
            <a:picLocks noChangeAspect="1" noChangeArrowheads="1"/>
          </p:cNvPicPr>
          <p:nvPr/>
        </p:nvPicPr>
        <p:blipFill>
          <a:blip r:embed="rId2" cstate="print"/>
          <a:srcRect/>
          <a:stretch>
            <a:fillRect/>
          </a:stretch>
        </p:blipFill>
        <p:spPr bwMode="auto">
          <a:xfrm>
            <a:off x="5105400" y="5029200"/>
            <a:ext cx="2590800" cy="1524000"/>
          </a:xfrm>
          <a:prstGeom prst="rect">
            <a:avLst/>
          </a:prstGeom>
          <a:noFill/>
          <a:ln w="9525">
            <a:noFill/>
            <a:miter lim="800000"/>
            <a:headEnd/>
            <a:tailEnd/>
          </a:ln>
        </p:spPr>
      </p:pic>
      <p:pic>
        <p:nvPicPr>
          <p:cNvPr id="6" name="Picture 104" descr="Corporate social responsibility and recession"/>
          <p:cNvPicPr>
            <a:picLocks noChangeAspect="1" noChangeArrowheads="1"/>
          </p:cNvPicPr>
          <p:nvPr/>
        </p:nvPicPr>
        <p:blipFill>
          <a:blip r:embed="rId3" cstate="print"/>
          <a:srcRect/>
          <a:stretch>
            <a:fillRect/>
          </a:stretch>
        </p:blipFill>
        <p:spPr bwMode="auto">
          <a:xfrm>
            <a:off x="152400" y="5029200"/>
            <a:ext cx="2801938" cy="15240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3317"/>
                                        </p:tgtEl>
                                        <p:attrNameLst>
                                          <p:attrName>style.visibility</p:attrName>
                                        </p:attrNameLst>
                                      </p:cBhvr>
                                      <p:to>
                                        <p:strVal val="visible"/>
                                      </p:to>
                                    </p:set>
                                    <p:animEffect transition="in" filter="box(in)">
                                      <p:cBhvr>
                                        <p:cTn id="12" dur="500"/>
                                        <p:tgtEl>
                                          <p:spTgt spid="133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1"/>
            <a:ext cx="8229600" cy="5181600"/>
          </a:xfrm>
        </p:spPr>
        <p:txBody>
          <a:bodyPr/>
          <a:lstStyle/>
          <a:p>
            <a:pPr algn="just"/>
            <a:r>
              <a:rPr lang="en-US" sz="2800" dirty="0" smtClean="0">
                <a:latin typeface="Times New Roman" pitchFamily="18" charset="0"/>
                <a:cs typeface="Times New Roman" pitchFamily="18" charset="0"/>
              </a:rPr>
              <a:t>The traditional way of organizing business, based on capitalist view of economy, basic goal of business is profit maximization without moral and social constraints.</a:t>
            </a:r>
          </a:p>
          <a:p>
            <a:pPr algn="just"/>
            <a:r>
              <a:rPr lang="en-US" sz="2800" dirty="0" smtClean="0">
                <a:latin typeface="Times New Roman" pitchFamily="18" charset="0"/>
                <a:cs typeface="Times New Roman" pitchFamily="18" charset="0"/>
              </a:rPr>
              <a:t>Robert Owen in 1971  raised the voice for social responsibility and social control of business.</a:t>
            </a:r>
          </a:p>
          <a:p>
            <a:pPr algn="just"/>
            <a:r>
              <a:rPr lang="en-US" sz="2800" dirty="0" smtClean="0">
                <a:latin typeface="Times New Roman" pitchFamily="18" charset="0"/>
                <a:cs typeface="Times New Roman" pitchFamily="18" charset="0"/>
              </a:rPr>
              <a:t>He proposed the first factory act: according to which children should not work in a factory till the age of ten years.</a:t>
            </a:r>
            <a:endParaRPr lang="en-US" sz="2800" dirty="0">
              <a:latin typeface="Times New Roman" pitchFamily="18" charset="0"/>
              <a:cs typeface="Times New Roman"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19201"/>
            <a:ext cx="8229600" cy="5105400"/>
          </a:xfrm>
        </p:spPr>
        <p:txBody>
          <a:bodyPr/>
          <a:lstStyle/>
          <a:p>
            <a:pPr algn="just"/>
            <a:r>
              <a:rPr lang="en-US" sz="2800" dirty="0" smtClean="0">
                <a:latin typeface="Times New Roman" pitchFamily="18" charset="0"/>
                <a:cs typeface="Times New Roman" pitchFamily="18" charset="0"/>
              </a:rPr>
              <a:t>Many social philosophers opposed the bill in the starting. With the passage of time social responsibility of business organizations gained momentum.</a:t>
            </a:r>
          </a:p>
          <a:p>
            <a:pPr algn="just"/>
            <a:r>
              <a:rPr lang="en-US" sz="2800" dirty="0" smtClean="0">
                <a:latin typeface="Times New Roman" pitchFamily="18" charset="0"/>
                <a:cs typeface="Times New Roman" pitchFamily="18" charset="0"/>
              </a:rPr>
              <a:t>Government played the major role in safeguarding the interests of workers, consumers and society.</a:t>
            </a:r>
          </a:p>
          <a:p>
            <a:pPr algn="just"/>
            <a:r>
              <a:rPr lang="en-US" sz="2800" dirty="0" smtClean="0">
                <a:latin typeface="Times New Roman" pitchFamily="18" charset="0"/>
                <a:cs typeface="Times New Roman" pitchFamily="18" charset="0"/>
              </a:rPr>
              <a:t>Thus finally business corporate realized their social and moral responsibilities in addition to economic one.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838200"/>
            <a:ext cx="6858000" cy="5257800"/>
          </a:xfrm>
        </p:spPr>
        <p:txBody>
          <a:bodyPr/>
          <a:lstStyle/>
          <a:p>
            <a:pPr>
              <a:buNone/>
            </a:pPr>
            <a:endParaRPr lang="en-US" sz="2800" dirty="0" smtClean="0">
              <a:latin typeface="Times New Roman" pitchFamily="18" charset="0"/>
              <a:cs typeface="Times New Roman" pitchFamily="18" charset="0"/>
            </a:endParaRPr>
          </a:p>
          <a:p>
            <a:pPr>
              <a:buNone/>
            </a:pPr>
            <a:r>
              <a:rPr lang="en-US" sz="2800" dirty="0" smtClean="0">
                <a:latin typeface="Times New Roman" pitchFamily="18" charset="0"/>
                <a:cs typeface="Times New Roman" pitchFamily="18" charset="0"/>
              </a:rPr>
              <a:t>Forces reinforcing corporate social responsibility program are :</a:t>
            </a:r>
          </a:p>
          <a:p>
            <a:pPr>
              <a:buNone/>
            </a:pPr>
            <a:r>
              <a:rPr lang="en-US" sz="2800" dirty="0" smtClean="0">
                <a:latin typeface="Times New Roman" pitchFamily="18" charset="0"/>
                <a:cs typeface="Times New Roman" pitchFamily="18" charset="0"/>
              </a:rPr>
              <a:t>                            Government </a:t>
            </a:r>
          </a:p>
          <a:p>
            <a:pPr>
              <a:buNone/>
            </a:pPr>
            <a:r>
              <a:rPr lang="en-US" sz="2800" dirty="0" smtClean="0">
                <a:latin typeface="Times New Roman" pitchFamily="18" charset="0"/>
                <a:cs typeface="Times New Roman" pitchFamily="18" charset="0"/>
              </a:rPr>
              <a:t>                            Globalization                </a:t>
            </a:r>
          </a:p>
          <a:p>
            <a:pPr>
              <a:buNone/>
            </a:pPr>
            <a:r>
              <a:rPr lang="en-US" sz="2800" dirty="0" smtClean="0">
                <a:latin typeface="Times New Roman" pitchFamily="18" charset="0"/>
                <a:cs typeface="Times New Roman" pitchFamily="18" charset="0"/>
              </a:rPr>
              <a:t>                            Ethical consumerism</a:t>
            </a:r>
          </a:p>
          <a:p>
            <a:pPr>
              <a:buNone/>
            </a:pPr>
            <a:r>
              <a:rPr lang="en-US" sz="2800" dirty="0" smtClean="0">
                <a:latin typeface="Times New Roman" pitchFamily="18" charset="0"/>
                <a:cs typeface="Times New Roman" pitchFamily="18" charset="0"/>
              </a:rPr>
              <a:t>                            Changing market structure</a:t>
            </a:r>
          </a:p>
          <a:p>
            <a:pPr>
              <a:buNone/>
            </a:pPr>
            <a:r>
              <a:rPr lang="en-US" sz="2800" dirty="0" smtClean="0">
                <a:latin typeface="Times New Roman" pitchFamily="18" charset="0"/>
                <a:cs typeface="Times New Roman" pitchFamily="18" charset="0"/>
              </a:rPr>
              <a:t>Many business organizations have voluntarily accepted it.</a:t>
            </a:r>
            <a:endParaRPr lang="en-US" dirty="0"/>
          </a:p>
        </p:txBody>
      </p:sp>
      <p:graphicFrame>
        <p:nvGraphicFramePr>
          <p:cNvPr id="4" name="Object 23"/>
          <p:cNvGraphicFramePr>
            <a:graphicFrameLocks noChangeAspect="1"/>
          </p:cNvGraphicFramePr>
          <p:nvPr/>
        </p:nvGraphicFramePr>
        <p:xfrm>
          <a:off x="6477000" y="838200"/>
          <a:ext cx="2409825" cy="2095500"/>
        </p:xfrm>
        <a:graphic>
          <a:graphicData uri="http://schemas.openxmlformats.org/presentationml/2006/ole">
            <mc:AlternateContent xmlns:mc="http://schemas.openxmlformats.org/markup-compatibility/2006">
              <mc:Choice xmlns:v="urn:schemas-microsoft-com:vml" Requires="v">
                <p:oleObj spid="_x0000_s19461" name="Bitmap Image" r:id="rId3" imgW="1104762" imgH="1009791" progId="PBrush">
                  <p:embed/>
                </p:oleObj>
              </mc:Choice>
              <mc:Fallback>
                <p:oleObj name="Bitmap Image" r:id="rId3" imgW="1104762" imgH="1009791" progId="PBrush">
                  <p:embed/>
                  <p:pic>
                    <p:nvPicPr>
                      <p:cNvPr id="0" name="Object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77000" y="838200"/>
                        <a:ext cx="2409825" cy="209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fill="hold" nodeType="clickEffect">
                                  <p:stCondLst>
                                    <p:cond delay="0"/>
                                  </p:stCondLst>
                                  <p:childTnLst>
                                    <p:animRot by="21600000">
                                      <p:cBhvr>
                                        <p:cTn id="6" dur="2000" fill="hold"/>
                                        <p:tgtEl>
                                          <p:spTgt spid="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95400"/>
            <a:ext cx="8229600" cy="5105400"/>
          </a:xfrm>
        </p:spPr>
        <p:txBody>
          <a:bodyPr/>
          <a:lstStyle/>
          <a:p>
            <a:pPr algn="just"/>
            <a:r>
              <a:rPr lang="en-US" sz="2800" dirty="0" smtClean="0">
                <a:latin typeface="Times New Roman" pitchFamily="18" charset="0"/>
                <a:cs typeface="Times New Roman" pitchFamily="18" charset="0"/>
              </a:rPr>
              <a:t>India’s oldest steel producer TISCO, has voluntarily undertaken many measures for employee welfare and social and community development. </a:t>
            </a:r>
          </a:p>
          <a:p>
            <a:pPr algn="just">
              <a:buNone/>
            </a:pPr>
            <a:endParaRPr lang="en-US" sz="2800" dirty="0" smtClean="0">
              <a:latin typeface="Times New Roman" pitchFamily="18" charset="0"/>
              <a:cs typeface="Times New Roman" pitchFamily="18" charset="0"/>
            </a:endParaRPr>
          </a:p>
          <a:p>
            <a:pPr algn="just"/>
            <a:r>
              <a:rPr lang="en-US" sz="2800" dirty="0" smtClean="0">
                <a:latin typeface="Times New Roman" pitchFamily="18" charset="0"/>
                <a:cs typeface="Times New Roman" pitchFamily="18" charset="0"/>
              </a:rPr>
              <a:t>Employee welfare programs</a:t>
            </a:r>
          </a:p>
          <a:p>
            <a:pPr algn="just"/>
            <a:r>
              <a:rPr lang="en-US" sz="2800" dirty="0" smtClean="0">
                <a:latin typeface="Times New Roman" pitchFamily="18" charset="0"/>
                <a:cs typeface="Times New Roman" pitchFamily="18" charset="0"/>
              </a:rPr>
              <a:t>Community development programs</a:t>
            </a:r>
          </a:p>
          <a:p>
            <a:pPr algn="just"/>
            <a:r>
              <a:rPr lang="en-US" sz="2800" dirty="0" smtClean="0">
                <a:latin typeface="Times New Roman" pitchFamily="18" charset="0"/>
                <a:cs typeface="Times New Roman" pitchFamily="18" charset="0"/>
              </a:rPr>
              <a:t>Corporate philanthropy</a:t>
            </a:r>
          </a:p>
          <a:p>
            <a:pPr algn="just"/>
            <a:r>
              <a:rPr lang="en-US" sz="2800" dirty="0" smtClean="0">
                <a:latin typeface="Times New Roman" pitchFamily="18" charset="0"/>
                <a:cs typeface="Times New Roman" pitchFamily="18" charset="0"/>
              </a:rPr>
              <a:t>Corporate citizenship</a:t>
            </a:r>
          </a:p>
          <a:p>
            <a:pPr algn="just"/>
            <a:r>
              <a:rPr lang="en-US" sz="2800" dirty="0" smtClean="0">
                <a:latin typeface="Times New Roman" pitchFamily="18" charset="0"/>
                <a:cs typeface="Times New Roman" pitchFamily="18" charset="0"/>
              </a:rPr>
              <a:t>Trusteeship concept</a:t>
            </a:r>
            <a:endParaRPr lang="en-US" sz="2800" dirty="0">
              <a:latin typeface="Times New Roman" pitchFamily="18" charset="0"/>
              <a:cs typeface="Times New Roman"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466850"/>
          </a:xfrm>
        </p:spPr>
        <p:txBody>
          <a:bodyPr>
            <a:normAutofit fontScale="90000"/>
          </a:bodyPr>
          <a:lstStyle/>
          <a:p>
            <a:r>
              <a:rPr lang="en-US" dirty="0" smtClean="0"/>
              <a:t/>
            </a:r>
            <a:br>
              <a:rPr lang="en-US" dirty="0" smtClean="0"/>
            </a:br>
            <a:r>
              <a:rPr lang="en-US" dirty="0" smtClean="0"/>
              <a:t>Employee welfare programs</a:t>
            </a:r>
            <a:br>
              <a:rPr lang="en-US" dirty="0" smtClean="0"/>
            </a:br>
            <a:endParaRPr lang="en-US" dirty="0"/>
          </a:p>
        </p:txBody>
      </p:sp>
      <p:sp>
        <p:nvSpPr>
          <p:cNvPr id="3" name="Content Placeholder 2"/>
          <p:cNvSpPr>
            <a:spLocks noGrp="1"/>
          </p:cNvSpPr>
          <p:nvPr>
            <p:ph idx="1"/>
          </p:nvPr>
        </p:nvSpPr>
        <p:spPr>
          <a:xfrm>
            <a:off x="381000" y="1447800"/>
            <a:ext cx="8229600" cy="4800600"/>
          </a:xfrm>
        </p:spPr>
        <p:txBody>
          <a:bodyPr/>
          <a:lstStyle/>
          <a:p>
            <a:pPr algn="just"/>
            <a:r>
              <a:rPr lang="en-US" dirty="0" smtClean="0"/>
              <a:t>A socially responsible company is responsive to the various needs of its employees</a:t>
            </a:r>
          </a:p>
          <a:p>
            <a:pPr algn="just"/>
            <a:r>
              <a:rPr lang="en-US" dirty="0" smtClean="0"/>
              <a:t>Provide housing, health-care facilities</a:t>
            </a:r>
          </a:p>
          <a:p>
            <a:pPr algn="just"/>
            <a:r>
              <a:rPr lang="en-US" dirty="0" smtClean="0"/>
              <a:t>Open up schools, parks and playgrounds</a:t>
            </a:r>
          </a:p>
          <a:p>
            <a:pPr algn="just"/>
            <a:r>
              <a:rPr lang="en-US" dirty="0" smtClean="0"/>
              <a:t>Provide safe and hygienic work conditions</a:t>
            </a:r>
          </a:p>
          <a:p>
            <a:pPr algn="just"/>
            <a:r>
              <a:rPr lang="en-US" dirty="0" smtClean="0"/>
              <a:t>Counseling sessions</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1314450"/>
          </a:xfrm>
        </p:spPr>
        <p:txBody>
          <a:bodyPr>
            <a:normAutofit fontScale="90000"/>
          </a:bodyPr>
          <a:lstStyle/>
          <a:p>
            <a:r>
              <a:rPr lang="en-US" dirty="0" smtClean="0"/>
              <a:t/>
            </a:r>
            <a:br>
              <a:rPr lang="en-US" dirty="0" smtClean="0"/>
            </a:br>
            <a:r>
              <a:rPr lang="en-US" dirty="0" smtClean="0"/>
              <a:t/>
            </a:r>
            <a:br>
              <a:rPr lang="en-US" dirty="0" smtClean="0"/>
            </a:br>
            <a:endParaRPr lang="en-US" dirty="0"/>
          </a:p>
        </p:txBody>
      </p:sp>
      <p:sp>
        <p:nvSpPr>
          <p:cNvPr id="3" name="Content Placeholder 2"/>
          <p:cNvSpPr>
            <a:spLocks noGrp="1"/>
          </p:cNvSpPr>
          <p:nvPr>
            <p:ph idx="1"/>
          </p:nvPr>
        </p:nvSpPr>
        <p:spPr>
          <a:xfrm>
            <a:off x="304800" y="1447800"/>
            <a:ext cx="8229600" cy="4389437"/>
          </a:xfrm>
        </p:spPr>
        <p:txBody>
          <a:bodyPr>
            <a:normAutofit fontScale="92500" lnSpcReduction="10000"/>
          </a:bodyPr>
          <a:lstStyle/>
          <a:p>
            <a:pPr algn="just"/>
            <a:r>
              <a:rPr lang="en-US" dirty="0" smtClean="0"/>
              <a:t>Increasing no. of companies are realizing that they need to be a good neighbor for the community.</a:t>
            </a:r>
          </a:p>
          <a:p>
            <a:pPr algn="just"/>
            <a:r>
              <a:rPr lang="en-US" dirty="0" smtClean="0"/>
              <a:t>IFFCO fertilizer company helps rural communities to create their own irrigation system</a:t>
            </a:r>
          </a:p>
          <a:p>
            <a:pPr algn="just"/>
            <a:r>
              <a:rPr lang="en-US" dirty="0" smtClean="0"/>
              <a:t>Conduct programs like adult literacy, primary education, health care etc.</a:t>
            </a:r>
          </a:p>
          <a:p>
            <a:pPr algn="just"/>
            <a:r>
              <a:rPr lang="en-US" dirty="0" smtClean="0"/>
              <a:t>Cause related marketing: to support some social cause, natural disaster etc.</a:t>
            </a:r>
            <a:endParaRPr lang="en-US" dirty="0"/>
          </a:p>
        </p:txBody>
      </p:sp>
      <p:sp>
        <p:nvSpPr>
          <p:cNvPr id="4" name="Rectangle 3"/>
          <p:cNvSpPr/>
          <p:nvPr/>
        </p:nvSpPr>
        <p:spPr>
          <a:xfrm>
            <a:off x="381000" y="685800"/>
            <a:ext cx="7924800" cy="646331"/>
          </a:xfrm>
          <a:prstGeom prst="rect">
            <a:avLst/>
          </a:prstGeom>
        </p:spPr>
        <p:txBody>
          <a:bodyPr wrap="square">
            <a:spAutoFit/>
          </a:bodyPr>
          <a:lstStyle/>
          <a:p>
            <a:pPr algn="ctr"/>
            <a:r>
              <a:rPr lang="en-US" sz="3600" b="1" dirty="0" smtClean="0">
                <a:solidFill>
                  <a:schemeClr val="tx2">
                    <a:lumMod val="75000"/>
                  </a:schemeClr>
                </a:solidFill>
                <a:latin typeface="Times New Roman" pitchFamily="18" charset="0"/>
                <a:cs typeface="Times New Roman" pitchFamily="18" charset="0"/>
              </a:rPr>
              <a:t>Community development programs</a:t>
            </a:r>
            <a:endParaRPr lang="en-US" sz="3600" b="1" dirty="0">
              <a:solidFill>
                <a:schemeClr val="tx2">
                  <a:lumMod val="75000"/>
                </a:schemeClr>
              </a:solidFill>
              <a:latin typeface="Times New Roman" pitchFamily="18" charset="0"/>
              <a:cs typeface="Times New Roman"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352550"/>
          </a:xfrm>
        </p:spPr>
        <p:txBody>
          <a:bodyPr>
            <a:normAutofit fontScale="90000"/>
          </a:bodyPr>
          <a:lstStyle/>
          <a:p>
            <a:r>
              <a:rPr lang="en-US" dirty="0" smtClean="0"/>
              <a:t/>
            </a:r>
            <a:br>
              <a:rPr lang="en-US" dirty="0" smtClean="0"/>
            </a:br>
            <a:r>
              <a:rPr lang="en-US" dirty="0" smtClean="0"/>
              <a:t>Corporate philanthropy</a:t>
            </a:r>
            <a:br>
              <a:rPr lang="en-US" dirty="0" smtClean="0"/>
            </a:br>
            <a:endParaRPr lang="en-US" dirty="0"/>
          </a:p>
        </p:txBody>
      </p:sp>
      <p:sp>
        <p:nvSpPr>
          <p:cNvPr id="3" name="Content Placeholder 2"/>
          <p:cNvSpPr>
            <a:spLocks noGrp="1"/>
          </p:cNvSpPr>
          <p:nvPr>
            <p:ph idx="1"/>
          </p:nvPr>
        </p:nvSpPr>
        <p:spPr>
          <a:xfrm>
            <a:off x="533400" y="1447800"/>
            <a:ext cx="8229600" cy="4572000"/>
          </a:xfrm>
        </p:spPr>
        <p:txBody>
          <a:bodyPr/>
          <a:lstStyle/>
          <a:p>
            <a:pPr algn="just"/>
            <a:r>
              <a:rPr lang="en-US" dirty="0" smtClean="0"/>
              <a:t>Many of the activities mentioned above are also part of philanthropy.</a:t>
            </a:r>
          </a:p>
          <a:p>
            <a:pPr algn="just"/>
            <a:r>
              <a:rPr lang="en-US" dirty="0" smtClean="0"/>
              <a:t>donations</a:t>
            </a:r>
          </a:p>
          <a:p>
            <a:pPr algn="just">
              <a:buNone/>
            </a:pP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Corporate citizenship</a:t>
            </a:r>
            <a:endParaRPr lang="en-US" dirty="0"/>
          </a:p>
        </p:txBody>
      </p:sp>
      <p:sp>
        <p:nvSpPr>
          <p:cNvPr id="3" name="Content Placeholder 2"/>
          <p:cNvSpPr>
            <a:spLocks noGrp="1"/>
          </p:cNvSpPr>
          <p:nvPr>
            <p:ph idx="1"/>
          </p:nvPr>
        </p:nvSpPr>
        <p:spPr/>
        <p:txBody>
          <a:bodyPr/>
          <a:lstStyle/>
          <a:p>
            <a:pPr algn="just"/>
            <a:r>
              <a:rPr lang="en-US" dirty="0" smtClean="0"/>
              <a:t>It means sense of belongingness, with an obligation to work for the common good.</a:t>
            </a:r>
          </a:p>
          <a:p>
            <a:pPr algn="just"/>
            <a:r>
              <a:rPr lang="en-US" dirty="0" smtClean="0"/>
              <a:t>Consciously promoting the economic growth of the country.</a:t>
            </a:r>
          </a:p>
          <a:p>
            <a:pPr algn="just"/>
            <a:r>
              <a:rPr lang="en-US" dirty="0" smtClean="0"/>
              <a:t>Paying taxes, obeying laws, preserving environment, non renewable resources</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850"/>
            <a:ext cx="8229600" cy="1428750"/>
          </a:xfrm>
        </p:spPr>
        <p:txBody>
          <a:bodyPr>
            <a:normAutofit fontScale="90000"/>
          </a:bodyPr>
          <a:lstStyle/>
          <a:p>
            <a:r>
              <a:rPr lang="en-US" dirty="0" smtClean="0"/>
              <a:t>Trusteeship concept</a:t>
            </a:r>
            <a:br>
              <a:rPr lang="en-US" dirty="0" smtClean="0"/>
            </a:b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The common attitude of owners of businesses is that it’s their private property.</a:t>
            </a:r>
          </a:p>
          <a:p>
            <a:r>
              <a:rPr lang="en-US" dirty="0" smtClean="0"/>
              <a:t>According to this theory business should consider themselves as trustees of business and should take care of all the parties:</a:t>
            </a:r>
          </a:p>
          <a:p>
            <a:pPr>
              <a:buNone/>
            </a:pPr>
            <a:r>
              <a:rPr lang="en-US" dirty="0" smtClean="0"/>
              <a:t>                                     shareholders</a:t>
            </a:r>
          </a:p>
          <a:p>
            <a:pPr>
              <a:buNone/>
            </a:pPr>
            <a:r>
              <a:rPr lang="en-US" dirty="0" smtClean="0"/>
              <a:t>                                     employees</a:t>
            </a:r>
          </a:p>
          <a:p>
            <a:pPr>
              <a:buNone/>
            </a:pPr>
            <a:r>
              <a:rPr lang="en-US" dirty="0" smtClean="0"/>
              <a:t>                                     Suppliers</a:t>
            </a:r>
          </a:p>
          <a:p>
            <a:pPr>
              <a:buNone/>
            </a:pPr>
            <a:r>
              <a:rPr lang="en-US" dirty="0" smtClean="0"/>
              <a:t>                                     local community</a:t>
            </a:r>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229600" cy="609600"/>
          </a:xfrm>
        </p:spPr>
        <p:txBody>
          <a:bodyPr>
            <a:normAutofit fontScale="90000"/>
          </a:bodyPr>
          <a:lstStyle/>
          <a:p>
            <a:pPr fontAlgn="auto">
              <a:spcAft>
                <a:spcPts val="0"/>
              </a:spcAft>
              <a:defRPr/>
            </a:pPr>
            <a:r>
              <a:rPr lang="en-US" dirty="0" smtClean="0"/>
              <a:t> </a:t>
            </a:r>
            <a:endParaRPr lang="en-US" b="1" dirty="0">
              <a:solidFill>
                <a:schemeClr val="accent1">
                  <a:lumMod val="75000"/>
                </a:schemeClr>
              </a:solidFill>
              <a:latin typeface="Times New Roman" pitchFamily="18" charset="0"/>
              <a:cs typeface="Times New Roman" pitchFamily="18" charset="0"/>
            </a:endParaRPr>
          </a:p>
        </p:txBody>
      </p:sp>
      <p:sp>
        <p:nvSpPr>
          <p:cNvPr id="3" name="Content Placeholder 2"/>
          <p:cNvSpPr>
            <a:spLocks noGrp="1"/>
          </p:cNvSpPr>
          <p:nvPr>
            <p:ph idx="1"/>
          </p:nvPr>
        </p:nvSpPr>
        <p:spPr>
          <a:xfrm>
            <a:off x="381000" y="1143000"/>
            <a:ext cx="8229600" cy="4389438"/>
          </a:xfrm>
        </p:spPr>
        <p:txBody>
          <a:bodyPr>
            <a:normAutofit/>
          </a:bodyPr>
          <a:lstStyle/>
          <a:p>
            <a:pPr marL="274320" indent="-274320" algn="just" fontAlgn="auto">
              <a:spcAft>
                <a:spcPts val="0"/>
              </a:spcAft>
              <a:buClr>
                <a:schemeClr val="accent3"/>
              </a:buClr>
              <a:buFont typeface="Wingdings 2"/>
              <a:buNone/>
              <a:defRPr/>
            </a:pPr>
            <a:endParaRPr lang="en-US" dirty="0" smtClean="0">
              <a:latin typeface="Times New Roman" pitchFamily="18" charset="0"/>
              <a:cs typeface="Times New Roman" pitchFamily="18" charset="0"/>
            </a:endParaRPr>
          </a:p>
          <a:p>
            <a:pPr marL="274320" indent="-274320" fontAlgn="auto">
              <a:spcAft>
                <a:spcPts val="0"/>
              </a:spcAft>
              <a:buClr>
                <a:schemeClr val="accent3"/>
              </a:buClr>
              <a:buFont typeface="Wingdings 2"/>
              <a:buNone/>
              <a:defRPr/>
            </a:pPr>
            <a:endParaRPr lang="en-US" dirty="0" smtClean="0">
              <a:solidFill>
                <a:schemeClr val="tx1">
                  <a:lumMod val="95000"/>
                  <a:lumOff val="5000"/>
                </a:schemeClr>
              </a:solidFill>
            </a:endParaRPr>
          </a:p>
        </p:txBody>
      </p:sp>
      <p:sp>
        <p:nvSpPr>
          <p:cNvPr id="17412" name="Rectangle 4"/>
          <p:cNvSpPr>
            <a:spLocks noChangeArrowheads="1"/>
          </p:cNvSpPr>
          <p:nvPr/>
        </p:nvSpPr>
        <p:spPr bwMode="auto">
          <a:xfrm>
            <a:off x="457200" y="609600"/>
            <a:ext cx="7772400" cy="646113"/>
          </a:xfrm>
          <a:prstGeom prst="rect">
            <a:avLst/>
          </a:prstGeom>
          <a:noFill/>
          <a:ln w="9525">
            <a:noFill/>
            <a:miter lim="800000"/>
            <a:headEnd/>
            <a:tailEnd/>
          </a:ln>
        </p:spPr>
        <p:txBody>
          <a:bodyPr>
            <a:spAutoFit/>
          </a:bodyPr>
          <a:lstStyle/>
          <a:p>
            <a:r>
              <a:rPr lang="en-US" dirty="0"/>
              <a:t>Some of the positive outcomes that can arise when businesses adopt a policy of social responsibility include</a:t>
            </a:r>
          </a:p>
        </p:txBody>
      </p:sp>
      <p:graphicFrame>
        <p:nvGraphicFramePr>
          <p:cNvPr id="28" name="Table 27"/>
          <p:cNvGraphicFramePr>
            <a:graphicFrameLocks noGrp="1"/>
          </p:cNvGraphicFramePr>
          <p:nvPr/>
        </p:nvGraphicFramePr>
        <p:xfrm>
          <a:off x="685800" y="1447800"/>
          <a:ext cx="7696200" cy="4263009"/>
        </p:xfrm>
        <a:graphic>
          <a:graphicData uri="http://schemas.openxmlformats.org/drawingml/2006/table">
            <a:tbl>
              <a:tblPr firstRow="1" bandRow="1">
                <a:tableStyleId>{073A0DAA-6AF3-43AB-8588-CEC1D06C72B9}</a:tableStyleId>
              </a:tblPr>
              <a:tblGrid>
                <a:gridCol w="2565400"/>
                <a:gridCol w="2565400"/>
                <a:gridCol w="2565400"/>
              </a:tblGrid>
              <a:tr h="609600">
                <a:tc>
                  <a:txBody>
                    <a:bodyPr/>
                    <a:lstStyle/>
                    <a:p>
                      <a:pPr marL="0" marR="0" algn="ctr">
                        <a:lnSpc>
                          <a:spcPct val="115000"/>
                        </a:lnSpc>
                        <a:spcBef>
                          <a:spcPts val="0"/>
                        </a:spcBef>
                        <a:spcAft>
                          <a:spcPts val="1000"/>
                        </a:spcAft>
                      </a:pPr>
                      <a:r>
                        <a:rPr lang="en-US" sz="1600" b="1" dirty="0">
                          <a:solidFill>
                            <a:schemeClr val="tx1"/>
                          </a:solidFill>
                          <a:latin typeface="Times New Roman" pitchFamily="18" charset="0"/>
                          <a:ea typeface="Calibri"/>
                          <a:cs typeface="Times New Roman" pitchFamily="18" charset="0"/>
                        </a:rPr>
                        <a:t>Company benefits</a:t>
                      </a:r>
                      <a:endParaRPr lang="en-US" sz="1600" dirty="0">
                        <a:solidFill>
                          <a:schemeClr val="tx1"/>
                        </a:solidFill>
                        <a:latin typeface="Times New Roman" pitchFamily="18" charset="0"/>
                        <a:ea typeface="Calibri"/>
                        <a:cs typeface="Times New Roman"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just">
                        <a:lnSpc>
                          <a:spcPct val="115000"/>
                        </a:lnSpc>
                        <a:spcBef>
                          <a:spcPts val="0"/>
                        </a:spcBef>
                        <a:spcAft>
                          <a:spcPts val="1000"/>
                        </a:spcAft>
                      </a:pPr>
                      <a:r>
                        <a:rPr lang="en-US" sz="1600" b="1" dirty="0">
                          <a:solidFill>
                            <a:schemeClr val="tx1"/>
                          </a:solidFill>
                          <a:latin typeface="Times New Roman" pitchFamily="18" charset="0"/>
                          <a:ea typeface="Calibri"/>
                          <a:cs typeface="Times New Roman" pitchFamily="18" charset="0"/>
                        </a:rPr>
                        <a:t>Benefits to the community </a:t>
                      </a:r>
                      <a:endParaRPr lang="en-US" sz="1600" dirty="0">
                        <a:solidFill>
                          <a:schemeClr val="tx1"/>
                        </a:solidFill>
                        <a:latin typeface="Times New Roman" pitchFamily="18" charset="0"/>
                        <a:ea typeface="Calibri"/>
                        <a:cs typeface="Times New Roman"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just">
                        <a:lnSpc>
                          <a:spcPct val="115000"/>
                        </a:lnSpc>
                        <a:spcBef>
                          <a:spcPts val="0"/>
                        </a:spcBef>
                        <a:spcAft>
                          <a:spcPts val="1000"/>
                        </a:spcAft>
                      </a:pPr>
                      <a:r>
                        <a:rPr lang="en-US" sz="1600" b="1" dirty="0">
                          <a:solidFill>
                            <a:schemeClr val="tx1"/>
                          </a:solidFill>
                          <a:latin typeface="Times New Roman" pitchFamily="18" charset="0"/>
                          <a:ea typeface="Calibri"/>
                          <a:cs typeface="Times New Roman" pitchFamily="18" charset="0"/>
                        </a:rPr>
                        <a:t>Environmental benefits</a:t>
                      </a:r>
                      <a:endParaRPr lang="en-US" sz="1600" dirty="0">
                        <a:solidFill>
                          <a:schemeClr val="tx1"/>
                        </a:solidFill>
                        <a:latin typeface="Times New Roman" pitchFamily="18" charset="0"/>
                        <a:ea typeface="Calibri"/>
                        <a:cs typeface="Times New Roman"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701040">
                <a:tc>
                  <a:txBody>
                    <a:bodyPr/>
                    <a:lstStyle/>
                    <a:p>
                      <a:pPr marL="0" marR="0" algn="just">
                        <a:lnSpc>
                          <a:spcPct val="115000"/>
                        </a:lnSpc>
                        <a:spcBef>
                          <a:spcPts val="0"/>
                        </a:spcBef>
                        <a:spcAft>
                          <a:spcPts val="1000"/>
                        </a:spcAft>
                      </a:pPr>
                      <a:r>
                        <a:rPr lang="en-US" sz="1600" dirty="0">
                          <a:solidFill>
                            <a:srgbClr val="000000"/>
                          </a:solidFill>
                          <a:latin typeface="Times New Roman" pitchFamily="18" charset="0"/>
                          <a:ea typeface="Calibri"/>
                          <a:cs typeface="Times New Roman" pitchFamily="18" charset="0"/>
                        </a:rPr>
                        <a:t>Product </a:t>
                      </a:r>
                      <a:r>
                        <a:rPr lang="en-US" sz="1600" dirty="0" smtClean="0">
                          <a:solidFill>
                            <a:srgbClr val="000000"/>
                          </a:solidFill>
                          <a:latin typeface="Times New Roman" pitchFamily="18" charset="0"/>
                          <a:ea typeface="Calibri"/>
                          <a:cs typeface="Times New Roman" pitchFamily="18" charset="0"/>
                        </a:rPr>
                        <a:t>safety</a:t>
                      </a:r>
                      <a:endParaRPr lang="en-US" sz="1600" dirty="0">
                        <a:latin typeface="Times New Roman" pitchFamily="18" charset="0"/>
                        <a:ea typeface="Calibri"/>
                        <a:cs typeface="Times New Roman"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just">
                        <a:lnSpc>
                          <a:spcPct val="115000"/>
                        </a:lnSpc>
                        <a:spcBef>
                          <a:spcPts val="0"/>
                        </a:spcBef>
                        <a:spcAft>
                          <a:spcPts val="1000"/>
                        </a:spcAft>
                      </a:pPr>
                      <a:r>
                        <a:rPr lang="en-US" sz="1600" dirty="0">
                          <a:solidFill>
                            <a:srgbClr val="000000"/>
                          </a:solidFill>
                          <a:latin typeface="Times New Roman" pitchFamily="18" charset="0"/>
                          <a:ea typeface="Calibri"/>
                          <a:cs typeface="Times New Roman" pitchFamily="18" charset="0"/>
                        </a:rPr>
                        <a:t>Product safety and quality</a:t>
                      </a:r>
                      <a:endParaRPr lang="en-US" sz="1600" dirty="0">
                        <a:latin typeface="Times New Roman" pitchFamily="18" charset="0"/>
                        <a:ea typeface="Calibri"/>
                        <a:cs typeface="Times New Roman"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just">
                        <a:lnSpc>
                          <a:spcPct val="115000"/>
                        </a:lnSpc>
                        <a:spcBef>
                          <a:spcPts val="0"/>
                        </a:spcBef>
                        <a:spcAft>
                          <a:spcPts val="1000"/>
                        </a:spcAft>
                      </a:pPr>
                      <a:r>
                        <a:rPr lang="en-US" sz="1600" dirty="0">
                          <a:solidFill>
                            <a:srgbClr val="000000"/>
                          </a:solidFill>
                          <a:latin typeface="Times New Roman" pitchFamily="18" charset="0"/>
                          <a:ea typeface="Calibri"/>
                          <a:cs typeface="Times New Roman" pitchFamily="18" charset="0"/>
                        </a:rPr>
                        <a:t>Greater material recyclability</a:t>
                      </a:r>
                      <a:endParaRPr lang="en-US" sz="1600" dirty="0">
                        <a:latin typeface="Times New Roman" pitchFamily="18" charset="0"/>
                        <a:ea typeface="Calibri"/>
                        <a:cs typeface="Times New Roman"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701040">
                <a:tc>
                  <a:txBody>
                    <a:bodyPr/>
                    <a:lstStyle/>
                    <a:p>
                      <a:pPr marL="0" marR="0" algn="just">
                        <a:lnSpc>
                          <a:spcPct val="115000"/>
                        </a:lnSpc>
                        <a:spcBef>
                          <a:spcPts val="0"/>
                        </a:spcBef>
                        <a:spcAft>
                          <a:spcPts val="0"/>
                        </a:spcAft>
                      </a:pPr>
                      <a:r>
                        <a:rPr lang="en-US" sz="1600" dirty="0">
                          <a:solidFill>
                            <a:srgbClr val="000000"/>
                          </a:solidFill>
                          <a:latin typeface="Times New Roman" pitchFamily="18" charset="0"/>
                          <a:ea typeface="Calibri"/>
                          <a:cs typeface="Times New Roman" pitchFamily="18" charset="0"/>
                        </a:rPr>
                        <a:t>Improved financial performance</a:t>
                      </a:r>
                      <a:endParaRPr lang="en-US" sz="1600" dirty="0">
                        <a:latin typeface="Times New Roman" pitchFamily="18" charset="0"/>
                        <a:ea typeface="Calibri"/>
                        <a:cs typeface="Times New Roman"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just">
                        <a:lnSpc>
                          <a:spcPct val="115000"/>
                        </a:lnSpc>
                        <a:spcBef>
                          <a:spcPts val="0"/>
                        </a:spcBef>
                        <a:spcAft>
                          <a:spcPts val="1000"/>
                        </a:spcAft>
                      </a:pPr>
                      <a:r>
                        <a:rPr lang="en-US" sz="1600" dirty="0">
                          <a:solidFill>
                            <a:srgbClr val="000000"/>
                          </a:solidFill>
                          <a:latin typeface="Times New Roman" pitchFamily="18" charset="0"/>
                          <a:ea typeface="Calibri"/>
                          <a:cs typeface="Times New Roman" pitchFamily="18" charset="0"/>
                        </a:rPr>
                        <a:t>Corporate involvement in community education and employment</a:t>
                      </a:r>
                      <a:endParaRPr lang="en-US" sz="1600" dirty="0">
                        <a:latin typeface="Times New Roman" pitchFamily="18" charset="0"/>
                        <a:ea typeface="Calibri"/>
                        <a:cs typeface="Times New Roman"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just">
                        <a:lnSpc>
                          <a:spcPct val="115000"/>
                        </a:lnSpc>
                        <a:spcBef>
                          <a:spcPts val="0"/>
                        </a:spcBef>
                        <a:spcAft>
                          <a:spcPts val="1000"/>
                        </a:spcAft>
                      </a:pPr>
                      <a:r>
                        <a:rPr lang="en-US" sz="1600" dirty="0">
                          <a:solidFill>
                            <a:srgbClr val="000000"/>
                          </a:solidFill>
                          <a:latin typeface="Times New Roman" pitchFamily="18" charset="0"/>
                          <a:ea typeface="Calibri"/>
                          <a:cs typeface="Times New Roman" pitchFamily="18" charset="0"/>
                        </a:rPr>
                        <a:t>Better product durability and functionality</a:t>
                      </a:r>
                      <a:endParaRPr lang="en-US" sz="1600" dirty="0">
                        <a:latin typeface="Times New Roman" pitchFamily="18" charset="0"/>
                        <a:ea typeface="Calibri"/>
                        <a:cs typeface="Times New Roman"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701040">
                <a:tc>
                  <a:txBody>
                    <a:bodyPr/>
                    <a:lstStyle/>
                    <a:p>
                      <a:pPr marL="0" marR="0" algn="just">
                        <a:lnSpc>
                          <a:spcPct val="115000"/>
                        </a:lnSpc>
                        <a:spcBef>
                          <a:spcPts val="0"/>
                        </a:spcBef>
                        <a:spcAft>
                          <a:spcPts val="1000"/>
                        </a:spcAft>
                      </a:pPr>
                      <a:r>
                        <a:rPr lang="en-US" sz="1600" dirty="0">
                          <a:solidFill>
                            <a:srgbClr val="000000"/>
                          </a:solidFill>
                          <a:latin typeface="Times New Roman" pitchFamily="18" charset="0"/>
                          <a:ea typeface="Calibri"/>
                          <a:cs typeface="Times New Roman" pitchFamily="18" charset="0"/>
                        </a:rPr>
                        <a:t>Greater productivity and quality</a:t>
                      </a:r>
                      <a:endParaRPr lang="en-US" sz="1600" dirty="0">
                        <a:latin typeface="Times New Roman" pitchFamily="18" charset="0"/>
                        <a:ea typeface="Calibri"/>
                        <a:cs typeface="Times New Roman"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just">
                        <a:lnSpc>
                          <a:spcPct val="115000"/>
                        </a:lnSpc>
                        <a:spcBef>
                          <a:spcPts val="0"/>
                        </a:spcBef>
                        <a:spcAft>
                          <a:spcPts val="1000"/>
                        </a:spcAft>
                      </a:pPr>
                      <a:r>
                        <a:rPr lang="en-US" sz="1600" dirty="0">
                          <a:solidFill>
                            <a:srgbClr val="000000"/>
                          </a:solidFill>
                          <a:latin typeface="Times New Roman" pitchFamily="18" charset="0"/>
                          <a:ea typeface="Calibri"/>
                          <a:cs typeface="Times New Roman" pitchFamily="18" charset="0"/>
                        </a:rPr>
                        <a:t>Employee volunteer programmes</a:t>
                      </a:r>
                      <a:endParaRPr lang="en-US" sz="1600" dirty="0">
                        <a:latin typeface="Times New Roman" pitchFamily="18" charset="0"/>
                        <a:ea typeface="Calibri"/>
                        <a:cs typeface="Times New Roman"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just">
                        <a:lnSpc>
                          <a:spcPct val="115000"/>
                        </a:lnSpc>
                        <a:spcBef>
                          <a:spcPts val="0"/>
                        </a:spcBef>
                        <a:spcAft>
                          <a:spcPts val="1000"/>
                        </a:spcAft>
                      </a:pPr>
                      <a:r>
                        <a:rPr lang="en-US" sz="1600" dirty="0">
                          <a:solidFill>
                            <a:srgbClr val="000000"/>
                          </a:solidFill>
                          <a:latin typeface="Times New Roman" pitchFamily="18" charset="0"/>
                          <a:ea typeface="Calibri"/>
                          <a:cs typeface="Times New Roman" pitchFamily="18" charset="0"/>
                        </a:rPr>
                        <a:t>Greater use of renewable resources</a:t>
                      </a:r>
                      <a:endParaRPr lang="en-US" sz="1600" dirty="0">
                        <a:latin typeface="Times New Roman" pitchFamily="18" charset="0"/>
                        <a:ea typeface="Calibri"/>
                        <a:cs typeface="Times New Roman"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701040">
                <a:tc>
                  <a:txBody>
                    <a:bodyPr/>
                    <a:lstStyle/>
                    <a:p>
                      <a:pPr marL="0" marR="0" algn="just">
                        <a:lnSpc>
                          <a:spcPct val="115000"/>
                        </a:lnSpc>
                        <a:spcBef>
                          <a:spcPts val="0"/>
                        </a:spcBef>
                        <a:spcAft>
                          <a:spcPts val="1000"/>
                        </a:spcAft>
                      </a:pPr>
                      <a:r>
                        <a:rPr lang="en-US" sz="1600" dirty="0">
                          <a:solidFill>
                            <a:srgbClr val="000000"/>
                          </a:solidFill>
                          <a:latin typeface="Times New Roman" pitchFamily="18" charset="0"/>
                          <a:ea typeface="Calibri"/>
                          <a:cs typeface="Times New Roman" pitchFamily="18" charset="0"/>
                        </a:rPr>
                        <a:t>Enhanced brand image and reputation</a:t>
                      </a:r>
                      <a:endParaRPr lang="en-US" sz="1600" dirty="0">
                        <a:latin typeface="Times New Roman" pitchFamily="18" charset="0"/>
                        <a:ea typeface="Calibri"/>
                        <a:cs typeface="Times New Roman"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just">
                        <a:lnSpc>
                          <a:spcPct val="115000"/>
                        </a:lnSpc>
                        <a:spcBef>
                          <a:spcPts val="0"/>
                        </a:spcBef>
                        <a:spcAft>
                          <a:spcPts val="1000"/>
                        </a:spcAft>
                      </a:pPr>
                      <a:r>
                        <a:rPr lang="en-US" sz="1600" dirty="0">
                          <a:solidFill>
                            <a:srgbClr val="000000"/>
                          </a:solidFill>
                          <a:latin typeface="Times New Roman" pitchFamily="18" charset="0"/>
                          <a:ea typeface="Calibri"/>
                          <a:cs typeface="Times New Roman" pitchFamily="18" charset="0"/>
                        </a:rPr>
                        <a:t>Charitable contributions</a:t>
                      </a:r>
                      <a:endParaRPr lang="en-US" sz="1600" dirty="0">
                        <a:latin typeface="Times New Roman" pitchFamily="18" charset="0"/>
                        <a:ea typeface="Calibri"/>
                        <a:cs typeface="Times New Roman"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just">
                        <a:spcBef>
                          <a:spcPts val="0"/>
                        </a:spcBef>
                        <a:spcAft>
                          <a:spcPts val="0"/>
                        </a:spcAft>
                      </a:pPr>
                      <a:r>
                        <a:rPr lang="en-US" sz="1600" dirty="0">
                          <a:solidFill>
                            <a:srgbClr val="000000"/>
                          </a:solidFill>
                          <a:latin typeface="Times New Roman" pitchFamily="18" charset="0"/>
                          <a:ea typeface="Times New Roman"/>
                          <a:cs typeface="Times New Roman" pitchFamily="18" charset="0"/>
                        </a:rPr>
                        <a:t>Integration of environmental management tools into business plans</a:t>
                      </a:r>
                      <a:endParaRPr lang="en-US" sz="1600" dirty="0">
                        <a:latin typeface="Times New Roman" pitchFamily="18" charset="0"/>
                        <a:ea typeface="Times New Roman"/>
                        <a:cs typeface="Times New Roman"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701040">
                <a:tc>
                  <a:txBody>
                    <a:bodyPr/>
                    <a:lstStyle/>
                    <a:p>
                      <a:pPr marL="0" marR="0" algn="just">
                        <a:lnSpc>
                          <a:spcPct val="115000"/>
                        </a:lnSpc>
                        <a:spcBef>
                          <a:spcPts val="0"/>
                        </a:spcBef>
                        <a:spcAft>
                          <a:spcPts val="1000"/>
                        </a:spcAft>
                      </a:pPr>
                      <a:r>
                        <a:rPr lang="en-US" sz="1600" dirty="0">
                          <a:solidFill>
                            <a:srgbClr val="000000"/>
                          </a:solidFill>
                          <a:latin typeface="Times New Roman" pitchFamily="18" charset="0"/>
                          <a:ea typeface="Calibri"/>
                          <a:cs typeface="Times New Roman" pitchFamily="18" charset="0"/>
                        </a:rPr>
                        <a:t>Increased sales and customer loyalty</a:t>
                      </a:r>
                      <a:endParaRPr lang="en-US" sz="1600" dirty="0">
                        <a:latin typeface="Times New Roman" pitchFamily="18" charset="0"/>
                        <a:ea typeface="Calibri"/>
                        <a:cs typeface="Times New Roman"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just">
                        <a:lnSpc>
                          <a:spcPct val="115000"/>
                        </a:lnSpc>
                        <a:spcBef>
                          <a:spcPts val="0"/>
                        </a:spcBef>
                        <a:spcAft>
                          <a:spcPts val="1000"/>
                        </a:spcAft>
                      </a:pPr>
                      <a:r>
                        <a:rPr kumimoji="0" lang="en-US" sz="1600" kern="1200" dirty="0" smtClean="0">
                          <a:solidFill>
                            <a:schemeClr val="dk1"/>
                          </a:solidFill>
                          <a:latin typeface="Times New Roman" pitchFamily="18" charset="0"/>
                          <a:ea typeface="+mn-ea"/>
                          <a:cs typeface="Times New Roman" pitchFamily="18" charset="0"/>
                        </a:rPr>
                        <a:t>Happy society</a:t>
                      </a:r>
                      <a:endParaRPr lang="en-US" sz="1600" dirty="0">
                        <a:solidFill>
                          <a:srgbClr val="000000"/>
                        </a:solidFill>
                        <a:latin typeface="Times New Roman" pitchFamily="18" charset="0"/>
                        <a:ea typeface="Calibri"/>
                        <a:cs typeface="Times New Roman"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just">
                        <a:lnSpc>
                          <a:spcPct val="115000"/>
                        </a:lnSpc>
                        <a:spcBef>
                          <a:spcPts val="0"/>
                        </a:spcBef>
                        <a:spcAft>
                          <a:spcPts val="1000"/>
                        </a:spcAft>
                      </a:pPr>
                      <a:r>
                        <a:rPr kumimoji="0" lang="en-US" sz="1600" kern="1200" dirty="0" smtClean="0">
                          <a:solidFill>
                            <a:schemeClr val="dk1"/>
                          </a:solidFill>
                          <a:latin typeface="Times New Roman" pitchFamily="18" charset="0"/>
                          <a:ea typeface="+mn-ea"/>
                          <a:cs typeface="Times New Roman" pitchFamily="18" charset="0"/>
                        </a:rPr>
                        <a:t>Healthy pollution free environment</a:t>
                      </a:r>
                      <a:endParaRPr lang="en-US" sz="1600" dirty="0">
                        <a:solidFill>
                          <a:srgbClr val="000000"/>
                        </a:solidFill>
                        <a:latin typeface="Times New Roman" pitchFamily="18" charset="0"/>
                        <a:ea typeface="Calibri"/>
                        <a:cs typeface="Times New Roman"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1026"/>
          <p:cNvSpPr>
            <a:spLocks noGrp="1" noChangeArrowheads="1"/>
          </p:cNvSpPr>
          <p:nvPr>
            <p:ph type="title"/>
          </p:nvPr>
        </p:nvSpPr>
        <p:spPr>
          <a:xfrm>
            <a:off x="762000" y="0"/>
            <a:ext cx="7772400" cy="1143000"/>
          </a:xfrm>
        </p:spPr>
        <p:txBody>
          <a:bodyPr/>
          <a:lstStyle/>
          <a:p>
            <a:r>
              <a:rPr lang="en-US" dirty="0">
                <a:cs typeface="Times New Roman" charset="0"/>
              </a:rPr>
              <a:t>Reasons for CSR Activities</a:t>
            </a:r>
          </a:p>
        </p:txBody>
      </p:sp>
      <p:sp>
        <p:nvSpPr>
          <p:cNvPr id="70659" name="Rectangle 1027"/>
          <p:cNvSpPr>
            <a:spLocks noGrp="1" noChangeArrowheads="1"/>
          </p:cNvSpPr>
          <p:nvPr>
            <p:ph idx="1"/>
          </p:nvPr>
        </p:nvSpPr>
        <p:spPr/>
        <p:txBody>
          <a:bodyPr/>
          <a:lstStyle/>
          <a:p>
            <a:pPr algn="just"/>
            <a:r>
              <a:rPr lang="en-US" dirty="0"/>
              <a:t>CSR activities are important to and even expected by the public</a:t>
            </a:r>
          </a:p>
          <a:p>
            <a:pPr lvl="1" algn="just"/>
            <a:r>
              <a:rPr lang="en-US" dirty="0"/>
              <a:t>And they are easily monitored worldwide</a:t>
            </a:r>
          </a:p>
          <a:p>
            <a:pPr algn="just"/>
            <a:r>
              <a:rPr lang="en-US" dirty="0"/>
              <a:t>CSR activities help organizations hire and retain the people they want</a:t>
            </a:r>
          </a:p>
          <a:p>
            <a:pPr algn="just"/>
            <a:r>
              <a:rPr lang="en-US" dirty="0"/>
              <a:t>CSR activities contribute to business performance</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idx="1"/>
          </p:nvPr>
        </p:nvSpPr>
        <p:spPr>
          <a:xfrm>
            <a:off x="457200" y="762000"/>
            <a:ext cx="8077200" cy="5181600"/>
          </a:xfrm>
        </p:spPr>
        <p:txBody>
          <a:bodyPr/>
          <a:lstStyle/>
          <a:p>
            <a:pPr algn="just">
              <a:lnSpc>
                <a:spcPct val="90000"/>
              </a:lnSpc>
              <a:buFont typeface="Wingdings" pitchFamily="2" charset="2"/>
              <a:buNone/>
            </a:pPr>
            <a:endParaRPr lang="zh-CN" altLang="en-US" sz="2800" dirty="0">
              <a:ea typeface="宋体" charset="-122"/>
            </a:endParaRPr>
          </a:p>
          <a:p>
            <a:pPr algn="just">
              <a:lnSpc>
                <a:spcPct val="90000"/>
              </a:lnSpc>
              <a:buFont typeface="Wingdings" pitchFamily="2" charset="2"/>
              <a:buNone/>
            </a:pPr>
            <a:endParaRPr lang="en-US" altLang="zh-CN" sz="2800" dirty="0">
              <a:ea typeface="宋体" charset="-122"/>
            </a:endParaRPr>
          </a:p>
          <a:p>
            <a:pPr algn="just">
              <a:lnSpc>
                <a:spcPct val="90000"/>
              </a:lnSpc>
              <a:buFont typeface="Wingdings" pitchFamily="2" charset="2"/>
              <a:buNone/>
            </a:pPr>
            <a:r>
              <a:rPr lang="en-US" altLang="zh-CN" sz="2800" dirty="0" smtClean="0">
                <a:ea typeface="宋体" charset="-122"/>
              </a:rPr>
              <a:t>	Is </a:t>
            </a:r>
            <a:r>
              <a:rPr lang="en-US" altLang="zh-CN" sz="2800" dirty="0">
                <a:ea typeface="宋体" charset="-122"/>
              </a:rPr>
              <a:t>industry voluntarily giving back something to the society?</a:t>
            </a:r>
          </a:p>
          <a:p>
            <a:pPr algn="just">
              <a:lnSpc>
                <a:spcPct val="90000"/>
              </a:lnSpc>
              <a:buFont typeface="Wingdings" pitchFamily="2" charset="2"/>
              <a:buNone/>
            </a:pPr>
            <a:endParaRPr lang="en-US" altLang="zh-CN" sz="2800" dirty="0">
              <a:ea typeface="宋体" charset="-122"/>
            </a:endParaRPr>
          </a:p>
          <a:p>
            <a:pPr algn="just">
              <a:lnSpc>
                <a:spcPct val="90000"/>
              </a:lnSpc>
              <a:buFont typeface="Wingdings" pitchFamily="2" charset="2"/>
              <a:buNone/>
            </a:pPr>
            <a:r>
              <a:rPr lang="en-US" altLang="zh-CN" sz="2800" dirty="0" smtClean="0">
                <a:ea typeface="宋体" charset="-122"/>
              </a:rPr>
              <a:t>	Are </a:t>
            </a:r>
            <a:r>
              <a:rPr lang="en-US" altLang="zh-CN" sz="2800" dirty="0">
                <a:ea typeface="宋体" charset="-122"/>
              </a:rPr>
              <a:t>these actions inspired by a sense of guilt to the society, earning good name in market, philanthropy, etc.?</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3"/>
          <p:cNvSpPr>
            <a:spLocks noGrp="1" noChangeArrowheads="1"/>
          </p:cNvSpPr>
          <p:nvPr>
            <p:ph idx="1"/>
          </p:nvPr>
        </p:nvSpPr>
        <p:spPr>
          <a:xfrm>
            <a:off x="609600" y="914400"/>
            <a:ext cx="7772400" cy="5181600"/>
          </a:xfrm>
        </p:spPr>
        <p:txBody>
          <a:bodyPr/>
          <a:lstStyle/>
          <a:p>
            <a:pPr>
              <a:buFont typeface="Wingdings" pitchFamily="2" charset="2"/>
              <a:buNone/>
            </a:pPr>
            <a:endParaRPr lang="zh-CN" altLang="en-US" dirty="0">
              <a:ea typeface="宋体" charset="-122"/>
            </a:endParaRPr>
          </a:p>
          <a:p>
            <a:pPr algn="ctr">
              <a:buFont typeface="Wingdings" pitchFamily="2" charset="2"/>
              <a:buNone/>
            </a:pPr>
            <a:endParaRPr lang="en-US" altLang="zh-CN" dirty="0">
              <a:ea typeface="宋体" charset="-122"/>
            </a:endParaRPr>
          </a:p>
          <a:p>
            <a:pPr algn="ctr">
              <a:buFont typeface="Wingdings" pitchFamily="2" charset="2"/>
              <a:buNone/>
            </a:pPr>
            <a:r>
              <a:rPr lang="en-US" altLang="zh-CN" b="1" i="1" dirty="0">
                <a:ea typeface="宋体" charset="-122"/>
              </a:rPr>
              <a:t>Is it part of core  business strategy?</a:t>
            </a:r>
          </a:p>
          <a:p>
            <a:pPr algn="ctr">
              <a:buFont typeface="Wingdings" pitchFamily="2" charset="2"/>
              <a:buNone/>
            </a:pPr>
            <a:endParaRPr lang="en-US" altLang="zh-CN" b="1" i="1" dirty="0">
              <a:ea typeface="宋体" charset="-122"/>
            </a:endParaRPr>
          </a:p>
          <a:p>
            <a:pPr algn="ctr">
              <a:buFont typeface="Wingdings" pitchFamily="2" charset="2"/>
              <a:buNone/>
            </a:pPr>
            <a:r>
              <a:rPr lang="en-US" altLang="zh-CN" b="1" i="1" dirty="0">
                <a:ea typeface="宋体" charset="-122"/>
              </a:rPr>
              <a:t>Is it adopted by the board? </a:t>
            </a:r>
          </a:p>
          <a:p>
            <a:pPr algn="ctr">
              <a:buFont typeface="Wingdings" pitchFamily="2" charset="2"/>
              <a:buNone/>
            </a:pPr>
            <a:endParaRPr lang="zh-CN" altLang="en-US" b="1" i="1" dirty="0">
              <a:ea typeface="宋体"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228600" y="669758"/>
            <a:ext cx="6934200" cy="647700"/>
          </a:xfrm>
        </p:spPr>
        <p:txBody>
          <a:bodyPr>
            <a:normAutofit fontScale="90000"/>
          </a:bodyPr>
          <a:lstStyle/>
          <a:p>
            <a:pPr algn="r"/>
            <a:r>
              <a:rPr lang="en-US" altLang="zh-CN" b="1" dirty="0">
                <a:ea typeface="宋体" charset="-122"/>
              </a:rPr>
              <a:t>Company </a:t>
            </a:r>
            <a:r>
              <a:rPr lang="en-US" altLang="zh-CN" b="1" dirty="0" err="1" smtClean="0">
                <a:ea typeface="宋体" charset="-122"/>
              </a:rPr>
              <a:t>Project:Balco</a:t>
            </a:r>
            <a:r>
              <a:rPr lang="en-US" altLang="zh-CN" b="1" dirty="0" smtClean="0">
                <a:ea typeface="宋体" charset="-122"/>
              </a:rPr>
              <a:t> </a:t>
            </a:r>
            <a:r>
              <a:rPr lang="en-US" altLang="zh-CN" b="1" dirty="0">
                <a:ea typeface="宋体" charset="-122"/>
              </a:rPr>
              <a:t>Hospital</a:t>
            </a:r>
            <a:br>
              <a:rPr lang="en-US" altLang="zh-CN" b="1" dirty="0">
                <a:ea typeface="宋体" charset="-122"/>
              </a:rPr>
            </a:br>
            <a:endParaRPr lang="en-US" altLang="zh-CN" b="1" dirty="0">
              <a:ea typeface="宋体" charset="-122"/>
            </a:endParaRPr>
          </a:p>
        </p:txBody>
      </p:sp>
      <p:sp>
        <p:nvSpPr>
          <p:cNvPr id="22532" name="Line 4"/>
          <p:cNvSpPr>
            <a:spLocks noChangeShapeType="1"/>
          </p:cNvSpPr>
          <p:nvPr/>
        </p:nvSpPr>
        <p:spPr bwMode="auto">
          <a:xfrm>
            <a:off x="1524000" y="381000"/>
            <a:ext cx="6400800" cy="0"/>
          </a:xfrm>
          <a:prstGeom prst="line">
            <a:avLst/>
          </a:prstGeom>
          <a:noFill/>
          <a:ln w="57150">
            <a:solidFill>
              <a:schemeClr val="tx1"/>
            </a:solidFill>
            <a:miter lim="800000"/>
            <a:headEnd/>
            <a:tailEnd/>
          </a:ln>
          <a:effectLst/>
        </p:spPr>
        <p:txBody>
          <a:bodyPr wrap="none"/>
          <a:lstStyle/>
          <a:p>
            <a:endParaRPr lang="en-US"/>
          </a:p>
        </p:txBody>
      </p:sp>
      <p:sp>
        <p:nvSpPr>
          <p:cNvPr id="22534" name="Line 6"/>
          <p:cNvSpPr>
            <a:spLocks noChangeShapeType="1"/>
          </p:cNvSpPr>
          <p:nvPr/>
        </p:nvSpPr>
        <p:spPr bwMode="auto">
          <a:xfrm>
            <a:off x="4572000" y="381000"/>
            <a:ext cx="0" cy="533400"/>
          </a:xfrm>
          <a:prstGeom prst="line">
            <a:avLst/>
          </a:prstGeom>
          <a:noFill/>
          <a:ln w="9525">
            <a:solidFill>
              <a:schemeClr val="tx1"/>
            </a:solidFill>
            <a:miter lim="800000"/>
            <a:headEnd/>
            <a:tailEnd type="triangle" w="med" len="med"/>
          </a:ln>
          <a:effectLst/>
        </p:spPr>
        <p:txBody>
          <a:bodyPr wrap="none"/>
          <a:lstStyle/>
          <a:p>
            <a:endParaRPr lang="en-US"/>
          </a:p>
        </p:txBody>
      </p:sp>
      <p:pic>
        <p:nvPicPr>
          <p:cNvPr id="22537" name="Picture 9" descr="H:\Site Visit\DSC09644.JPG"/>
          <p:cNvPicPr>
            <a:picLocks noChangeAspect="1" noChangeArrowheads="1"/>
          </p:cNvPicPr>
          <p:nvPr/>
        </p:nvPicPr>
        <p:blipFill>
          <a:blip r:embed="rId2" cstate="print"/>
          <a:srcRect/>
          <a:stretch>
            <a:fillRect/>
          </a:stretch>
        </p:blipFill>
        <p:spPr bwMode="auto">
          <a:xfrm>
            <a:off x="4876800" y="2378075"/>
            <a:ext cx="3962400" cy="3717925"/>
          </a:xfrm>
          <a:prstGeom prst="rect">
            <a:avLst/>
          </a:prstGeom>
          <a:noFill/>
        </p:spPr>
      </p:pic>
      <p:pic>
        <p:nvPicPr>
          <p:cNvPr id="22538" name="Picture 10" descr="H:\Site Visit\DSC09645.JPG"/>
          <p:cNvPicPr>
            <a:picLocks noChangeAspect="1" noChangeArrowheads="1"/>
          </p:cNvPicPr>
          <p:nvPr/>
        </p:nvPicPr>
        <p:blipFill>
          <a:blip r:embed="rId3" cstate="print"/>
          <a:srcRect/>
          <a:stretch>
            <a:fillRect/>
          </a:stretch>
        </p:blipFill>
        <p:spPr bwMode="auto">
          <a:xfrm>
            <a:off x="1219200" y="1752600"/>
            <a:ext cx="3303588" cy="4403725"/>
          </a:xfrm>
          <a:prstGeom prst="rect">
            <a:avLst/>
          </a:prstGeom>
          <a:noFill/>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bwMode="auto">
          <a:xfrm>
            <a:off x="304800" y="-381000"/>
            <a:ext cx="8675688" cy="1143000"/>
          </a:xfrm>
        </p:spPr>
        <p:txBody>
          <a:bodyPr wrap="square" numCol="1" anchorCtr="0" compatLnSpc="1">
            <a:prstTxWarp prst="textNoShape">
              <a:avLst/>
            </a:prstTxWarp>
          </a:bodyPr>
          <a:lstStyle/>
          <a:p>
            <a:pPr eaLnBrk="1" hangingPunct="1"/>
            <a:r>
              <a:rPr lang="en-US" sz="3600" u="sng" smtClean="0">
                <a:ln>
                  <a:noFill/>
                </a:ln>
                <a:solidFill>
                  <a:srgbClr val="C00000"/>
                </a:solidFill>
                <a:effectLst/>
                <a:latin typeface="Aharoni" pitchFamily="2" charset="-79"/>
                <a:cs typeface="Aharoni" pitchFamily="2" charset="-79"/>
              </a:rPr>
              <a:t>Possible CSR Activities (Schedule VII)</a:t>
            </a:r>
            <a:endParaRPr lang="en-IN" sz="3600" u="sng" smtClean="0">
              <a:ln>
                <a:noFill/>
              </a:ln>
              <a:solidFill>
                <a:srgbClr val="C00000"/>
              </a:solidFill>
              <a:effectLst/>
              <a:latin typeface="Aharoni" pitchFamily="2" charset="-79"/>
              <a:cs typeface="Aharoni" pitchFamily="2" charset="-79"/>
            </a:endParaRPr>
          </a:p>
        </p:txBody>
      </p:sp>
      <p:sp>
        <p:nvSpPr>
          <p:cNvPr id="3" name="Content Placeholder 2"/>
          <p:cNvSpPr>
            <a:spLocks noGrp="1"/>
          </p:cNvSpPr>
          <p:nvPr>
            <p:ph idx="1"/>
          </p:nvPr>
        </p:nvSpPr>
        <p:spPr>
          <a:xfrm>
            <a:off x="395288" y="762000"/>
            <a:ext cx="8520112" cy="5535613"/>
          </a:xfrm>
        </p:spPr>
        <p:txBody>
          <a:bodyPr rtlCol="0">
            <a:noAutofit/>
          </a:bodyPr>
          <a:lstStyle/>
          <a:p>
            <a:pPr algn="just" eaLnBrk="1" fontAlgn="auto" hangingPunct="1">
              <a:spcAft>
                <a:spcPts val="0"/>
              </a:spcAft>
              <a:buClr>
                <a:srgbClr val="C00000"/>
              </a:buClr>
              <a:buFont typeface="Wingdings" pitchFamily="2" charset="2"/>
              <a:buChar char="v"/>
              <a:defRPr/>
            </a:pPr>
            <a:r>
              <a:rPr lang="en-US" sz="2700" dirty="0">
                <a:solidFill>
                  <a:schemeClr val="bg2">
                    <a:lumMod val="10000"/>
                  </a:schemeClr>
                </a:solidFill>
                <a:latin typeface="Cambria" pitchFamily="18" charset="0"/>
              </a:rPr>
              <a:t>Schedule VII of  The </a:t>
            </a:r>
            <a:r>
              <a:rPr lang="en-US" sz="2700" dirty="0" smtClean="0">
                <a:solidFill>
                  <a:schemeClr val="bg2">
                    <a:lumMod val="10000"/>
                  </a:schemeClr>
                </a:solidFill>
                <a:latin typeface="Cambria" pitchFamily="18" charset="0"/>
              </a:rPr>
              <a:t>Companies </a:t>
            </a:r>
            <a:r>
              <a:rPr lang="en-US" sz="2700" dirty="0">
                <a:solidFill>
                  <a:schemeClr val="bg2">
                    <a:lumMod val="10000"/>
                  </a:schemeClr>
                </a:solidFill>
                <a:latin typeface="Cambria" pitchFamily="18" charset="0"/>
              </a:rPr>
              <a:t>Bill draws attention to an illustrative list of activities that can be carried out under the CSR Agenda;</a:t>
            </a:r>
          </a:p>
          <a:p>
            <a:pPr algn="just" eaLnBrk="1" fontAlgn="auto" hangingPunct="1">
              <a:spcAft>
                <a:spcPts val="0"/>
              </a:spcAft>
              <a:buClr>
                <a:srgbClr val="C00000"/>
              </a:buClr>
              <a:buFont typeface="Wingdings" pitchFamily="2" charset="2"/>
              <a:buChar char="v"/>
              <a:defRPr/>
            </a:pPr>
            <a:r>
              <a:rPr lang="en-US" sz="2700" dirty="0" smtClean="0">
                <a:solidFill>
                  <a:schemeClr val="bg2">
                    <a:lumMod val="10000"/>
                  </a:schemeClr>
                </a:solidFill>
                <a:latin typeface="Cambria" pitchFamily="18" charset="0"/>
              </a:rPr>
              <a:t>It could be worthwhile to concentrate our energies on some aspects of development where tangible  results can be achieved within a relatively short period of time;</a:t>
            </a:r>
          </a:p>
          <a:p>
            <a:pPr algn="just" eaLnBrk="1" fontAlgn="auto" hangingPunct="1">
              <a:spcAft>
                <a:spcPts val="0"/>
              </a:spcAft>
              <a:buClr>
                <a:srgbClr val="C00000"/>
              </a:buClr>
              <a:buFont typeface="Wingdings" pitchFamily="2" charset="2"/>
              <a:buChar char="v"/>
              <a:defRPr/>
            </a:pPr>
            <a:r>
              <a:rPr lang="en-US" sz="2700" dirty="0" smtClean="0">
                <a:solidFill>
                  <a:schemeClr val="bg2">
                    <a:lumMod val="10000"/>
                  </a:schemeClr>
                </a:solidFill>
                <a:latin typeface="Cambria" pitchFamily="18" charset="0"/>
              </a:rPr>
              <a:t>Some of these areas could be:</a:t>
            </a:r>
          </a:p>
          <a:p>
            <a:pPr lvl="1" algn="just" eaLnBrk="1" fontAlgn="auto" hangingPunct="1">
              <a:spcAft>
                <a:spcPts val="0"/>
              </a:spcAft>
              <a:buClr>
                <a:srgbClr val="C00000"/>
              </a:buClr>
              <a:buFont typeface="Wingdings" pitchFamily="2" charset="2"/>
              <a:buChar char="§"/>
              <a:defRPr/>
            </a:pPr>
            <a:r>
              <a:rPr lang="en-US" sz="2400" dirty="0" smtClean="0">
                <a:solidFill>
                  <a:schemeClr val="bg2">
                    <a:lumMod val="10000"/>
                  </a:schemeClr>
                </a:solidFill>
                <a:latin typeface="Cambria" pitchFamily="18" charset="0"/>
              </a:rPr>
              <a:t>Toilet </a:t>
            </a:r>
            <a:r>
              <a:rPr lang="en-US" sz="2400" dirty="0">
                <a:solidFill>
                  <a:schemeClr val="bg2">
                    <a:lumMod val="10000"/>
                  </a:schemeClr>
                </a:solidFill>
                <a:latin typeface="Cambria" pitchFamily="18" charset="0"/>
              </a:rPr>
              <a:t>and Sanitation </a:t>
            </a:r>
            <a:r>
              <a:rPr lang="en-US" sz="2400" dirty="0" smtClean="0">
                <a:solidFill>
                  <a:schemeClr val="bg2">
                    <a:lumMod val="10000"/>
                  </a:schemeClr>
                </a:solidFill>
                <a:latin typeface="Cambria" pitchFamily="18" charset="0"/>
              </a:rPr>
              <a:t>Facilities </a:t>
            </a:r>
            <a:r>
              <a:rPr lang="en-US" sz="2400" dirty="0">
                <a:solidFill>
                  <a:schemeClr val="bg2">
                    <a:lumMod val="10000"/>
                  </a:schemeClr>
                </a:solidFill>
                <a:latin typeface="Cambria" pitchFamily="18" charset="0"/>
              </a:rPr>
              <a:t>in </a:t>
            </a:r>
            <a:r>
              <a:rPr lang="en-US" sz="2400" dirty="0" smtClean="0">
                <a:solidFill>
                  <a:schemeClr val="bg2">
                    <a:lumMod val="10000"/>
                  </a:schemeClr>
                </a:solidFill>
                <a:latin typeface="Cambria" pitchFamily="18" charset="0"/>
              </a:rPr>
              <a:t>rural schools, particularly for girls;</a:t>
            </a:r>
            <a:endParaRPr lang="en-US" sz="2400" dirty="0">
              <a:solidFill>
                <a:schemeClr val="bg2">
                  <a:lumMod val="10000"/>
                </a:schemeClr>
              </a:solidFill>
              <a:latin typeface="Cambria" pitchFamily="18" charset="0"/>
            </a:endParaRPr>
          </a:p>
          <a:p>
            <a:pPr lvl="1" algn="just" eaLnBrk="1" fontAlgn="auto" hangingPunct="1">
              <a:spcAft>
                <a:spcPts val="0"/>
              </a:spcAft>
              <a:buClr>
                <a:srgbClr val="C00000"/>
              </a:buClr>
              <a:buFont typeface="Wingdings" pitchFamily="2" charset="2"/>
              <a:buChar char="§"/>
              <a:defRPr/>
            </a:pPr>
            <a:r>
              <a:rPr lang="en-US" sz="2400" dirty="0" smtClean="0">
                <a:solidFill>
                  <a:schemeClr val="bg2">
                    <a:lumMod val="10000"/>
                  </a:schemeClr>
                </a:solidFill>
                <a:latin typeface="Cambria" pitchFamily="18" charset="0"/>
              </a:rPr>
              <a:t>Education Projects;</a:t>
            </a:r>
            <a:endParaRPr lang="en-US" sz="2400" dirty="0">
              <a:solidFill>
                <a:schemeClr val="bg2">
                  <a:lumMod val="10000"/>
                </a:schemeClr>
              </a:solidFill>
              <a:latin typeface="Cambria" pitchFamily="18" charset="0"/>
            </a:endParaRPr>
          </a:p>
          <a:p>
            <a:pPr lvl="1" algn="just" eaLnBrk="1" fontAlgn="auto" hangingPunct="1">
              <a:spcAft>
                <a:spcPts val="0"/>
              </a:spcAft>
              <a:buClr>
                <a:srgbClr val="C00000"/>
              </a:buClr>
              <a:buFont typeface="Wingdings" pitchFamily="2" charset="2"/>
              <a:buChar char="§"/>
              <a:defRPr/>
            </a:pPr>
            <a:r>
              <a:rPr lang="en-US" sz="2400" dirty="0" smtClean="0">
                <a:solidFill>
                  <a:schemeClr val="bg2">
                    <a:lumMod val="10000"/>
                  </a:schemeClr>
                </a:solidFill>
                <a:latin typeface="Cambria" pitchFamily="18" charset="0"/>
              </a:rPr>
              <a:t>Provision of Health Facilities;</a:t>
            </a:r>
            <a:endParaRPr lang="en-US" sz="2400" dirty="0">
              <a:solidFill>
                <a:schemeClr val="bg2">
                  <a:lumMod val="10000"/>
                </a:schemeClr>
              </a:solidFill>
              <a:latin typeface="Cambria" pitchFamily="18" charset="0"/>
            </a:endParaRPr>
          </a:p>
          <a:p>
            <a:pPr lvl="1" algn="just" eaLnBrk="1" fontAlgn="auto" hangingPunct="1">
              <a:spcAft>
                <a:spcPts val="0"/>
              </a:spcAft>
              <a:buClr>
                <a:srgbClr val="C00000"/>
              </a:buClr>
              <a:buFont typeface="Wingdings" pitchFamily="2" charset="2"/>
              <a:buChar char="§"/>
              <a:defRPr/>
            </a:pPr>
            <a:r>
              <a:rPr lang="en-US" sz="2400" dirty="0" smtClean="0">
                <a:solidFill>
                  <a:schemeClr val="bg2">
                    <a:lumMod val="10000"/>
                  </a:schemeClr>
                </a:solidFill>
                <a:latin typeface="Cambria" pitchFamily="18" charset="0"/>
              </a:rPr>
              <a:t>Combating Malnutrition;</a:t>
            </a:r>
            <a:endParaRPr lang="en-US" sz="2400" dirty="0">
              <a:solidFill>
                <a:schemeClr val="bg2">
                  <a:lumMod val="10000"/>
                </a:schemeClr>
              </a:solidFill>
              <a:latin typeface="Cambria" pitchFamily="18" charset="0"/>
            </a:endParaRPr>
          </a:p>
          <a:p>
            <a:pPr lvl="1" algn="just" eaLnBrk="1" fontAlgn="auto" hangingPunct="1">
              <a:spcAft>
                <a:spcPts val="0"/>
              </a:spcAft>
              <a:buClr>
                <a:srgbClr val="C00000"/>
              </a:buClr>
              <a:buFont typeface="Wingdings" pitchFamily="2" charset="2"/>
              <a:buChar char="§"/>
              <a:defRPr/>
            </a:pPr>
            <a:r>
              <a:rPr lang="en-US" sz="2400" dirty="0">
                <a:solidFill>
                  <a:schemeClr val="bg2">
                    <a:lumMod val="10000"/>
                  </a:schemeClr>
                </a:solidFill>
                <a:latin typeface="Cambria" pitchFamily="18" charset="0"/>
              </a:rPr>
              <a:t>Skill </a:t>
            </a:r>
            <a:r>
              <a:rPr lang="en-US" sz="2400" dirty="0" smtClean="0">
                <a:solidFill>
                  <a:schemeClr val="bg2">
                    <a:lumMod val="10000"/>
                  </a:schemeClr>
                </a:solidFill>
                <a:latin typeface="Cambria" pitchFamily="18" charset="0"/>
              </a:rPr>
              <a:t>Development.</a:t>
            </a:r>
            <a:endParaRPr lang="en-US" sz="2400" dirty="0">
              <a:solidFill>
                <a:schemeClr val="bg2">
                  <a:lumMod val="10000"/>
                </a:schemeClr>
              </a:solidFill>
              <a:latin typeface="Cambria" pitchFamily="18" charset="0"/>
            </a:endParaRPr>
          </a:p>
          <a:p>
            <a:pPr algn="just" eaLnBrk="1" fontAlgn="auto" hangingPunct="1">
              <a:spcAft>
                <a:spcPts val="0"/>
              </a:spcAft>
              <a:buClr>
                <a:srgbClr val="C00000"/>
              </a:buClr>
              <a:buFont typeface="Wingdings" pitchFamily="2" charset="2"/>
              <a:buChar char="v"/>
              <a:defRPr/>
            </a:pPr>
            <a:endParaRPr lang="en-US" sz="2700" dirty="0" smtClean="0">
              <a:solidFill>
                <a:schemeClr val="bg2">
                  <a:lumMod val="10000"/>
                </a:schemeClr>
              </a:solidFill>
              <a:latin typeface="Cambria" pitchFamily="18" charset="0"/>
            </a:endParaRPr>
          </a:p>
          <a:p>
            <a:pPr algn="just" eaLnBrk="1" fontAlgn="auto" hangingPunct="1">
              <a:spcAft>
                <a:spcPts val="0"/>
              </a:spcAft>
              <a:buClr>
                <a:srgbClr val="C00000"/>
              </a:buClr>
              <a:buFont typeface="Wingdings" pitchFamily="2" charset="2"/>
              <a:buChar char="v"/>
              <a:defRPr/>
            </a:pPr>
            <a:endParaRPr lang="en-US" sz="2700" dirty="0" smtClean="0">
              <a:solidFill>
                <a:schemeClr val="bg2">
                  <a:lumMod val="10000"/>
                </a:schemeClr>
              </a:solidFill>
              <a:latin typeface="Cambria" pitchFamily="18" charset="0"/>
            </a:endParaRPr>
          </a:p>
          <a:p>
            <a:pPr marL="0" indent="0" eaLnBrk="1" fontAlgn="auto" hangingPunct="1">
              <a:spcAft>
                <a:spcPts val="0"/>
              </a:spcAft>
              <a:buFont typeface="Arial" pitchFamily="34" charset="0"/>
              <a:buNone/>
              <a:defRPr/>
            </a:pPr>
            <a:endParaRPr lang="en-IN" sz="2700" dirty="0">
              <a:solidFill>
                <a:schemeClr val="bg2">
                  <a:lumMod val="10000"/>
                </a:schemeClr>
              </a:solidFill>
              <a:latin typeface="Cambria" pitchFamily="18" charset="0"/>
            </a:endParaRPr>
          </a:p>
        </p:txBody>
      </p:sp>
      <p:sp>
        <p:nvSpPr>
          <p:cNvPr id="4" name="Slide Number Placeholder 3"/>
          <p:cNvSpPr>
            <a:spLocks noGrp="1"/>
          </p:cNvSpPr>
          <p:nvPr>
            <p:ph type="sldNum" sz="quarter" idx="12"/>
          </p:nvPr>
        </p:nvSpPr>
        <p:spPr>
          <a:xfrm>
            <a:off x="8604250" y="6264275"/>
            <a:ext cx="463550" cy="365125"/>
          </a:xfrm>
        </p:spPr>
        <p:txBody>
          <a:bodyPr/>
          <a:lstStyle/>
          <a:p>
            <a:pPr>
              <a:defRPr/>
            </a:pPr>
            <a:fld id="{1AF5FF67-933D-45B3-875B-9674D321F624}" type="slidenum">
              <a:rPr lang="en-IN" sz="1600" b="1">
                <a:solidFill>
                  <a:schemeClr val="bg2">
                    <a:lumMod val="10000"/>
                  </a:schemeClr>
                </a:solidFill>
              </a:rPr>
              <a:pPr>
                <a:defRPr/>
              </a:pPr>
              <a:t>23</a:t>
            </a:fld>
            <a:endParaRPr lang="en-IN" b="1" dirty="0">
              <a:solidFill>
                <a:schemeClr val="bg2">
                  <a:lumMod val="10000"/>
                </a:schemeClr>
              </a:solidFill>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3625</TotalTime>
  <Words>950</Words>
  <Application>Microsoft Office PowerPoint</Application>
  <PresentationFormat>On-screen Show (4:3)</PresentationFormat>
  <Paragraphs>157</Paragraphs>
  <Slides>23</Slides>
  <Notes>2</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23</vt:i4>
      </vt:variant>
    </vt:vector>
  </HeadingPairs>
  <TitlesOfParts>
    <vt:vector size="25" baseType="lpstr">
      <vt:lpstr>Office Theme</vt:lpstr>
      <vt:lpstr>Bitmap Image</vt:lpstr>
      <vt:lpstr>         </vt:lpstr>
      <vt:lpstr>PowerPoint Presentation</vt:lpstr>
      <vt:lpstr>Definitions and Relationships</vt:lpstr>
      <vt:lpstr> Introduction to CSR</vt:lpstr>
      <vt:lpstr>                                                               Cont…</vt:lpstr>
      <vt:lpstr>The evolution of CSR</vt:lpstr>
      <vt:lpstr>Levels of Social responsibility</vt:lpstr>
      <vt:lpstr>                                                 Cont…</vt:lpstr>
      <vt:lpstr>PowerPoint Presentation</vt:lpstr>
      <vt:lpstr>PowerPoint Presentation</vt:lpstr>
      <vt:lpstr>PowerPoint Presentation</vt:lpstr>
      <vt:lpstr>PowerPoint Presentation</vt:lpstr>
      <vt:lpstr> Employee welfare programs </vt:lpstr>
      <vt:lpstr>  </vt:lpstr>
      <vt:lpstr> Corporate philanthropy </vt:lpstr>
      <vt:lpstr>Corporate citizenship</vt:lpstr>
      <vt:lpstr>Trusteeship concept </vt:lpstr>
      <vt:lpstr> </vt:lpstr>
      <vt:lpstr>Reasons for CSR Activities</vt:lpstr>
      <vt:lpstr>PowerPoint Presentation</vt:lpstr>
      <vt:lpstr>PowerPoint Presentation</vt:lpstr>
      <vt:lpstr>Company Project:Balco Hospital </vt:lpstr>
      <vt:lpstr>Possible CSR Activities (Schedule VII)</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Content</dc:title>
  <dc:creator>Anupam sharma</dc:creator>
  <cp:lastModifiedBy>Ti</cp:lastModifiedBy>
  <cp:revision>87</cp:revision>
  <dcterms:created xsi:type="dcterms:W3CDTF">2010-01-05T05:26:43Z</dcterms:created>
  <dcterms:modified xsi:type="dcterms:W3CDTF">2023-07-17T05:15:12Z</dcterms:modified>
</cp:coreProperties>
</file>